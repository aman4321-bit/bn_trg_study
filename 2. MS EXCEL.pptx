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30" r:id="rId2"/>
    <p:sldId id="621" r:id="rId3"/>
    <p:sldId id="651" r:id="rId4"/>
    <p:sldId id="623" r:id="rId5"/>
    <p:sldId id="564" r:id="rId6"/>
    <p:sldId id="357" r:id="rId7"/>
    <p:sldId id="548" r:id="rId8"/>
    <p:sldId id="549" r:id="rId9"/>
    <p:sldId id="550" r:id="rId10"/>
    <p:sldId id="551" r:id="rId11"/>
    <p:sldId id="552" r:id="rId12"/>
    <p:sldId id="553" r:id="rId13"/>
    <p:sldId id="554" r:id="rId14"/>
    <p:sldId id="555" r:id="rId15"/>
    <p:sldId id="556" r:id="rId16"/>
    <p:sldId id="557" r:id="rId17"/>
    <p:sldId id="562" r:id="rId18"/>
    <p:sldId id="625" r:id="rId19"/>
    <p:sldId id="571" r:id="rId20"/>
    <p:sldId id="626" r:id="rId21"/>
    <p:sldId id="627" r:id="rId22"/>
    <p:sldId id="466" r:id="rId23"/>
    <p:sldId id="566" r:id="rId24"/>
    <p:sldId id="567" r:id="rId25"/>
    <p:sldId id="578" r:id="rId26"/>
    <p:sldId id="579" r:id="rId27"/>
    <p:sldId id="580" r:id="rId28"/>
    <p:sldId id="581" r:id="rId29"/>
    <p:sldId id="628" r:id="rId30"/>
    <p:sldId id="582" r:id="rId31"/>
    <p:sldId id="583" r:id="rId32"/>
    <p:sldId id="584" r:id="rId33"/>
    <p:sldId id="585" r:id="rId34"/>
    <p:sldId id="586" r:id="rId35"/>
    <p:sldId id="589" r:id="rId36"/>
    <p:sldId id="590" r:id="rId37"/>
    <p:sldId id="591" r:id="rId38"/>
    <p:sldId id="593" r:id="rId39"/>
    <p:sldId id="597" r:id="rId40"/>
    <p:sldId id="561" r:id="rId41"/>
    <p:sldId id="565" r:id="rId42"/>
    <p:sldId id="393" r:id="rId43"/>
    <p:sldId id="569" r:id="rId44"/>
    <p:sldId id="570" r:id="rId45"/>
    <p:sldId id="483" r:id="rId46"/>
    <p:sldId id="484" r:id="rId47"/>
    <p:sldId id="498" r:id="rId48"/>
    <p:sldId id="599" r:id="rId49"/>
    <p:sldId id="600" r:id="rId50"/>
    <p:sldId id="602" r:id="rId51"/>
    <p:sldId id="603" r:id="rId52"/>
    <p:sldId id="604" r:id="rId53"/>
    <p:sldId id="605" r:id="rId54"/>
    <p:sldId id="620" r:id="rId5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8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5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87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5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97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5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7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83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2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1FF27-4DA7-4522-BDEC-4154BA12477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752DC-B4EA-4793-9F30-0CCB22B03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44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mputerhope.com/jargon/c/cell.htm" TargetMode="External"/><Relationship Id="rId3" Type="http://schemas.openxmlformats.org/officeDocument/2006/relationships/hyperlink" Target="https://www.computerhope.com/comp/msoft.htm" TargetMode="External"/><Relationship Id="rId7" Type="http://schemas.openxmlformats.org/officeDocument/2006/relationships/hyperlink" Target="https://www.computerhope.com/jargon/r/row.htm" TargetMode="External"/><Relationship Id="rId12" Type="http://schemas.openxmlformats.org/officeDocument/2006/relationships/image" Target="../media/image1.png"/><Relationship Id="rId2" Type="http://schemas.openxmlformats.org/officeDocument/2006/relationships/hyperlink" Target="https://www.computerhope.com/jargon/s/spreadsheet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puterhope.com/jargon/c/column.htm" TargetMode="External"/><Relationship Id="rId11" Type="http://schemas.openxmlformats.org/officeDocument/2006/relationships/hyperlink" Target="https://www.computerhope.com/history/1985.htm" TargetMode="External"/><Relationship Id="rId5" Type="http://schemas.openxmlformats.org/officeDocument/2006/relationships/hyperlink" Target="https://www.computerhope.com/jargon/m/microsoft-word.htm" TargetMode="External"/><Relationship Id="rId10" Type="http://schemas.openxmlformats.org/officeDocument/2006/relationships/hyperlink" Target="https://www.computerhope.com/jargon/c/codename.htm" TargetMode="External"/><Relationship Id="rId4" Type="http://schemas.openxmlformats.org/officeDocument/2006/relationships/hyperlink" Target="https://www.computerhope.com/jargon/o/office.htm#msoffice" TargetMode="External"/><Relationship Id="rId9" Type="http://schemas.openxmlformats.org/officeDocument/2006/relationships/hyperlink" Target="https://www.computerhope.com/jargon/f/formula.ht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mputerhope.com/history/2003.htm" TargetMode="External"/><Relationship Id="rId13" Type="http://schemas.openxmlformats.org/officeDocument/2006/relationships/hyperlink" Target="https://www.computerhope.com/history/1993.htm" TargetMode="External"/><Relationship Id="rId18" Type="http://schemas.openxmlformats.org/officeDocument/2006/relationships/hyperlink" Target="https://www.computerhope.com/history/2004.htm" TargetMode="External"/><Relationship Id="rId3" Type="http://schemas.openxmlformats.org/officeDocument/2006/relationships/hyperlink" Target="https://www.computerhope.com/history/2018.htm" TargetMode="External"/><Relationship Id="rId21" Type="http://schemas.openxmlformats.org/officeDocument/2006/relationships/hyperlink" Target="https://www.computerhope.com/history/1989.htm" TargetMode="External"/><Relationship Id="rId7" Type="http://schemas.openxmlformats.org/officeDocument/2006/relationships/hyperlink" Target="https://www.computerhope.com/history/2007.htm" TargetMode="External"/><Relationship Id="rId12" Type="http://schemas.openxmlformats.org/officeDocument/2006/relationships/hyperlink" Target="https://www.computerhope.com/history/1995.htm" TargetMode="External"/><Relationship Id="rId17" Type="http://schemas.openxmlformats.org/officeDocument/2006/relationships/hyperlink" Target="https://www.computerhope.com/history/2008.htm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www.computerhope.com/history/1987.htm" TargetMode="External"/><Relationship Id="rId20" Type="http://schemas.openxmlformats.org/officeDocument/2006/relationships/hyperlink" Target="https://www.computerhope.com/history/1998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puterhope.com/history/2010.htm" TargetMode="External"/><Relationship Id="rId11" Type="http://schemas.openxmlformats.org/officeDocument/2006/relationships/hyperlink" Target="https://www.computerhope.com/history/1997.htm" TargetMode="External"/><Relationship Id="rId24" Type="http://schemas.openxmlformats.org/officeDocument/2006/relationships/hyperlink" Target="https://www.computerhope.com/history/2011.htm" TargetMode="External"/><Relationship Id="rId5" Type="http://schemas.openxmlformats.org/officeDocument/2006/relationships/hyperlink" Target="https://www.computerhope.com/history/2013.htm" TargetMode="External"/><Relationship Id="rId15" Type="http://schemas.openxmlformats.org/officeDocument/2006/relationships/hyperlink" Target="https://www.computerhope.com/history/1990.htm" TargetMode="External"/><Relationship Id="rId23" Type="http://schemas.openxmlformats.org/officeDocument/2006/relationships/hyperlink" Target="https://www.computerhope.com/history/1985.htm" TargetMode="External"/><Relationship Id="rId10" Type="http://schemas.openxmlformats.org/officeDocument/2006/relationships/hyperlink" Target="https://www.computerhope.com/history/2000.htm" TargetMode="External"/><Relationship Id="rId19" Type="http://schemas.openxmlformats.org/officeDocument/2006/relationships/hyperlink" Target="https://www.computerhope.com/history/2001.htm" TargetMode="External"/><Relationship Id="rId4" Type="http://schemas.openxmlformats.org/officeDocument/2006/relationships/hyperlink" Target="https://www.computerhope.com/history/2016.htm" TargetMode="External"/><Relationship Id="rId9" Type="http://schemas.openxmlformats.org/officeDocument/2006/relationships/hyperlink" Target="https://www.computerhope.com/history/2002.htm" TargetMode="External"/><Relationship Id="rId14" Type="http://schemas.openxmlformats.org/officeDocument/2006/relationships/hyperlink" Target="https://www.computerhope.com/history/1992.htm" TargetMode="External"/><Relationship Id="rId22" Type="http://schemas.openxmlformats.org/officeDocument/2006/relationships/hyperlink" Target="https://www.computerhope.com/history/1988.ht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mplilearn.com/tutorials/excel-tutorial/advanced-excel-function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C64E6EC-A75A-E1C4-0D9B-CE5588286E8D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4E7B3F-8A91-AF21-BEEB-22D3026858A2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AIM</a:t>
              </a:r>
              <a:endParaRPr lang="en-IN" sz="40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1D85E7-A2D2-2DCA-8B0A-AB8070664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AA627CA-5984-C500-2D3B-F241D04A9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40E5BC7-0E72-C147-3BD5-A8BD67D070FC}"/>
              </a:ext>
            </a:extLst>
          </p:cNvPr>
          <p:cNvSpPr/>
          <p:nvPr/>
        </p:nvSpPr>
        <p:spPr>
          <a:xfrm>
            <a:off x="0" y="3199246"/>
            <a:ext cx="9144000" cy="1042013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</a:rPr>
              <a:t>TO ACQUAINT THE CLASS ABOUT MICROSOFT EXCEL 2021</a:t>
            </a:r>
            <a:endParaRPr lang="en-IN" sz="3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11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3DD982-2D71-41A7-9675-DA8C26CB388F}"/>
              </a:ext>
            </a:extLst>
          </p:cNvPr>
          <p:cNvSpPr txBox="1"/>
          <p:nvPr/>
        </p:nvSpPr>
        <p:spPr>
          <a:xfrm>
            <a:off x="113894" y="1078152"/>
            <a:ext cx="8839200" cy="4805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 is a </a:t>
            </a:r>
            <a:r>
              <a:rPr lang="en-US" sz="2000" b="1" i="0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spreadsheet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application developed and published by </a:t>
            </a:r>
            <a:r>
              <a:rPr lang="en-US" sz="2000" b="1" i="0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It is part of the </a:t>
            </a:r>
            <a:r>
              <a:rPr lang="en-US" sz="2000" b="1" i="0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Office</a:t>
            </a: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suite of productivity software.</a:t>
            </a:r>
          </a:p>
          <a:p>
            <a:pPr marL="342900" indent="-342900" algn="just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Unlike a word processor, such as </a:t>
            </a:r>
            <a:r>
              <a:rPr lang="en-US" sz="2000" b="1" i="0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Word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Excel organizes data in </a:t>
            </a:r>
            <a:r>
              <a:rPr lang="en-US" sz="2000" b="1" i="0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columns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sz="2000" b="1" i="0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rows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Rows and columns intersect at a space called a </a:t>
            </a:r>
            <a:r>
              <a:rPr lang="en-US" sz="2000" b="1" i="0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Each cell contains data, such as text, a numerical value, or a </a:t>
            </a:r>
            <a:r>
              <a:rPr lang="en-US" sz="2000" b="1" i="0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formula</a:t>
            </a:r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was originally </a:t>
            </a:r>
            <a:r>
              <a:rPr lang="en-US" sz="2000" b="1" i="0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code-named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Odyssey during development. It was first released on September 30, </a:t>
            </a:r>
            <a:r>
              <a:rPr lang="en-US" sz="2000" b="1" i="0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1985</a:t>
            </a: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D82D56-1A32-8D45-93D2-C3B6C39D71EB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9B1A7B-E726-5039-C993-A2349FA22328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MS EXCEL</a:t>
              </a:r>
              <a:endParaRPr lang="en-IN" sz="40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78751D-01D2-DC07-7333-F1EDF002C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4F66DCF-4827-BD6E-5591-B759F1D4D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00775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275D-86C8-B1C3-18BE-330D6E5B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9F1D4B-7EE2-59BE-B127-591C33E31936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A718DE-2388-F299-FCDD-F476B9FFC72A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VERSIONS OF MS EXCEL</a:t>
              </a:r>
              <a:endParaRPr lang="en-IN" sz="40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AD73A6-B065-1C85-4B92-3162644BB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BE62B0-3038-CCC8-FF9C-D3BC02D76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35BA26-110D-559F-EAF1-EAB26D92C037}"/>
              </a:ext>
            </a:extLst>
          </p:cNvPr>
          <p:cNvSpPr txBox="1"/>
          <p:nvPr/>
        </p:nvSpPr>
        <p:spPr>
          <a:xfrm>
            <a:off x="310963" y="1070043"/>
            <a:ext cx="428017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Windows versions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2021, Oct 05, 2021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2019,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Office 365 and Excel 2016,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2016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2013,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2013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2010,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2010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2007,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2007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2003,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2003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2002,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2000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97,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1997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95,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1995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5.0,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1993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4.0,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3.0,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1990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1987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5D5C2-016B-6BDA-F815-10B905D9213C}"/>
              </a:ext>
            </a:extLst>
          </p:cNvPr>
          <p:cNvSpPr txBox="1"/>
          <p:nvPr/>
        </p:nvSpPr>
        <p:spPr>
          <a:xfrm>
            <a:off x="4091778" y="1070042"/>
            <a:ext cx="4280170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2008,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2004,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2004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2001,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2001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2000, released in 2000</a:t>
            </a: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98,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5.0,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1993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4.0,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3.0,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1990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2.2,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1989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1.5,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1988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1,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1985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990BD-D256-99B8-173F-E561E4FD2379}"/>
              </a:ext>
            </a:extLst>
          </p:cNvPr>
          <p:cNvSpPr txBox="1"/>
          <p:nvPr/>
        </p:nvSpPr>
        <p:spPr>
          <a:xfrm>
            <a:off x="4348261" y="4640090"/>
            <a:ext cx="3453319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 versions</a:t>
            </a:r>
          </a:p>
          <a:p>
            <a:pPr marL="285750" marR="0" lvl="0" indent="-1143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00050" algn="l"/>
              </a:tabLs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Excel 2021, Oct 05 2021</a:t>
            </a:r>
          </a:p>
          <a:p>
            <a:pPr marL="285750" marR="0" lvl="0" indent="-1143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0005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Excel 2019,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2018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2016,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2016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4025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Excel 2011, released in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2011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3981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0B7404-A2E0-428A-9DE7-C3E4447F86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33" r="14667" b="47332"/>
          <a:stretch/>
        </p:blipFill>
        <p:spPr>
          <a:xfrm>
            <a:off x="1141376" y="3957403"/>
            <a:ext cx="6861247" cy="2707655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26163E-AE98-44E6-B9E4-79A2432BA69F}"/>
              </a:ext>
            </a:extLst>
          </p:cNvPr>
          <p:cNvSpPr/>
          <p:nvPr/>
        </p:nvSpPr>
        <p:spPr>
          <a:xfrm>
            <a:off x="8586" y="914400"/>
            <a:ext cx="8983014" cy="378565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option add in Excel 2016 for the first time.</a:t>
            </a:r>
          </a:p>
          <a:p>
            <a:pPr marL="342900" lvl="0" indent="-342900" algn="just"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 Excel 2021 LTSC (Long Term Service Channel) offers yet another way to issue command: Tell me what you want to do box.</a:t>
            </a:r>
          </a:p>
          <a:p>
            <a:pPr marL="342900" lvl="0" indent="-342900" algn="just"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Situated in the UPPER PART of the ribbon tab</a:t>
            </a:r>
          </a:p>
          <a:p>
            <a:pPr marL="342900" lvl="0" indent="-342900" algn="just"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this when you are unsure of where to find the command</a:t>
            </a:r>
          </a:p>
          <a:p>
            <a:pPr marL="471488" indent="-342900" algn="just">
              <a:spcAft>
                <a:spcPts val="2400"/>
              </a:spcAft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488" indent="-342900" algn="just">
              <a:spcAft>
                <a:spcPts val="2400"/>
              </a:spcAft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8C7BC4-C20C-451E-8D37-960F4ACF7C7B}"/>
              </a:ext>
            </a:extLst>
          </p:cNvPr>
          <p:cNvSpPr/>
          <p:nvPr/>
        </p:nvSpPr>
        <p:spPr>
          <a:xfrm>
            <a:off x="2737540" y="3943115"/>
            <a:ext cx="3219388" cy="4646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2E659A-FF93-0AB1-C71A-16415F6412BA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E3D799-9092-D937-CDE3-C56B8F11AA98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NEW WAY TO ISSUE COMMAND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688DE9A-E141-3CA3-117B-DA914F945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550E86-EF1A-DB85-630E-5591CC597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375687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28600" y="928029"/>
            <a:ext cx="85344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START BUTTON</a:t>
            </a:r>
          </a:p>
          <a:p>
            <a:endParaRPr lang="en-US" sz="2000" b="1" u="sng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000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RUN COMMAND</a:t>
            </a:r>
            <a:r>
              <a:rPr 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EXCEL– ENTER</a:t>
            </a:r>
          </a:p>
          <a:p>
            <a:pPr lvl="0"/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DESKTOP - RIGHT CLICK OF MOUSE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NEW –  MICROSOFT EXCEL</a:t>
            </a:r>
          </a:p>
          <a:p>
            <a:pPr lvl="0"/>
            <a:endParaRPr lang="en-US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pic>
        <p:nvPicPr>
          <p:cNvPr id="19" name="Picture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3144020"/>
            <a:ext cx="7239000" cy="350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47A2754-852C-4891-F492-A0E172600AA3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B60A49-59B4-5C66-05B9-0C7599CFD3B2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HOW TO OPEN MS EXCEL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5F4C36-AE56-FC4F-F64D-01DC124E9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9C44AE1-5187-4BC9-F863-1E5F6F257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14023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99908-ED94-4F5B-893E-CDE8A4D0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  <a:endCxn id="6" idx="0"/>
          </p:cNvCxnSpPr>
          <p:nvPr/>
        </p:nvCxnSpPr>
        <p:spPr>
          <a:xfrm>
            <a:off x="152400" y="500998"/>
            <a:ext cx="647700" cy="337202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15031" y="838200"/>
            <a:ext cx="970137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883" y="2238828"/>
            <a:ext cx="1021433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Box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456406" y="1644395"/>
            <a:ext cx="0" cy="565008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99830" y="3124200"/>
            <a:ext cx="543739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52400" y="3352800"/>
            <a:ext cx="1524000" cy="1588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39845" y="1981201"/>
            <a:ext cx="1168910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Formula Bar</a:t>
            </a:r>
          </a:p>
        </p:txBody>
      </p:sp>
      <p:cxnSp>
        <p:nvCxnSpPr>
          <p:cNvPr id="13" name="Straight Arrow Connector 12"/>
          <p:cNvCxnSpPr>
            <a:endCxn id="12" idx="0"/>
          </p:cNvCxnSpPr>
          <p:nvPr/>
        </p:nvCxnSpPr>
        <p:spPr>
          <a:xfrm>
            <a:off x="3048000" y="1447800"/>
            <a:ext cx="876300" cy="533401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32395" y="2590006"/>
            <a:ext cx="801822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5219702" y="1902767"/>
            <a:ext cx="418304" cy="611039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69603" y="3044923"/>
            <a:ext cx="1111202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Cell Pointer</a:t>
            </a:r>
          </a:p>
        </p:txBody>
      </p:sp>
      <p:cxnSp>
        <p:nvCxnSpPr>
          <p:cNvPr id="17" name="Straight Arrow Connector 16"/>
          <p:cNvCxnSpPr>
            <a:cxnSpLocks/>
          </p:cNvCxnSpPr>
          <p:nvPr/>
        </p:nvCxnSpPr>
        <p:spPr>
          <a:xfrm flipV="1">
            <a:off x="3048000" y="3161899"/>
            <a:ext cx="588193" cy="74714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9046" y="5028406"/>
            <a:ext cx="1808507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Page Break Preview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7286625" y="5485606"/>
            <a:ext cx="104775" cy="786607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16367" y="5791200"/>
            <a:ext cx="987065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Sheet Tab</a:t>
            </a:r>
          </a:p>
        </p:txBody>
      </p:sp>
      <p:cxnSp>
        <p:nvCxnSpPr>
          <p:cNvPr id="22" name="Straight Arrow Connector 21"/>
          <p:cNvCxnSpPr>
            <a:cxnSpLocks/>
            <a:endCxn id="21" idx="1"/>
          </p:cNvCxnSpPr>
          <p:nvPr/>
        </p:nvCxnSpPr>
        <p:spPr>
          <a:xfrm flipV="1">
            <a:off x="990599" y="5945089"/>
            <a:ext cx="1525768" cy="153888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543800" y="152400"/>
            <a:ext cx="1143000" cy="1777162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63848" y="2005763"/>
            <a:ext cx="1378903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Restore Button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915390-3A93-4ADB-BAD5-E2CC5BFE2712}"/>
              </a:ext>
            </a:extLst>
          </p:cNvPr>
          <p:cNvSpPr txBox="1"/>
          <p:nvPr/>
        </p:nvSpPr>
        <p:spPr>
          <a:xfrm>
            <a:off x="7028707" y="3581400"/>
            <a:ext cx="1429943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Vertical Scroller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FA0489-F488-4C56-9A2D-E615B713D747}"/>
              </a:ext>
            </a:extLst>
          </p:cNvPr>
          <p:cNvCxnSpPr>
            <a:cxnSpLocks/>
          </p:cNvCxnSpPr>
          <p:nvPr/>
        </p:nvCxnSpPr>
        <p:spPr>
          <a:xfrm flipH="1">
            <a:off x="8175964" y="2897485"/>
            <a:ext cx="763706" cy="683915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40A1E1F-CF73-442E-A884-A1E92C66A454}"/>
              </a:ext>
            </a:extLst>
          </p:cNvPr>
          <p:cNvSpPr txBox="1"/>
          <p:nvPr/>
        </p:nvSpPr>
        <p:spPr>
          <a:xfrm>
            <a:off x="3971527" y="4874517"/>
            <a:ext cx="1648208" cy="307777"/>
          </a:xfrm>
          <a:prstGeom prst="rect">
            <a:avLst/>
          </a:prstGeom>
          <a:noFill/>
          <a:ln w="34925" cmpd="sng">
            <a:gradFill flip="none" rotWithShape="1">
              <a:gsLst>
                <a:gs pos="0">
                  <a:srgbClr val="C00000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1"/>
              <a:tileRect/>
            </a:gra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Horizontal Scroller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0FB781-85D8-434F-8A79-FD2285CFB211}"/>
              </a:ext>
            </a:extLst>
          </p:cNvPr>
          <p:cNvCxnSpPr>
            <a:cxnSpLocks/>
            <a:endCxn id="27" idx="2"/>
          </p:cNvCxnSpPr>
          <p:nvPr/>
        </p:nvCxnSpPr>
        <p:spPr>
          <a:xfrm flipH="1" flipV="1">
            <a:off x="4795631" y="5182294"/>
            <a:ext cx="1073476" cy="950760"/>
          </a:xfrm>
          <a:prstGeom prst="straightConnector1">
            <a:avLst/>
          </a:prstGeom>
          <a:ln cap="rnd" cmpd="thickThin">
            <a:gradFill flip="none" rotWithShape="1">
              <a:gsLst>
                <a:gs pos="0">
                  <a:srgbClr val="000082"/>
                </a:gs>
                <a:gs pos="0">
                  <a:srgbClr val="000082"/>
                </a:gs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3000000" scaled="0"/>
              <a:tileRect/>
            </a:gradFill>
            <a:prstDash val="solid"/>
            <a:bevel/>
            <a:headEnd type="triangle" w="med" len="sm"/>
            <a:tailEnd type="arrow"/>
          </a:ln>
          <a:effectLst>
            <a:outerShdw blurRad="50800" dist="38100" dir="5400000" algn="t" rotWithShape="0">
              <a:schemeClr val="tx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58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497" y="852478"/>
            <a:ext cx="8983014" cy="6960303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excel is spreadsheet application developed by Microsoft for Microsoft windows and mac OS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Application software of MS office &amp; one worksheet like a graph page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Mathematical calculation solved by easy method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2013 supports up to 1 million rows and 16 thousand columns per worksheet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excel 2013 grid is 10,48,576 rows by 16,384 columns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no of cells 17,17,98,69,184 cells in one work sheet</a:t>
            </a:r>
          </a:p>
          <a:p>
            <a:pPr marL="471488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1488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98D23B9-1A76-1C67-F8BB-A8A07C05C2E4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5A4B955-BA04-2E0B-B450-DEA298A380DF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  <a:endParaRPr lang="en-IN" sz="40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FEBF0F-BAF6-8B53-985E-A60356F62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8B4E34-D4F0-C98E-3416-1E6A43758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75017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7497" y="988164"/>
            <a:ext cx="8983014" cy="564455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in doing calculations</a:t>
            </a:r>
          </a:p>
          <a:p>
            <a:pPr marL="342900" lvl="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It helps in making charts</a:t>
            </a:r>
          </a:p>
          <a:p>
            <a:pPr marL="34290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in formatting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way to store data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You can perform calculations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tools for data analysis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to data visualizations with charts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You can print reports easily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many free templates to use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code to automate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Transform and clean data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data with millions of rows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work with Excel online + mobile app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C17001-D43F-2667-9E73-A6FA4AD4BFCD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FD10376-A428-0DC7-8E03-939798F9212C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ADVANTAGES OF MS EXCEL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CE6A11-64FF-B97B-3708-D83E4A7C4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121223-069E-DC03-7BC5-C599CC617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66296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3" y="3462604"/>
            <a:ext cx="8983013" cy="32429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153903" y="894038"/>
            <a:ext cx="8682977" cy="253402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Worksheet like a page, spreadsheet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Primary document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default, Microsoft office Excel 2021 LTSC provides one worksheets in a workbook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default, the name is sheet1 and +, but you can give any worksheet a more appropriate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1B3E07-E27C-E46E-CB8B-9E935A23EE99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4829C76-69E0-B420-8EB2-0A835BAA79D0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WORKSHEET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A5A690-7AFA-9EE2-E1B1-DC34788C0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579BEF8-34BE-1857-700F-D4DD92B54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19043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6628" y="1052209"/>
            <a:ext cx="8983014" cy="193899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file that contains one or more worksheets.</a:t>
            </a:r>
          </a:p>
          <a:p>
            <a:pPr lvl="0"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Workbook is a collection of worksheets.</a:t>
            </a:r>
          </a:p>
          <a:p>
            <a:pPr lvl="0"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Workbook is a multi-page excel document.</a:t>
            </a:r>
          </a:p>
          <a:p>
            <a:pPr marL="128588"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657600"/>
            <a:ext cx="7010400" cy="249330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304003E-6E89-FFBB-886B-08F6CB4CAE00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352F6E-0968-21D5-EB2E-F73F63DD3C03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WORKSHEET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D5D507-2A50-DBF3-306C-B3DDAD614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CE597E-7675-E241-1678-F6AA83FCB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55661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442" y="935478"/>
            <a:ext cx="8983014" cy="193899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Those horizontal and vertical lines are crossed to each other and divide a worksheet into rows and columns are called gridlines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 can merge the gridlines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cannot do sorting and indexing after merge the gridlines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3530" r="5678" b="11765"/>
          <a:stretch/>
        </p:blipFill>
        <p:spPr>
          <a:xfrm>
            <a:off x="316471" y="3237368"/>
            <a:ext cx="8472957" cy="339203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1648726-343F-2A22-0ED8-698E6BA8E19D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8BB05C-23EE-7C1E-63D3-4B9A52201CF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GRIDLINES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954DC9-EBE7-3B22-117D-1560D16A9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972F281-B461-C1D3-7549-61A47EB5C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96926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443" y="912037"/>
            <a:ext cx="8983014" cy="372864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horizontally group of cells is called row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Default height of row is 15.00 pts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default, 1, 2, 3… labels denoted to number of rows in a sheet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no of rows in a single worksheet is 10, 48,576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There is no change in total no of rows after insert or delete a new row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Height and width of rows can be changed in a worksheet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hide, unhide and freeze pane a row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 cannot change the label of row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t="23958" r="29687" b="59375"/>
          <a:stretch/>
        </p:blipFill>
        <p:spPr>
          <a:xfrm>
            <a:off x="666750" y="4935617"/>
            <a:ext cx="7772400" cy="16200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603137C-4D7C-86DC-5146-754E39CB8E6B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C68502-5B4F-9008-394D-18A3F3479FF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ROW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8D966C-3FA4-B2E7-73A9-1FF482376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99FF84-DB32-75DD-551B-916303978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94941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493" y="914183"/>
            <a:ext cx="8983014" cy="457503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 group of cells is called a column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Column denoted by alphabet labels up to XFD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no of columns in a single worksheet is 16,384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change in total no of columns after insert a new column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By default, column width is 8.43 pts</a:t>
            </a:r>
          </a:p>
          <a:p>
            <a:pPr marL="342900" lvl="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width can be increased and decreased according to data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EFBDD6-FCA1-109A-8DBE-8C900BA4538A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7F1ED04-C736-6FCA-DC40-61B51771C53A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COLUMN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161F0AD-FC1B-8721-7330-D7C4CA3E0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AA70B5-3A1D-D2D2-DE14-0E5A9D974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866117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443" y="1219200"/>
            <a:ext cx="8983014" cy="449809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size boxes in excel sheet is called a cells in which data can be enter</a:t>
            </a:r>
          </a:p>
          <a:p>
            <a:pPr marL="342900" lvl="0" indent="-342900" algn="just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Size of cells can be increases according to data size</a:t>
            </a:r>
          </a:p>
          <a:p>
            <a:pPr marL="342900" lvl="0" indent="-342900" algn="just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cells in a worksheet 17,17,98,69,184</a:t>
            </a:r>
          </a:p>
          <a:p>
            <a:pPr marL="342900" lvl="0" indent="-342900" algn="just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change of total cells in worksheet after inserting a new cells</a:t>
            </a:r>
          </a:p>
          <a:p>
            <a:pPr marL="342900" lvl="0" indent="-342900" algn="just">
              <a:lnSpc>
                <a:spcPct val="150000"/>
              </a:lnSpc>
              <a:spcAft>
                <a:spcPts val="24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Cells can be merge two or more horizontal or vertical cells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3DEFFFA-C7A0-FE9A-995C-A1F18BBD3913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9F35F19-13B2-E155-F972-994E06D0A36F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WHAT IS CELL</a:t>
              </a:r>
              <a:endParaRPr lang="en-IN" sz="36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08437F6-08A0-27F4-305B-50ACB3889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AB1D1A8-BDF3-D8FB-F221-B69EE71A3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400976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" y="914400"/>
            <a:ext cx="9105900" cy="326698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 POINTER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	A rectangle high-light into the left corner of   </a:t>
            </a:r>
            <a:b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worksheet.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CELL REFERENCE:</a:t>
            </a:r>
          </a:p>
          <a:p>
            <a:pPr marL="2171700" lvl="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It is a co-ordination of row and column.</a:t>
            </a:r>
          </a:p>
          <a:p>
            <a:pPr marL="2171700" lvl="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shows the location of cells in a worksheet.</a:t>
            </a:r>
          </a:p>
          <a:p>
            <a:pPr marL="2171700" lvl="4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can be used in one cells or range of cells.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83" y="4409646"/>
            <a:ext cx="7731084" cy="229271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930A667-2FCF-5582-3C04-EB1D919AC1DA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9BEDE0-0D19-D7B4-8647-2E8797959FA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CELL POINTER &amp; CELL REFERENCE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719131-12F6-44E4-9831-4A50CD46A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8446493-6C99-22DD-3F5B-0A1A312A4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959817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096" y="925210"/>
            <a:ext cx="8983014" cy="30162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bar at the top of the excel window.</a:t>
            </a: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 to enter or edit values or formulas in cells or charts. </a:t>
            </a: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Displays the constant value or formula stored in the active cell.</a:t>
            </a: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bar can be resize by CTRL + SHIFT+ U.</a:t>
            </a: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You can hide and unhide the formula bar.</a:t>
            </a:r>
          </a:p>
          <a:p>
            <a:pPr marL="342900" lvl="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its height (expand it), but you can’t change its position.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968885"/>
            <a:ext cx="8686800" cy="12240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295900"/>
            <a:ext cx="8686800" cy="15621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3BFF2ED-3EAA-3F68-DF88-9DB7BC92EECC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DE4D21-9C20-A57C-F311-49921DA5863E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FORMULA BAR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83A5CFB-84F0-BB4B-A8AA-3CBFFFD38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D38407-1C68-17D3-50FC-58C607BE0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3502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202359"/>
              </p:ext>
            </p:extLst>
          </p:nvPr>
        </p:nvGraphicFramePr>
        <p:xfrm>
          <a:off x="175098" y="1050586"/>
          <a:ext cx="8816502" cy="573122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408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file name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Book1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font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Calibri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font size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zoom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pointer location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 open sheet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Sheet1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 command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tab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</a:t>
                      </a:r>
                      <a:endParaRPr lang="en-US" sz="20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font size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font size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409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zoom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zoom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400%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 of column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to XFD (16,384)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 of row</a:t>
                      </a:r>
                      <a:endParaRPr lang="en-US" sz="2000" b="1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10,48,576</a:t>
                      </a:r>
                      <a:endParaRPr lang="en-US" sz="2000" b="1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no of cell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17,17,98,69,184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Password encryption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 character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71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extn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xlsx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D2987FB8-AB30-86A9-E1C8-ED3F1C1E92DB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154CED-58E6-117E-B192-5FC6884AF58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IMPORTANT TIPS &amp; TERMS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F425861-79E6-A41C-0204-42E37EEC8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7FC12F-CD38-029A-B135-0CA3B9EFD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009795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3910535-7410-4847-8F45-298A65B70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97" y="1066912"/>
            <a:ext cx="8915669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Paste command always used to paste the copy data from one document to other or in the same document.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But in excel, any data which is stored in excel contain so many different thing (like formatting, formulas,  data validation, conditional formatting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we copy the data from excel sheet, some time we need to paste only data of that copied data except all other things.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that time paste special command is become very useful</a:t>
            </a:r>
          </a:p>
          <a:p>
            <a:pPr marL="342900" indent="-342900" algn="just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Paste special option provide different option to paste the data as per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reqmt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EEB95F-12B3-F287-B3D0-86C8F64D8951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922310F-521C-6FB0-285D-E5EB4EEBB096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PASTE SPECIAL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C42791-37A8-C3AB-8D96-8388FAB1C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5072E8C-1368-2948-34D4-A81E9663E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430668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7D8B0B-A7BF-4887-89A8-290EC51DF2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312" t="21375" r="30781" b="27489"/>
          <a:stretch/>
        </p:blipFill>
        <p:spPr>
          <a:xfrm>
            <a:off x="252919" y="1050587"/>
            <a:ext cx="8633906" cy="5464462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ECA3BEC-4F4E-7053-3A3F-1CE4C463823C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5F2AC8-BEF9-31EA-E702-A5B6170C674D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PASTE SPECIAL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43AB10-6775-21C5-DFDF-87F560D7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A94578-B1C3-39B8-4F0B-D211C963E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451928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611EC5-6787-4445-A9EF-C9D7E0579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69528"/>
              </p:ext>
            </p:extLst>
          </p:nvPr>
        </p:nvGraphicFramePr>
        <p:xfrm>
          <a:off x="204283" y="1031130"/>
          <a:ext cx="8742146" cy="5742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38342">
                  <a:extLst>
                    <a:ext uri="{9D8B030D-6E8A-4147-A177-3AD203B41FA5}">
                      <a16:colId xmlns:a16="http://schemas.microsoft.com/office/drawing/2014/main" val="4090738790"/>
                    </a:ext>
                  </a:extLst>
                </a:gridCol>
                <a:gridCol w="6303804">
                  <a:extLst>
                    <a:ext uri="{9D8B030D-6E8A-4147-A177-3AD203B41FA5}">
                      <a16:colId xmlns:a16="http://schemas.microsoft.com/office/drawing/2014/main" val="1550785400"/>
                    </a:ext>
                  </a:extLst>
                </a:gridCol>
              </a:tblGrid>
              <a:tr h="264185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all cell contents and formatting of the copied data.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4220435032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Formulas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only the formulas of the copied data as entered in the formula bar.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501617389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only the values of the copied data as displayed in the cells.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1605164927"/>
                  </a:ext>
                </a:extLst>
              </a:tr>
              <a:tr h="264185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only cell formatting of the copied data.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2649481274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Comments and Notes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only comments and notes attached to the copied cell.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2664907894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Validation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data validation rules for the copied cells to the paste area.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988094027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using Source theme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all cell contents in the document theme formatting that is applied to the copied data.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1904693905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except borders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all cell contents and formatting applied to the copied cell except borders.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3703123267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 widths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the width of one copied column or range of columns to another column or range of columns.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967333786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Formulas and number formats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only formulas and all number formatting options from the copied cells.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2433614262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Values and number formats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only values and all number formatting options from the copied cells.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3457853084"/>
                  </a:ext>
                </a:extLst>
              </a:tr>
              <a:tr h="499796"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merging conditional formats</a:t>
                      </a:r>
                    </a:p>
                  </a:txBody>
                  <a:tcPr marL="41584" marR="41584" marT="16634" marB="16634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i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Pastes the contents and conditional formatting options from the copied cells.</a:t>
                      </a:r>
                    </a:p>
                  </a:txBody>
                  <a:tcPr marL="41584" marR="41584" marT="16634" marB="16634"/>
                </a:tc>
                <a:extLst>
                  <a:ext uri="{0D108BD9-81ED-4DB2-BD59-A6C34878D82A}">
                    <a16:rowId xmlns:a16="http://schemas.microsoft.com/office/drawing/2014/main" val="430351330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9E52A1F8-74F5-9C26-5358-A02897F94E0B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9F594D8-42D5-3496-A07A-425F926F180A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PASTE SPECIAL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52D1DA-B902-4CF0-A8E6-FDC3E4489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0F1A56F-172F-D5F7-0CA6-3C62E4EA4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536836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CF9BB3-B59D-4BF6-A2B2-609A83797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562275"/>
              </p:ext>
            </p:extLst>
          </p:nvPr>
        </p:nvGraphicFramePr>
        <p:xfrm>
          <a:off x="136010" y="975549"/>
          <a:ext cx="8873080" cy="545904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3007">
                  <a:extLst>
                    <a:ext uri="{9D8B030D-6E8A-4147-A177-3AD203B41FA5}">
                      <a16:colId xmlns:a16="http://schemas.microsoft.com/office/drawing/2014/main" val="2335059908"/>
                    </a:ext>
                  </a:extLst>
                </a:gridCol>
                <a:gridCol w="6720073">
                  <a:extLst>
                    <a:ext uri="{9D8B030D-6E8A-4147-A177-3AD203B41FA5}">
                      <a16:colId xmlns:a16="http://schemas.microsoft.com/office/drawing/2014/main" val="3749631627"/>
                    </a:ext>
                  </a:extLst>
                </a:gridCol>
              </a:tblGrid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</a:p>
                  </a:txBody>
                  <a:tcPr marL="85522" marR="85522" marT="34209" marB="3420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Specifies that no mathematical operation will be applied to the copied data.</a:t>
                      </a:r>
                    </a:p>
                  </a:txBody>
                  <a:tcPr marL="85522" marR="85522" marT="34209" marB="34209"/>
                </a:tc>
                <a:extLst>
                  <a:ext uri="{0D108BD9-81ED-4DB2-BD59-A6C34878D82A}">
                    <a16:rowId xmlns:a16="http://schemas.microsoft.com/office/drawing/2014/main" val="1327199231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</a:t>
                      </a:r>
                    </a:p>
                  </a:txBody>
                  <a:tcPr marL="85522" marR="85522" marT="34209" marB="3420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Adds the copied data to the data in the destination cell or range of cells.</a:t>
                      </a:r>
                    </a:p>
                  </a:txBody>
                  <a:tcPr marL="85522" marR="85522" marT="34209" marB="34209"/>
                </a:tc>
                <a:extLst>
                  <a:ext uri="{0D108BD9-81ED-4DB2-BD59-A6C34878D82A}">
                    <a16:rowId xmlns:a16="http://schemas.microsoft.com/office/drawing/2014/main" val="363938279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</a:t>
                      </a:r>
                    </a:p>
                  </a:txBody>
                  <a:tcPr marL="85522" marR="85522" marT="34209" marB="3420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Subtracts the copied data from the data in the destination cell or range of cells.</a:t>
                      </a:r>
                    </a:p>
                  </a:txBody>
                  <a:tcPr marL="85522" marR="85522" marT="34209" marB="34209"/>
                </a:tc>
                <a:extLst>
                  <a:ext uri="{0D108BD9-81ED-4DB2-BD59-A6C34878D82A}">
                    <a16:rowId xmlns:a16="http://schemas.microsoft.com/office/drawing/2014/main" val="1857897673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Multiply</a:t>
                      </a:r>
                    </a:p>
                  </a:txBody>
                  <a:tcPr marL="85522" marR="85522" marT="34209" marB="3420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Multiplies the copied data with the data in the destination cell or range of cells.</a:t>
                      </a:r>
                    </a:p>
                  </a:txBody>
                  <a:tcPr marL="85522" marR="85522" marT="34209" marB="34209"/>
                </a:tc>
                <a:extLst>
                  <a:ext uri="{0D108BD9-81ED-4DB2-BD59-A6C34878D82A}">
                    <a16:rowId xmlns:a16="http://schemas.microsoft.com/office/drawing/2014/main" val="3088047368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Divide</a:t>
                      </a:r>
                    </a:p>
                  </a:txBody>
                  <a:tcPr marL="85522" marR="85522" marT="34209" marB="34209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Divides the copied data by the data in the destination cell or range of cells.</a:t>
                      </a:r>
                    </a:p>
                  </a:txBody>
                  <a:tcPr marL="85522" marR="85522" marT="34209" marB="34209"/>
                </a:tc>
                <a:extLst>
                  <a:ext uri="{0D108BD9-81ED-4DB2-BD59-A6C34878D82A}">
                    <a16:rowId xmlns:a16="http://schemas.microsoft.com/office/drawing/2014/main" val="355476865"/>
                  </a:ext>
                </a:extLst>
              </a:tr>
              <a:tr h="649173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Skip blanks</a:t>
                      </a: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Avoids replacing values in your paste area when blank cells occur in the copy area when you select this check box.</a:t>
                      </a: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91787581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Transpose</a:t>
                      </a: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 columns of copied data to rows and vice versa when you select this check box.</a:t>
                      </a: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515149976"/>
                  </a:ext>
                </a:extLst>
              </a:tr>
              <a:tr h="392552"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 Link</a:t>
                      </a: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b="1" dirty="0">
                          <a:solidFill>
                            <a:srgbClr val="1E1E1E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Click to create a link to the copied cell(s).</a:t>
                      </a: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2562994361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A90D076C-3215-1DEB-1D5F-FF753B45050D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68B6A7-8C68-F21D-159F-99922E93872C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PASTE SPECIAL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D1DC88-F3B8-185A-21A2-B885E55D5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DF0E393-9B7A-B563-F9AB-91E81EAD2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564756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69" y="1356058"/>
            <a:ext cx="48006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0838" indent="-350838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Conditional formatting formula provides the functionality to highlight cells with a certain color, depending on the cell’s value or a specific condition.</a:t>
            </a:r>
          </a:p>
          <a:p>
            <a:pPr marL="350838" indent="-350838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is a fantastic way to quickly visualize data in an excel sheet. By conditional formatting rules in Excel, you can highlight data with provided criteria.</a:t>
            </a:r>
            <a:endParaRPr lang="en-US" sz="1600" b="1" dirty="0">
              <a:solidFill>
                <a:srgbClr val="111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0838" indent="-350838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formatting options allow you to apply different formatting options, such as background colour, borders, or font formatting to data that meets certain conditions.</a:t>
            </a:r>
          </a:p>
          <a:p>
            <a:pPr marL="285750" lvl="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cell can have up to 3 format conditions, each with its own formats, in addition to the default value of "no formatting".  This allows you to have different formats depending on the value of the cell. </a:t>
            </a:r>
            <a:endParaRPr lang="en-US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BFE5A-35D1-45E2-AC17-67463B9F76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65" t="2405" r="25102" b="13012"/>
          <a:stretch/>
        </p:blipFill>
        <p:spPr>
          <a:xfrm>
            <a:off x="5114925" y="1428750"/>
            <a:ext cx="3886200" cy="48405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456A451-1028-4F43-A2B6-840B65988E8A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E29A443-AABA-9C18-A202-6FA2B6DB185C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CONDITIONAL FORMATTING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1FC18E9-1E55-25ED-8EB7-7F4ABFA5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3413C3-4F4D-A70D-A463-03B09913C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821332645"/>
      </p:ext>
    </p:extLst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131" y="938480"/>
            <a:ext cx="891566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FILL HANDLE</a:t>
            </a:r>
            <a:r>
              <a:rPr kumimoji="0" lang="en-US" sz="2000" b="1" i="0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The small black square in the lower-right corner of the selection. When you point to the fill handle, the pointer changes to a black cross.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69" name="Picture 2457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918" y="2437227"/>
            <a:ext cx="5745082" cy="392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4D4BBD5-8991-88D0-6A78-51BE09DDA740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474231-7A36-FEB9-B94A-837DE2113E8D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AUTO FILL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8D203B-248E-1026-7A95-24C1373D8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AB87E7-79A1-7411-0BDA-812269404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367365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4165" y="855315"/>
            <a:ext cx="8915669" cy="6036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Fill series: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The fill series command is a command in excel sheet which enables you to open the series dialog box. This dialog box then enables you to enter values into many cells with just a few clicks.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Linear: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    Creates a series that is calculated by adding the value in the step value box to each cell value in turn.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0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Growth:</a:t>
            </a:r>
            <a:r>
              <a:rPr lang="en-IN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Creates a series that is calculated by multiplying the value in the step value box by each cell value in turn.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Creates a series that fills date values incrementally by the value in the step value box and dependent on the unit specified under date unit.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368E19-B275-5B05-E984-2BFC0A9BAEFD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A023178-D395-0072-40A7-3EC53FFF7FA0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AUTO FILL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2B366D-E94C-BEE5-089D-79168608C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056EDEE-89B1-ACE0-D2F4-E4A183B70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9086464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167" y="4495800"/>
            <a:ext cx="3063559" cy="1647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Flash Fill Example 1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102"/>
          <a:stretch/>
        </p:blipFill>
        <p:spPr bwMode="auto">
          <a:xfrm>
            <a:off x="6243751" y="4495801"/>
            <a:ext cx="2811145" cy="1665872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0" y="4477753"/>
            <a:ext cx="2811145" cy="1683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127" y="1102974"/>
            <a:ext cx="880163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Flash Fill automatically fills your data when it senses a pattern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For example, you can use Flash Fill to separate first and last names from a single column, or combine first and last names from two different columns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Flash Fill is only available in Excel 2013 and later. Windows/ Mac OS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7AC08B-B109-7674-E957-293B258FEAF4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5F797A1-D03D-95FD-01FB-CDD049CFBB0A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FLASH FILL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DAFDF6F-4E0A-A99D-4C96-A0E8A6832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56FCFB4-C507-4B1C-144F-E0D3E3F0B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828436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374842"/>
            <a:ext cx="7239000" cy="457199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F96876-94BC-AC42-D240-1809C2CD1235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9AEB32-B940-0773-FC08-500D27D1282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AUTO SUM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12D6792-1BE2-5CF6-0023-5A801BE89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6815F95-936C-4C08-7F75-3720C7962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638776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97" y="914183"/>
            <a:ext cx="8989006" cy="586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A pivot table is a tool in data summation that is common in many business software. It is utilized to collect the summary of a specific data set in a compressed technique.</a:t>
            </a: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  <a:latin typeface="Roboto" panose="02000000000000000000" pitchFamily="2" charset="0"/>
              </a:rPr>
              <a:t>They let the user make a faster organization and drawing of conclusions from data being collected. </a:t>
            </a: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70C0"/>
                </a:solidFill>
                <a:effectLst/>
                <a:latin typeface="Roboto" panose="02000000000000000000" pitchFamily="2" charset="0"/>
              </a:rPr>
              <a:t>Pivot table consists of columns, rows, pages, and data fields. </a:t>
            </a: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These can be moved around and it assists in expanding, isolating, summarizing, and grouping the specific data. And all of these can be accomplished in real time</a:t>
            </a:r>
            <a:r>
              <a:rPr lang="en-US" b="0" i="0" dirty="0">
                <a:solidFill>
                  <a:srgbClr val="FF0000"/>
                </a:solidFill>
                <a:effectLst/>
                <a:latin typeface="Roboto" panose="02000000000000000000" pitchFamily="2" charset="0"/>
              </a:rPr>
              <a:t>.</a:t>
            </a:r>
            <a:endParaRPr lang="en-US" b="1" i="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pivot table is a special Excel tool that allows you to summarize and explore data interactively</a:t>
            </a: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pivot table allows you to extract the significance from a large, detailed data set.</a:t>
            </a:r>
            <a:endParaRPr lang="en-US" b="1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Pivot Table is a tool which is used to store the summary of a large data set in a condensed manner. </a:t>
            </a: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Pivot Table enables the user to view the differences in a very big set of information. </a:t>
            </a:r>
            <a:endParaRPr lang="en-US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73050" indent="-185738" algn="just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is very helpful in organizing a large amount of data in Microsoft Excel.</a:t>
            </a:r>
            <a:endParaRPr lang="en-US" b="1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99C4E1-A45E-BC1A-BFE9-17B7227DE1B9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E597DE4-5AB9-EFFE-29F9-90957BA869E7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PIVOT TABLE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F985EA-5137-C041-4C69-23B0F1FA1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68C7CD-C2EF-1067-ECD3-23D3AE9AA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175156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96" y="914400"/>
            <a:ext cx="9066503" cy="4305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Tables are user-friendly</a:t>
            </a:r>
          </a:p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tables can create instant data</a:t>
            </a:r>
          </a:p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 makes data analysis easier</a:t>
            </a:r>
          </a:p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 summarizes data easily</a:t>
            </a:r>
          </a:p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 assists in finding data patterns</a:t>
            </a:r>
          </a:p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 creates accurate reports faster</a:t>
            </a:r>
          </a:p>
          <a:p>
            <a:pPr marL="8001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Pivot tables can help in making decisions faster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025853-EDAC-F6C0-85FA-05239F1ABDBC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1C42D6-6F76-0BB7-631F-3CB981B3D9EC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ADVANTAGE OF PIVOT TABLE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CE3ABD-C71F-5502-38CA-D203612B9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032F2CD-2B3A-1608-F43E-CAD66377F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392080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96" y="914400"/>
            <a:ext cx="9066503" cy="18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Slicers are visual form of filters. Using a slicer, you can filter your data (or pivot table, pivot chart) by clicking on the type of data you want.</a:t>
            </a:r>
          </a:p>
          <a:p>
            <a:pPr marL="8001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Slicers are available only in Excel 2010 and above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AE12E-0EE5-41EF-94F1-B8F7C78EB2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00" b="66897"/>
          <a:stretch/>
        </p:blipFill>
        <p:spPr>
          <a:xfrm>
            <a:off x="878638" y="3259014"/>
            <a:ext cx="7386724" cy="312446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A39115F-8771-2E9C-B51E-7DA4FD76BD27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F342BF-694C-1A90-D169-040DA1268C1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SLICER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456DBAA-488F-7CCB-4D3E-8B033226B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27F66DE-2E59-A93C-1FAB-AE972E0DB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954669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34979"/>
            <a:ext cx="8763000" cy="183682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92378"/>
            <a:ext cx="4338638" cy="3435183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21096"/>
            <a:ext cx="3429000" cy="360646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687746-EF83-4C9D-034D-0A09D67B1845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15CB8A5-BCF6-B926-E469-A635FC58D719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PAGE SETUP AND PRINTING EXCEL WORKSHEET</a:t>
              </a:r>
              <a:endParaRPr lang="en-IN" sz="24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6195EB8-6750-D996-9173-AA86AF846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2B069D-9628-9B76-5786-B543D974C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508331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7497" y="772376"/>
            <a:ext cx="8839200" cy="5955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FORMULAS</a:t>
            </a:r>
            <a:endParaRPr lang="en-US" sz="16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Excel, a formula is an expression that operates on values in a range of cells or a cell. For example, =A1+A2+A3, which finds the sum of the range of values from cell A1 to cell A3.</a:t>
            </a:r>
            <a:endParaRPr lang="en-US" sz="1600" b="1" dirty="0">
              <a:solidFill>
                <a:srgbClr val="C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formula is an expression which calculates the value of a cell. Formula is made by user as per </a:t>
            </a:r>
            <a:r>
              <a:rPr lang="en-US" sz="1600" b="1" i="0" dirty="0" err="1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reqmt</a:t>
            </a:r>
            <a:r>
              <a:rPr lang="en-US" sz="16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b="1" dirty="0"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u="sng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FUNCTION</a:t>
            </a:r>
            <a:endParaRPr lang="en-US" sz="1600" b="1" dirty="0">
              <a:solidFill>
                <a:srgbClr val="FF0000"/>
              </a:solidFill>
              <a:ea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Functions are predefined formulas in Excel. They eliminate laborious manual entry of formulas while giving them human-friendly names. For example: =SUM(A1:A3). The function sums all the values from A1 to A3.</a:t>
            </a:r>
            <a:endParaRPr lang="en-US" sz="16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Functions are predefined formulas and are already available in Excel.</a:t>
            </a:r>
            <a:endParaRPr lang="en-US" sz="16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is another term that is very familiar to Excel formulas, and that is "</a:t>
            </a:r>
            <a:r>
              <a:rPr lang="en-US" sz="1600" b="1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fun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". The two words, "formulas" and "functions" are sometimes interchangeable. They are closely related, but yet different. A formula begins with an equal sign. Meanwhile, functions are used to perform complex calculations that cannot be done manually. Functions in excel have names that reflect their intended use.</a:t>
            </a:r>
            <a:endParaRPr lang="en-US" sz="16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E06E76-8ADB-2C54-9D1A-B3E7D3426EBE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FD9087-C00E-4A1C-F770-2DCDD2BFE8E8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FORMULAS &amp; FUNCTIONS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CE0B7DF-BCB1-511E-8162-7F28D9763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78E217-A594-E70F-F3D2-BD5EAD939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894994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OPERATORS: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Operators a sign or symbol. The specific type of calculation to perform within an expression.  There are mathematical, comparison, logical and reference.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 operators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 operators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concatenation operators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operators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46A0A6-39F5-E6D2-AF01-83D8D90E0F11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C587CE-718D-5E91-0A98-56D21CC1D7DE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FORMULA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23C639-1C05-9326-083C-8C025B65D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064389-020A-D041-37BD-29F9CC80B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606619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1416"/>
              </p:ext>
            </p:extLst>
          </p:nvPr>
        </p:nvGraphicFramePr>
        <p:xfrm>
          <a:off x="357925" y="1219200"/>
          <a:ext cx="8629650" cy="4945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93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6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5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1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ARITHMETIC OPERATOR</a:t>
                      </a:r>
                      <a:endParaRPr lang="en-US" sz="2400" b="1" u="sng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1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  <a:endParaRPr lang="en-US" sz="2400" b="1" u="sng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b="1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US" sz="2400" b="1" u="sng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79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 (PLUS SIGN)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ADDITION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9+8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9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 (MINUS SIGN)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SUBTRACTION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9-8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9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 (ASTERISK)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MULTIPLICATION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9*8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79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(FORWARD SLASH)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9/8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79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(PERCENT SIGN)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15%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E632D9F-35B7-1BCE-9939-8FE7E7E8E1A5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119079D-3F20-BDD2-A8C6-F38AB29B7E14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ARITHIMETIC OPERATOR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13655B-0A4B-4ECF-4AB2-340E3A647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7B5473B-2C03-83CC-906C-4B4AF1617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4235243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914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60340"/>
              </p:ext>
            </p:extLst>
          </p:nvPr>
        </p:nvGraphicFramePr>
        <p:xfrm>
          <a:off x="194604" y="1102334"/>
          <a:ext cx="8763000" cy="5298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2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COMPARISON OPERATOR</a:t>
                      </a:r>
                      <a:endParaRPr lang="en-US" sz="1800" b="1" u="sng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  <a:endParaRPr lang="en-US" sz="1800" b="1" u="sng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US" sz="1800" b="1" u="sng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(EQUAL SIGN)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 TO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A1=B1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 (GREATER THAN      SIGN)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GREATER THAN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A1&gt;B1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(LESS THAN SIGN)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THAN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A1&lt;B1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 (GREATER THAN  OR EQUAL TO SIGN)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GREATER THAN OR EQUAL TO 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A1&gt;=B1</a:t>
                      </a:r>
                      <a:endParaRPr lang="en-US" sz="16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 (LESS THAN OR EQUAL TO SIGN)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THAN OR EQUAL TO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A1&lt;=B1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9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&lt;&gt; (NOT EQUAL TO   SIGN)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EQUAL TO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A1&lt;&gt;B1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23DE00AD-DD9B-EF10-B39D-622CE32CF793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E3ED7D-E706-EBF7-1F6C-99E9718EFFC4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COMPARISON OPERATOR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E4ECEB-3980-344D-E637-8119C8D7D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71F2B5-C999-E0A0-0CB2-DB634C955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351952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40246" y="975575"/>
            <a:ext cx="7162800" cy="5408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DATE &amp; TIME FUNCTION.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TEXT FUNCTION.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LOGICAL FUNCTION.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LOOKUP &amp; REFERENCE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MATH &amp; TRIGONOMETRY</a:t>
            </a:r>
            <a:endParaRPr 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MORE FUNCTION</a:t>
            </a: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Statistical</a:t>
            </a: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Engineering</a:t>
            </a:r>
            <a:endParaRPr 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Cube</a:t>
            </a:r>
          </a:p>
          <a:p>
            <a:pPr marL="742950" lvl="1" indent="-285750">
              <a:lnSpc>
                <a:spcPct val="107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Information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Compatibility</a:t>
            </a:r>
            <a:endParaRPr lang="en-US" sz="2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AEDDBA-0E3E-48F7-BF36-B4824BD5C1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00" r="47333" b="10870"/>
          <a:stretch/>
        </p:blipFill>
        <p:spPr>
          <a:xfrm>
            <a:off x="4182203" y="1143000"/>
            <a:ext cx="4790347" cy="55168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7B24CBE-942D-B5E5-88F0-676F6C5D2259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A021A4-C049-1E3C-1FF8-182AEB8D148E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TYPE OF FUNCTION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F71A09F-752D-17D2-E505-B71FB05DD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C1E1C9-F2CC-E248-E2AE-F62ADD148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269635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7950" y="1273965"/>
            <a:ext cx="8839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enter a date in Excel, use the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"/" or "-"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characters. To enter a time,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the ":" (colon). You can also enter a date and a time in one cell.</a:t>
            </a:r>
            <a:endParaRPr kumimoji="0" 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9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" y="2649193"/>
            <a:ext cx="7681913" cy="1990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20859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5C7270-3D7B-36D7-C415-35EE8C79B49B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F54501-A236-08BD-4E3E-AC80D6C3D5A6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DATE &amp; TIME FUNCITON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B6E88F-A83E-03C7-93AE-B9CB91732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6DB6CE-6238-CCD5-9489-42798335E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75171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20859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555346"/>
              </p:ext>
            </p:extLst>
          </p:nvPr>
        </p:nvGraphicFramePr>
        <p:xfrm>
          <a:off x="122464" y="1113405"/>
          <a:ext cx="8850086" cy="55178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6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0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 OF FUNCTION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SYNTAX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DATEDIF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=DATEDIF(CELLREF, CELLREF,”Y”)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 RESULT YEAR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DATEDIF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=DATEDIF(CELLREF, CELLREF,”YM”)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 RESULT MONTH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DATEDIF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=DATEDIF(CELLREF, CELLREF,”MD”)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 RESULT DAYS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TODAY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=TODAY()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TODAY'S DATE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NOW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=NOW()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DATE AND TIME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; (SEMICOLON).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DATE AS A STATIC VALUE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60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SHIFT + : (SEMICOLON).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TIME AS A STATIC VALUE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21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=(NOW()-DOB)/365.25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=DATEDIF(A2,TODAY(),”y”)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CALCULATE AGE/SERVICE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=INT((TODAY()-30.4073))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 MONTH DATE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=INT((TODAY()+ 30.4073))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 MONTH DATE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C12B19CF-3345-775A-351E-45E6ECF6E9D5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83B727-F8A7-8E66-F854-403B90CB523D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DATE &amp; TIME FUNCTION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E3F4EC-4F8C-EC81-0FD7-E52F37303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DD3B4AB-A9A5-F5A9-1EBF-CCB759F81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575941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208592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361466"/>
              </p:ext>
            </p:extLst>
          </p:nvPr>
        </p:nvGraphicFramePr>
        <p:xfrm>
          <a:off x="76200" y="990600"/>
          <a:ext cx="9010649" cy="57944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=SUM(CELL RG:CELL RG)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ADDITION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6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=AVERAGE(CELL RG:CELL RG)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AVERAGE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=Max(Cell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Rg:Cell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=Min(Cell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Rg:Cell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Rg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26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=COUNT (CELL RG:CELL RG)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COUNT NUMERIC VALUE CELL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05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COUNTA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=COUNTA (CELL RG : CELL RG)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COUNT NUMERIC AND TEXT VALUE CELLS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6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COUNTIF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=COUNTIF(CELL REF)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FIND OUT VALUE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464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COUNTBLANK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=COUNTBLANK (CELL RG:CELL RG)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COUNT EMPTY CELL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05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ROUND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=ROUND(E15,0.5)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0955" marR="20955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THAN 0.5 LOWER OR ABOVE 0.5 UPPER DIGIT 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41D96511-552A-FA9D-A895-9BC1275119A1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269DFE-A129-4D29-7AD5-434B06C70DB9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MATHEMATICAL FUNCTION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20BCFA5-553E-ADB0-5501-B6FC8FC44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D1254CC-D1BC-CA11-63C2-240360661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166418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3350" y="1143000"/>
            <a:ext cx="883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144565"/>
              </p:ext>
            </p:extLst>
          </p:nvPr>
        </p:nvGraphicFramePr>
        <p:xfrm>
          <a:off x="266699" y="990600"/>
          <a:ext cx="8572501" cy="55625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9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0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9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HLOOKUP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VLOOKUP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8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assumes that data is arranged as a table with different elements of the information in different rows.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Whereas it assumes that data is arranged as a table with different elements of the information in different columns.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looks for a value horizontally across the lookup table.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looks for a value vertically across the lookup table.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03.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use of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HLookup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 is less as compared to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VLookup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function.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use of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VLookup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 is more than compared to 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HLookup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function.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04.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is used when data is listed in rows.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Whereas it is used when data are listed in columns.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78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HLookup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function, the value the user is searching in the table or range must be in the top-most column. 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</a:t>
                      </a:r>
                      <a:r>
                        <a:rPr lang="en-US" sz="1600" dirty="0" err="1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VLookup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function, the value the user is searching must be located in the left-most column of the table or range.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06.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HLookup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 returns the searched value in the same column.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VLookup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 returns the searched value in the same row but in the next column. 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07.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H in the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HLookup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function stands for horizontal search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V in VLookup function stands for Vertical search.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50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is used to find out data from a range in the bottom-most range.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helps to find out the data in the leftmost column.</a:t>
                      </a:r>
                      <a:endParaRPr lang="en-US" sz="160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6755" marR="6675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639C540-D8CA-87A6-97D2-FCA67FF1C097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0245FD-2F82-266D-4EF6-BEABA1822238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DIFFERENCE BETWEEN HLOOKUP &amp; VLOOKUP</a:t>
              </a:r>
              <a:endParaRPr lang="en-IN" sz="24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286428-7330-9D7D-264E-0DD292991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991E7D4-62A6-1CBA-63FA-13327195C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325230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489" y="907162"/>
            <a:ext cx="8983014" cy="55092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you freeze panes, Excel keeps specific rows or columns visible when you scroll in the worksheet.</a:t>
            </a:r>
          </a:p>
          <a:p>
            <a:pPr lvl="0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Freeze the first column </a:t>
            </a:r>
          </a:p>
          <a:p>
            <a:pPr lvl="0" eaLnBrk="0" hangingPunct="0">
              <a:tabLst>
                <a:tab pos="457200" algn="l"/>
              </a:tabLst>
            </a:pP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 View &gt; Freeze Panes &gt; Freeze First Column.</a:t>
            </a:r>
          </a:p>
          <a:p>
            <a:pPr lvl="0" eaLnBrk="0" hangingPunct="0">
              <a:tabLst>
                <a:tab pos="457200" algn="l"/>
              </a:tabLst>
            </a:pPr>
            <a:endParaRPr lang="en-US" sz="20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hangingPunct="0"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Freeze the first two columns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 the third column.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 View &gt; Freeze Panes &gt; Freeze Panes.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000" b="1" dirty="0">
              <a:solidFill>
                <a:srgbClr val="C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hangingPunct="0"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Freeze columns and rows 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 the cell below the rows and to the right of the columns you want to keep visible when you scroll.</a:t>
            </a: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Select View &gt; Freeze Panes &gt; Freeze Panes.</a:t>
            </a:r>
          </a:p>
          <a:p>
            <a:pPr lvl="0" eaLnBrk="0" hangingPunct="0">
              <a:tabLst>
                <a:tab pos="457200" algn="l"/>
              </a:tabLst>
            </a:pPr>
            <a:endParaRPr lang="en-US" sz="32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hangingPunct="0"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Unfreeze rows or columns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eaLnBrk="0" hangingPunct="0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On the View tab &gt; Window &gt; Unfreeze Panes.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FREEZE PANE:</a:t>
            </a: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497" y="4888087"/>
            <a:ext cx="2905125" cy="1903412"/>
          </a:xfrm>
          <a:prstGeom prst="rect">
            <a:avLst/>
          </a:prstGeom>
          <a:noFill/>
          <a:ln w="12700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646CEFF-36A0-5371-BD45-15CE780C04CC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9E7170-6C9D-C3DB-A8D2-9E6481AF3C1A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FREEZE PANE</a:t>
              </a:r>
              <a:endParaRPr lang="en-IN" sz="32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B8BEC1C-C13A-2D57-4862-55213B742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54BA73B-BDD4-71FB-6BF2-9A7F1779F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469991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224721"/>
              </p:ext>
            </p:extLst>
          </p:nvPr>
        </p:nvGraphicFramePr>
        <p:xfrm>
          <a:off x="76200" y="1371600"/>
          <a:ext cx="8839200" cy="377152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range of cell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Click the first cells of the range, and then drag to the last cell.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cells on a worksheet</a:t>
                      </a:r>
                      <a:endParaRPr lang="en-US" sz="20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Click the select all button</a:t>
                      </a:r>
                      <a:endParaRPr lang="en-US" sz="20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Cell ranges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 Mouse click at various cells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large range of cells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SHIFT+ Mouse click at various cells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large range of rows or column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SHIFT+ Mouse click at row or column labels or F8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different range of rows or column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 Mouse click at row or column labels</a:t>
                      </a:r>
                      <a:endParaRPr lang="en-US" sz="2000" b="1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C138420-E4E5-ABFE-FD1E-EF6F4325F1CE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10C8E6-8A2F-E431-CC4A-6BDB6744A614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u="sng" dirty="0">
                  <a:latin typeface="Arial" panose="020B0604020202020204" pitchFamily="34" charset="0"/>
                  <a:cs typeface="Arial" panose="020B0604020202020204" pitchFamily="34" charset="0"/>
                </a:rPr>
                <a:t>SELECTION OF CELL/RANGES OF CELL</a:t>
              </a:r>
              <a:endParaRPr lang="en-IN" sz="28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3057D0-B5A2-7C17-1B1E-4B1B1978A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BC7E2CF-136F-B655-F74C-89BA8B8B5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0305587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068298"/>
              </p:ext>
            </p:extLst>
          </p:nvPr>
        </p:nvGraphicFramePr>
        <p:xfrm>
          <a:off x="0" y="1136367"/>
          <a:ext cx="9144000" cy="5483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8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5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ARROW KEYS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ONE CELL UP, DOWN,</a:t>
                      </a:r>
                      <a:r>
                        <a:rPr lang="en-US" sz="1800" b="1" baseline="0" dirty="0">
                          <a:ln w="285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LEFT OR RIGHT</a:t>
                      </a:r>
                      <a:endParaRPr lang="en-US" sz="1800" b="1" dirty="0">
                        <a:ln w="285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504"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ARROW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END OF THE CURRENT SHEET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349"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BEGINNING OF THE 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464"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HOME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BEGINNING OF THE WORKSHEET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0464"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CHART OF CURRENT</a:t>
                      </a:r>
                      <a:r>
                        <a:rPr lang="en-US" sz="1800" b="1" baseline="0" dirty="0">
                          <a:ln w="28575"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ON SEPARATE TAB</a:t>
                      </a:r>
                      <a:endParaRPr lang="en-US" sz="1800" b="1" dirty="0">
                        <a:ln w="28575"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349"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CTRL+F10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MAXIMISE</a:t>
                      </a:r>
                      <a:r>
                        <a:rPr lang="en-US" sz="1800" b="1" baseline="0" dirty="0">
                          <a:ln w="28575"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RESTORE WINDOW</a:t>
                      </a:r>
                      <a:endParaRPr lang="en-US" sz="1800" b="1" dirty="0">
                        <a:ln w="28575"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7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LAST CELL ON THE WORKSHEET CONTENT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37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DOWN ONE SCREEN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376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PAGE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UP ONE SCREEN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34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 + PAGE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ONE SCREEN</a:t>
                      </a:r>
                      <a:r>
                        <a:rPr lang="en-US" sz="18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THE RIGHT</a:t>
                      </a:r>
                      <a:endParaRPr lang="en-US" sz="18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349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 + PAGE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ONE SCREEN TO THE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F0CECFA8-79C0-F674-0556-BC91DF550202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3F6D2B-AEC7-311A-EE5D-624CA088917C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KEYS FOR MOVING AND SCROLLING IN A </a:t>
              </a:r>
            </a:p>
            <a:p>
              <a:pPr algn="ctr"/>
              <a:r>
                <a:rPr lang="en-US" sz="2400" b="1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WORKSHEET OR WORKBOOK</a:t>
              </a:r>
              <a:endParaRPr lang="en-IN" sz="24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A6DE58-091B-9924-6E25-67A88B5DA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8F56A05-15C5-CB71-36C1-F7CE8FDE1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682262216"/>
      </p:ext>
    </p:extLst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448742"/>
              </p:ext>
            </p:extLst>
          </p:nvPr>
        </p:nvGraphicFramePr>
        <p:xfrm>
          <a:off x="19456" y="974392"/>
          <a:ext cx="9144000" cy="576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PAGE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NEXT SHEET IN THE WORKBOOK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PAGE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 THE PREVIOUS SHEET IN THE WORKBOOK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CTRL+F6 OR CTRL+TAB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 TO</a:t>
                      </a:r>
                      <a:r>
                        <a:rPr lang="en-US" sz="1800" b="1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NEXT WORKBOOK OR WINDOW</a:t>
                      </a:r>
                      <a:endParaRPr lang="en-US" sz="18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18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DISPLAY THE GO TO DIALOG BOX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18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SHIFT+F5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DISPLAY THE FIND</a:t>
                      </a:r>
                      <a:r>
                        <a:rPr lang="en-US" sz="18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DIALOG BOX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A CELL ENTRY AND MOVE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605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ALT+ENTER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A NEW LINE IN THE SAME CELL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A CELL ENTRY</a:t>
                      </a:r>
                      <a:r>
                        <a:rPr lang="en-US" sz="18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MOVE TO THE RIGHT</a:t>
                      </a:r>
                      <a:endParaRPr lang="en-US" sz="18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SHIFT+TAB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A CELL ENTRY AND MOVE TO THE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4B67BDF-E2E7-351E-E5CE-7299A0FE9E8A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3E9142-8E39-4387-7644-B761F4C63476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KEYS FOR MOVING AND SCROLLING IN A </a:t>
              </a:r>
            </a:p>
            <a:p>
              <a:pPr algn="ctr"/>
              <a:r>
                <a:rPr lang="en-US" sz="2400" b="1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WORKSHEET OR WORKBOOK</a:t>
              </a:r>
              <a:endParaRPr lang="en-IN" sz="24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572E90-17AB-3C06-12FC-72486FF16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1E293F1-8AB8-C592-3657-0BFBD0A4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541300347"/>
      </p:ext>
    </p:extLst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925377"/>
              </p:ext>
            </p:extLst>
          </p:nvPr>
        </p:nvGraphicFramePr>
        <p:xfrm>
          <a:off x="38100" y="990600"/>
          <a:ext cx="8877301" cy="4057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6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0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CANCEL A CELL ENTRY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FILL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1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FILL TO THE 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18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 + 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EDIT A CELL COMMENTS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18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EDIT THE ACTIVE CELL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60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DISPLAY THE SPELLING DIALOG BOX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CFB63F18-0D4E-92E6-DE71-D93487753690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A126C-D619-2F22-B5F5-499AFC9E9631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KEYS FOR MOVING AND SCROLLING IN A </a:t>
              </a:r>
            </a:p>
            <a:p>
              <a:pPr algn="ctr"/>
              <a:r>
                <a:rPr lang="en-US" sz="2400" b="1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WORKSHEET OR WORKBOOK</a:t>
              </a:r>
              <a:endParaRPr lang="en-IN" sz="2400" b="1" u="sng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DE5828-22D7-C325-F377-C3CD3A983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8FE72DC-526A-0DEB-F4D4-06293D411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175567858"/>
      </p:ext>
    </p:extLst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97023"/>
              </p:ext>
            </p:extLst>
          </p:nvPr>
        </p:nvGraphicFramePr>
        <p:xfrm>
          <a:off x="609600" y="1066800"/>
          <a:ext cx="7848600" cy="5532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6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4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  <a:r>
                        <a:rPr lang="en-US" sz="22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FORMAT CELL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414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QUICK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448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OUTLINE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HIDE 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HIDE</a:t>
                      </a:r>
                      <a:r>
                        <a:rPr lang="en-US" sz="22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COLUMN</a:t>
                      </a:r>
                      <a:endParaRPr lang="en-US" sz="22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</a:t>
                      </a:r>
                      <a:r>
                        <a:rPr lang="en-US" sz="2200" b="1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SHIFT+(</a:t>
                      </a:r>
                      <a:endParaRPr lang="en-US" sz="2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UNHIDE 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</a:t>
                      </a:r>
                      <a:r>
                        <a:rPr lang="en-US" sz="22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SHIFT+)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UNHIDE 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</a:t>
                      </a:r>
                      <a:r>
                        <a:rPr lang="en-US" sz="22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</a:t>
                      </a:r>
                      <a:endParaRPr lang="en-US" sz="22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OPTION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CTRL+SHIFT+: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CURRENT 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6542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CTRL+ALT+V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PASTE SPECIAL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CC3B562-EB38-13B7-8974-698074C82F1E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212E81-E04B-419E-D3C0-FD499EDB9514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KEYS FOR ENTERING/ EDITING DATA </a:t>
              </a:r>
              <a:b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 A WORKSHEET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32B50D3-3AC8-6A63-0D70-74AF87647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9A98AF-99A6-95E5-74E1-8DB3A1F54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616430692"/>
      </p:ext>
    </p:extLst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893612"/>
              </p:ext>
            </p:extLst>
          </p:nvPr>
        </p:nvGraphicFramePr>
        <p:xfrm>
          <a:off x="76200" y="1097282"/>
          <a:ext cx="8915400" cy="545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8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22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+SHIFT+</a:t>
                      </a:r>
                      <a:r>
                        <a:rPr lang="en-US" sz="22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DIALOGUE BOX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44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DELETE DIALOGUE</a:t>
                      </a:r>
                      <a:r>
                        <a:rPr lang="en-US" sz="22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BOX</a:t>
                      </a:r>
                      <a:endParaRPr lang="en-US" sz="22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406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SHIFT +U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SWITCHES BETWEEN EXPANDING AND COLLAPSING OF THE FORMULA BAR</a:t>
                      </a:r>
                      <a:endParaRPr lang="en-US" sz="2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984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COPIES THE VALUE FROM THE CELL ABOVE THE ACTIVE CELL INTO THE CELL OR THE FORMULA BAR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 +TAB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MOVES TO THE PREVIOUS CELL</a:t>
                      </a:r>
                      <a:endParaRPr lang="en-US" sz="22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 + SPACEBAR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</a:t>
                      </a:r>
                      <a:r>
                        <a:rPr lang="en-US" sz="2200" b="1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ENTIRE ROW</a:t>
                      </a:r>
                      <a:endParaRPr lang="en-US" sz="2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</a:t>
                      </a:r>
                      <a:r>
                        <a:rPr lang="en-US" sz="22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SPACEBAR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 ENTIRE 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</a:t>
                      </a:r>
                      <a:r>
                        <a:rPr lang="en-US" sz="22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SHIFT +L</a:t>
                      </a:r>
                      <a:endParaRPr lang="en-US" sz="22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REAPPLY THE FILTER AND SORT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SHIFT+</a:t>
                      </a:r>
                      <a:r>
                        <a:rPr lang="en-US" sz="2200" b="1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F11</a:t>
                      </a:r>
                      <a:endParaRPr lang="en-US" sz="2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</a:t>
                      </a:r>
                      <a:r>
                        <a:rPr lang="en-US" sz="2200" b="1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SHEET</a:t>
                      </a:r>
                      <a:endParaRPr lang="en-US" sz="22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28082A0C-43CF-8100-7D05-DD2141BA90AA}"/>
              </a:ext>
            </a:extLst>
          </p:cNvPr>
          <p:cNvGrpSpPr/>
          <p:nvPr/>
        </p:nvGrpSpPr>
        <p:grpSpPr>
          <a:xfrm>
            <a:off x="0" y="11817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8856CD6-49CC-5F4D-0130-929718F2CC8D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KEYS FOR ENTERING/ EDITING DATA </a:t>
              </a:r>
              <a:b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 A WORKSHEET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8069B5-B1C5-C9BA-93E4-402D9CD2F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82CB75C-1C2D-C4B4-6ADC-01A228F55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975982489"/>
      </p:ext>
    </p:extLst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962197"/>
              </p:ext>
            </p:extLst>
          </p:nvPr>
        </p:nvGraphicFramePr>
        <p:xfrm>
          <a:off x="152400" y="1166410"/>
          <a:ext cx="8788400" cy="475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8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u="sng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+SHIFT+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7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APPLY OUTLINE BORDER TO CELL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 + SHIFT+_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 OUTLINE BORDER FROM CELL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8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ALT+=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INSERT AUTOSUM FORMULA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91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CTRL+SHIFT+P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SHOWS FONT TAB OF</a:t>
                      </a:r>
                      <a:r>
                        <a:rPr lang="en-US" sz="2000" b="1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FORMAT CELL</a:t>
                      </a:r>
                      <a:endParaRPr lang="en-US" sz="2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DISPLAY</a:t>
                      </a:r>
                      <a:r>
                        <a:rPr lang="en-US" sz="20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 </a:t>
                      </a:r>
                      <a:r>
                        <a:rPr lang="en-US" sz="2000" b="1" baseline="0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TABLE OPTION</a:t>
                      </a:r>
                      <a:endParaRPr lang="en-US" sz="20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 CELLS THAT CONTAIN FORMULAS THAT DIRECTLY REFERENCE THE ACTIVE CELL</a:t>
                      </a:r>
                      <a:endParaRPr lang="en-US" sz="20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FLASH FILL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82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CTRL+W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70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CLOSE ACTIVE SHEET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C931B697-41AD-8D5E-AAB5-74F091B9B691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A55F06D-645D-385F-08E4-7572FD3C0F70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KEYS FOR ENTERING/ EDITING DATA </a:t>
              </a:r>
              <a:b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4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 A WORKSHEET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FFD1784-0F88-B82A-78B0-CF4F306D6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656B17F-24F6-E0AD-85A4-31B0DA3B8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2222470679"/>
      </p:ext>
    </p:extLst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066800"/>
            <a:ext cx="9144000" cy="1063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Excel Data Validation is a feature that restricts (validates) user input to a worksheet. Technically, you create a validation rule that controls what kind of data can be entered into a certain cell. Like</a:t>
            </a:r>
            <a:endParaRPr lang="en-US" sz="20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400" y="2388378"/>
            <a:ext cx="9906000" cy="3860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Allow only numeric or text values in a cell.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Allow only numbers within a specified range.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Allow data entries of a specific length.</a:t>
            </a:r>
            <a:endParaRPr lang="en-US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Restrict dates and times outside a given range.</a:t>
            </a:r>
            <a:endParaRPr lang="en-US" sz="2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Restrict entries to a selection from a drop-down list.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Validate an entry based on another cell.</a:t>
            </a:r>
            <a:endParaRPr lang="en-US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Show an input message when the user selects a cell.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Show a warning message when incorrect data has been entered.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ngal"/>
              </a:rPr>
              <a:t>Find incorrect entries in validated cells.</a:t>
            </a:r>
            <a:endParaRPr lang="en-US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17C3F4-F5CD-A38A-BC92-7213CD566C5D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6BF9F6-DF1C-FCAF-813B-F631EC9EDBC4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VALIDATION OF DATA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AA50F60-D2F2-FA06-BB0B-D3E4FC76F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E7F00A-5768-B3B2-98F8-741C8A892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761763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0668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filter tool gives you the ability to filter a column of data within a table to isolate the key components you need. The sorting tool allows you to sort by date, number, alphabetic order and more.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048000"/>
            <a:ext cx="6934199" cy="316293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47503C2-9657-2C6B-4B1F-58933DB523E3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18C949-F42F-422F-6E46-4D9D5896C0AD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SORTING &amp; FILTERING OF DATA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011FF7A-AAD0-1F1F-15AA-385B9557D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388D97A-7E8F-F20C-5A8D-1B90A84CE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4551543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219200"/>
            <a:ext cx="8458200" cy="326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A chart is a visual representative of data in both columns and rows.</a:t>
            </a:r>
            <a:endParaRPr lang="en-US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Charts are also known as graphs.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A chart is essentially an object that excel creates upon request. This object consists of one or more data series, displayed graphically. 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Mangal"/>
              </a:rPr>
              <a:t>Charts are dynamic. In other words, a chart series is linked to the data in your worksheet. It gets change when the chart is updated to reflect those changes. </a:t>
            </a:r>
            <a:endParaRPr lang="en-US" sz="20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F421F6-D2E5-94D6-4EBE-F023EC878877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116799-27D5-DB6E-88D7-4C62422CA396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WHAT IS CHART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6D70E83-5426-A233-488F-62414849B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EE2EB2-3F6E-94B4-B465-AFDC28800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6803438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002371"/>
            <a:ext cx="534312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371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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Embedded charts</a:t>
            </a:r>
          </a:p>
          <a:p>
            <a:pPr lvl="1">
              <a:buFont typeface="Wingdings" panose="05000000000000000000" pitchFamily="2" charset="2"/>
              <a:buChar char=""/>
            </a:pPr>
            <a:endParaRPr lang="en-US" sz="2000" dirty="0"/>
          </a:p>
          <a:p>
            <a:pPr lvl="2">
              <a:buFont typeface="Wingdings" panose="05000000000000000000" pitchFamily="2" charset="2"/>
              <a:buChar char="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Alt+f1 to create an embedded chart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371600" algn="l"/>
              </a:tabLst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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Chart sheet chart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371600" algn="l"/>
              </a:tabLst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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F11 to create a chart sheet chart.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71600" algn="l"/>
              </a:tabLst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073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56916"/>
            <a:ext cx="7315200" cy="2751203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3657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2358A1-F0A5-E00A-BEED-75650542889D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0BDA47-1448-5616-D261-75C33285E0B6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CLASSIFICATION OF CHARTS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10B0D4-BBA1-CCA1-561A-184C82BDA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C1B3A1-9949-39B8-9F7C-86AEFFD33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67578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3657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627" y="1288093"/>
            <a:ext cx="6248400" cy="31914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84872"/>
            <a:ext cx="2014855" cy="374432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DC29ECA-03DF-46F7-2351-8C97039CCF7C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DB4BD0-073E-F617-B4CB-FE8787AB3AAE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ELEMENTS OF CHART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8B9060-7D1F-6EB2-B58E-A0F48F347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332858-49EE-B516-90C2-54D160DFD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3097083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3657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9112" y="1189881"/>
            <a:ext cx="4218258" cy="4921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Column chart.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Line chart.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Pie or doughnut chart.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Bar chart.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Area chart.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 y (scatter) chart.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Stock.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Surface chart.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4307BC-A43F-C27F-91E2-9A4FCB2DBCE9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0C533C-55DE-4AF3-B8BB-7D22F30C6BB7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TYPES OF CHART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9E829E-3FDD-4E33-A7F1-979789FE8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4BFDBDA-8F24-462E-8DEB-6A21D55E4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DAE3AFF-9F7F-6D2D-6794-2DDE9EAAB995}"/>
              </a:ext>
            </a:extLst>
          </p:cNvPr>
          <p:cNvSpPr/>
          <p:nvPr/>
        </p:nvSpPr>
        <p:spPr>
          <a:xfrm>
            <a:off x="4906802" y="1157465"/>
            <a:ext cx="3560020" cy="5536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Bubble.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Radar.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Tree map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Sunbrust</a:t>
            </a:r>
            <a:endParaRPr lang="en-US" sz="2000" b="1" dirty="0">
              <a:solidFill>
                <a:srgbClr val="0070C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Hist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ogram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Box &amp; whisker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Waterfall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Funnel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"/>
            </a:pP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Combo</a:t>
            </a:r>
            <a:endParaRPr lang="en-US" sz="2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1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5967" y="1153196"/>
            <a:ext cx="8589135" cy="341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u="sng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SECURITY OF DATA:</a:t>
            </a:r>
            <a:endParaRPr lang="en-US" sz="2000" b="1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Excel sheet can be secure by the following method applied.</a:t>
            </a:r>
            <a:endParaRPr 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Encryption  document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File  protection</a:t>
            </a: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Worksheet  protect</a:t>
            </a:r>
            <a:endParaRPr lang="en-US" sz="20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Workbook  protect</a:t>
            </a:r>
            <a:endParaRPr lang="en-US" sz="2000" b="1" dirty="0">
              <a:solidFill>
                <a:srgbClr val="0070C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2304"/>
            <a:ext cx="8387902" cy="1905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AC20C05-B730-6BB4-C3D7-1F240C7D2E8A}"/>
              </a:ext>
            </a:extLst>
          </p:cNvPr>
          <p:cNvGrpSpPr/>
          <p:nvPr/>
        </p:nvGrpSpPr>
        <p:grpSpPr>
          <a:xfrm>
            <a:off x="6482" y="48640"/>
            <a:ext cx="9144000" cy="847682"/>
            <a:chOff x="0" y="11817"/>
            <a:chExt cx="9144000" cy="8476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4C89AC2-0467-98C5-3706-F8F422E75F24}"/>
                </a:ext>
              </a:extLst>
            </p:cNvPr>
            <p:cNvSpPr/>
            <p:nvPr/>
          </p:nvSpPr>
          <p:spPr>
            <a:xfrm>
              <a:off x="0" y="11817"/>
              <a:ext cx="9144000" cy="84768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>
                <a:defRPr/>
              </a:pPr>
              <a:r>
                <a:rPr lang="en-US" sz="3200" b="1" u="sng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SECURITY OF DATA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0BC925D-05DB-3E9E-B4D9-DE3FE7DAD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7067" y="66501"/>
              <a:ext cx="619436" cy="785977"/>
            </a:xfrm>
            <a:prstGeom prst="rect">
              <a:avLst/>
            </a:prstGeom>
            <a:solidFill>
              <a:srgbClr val="C00000"/>
            </a:solidFill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45F2FE-0E4A-12EC-A08A-9F0FBF344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97" y="66501"/>
              <a:ext cx="619436" cy="785978"/>
            </a:xfrm>
            <a:prstGeom prst="rect">
              <a:avLst/>
            </a:prstGeom>
            <a:solidFill>
              <a:srgbClr val="C00000"/>
            </a:solidFill>
          </p:spPr>
        </p:pic>
      </p:grpSp>
    </p:spTree>
    <p:extLst>
      <p:ext uri="{BB962C8B-B14F-4D97-AF65-F5344CB8AC3E}">
        <p14:creationId xmlns:p14="http://schemas.microsoft.com/office/powerpoint/2010/main" val="159885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6739</TotalTime>
  <Words>4138</Words>
  <Application>Microsoft Office PowerPoint</Application>
  <PresentationFormat>On-screen Show (4:3)</PresentationFormat>
  <Paragraphs>645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Courier New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Surinder Kumar;HI Surinder Kumar</dc:creator>
  <cp:lastModifiedBy>dupinder singh</cp:lastModifiedBy>
  <cp:revision>220</cp:revision>
  <dcterms:created xsi:type="dcterms:W3CDTF">2022-06-10T06:54:57Z</dcterms:created>
  <dcterms:modified xsi:type="dcterms:W3CDTF">2025-04-18T13:27:39Z</dcterms:modified>
</cp:coreProperties>
</file>