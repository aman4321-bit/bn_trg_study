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68" r:id="rId2"/>
    <p:sldId id="351" r:id="rId3"/>
    <p:sldId id="369" r:id="rId4"/>
    <p:sldId id="380" r:id="rId5"/>
    <p:sldId id="381" r:id="rId6"/>
    <p:sldId id="379" r:id="rId7"/>
    <p:sldId id="376" r:id="rId8"/>
    <p:sldId id="370" r:id="rId9"/>
    <p:sldId id="378" r:id="rId10"/>
    <p:sldId id="377" r:id="rId11"/>
    <p:sldId id="371" r:id="rId12"/>
    <p:sldId id="372" r:id="rId13"/>
    <p:sldId id="383" r:id="rId14"/>
    <p:sldId id="382" r:id="rId15"/>
    <p:sldId id="384" r:id="rId16"/>
    <p:sldId id="373" r:id="rId17"/>
    <p:sldId id="374" r:id="rId18"/>
    <p:sldId id="37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319C7B-C101-4786-B769-6FE8E8349C09}" v="1" dt="2026-08-21T06:39:55.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171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ash panwar" userId="8de14b5b44ffa98d" providerId="LiveId" clId="{E6294A6B-34DD-4FF2-9BD0-4AFFDFE2589F}"/>
    <pc:docChg chg="undo custSel addSld modSld">
      <pc:chgData name="vikash panwar" userId="8de14b5b44ffa98d" providerId="LiveId" clId="{E6294A6B-34DD-4FF2-9BD0-4AFFDFE2589F}" dt="2026-08-21T07:00:33.639" v="2445" actId="6549"/>
      <pc:docMkLst>
        <pc:docMk/>
      </pc:docMkLst>
      <pc:sldChg chg="modSp mod">
        <pc:chgData name="vikash panwar" userId="8de14b5b44ffa98d" providerId="LiveId" clId="{E6294A6B-34DD-4FF2-9BD0-4AFFDFE2589F}" dt="2026-08-21T06:38:59.141" v="756" actId="14100"/>
        <pc:sldMkLst>
          <pc:docMk/>
          <pc:sldMk cId="1060009810" sldId="369"/>
        </pc:sldMkLst>
        <pc:spChg chg="mod">
          <ac:chgData name="vikash panwar" userId="8de14b5b44ffa98d" providerId="LiveId" clId="{E6294A6B-34DD-4FF2-9BD0-4AFFDFE2589F}" dt="2026-08-21T06:38:28.353" v="752" actId="15"/>
          <ac:spMkLst>
            <pc:docMk/>
            <pc:sldMk cId="1060009810" sldId="369"/>
            <ac:spMk id="2" creationId="{9154F3CF-CB08-00A1-FE85-11DC2E72ABD7}"/>
          </ac:spMkLst>
        </pc:spChg>
        <pc:picChg chg="mod">
          <ac:chgData name="vikash panwar" userId="8de14b5b44ffa98d" providerId="LiveId" clId="{E6294A6B-34DD-4FF2-9BD0-4AFFDFE2589F}" dt="2026-08-21T06:38:59.141" v="756" actId="14100"/>
          <ac:picMkLst>
            <pc:docMk/>
            <pc:sldMk cId="1060009810" sldId="369"/>
            <ac:picMk id="5" creationId="{C34DE143-6960-DA9C-1827-022283591247}"/>
          </ac:picMkLst>
        </pc:picChg>
      </pc:sldChg>
      <pc:sldChg chg="modSp add mod">
        <pc:chgData name="vikash panwar" userId="8de14b5b44ffa98d" providerId="LiveId" clId="{E6294A6B-34DD-4FF2-9BD0-4AFFDFE2589F}" dt="2026-08-21T06:35:47.442" v="689" actId="113"/>
        <pc:sldMkLst>
          <pc:docMk/>
          <pc:sldMk cId="1559485827" sldId="379"/>
        </pc:sldMkLst>
        <pc:spChg chg="mod">
          <ac:chgData name="vikash panwar" userId="8de14b5b44ffa98d" providerId="LiveId" clId="{E6294A6B-34DD-4FF2-9BD0-4AFFDFE2589F}" dt="2026-08-21T06:35:47.442" v="689" actId="113"/>
          <ac:spMkLst>
            <pc:docMk/>
            <pc:sldMk cId="1559485827" sldId="379"/>
            <ac:spMk id="2" creationId="{6C547A36-7149-77E8-8225-EC31962F2573}"/>
          </ac:spMkLst>
        </pc:spChg>
      </pc:sldChg>
      <pc:sldChg chg="addSp delSp modSp new mod">
        <pc:chgData name="vikash panwar" userId="8de14b5b44ffa98d" providerId="LiveId" clId="{E6294A6B-34DD-4FF2-9BD0-4AFFDFE2589F}" dt="2026-08-21T06:55:12.329" v="1567" actId="20577"/>
        <pc:sldMkLst>
          <pc:docMk/>
          <pc:sldMk cId="1063206705" sldId="380"/>
        </pc:sldMkLst>
        <pc:spChg chg="del">
          <ac:chgData name="vikash panwar" userId="8de14b5b44ffa98d" providerId="LiveId" clId="{E6294A6B-34DD-4FF2-9BD0-4AFFDFE2589F}" dt="2026-08-21T06:38:51.738" v="754" actId="478"/>
          <ac:spMkLst>
            <pc:docMk/>
            <pc:sldMk cId="1063206705" sldId="380"/>
            <ac:spMk id="2" creationId="{704B39C9-7C55-DEF0-32CB-A98ED2B32C74}"/>
          </ac:spMkLst>
        </pc:spChg>
        <pc:spChg chg="del">
          <ac:chgData name="vikash panwar" userId="8de14b5b44ffa98d" providerId="LiveId" clId="{E6294A6B-34DD-4FF2-9BD0-4AFFDFE2589F}" dt="2026-08-21T06:38:51.738" v="754" actId="478"/>
          <ac:spMkLst>
            <pc:docMk/>
            <pc:sldMk cId="1063206705" sldId="380"/>
            <ac:spMk id="3" creationId="{3BB6B453-575F-2265-DA00-FD2EE293B93E}"/>
          </ac:spMkLst>
        </pc:spChg>
        <pc:spChg chg="add mod">
          <ac:chgData name="vikash panwar" userId="8de14b5b44ffa98d" providerId="LiveId" clId="{E6294A6B-34DD-4FF2-9BD0-4AFFDFE2589F}" dt="2026-08-21T06:39:43.013" v="815" actId="20577"/>
          <ac:spMkLst>
            <pc:docMk/>
            <pc:sldMk cId="1063206705" sldId="380"/>
            <ac:spMk id="5" creationId="{888E0068-D350-7B43-FF93-0107593D94B1}"/>
          </ac:spMkLst>
        </pc:spChg>
        <pc:spChg chg="add mod">
          <ac:chgData name="vikash panwar" userId="8de14b5b44ffa98d" providerId="LiveId" clId="{E6294A6B-34DD-4FF2-9BD0-4AFFDFE2589F}" dt="2026-08-21T06:55:12.329" v="1567" actId="20577"/>
          <ac:spMkLst>
            <pc:docMk/>
            <pc:sldMk cId="1063206705" sldId="380"/>
            <ac:spMk id="8" creationId="{7A2CB5FA-5765-C702-6B37-7B7D52E124DD}"/>
          </ac:spMkLst>
        </pc:spChg>
        <pc:picChg chg="add mod">
          <ac:chgData name="vikash panwar" userId="8de14b5b44ffa98d" providerId="LiveId" clId="{E6294A6B-34DD-4FF2-9BD0-4AFFDFE2589F}" dt="2026-08-21T06:39:17.903" v="759" actId="1076"/>
          <ac:picMkLst>
            <pc:docMk/>
            <pc:sldMk cId="1063206705" sldId="380"/>
            <ac:picMk id="7" creationId="{04EECDB8-A8AB-25C2-CFAC-BBBAA33A9FA0}"/>
          </ac:picMkLst>
        </pc:picChg>
      </pc:sldChg>
      <pc:sldChg chg="modSp add mod">
        <pc:chgData name="vikash panwar" userId="8de14b5b44ffa98d" providerId="LiveId" clId="{E6294A6B-34DD-4FF2-9BD0-4AFFDFE2589F}" dt="2026-08-21T07:00:33.639" v="2445" actId="6549"/>
        <pc:sldMkLst>
          <pc:docMk/>
          <pc:sldMk cId="2172191411" sldId="381"/>
        </pc:sldMkLst>
        <pc:spChg chg="mod">
          <ac:chgData name="vikash panwar" userId="8de14b5b44ffa98d" providerId="LiveId" clId="{E6294A6B-34DD-4FF2-9BD0-4AFFDFE2589F}" dt="2026-08-21T07:00:33.639" v="2445" actId="6549"/>
          <ac:spMkLst>
            <pc:docMk/>
            <pc:sldMk cId="2172191411" sldId="381"/>
            <ac:spMk id="8" creationId="{DCB74D9D-EF08-CD3A-15CC-AFA0DA46F7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E83C3-1449-45A5-B74C-526E953F109A}" type="datetimeFigureOut">
              <a:rPr lang="en-US" smtClean="0"/>
              <a:t>8/22/2026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611D52-673F-462B-B8D4-F98815A2F18C}" type="slidenum">
              <a:rPr lang="en-US" smtClean="0"/>
              <a:t>‹#›</a:t>
            </a:fld>
            <a:endParaRPr lang="en-US"/>
          </a:p>
        </p:txBody>
      </p:sp>
    </p:spTree>
    <p:extLst>
      <p:ext uri="{BB962C8B-B14F-4D97-AF65-F5344CB8AC3E}">
        <p14:creationId xmlns:p14="http://schemas.microsoft.com/office/powerpoint/2010/main" val="693953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611D52-673F-462B-B8D4-F98815A2F18C}" type="slidenum">
              <a:rPr lang="en-US" smtClean="0"/>
              <a:t>9</a:t>
            </a:fld>
            <a:endParaRPr lang="en-US"/>
          </a:p>
        </p:txBody>
      </p:sp>
    </p:spTree>
    <p:extLst>
      <p:ext uri="{BB962C8B-B14F-4D97-AF65-F5344CB8AC3E}">
        <p14:creationId xmlns:p14="http://schemas.microsoft.com/office/powerpoint/2010/main" val="811645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C1C70-89DE-2971-C44B-B3F4AE05797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A18A84A0-97B1-5D95-061F-B9AD7BC0E33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745B3A-F80E-4C68-4C70-EE2B0DA60F96}"/>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5" name="Footer Placeholder 4">
            <a:extLst>
              <a:ext uri="{FF2B5EF4-FFF2-40B4-BE49-F238E27FC236}">
                <a16:creationId xmlns:a16="http://schemas.microsoft.com/office/drawing/2014/main" id="{5C8DEAAB-1A0B-E0D3-396D-CD73F2DF36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1D2E66-7B5D-E47F-5D06-F2FDC99637C2}"/>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1513402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25-C2BB-8F14-6DA6-A1744AE10F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2D3E00-E6C1-B464-7D48-B5CE775E1C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435686-F4B6-E70D-5DEA-87B3504BC9E0}"/>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5" name="Footer Placeholder 4">
            <a:extLst>
              <a:ext uri="{FF2B5EF4-FFF2-40B4-BE49-F238E27FC236}">
                <a16:creationId xmlns:a16="http://schemas.microsoft.com/office/drawing/2014/main" id="{2126FF2E-7C38-2AB7-4740-B413268DD2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CB4977-297B-E745-AC23-9B3B31C04BBD}"/>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1580897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BB625-6867-1B75-FC41-852A2400B43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FF9870-61CA-920D-2A51-7BBFFD68247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55D149-5839-3AE4-4267-8A91A92F299A}"/>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5" name="Footer Placeholder 4">
            <a:extLst>
              <a:ext uri="{FF2B5EF4-FFF2-40B4-BE49-F238E27FC236}">
                <a16:creationId xmlns:a16="http://schemas.microsoft.com/office/drawing/2014/main" id="{D8A652B4-E8B9-AFC6-E581-6A2A2DB941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F5B87A-2415-AD92-555A-4BA00A4107E0}"/>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3456435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26F02-157F-C9C4-714E-E3895A1E87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719116-31FE-A27C-3546-F8593755781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232AA4-CAA2-FAB1-D903-068205843963}"/>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263EF9-6ED0-8DD4-EE2C-0DB58ACA49F5}"/>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6" name="Footer Placeholder 5">
            <a:extLst>
              <a:ext uri="{FF2B5EF4-FFF2-40B4-BE49-F238E27FC236}">
                <a16:creationId xmlns:a16="http://schemas.microsoft.com/office/drawing/2014/main" id="{324A523B-2C7D-03BE-9974-C3FB39D8EC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777A1D-053A-5CAC-C0BF-D5B5CF3538FB}"/>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166833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1C0DE-5F42-B17F-7B57-24FE058F5525}"/>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AACA50-CEF5-7EA7-BA1F-03EECC412DA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2F73CD2-90A7-489A-C89D-F7F22B1238A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1F57471-49F1-A0F4-BE5F-CDC77A72BC6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85D300E-0B71-B76F-CCFC-42D2AFA2955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8D5FC0-90D5-6B9B-BF8A-27CC0EADB51A}"/>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8" name="Footer Placeholder 7">
            <a:extLst>
              <a:ext uri="{FF2B5EF4-FFF2-40B4-BE49-F238E27FC236}">
                <a16:creationId xmlns:a16="http://schemas.microsoft.com/office/drawing/2014/main" id="{421FF41D-86E0-F34A-D0E6-6B95F48457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C28172-C7ED-764F-58D7-37B64E335798}"/>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462889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A4A4C-D319-6269-9539-82A8978C8F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796BCC9-DC06-39CB-0BAB-9D534F32F5EF}"/>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4" name="Footer Placeholder 3">
            <a:extLst>
              <a:ext uri="{FF2B5EF4-FFF2-40B4-BE49-F238E27FC236}">
                <a16:creationId xmlns:a16="http://schemas.microsoft.com/office/drawing/2014/main" id="{5B298DDE-151F-86FA-C8AD-D9C482611E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2BC000-D100-AFF9-9541-F35A6AFA9E59}"/>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4226287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9BB402-573A-95EF-2C89-A8E3B128D58E}"/>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3" name="Footer Placeholder 2">
            <a:extLst>
              <a:ext uri="{FF2B5EF4-FFF2-40B4-BE49-F238E27FC236}">
                <a16:creationId xmlns:a16="http://schemas.microsoft.com/office/drawing/2014/main" id="{605B3D2D-1164-D0DA-638E-2098FC292E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66168B3-1ADE-99D7-B901-B44554B78137}"/>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241443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B9545-2502-E520-AD63-A0CD785B061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194DDD-B7BB-0F19-D659-6703202E38CD}"/>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EF3654-CD3F-3F19-3C2D-37B57AA236B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128BBC6-52C7-CAFF-147B-F1592C09CA3A}"/>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6" name="Footer Placeholder 5">
            <a:extLst>
              <a:ext uri="{FF2B5EF4-FFF2-40B4-BE49-F238E27FC236}">
                <a16:creationId xmlns:a16="http://schemas.microsoft.com/office/drawing/2014/main" id="{0EA1E595-81B2-C41C-23EB-E04D05C357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596D82-685F-0FD3-A87B-67B4498A272C}"/>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20824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D6F9E-E45E-F935-1C8D-DC8F98BCFE5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68A413-8A54-A69E-9ED5-2F24DAEBF64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8D286D66-9BD7-B505-5DBB-52B468B92DA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F3A5530-7F8D-22E4-34D8-8A3040098920}"/>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6" name="Footer Placeholder 5">
            <a:extLst>
              <a:ext uri="{FF2B5EF4-FFF2-40B4-BE49-F238E27FC236}">
                <a16:creationId xmlns:a16="http://schemas.microsoft.com/office/drawing/2014/main" id="{64B15D89-52D0-BAA7-4F34-17F4073B68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02D83B-4DC9-793A-5206-EB9E2B94B523}"/>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3254494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78333-D3EB-8F01-711A-A3AC08E972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4DF3BE-58BB-DEA7-F7F1-47067F7798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8A5E63-91C6-E4E2-FD2A-F7D44967FF24}"/>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5" name="Footer Placeholder 4">
            <a:extLst>
              <a:ext uri="{FF2B5EF4-FFF2-40B4-BE49-F238E27FC236}">
                <a16:creationId xmlns:a16="http://schemas.microsoft.com/office/drawing/2014/main" id="{96913746-5B1A-B7DA-CA46-4F2D9739DF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ED0FF-9919-27BA-CDA4-DB505DAF2F7D}"/>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30626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3D47FC-76DA-2283-587C-3150673832CF}"/>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5AB555-B9EC-921C-D8F7-A28F58363B8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A8E6D-696A-5F67-E23C-9EC14E992DA0}"/>
              </a:ext>
            </a:extLst>
          </p:cNvPr>
          <p:cNvSpPr>
            <a:spLocks noGrp="1"/>
          </p:cNvSpPr>
          <p:nvPr>
            <p:ph type="dt" sz="half" idx="10"/>
          </p:nvPr>
        </p:nvSpPr>
        <p:spPr/>
        <p:txBody>
          <a:bodyPr/>
          <a:lstStyle/>
          <a:p>
            <a:fld id="{F7C3BFFD-095E-4ECE-BF9D-18B8CE01B874}" type="datetimeFigureOut">
              <a:rPr lang="en-IN" smtClean="0"/>
              <a:t>22-08-2026</a:t>
            </a:fld>
            <a:endParaRPr lang="en-IN"/>
          </a:p>
        </p:txBody>
      </p:sp>
      <p:sp>
        <p:nvSpPr>
          <p:cNvPr id="5" name="Footer Placeholder 4">
            <a:extLst>
              <a:ext uri="{FF2B5EF4-FFF2-40B4-BE49-F238E27FC236}">
                <a16:creationId xmlns:a16="http://schemas.microsoft.com/office/drawing/2014/main" id="{7174FE39-0D82-DA6A-493B-9A5EB4C237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7211A6-D69F-4660-DF5C-19D48D9C4745}"/>
              </a:ext>
            </a:extLst>
          </p:cNvPr>
          <p:cNvSpPr>
            <a:spLocks noGrp="1"/>
          </p:cNvSpPr>
          <p:nvPr>
            <p:ph type="sldNum" sz="quarter" idx="12"/>
          </p:nvPr>
        </p:nvSpPr>
        <p:spPr/>
        <p:txBody>
          <a:bodyPr/>
          <a:lstStyle/>
          <a:p>
            <a:fld id="{D9AC861E-E686-4284-BFED-B006869BE081}" type="slidenum">
              <a:rPr lang="en-IN" smtClean="0"/>
              <a:t>‹#›</a:t>
            </a:fld>
            <a:endParaRPr lang="en-IN"/>
          </a:p>
        </p:txBody>
      </p:sp>
    </p:spTree>
    <p:extLst>
      <p:ext uri="{BB962C8B-B14F-4D97-AF65-F5344CB8AC3E}">
        <p14:creationId xmlns:p14="http://schemas.microsoft.com/office/powerpoint/2010/main" val="337043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57E9DA-3D73-B778-0972-A3E2A19F40E0}"/>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1FBA3E-2634-F996-2DA2-4830C4DFA49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C92B0B-57FA-12EF-43B5-BB4F29CE69E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7C3BFFD-095E-4ECE-BF9D-18B8CE01B874}" type="datetimeFigureOut">
              <a:rPr lang="en-IN" smtClean="0"/>
              <a:t>22-08-2026</a:t>
            </a:fld>
            <a:endParaRPr lang="en-IN"/>
          </a:p>
        </p:txBody>
      </p:sp>
      <p:sp>
        <p:nvSpPr>
          <p:cNvPr id="5" name="Footer Placeholder 4">
            <a:extLst>
              <a:ext uri="{FF2B5EF4-FFF2-40B4-BE49-F238E27FC236}">
                <a16:creationId xmlns:a16="http://schemas.microsoft.com/office/drawing/2014/main" id="{64F39967-3E3E-5FE8-03F4-684B4FF5E62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E18B67E-23F7-5401-ADE2-545C86E826F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9AC861E-E686-4284-BFED-B006869BE081}" type="slidenum">
              <a:rPr lang="en-IN" smtClean="0"/>
              <a:t>‹#›</a:t>
            </a:fld>
            <a:endParaRPr lang="en-IN"/>
          </a:p>
        </p:txBody>
      </p:sp>
    </p:spTree>
    <p:extLst>
      <p:ext uri="{BB962C8B-B14F-4D97-AF65-F5344CB8AC3E}">
        <p14:creationId xmlns:p14="http://schemas.microsoft.com/office/powerpoint/2010/main" val="1773665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0C8BA-E734-7E9A-A578-4658448F553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48C8FDD-3F81-EDB6-D90B-5CF74088C7DE}"/>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1CBFB5B4-6809-2925-7E56-B18E6F249372}"/>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endParaRPr lang="en-IN" sz="2800" b="1"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r>
              <a:rPr lang="en-IN" sz="2800" b="1"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IN" sz="36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SUBJECT</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0FDE8E1A-FF65-46CA-D713-D40571C525F7}"/>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4" name="TextBox 3">
            <a:extLst>
              <a:ext uri="{FF2B5EF4-FFF2-40B4-BE49-F238E27FC236}">
                <a16:creationId xmlns:a16="http://schemas.microsoft.com/office/drawing/2014/main" id="{C3E5932A-DE68-EC12-667B-80D6855B24EB}"/>
              </a:ext>
            </a:extLst>
          </p:cNvPr>
          <p:cNvSpPr txBox="1">
            <a:spLocks noChangeArrowheads="1"/>
          </p:cNvSpPr>
          <p:nvPr/>
        </p:nvSpPr>
        <p:spPr bwMode="auto">
          <a:xfrm>
            <a:off x="35496" y="4146656"/>
            <a:ext cx="9144000" cy="1107996"/>
          </a:xfrm>
          <a:prstGeom prst="rect">
            <a:avLst/>
          </a:prstGeom>
          <a:solidFill>
            <a:srgbClr val="003300">
              <a:alpha val="79000"/>
            </a:srgbClr>
          </a:solidFill>
          <a:ln>
            <a:solidFill>
              <a:schemeClr val="bg1">
                <a:alpha val="4000"/>
              </a:schemeClr>
            </a:solidFill>
            <a:headEnd/>
            <a:tailEnd/>
          </a:ln>
        </p:spPr>
        <p:style>
          <a:lnRef idx="3">
            <a:schemeClr val="lt1"/>
          </a:lnRef>
          <a:fillRef idx="1">
            <a:schemeClr val="accent1"/>
          </a:fillRef>
          <a:effectRef idx="1">
            <a:schemeClr val="accent1"/>
          </a:effectRef>
          <a:fontRef idx="minor">
            <a:schemeClr val="lt1"/>
          </a:fontRef>
        </p:style>
        <p:txBody>
          <a:bodyPr wrap="square" anchor="t">
            <a:spAutoFit/>
          </a:bodyPr>
          <a:lstStyle/>
          <a:p>
            <a:pPr algn="ctr">
              <a:spcAft>
                <a:spcPts val="1200"/>
              </a:spcAft>
              <a:defRPr/>
            </a:pPr>
            <a:r>
              <a:rPr lang="en-US" sz="2800" b="1" u="sng" dirty="0">
                <a:ln w="10160">
                  <a:noFill/>
                  <a:prstDash val="solid"/>
                </a:ln>
                <a:solidFill>
                  <a:prstClr val="white"/>
                </a:solidFill>
                <a:latin typeface="Arial" panose="020B0604020202020204" pitchFamily="34" charset="0"/>
                <a:cs typeface="Arial" panose="020B0604020202020204" pitchFamily="34" charset="0"/>
              </a:rPr>
              <a:t>TO ACQUAINT THE CLASS ABOUT</a:t>
            </a:r>
          </a:p>
          <a:p>
            <a:pPr algn="ctr">
              <a:spcAft>
                <a:spcPts val="1200"/>
              </a:spcAft>
              <a:defRPr/>
            </a:pPr>
            <a:r>
              <a:rPr lang="en-US" sz="2800" b="1" u="sng" dirty="0">
                <a:ln w="10160">
                  <a:noFill/>
                  <a:prstDash val="solid"/>
                </a:ln>
                <a:solidFill>
                  <a:prstClr val="white"/>
                </a:solidFill>
                <a:latin typeface="Arial" panose="020B0604020202020204" pitchFamily="34" charset="0"/>
                <a:cs typeface="Arial" panose="020B0604020202020204" pitchFamily="34" charset="0"/>
              </a:rPr>
              <a:t>AI (ARTIFICIAL INTELLIGENCE)         </a:t>
            </a:r>
            <a:endParaRPr lang="en-IN" sz="2800" b="1" u="sng" dirty="0">
              <a:ln w="10160">
                <a:noFill/>
                <a:prstDash val="solid"/>
              </a:ln>
              <a:solidFill>
                <a:prstClr val="white"/>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B4614AF-740D-1172-BA3A-E3F874FD1D09}"/>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2911" b="96062" l="5793" r="94207">
                        <a14:foregroundMark x1="38791" y1="7021" x2="56927" y2="6849"/>
                        <a14:foregroundMark x1="51637" y1="3082" x2="51637" y2="3082"/>
                        <a14:foregroundMark x1="27960" y1="38870" x2="27960" y2="38870"/>
                        <a14:foregroundMark x1="6297" y1="50856" x2="6297" y2="50856"/>
                        <a14:foregroundMark x1="7557" y1="78596" x2="7557" y2="78596"/>
                        <a14:foregroundMark x1="14861" y1="60445" x2="18136" y2="74486"/>
                        <a14:foregroundMark x1="94207" y1="53425" x2="94207" y2="53425"/>
                        <a14:foregroundMark x1="81360" y1="62158" x2="89169" y2="74658"/>
                        <a14:foregroundMark x1="94207" y1="81507" x2="94207" y2="81507"/>
                        <a14:foregroundMark x1="68514" y1="96062" x2="68514" y2="96062"/>
                        <a14:foregroundMark x1="29723" y1="96062" x2="29723" y2="96062"/>
                      </a14:backgroundRemoval>
                    </a14:imgEffect>
                  </a14:imgLayer>
                </a14:imgProps>
              </a:ext>
              <a:ext uri="{28A0092B-C50C-407E-A947-70E740481C1C}">
                <a14:useLocalDpi xmlns:a14="http://schemas.microsoft.com/office/drawing/2010/main" val="0"/>
              </a:ext>
            </a:extLst>
          </a:blip>
          <a:stretch>
            <a:fillRect/>
          </a:stretch>
        </p:blipFill>
        <p:spPr>
          <a:xfrm>
            <a:off x="3855691" y="1705509"/>
            <a:ext cx="1432618" cy="2106194"/>
          </a:xfrm>
          <a:prstGeom prst="rect">
            <a:avLst/>
          </a:prstGeom>
        </p:spPr>
      </p:pic>
    </p:spTree>
    <p:extLst>
      <p:ext uri="{BB962C8B-B14F-4D97-AF65-F5344CB8AC3E}">
        <p14:creationId xmlns:p14="http://schemas.microsoft.com/office/powerpoint/2010/main" val="64620896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EC3E-ADE1-1305-1F65-0DED5E27C8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2CE3111-589B-9A28-4CDA-2EB3944B322E}"/>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531D6784-EEED-1585-549C-DA03403CCC5D}"/>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PREVIEW</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58C1417F-7FB3-6CDE-86D7-9E7C69832ABD}"/>
              </a:ext>
            </a:extLst>
          </p:cNvPr>
          <p:cNvSpPr txBox="1"/>
          <p:nvPr/>
        </p:nvSpPr>
        <p:spPr>
          <a:xfrm>
            <a:off x="896811" y="1862015"/>
            <a:ext cx="8184296" cy="2459071"/>
          </a:xfrm>
          <a:prstGeom prst="rect">
            <a:avLst/>
          </a:prstGeom>
          <a:noFill/>
        </p:spPr>
        <p:txBody>
          <a:bodyPr wrap="square" rtlCol="0">
            <a:spAutoFit/>
          </a:bodyPr>
          <a:lstStyle/>
          <a:p>
            <a:pPr marL="342900" indent="-342900" algn="just">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What is AI (artificial intelligence)</a:t>
            </a:r>
          </a:p>
          <a:p>
            <a:pPr marL="342900" indent="-342900" algn="just">
              <a:lnSpc>
                <a:spcPct val="20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Components of AI</a:t>
            </a:r>
          </a:p>
          <a:p>
            <a:pPr marL="342900" indent="-342900" algn="just">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Application of AI</a:t>
            </a:r>
          </a:p>
          <a:p>
            <a:pPr marL="342900" indent="-342900" algn="just">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Present role of AI in Indian army</a:t>
            </a:r>
          </a:p>
        </p:txBody>
      </p:sp>
    </p:spTree>
    <p:extLst>
      <p:ext uri="{BB962C8B-B14F-4D97-AF65-F5344CB8AC3E}">
        <p14:creationId xmlns:p14="http://schemas.microsoft.com/office/powerpoint/2010/main" val="30841767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E9DCE-0603-FA27-9FD6-D14EAB9F785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FC8BFD1-AD56-B784-16B4-700C196D410E}"/>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95B227DC-81E9-69F4-245D-0B940DB6CECC}"/>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INTRO TO ARTIFICIAL INTELLIGENCE</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C34DE143-6960-DA9C-1827-022283591247}"/>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9154F3CF-CB08-00A1-FE85-11DC2E72ABD7}"/>
              </a:ext>
            </a:extLst>
          </p:cNvPr>
          <p:cNvSpPr txBox="1"/>
          <p:nvPr/>
        </p:nvSpPr>
        <p:spPr>
          <a:xfrm>
            <a:off x="121920" y="1299756"/>
            <a:ext cx="8838118" cy="4247317"/>
          </a:xfrm>
          <a:prstGeom prst="rect">
            <a:avLst/>
          </a:prstGeom>
          <a:noFill/>
        </p:spPr>
        <p:txBody>
          <a:bodyPr wrap="square" rtlCol="0">
            <a:spAutoFit/>
          </a:bodyPr>
          <a:lstStyle/>
          <a:p>
            <a:r>
              <a:rPr lang="en-US" b="1" u="sng" dirty="0">
                <a:solidFill>
                  <a:srgbClr val="FF0000"/>
                </a:solidFill>
                <a:latin typeface="Arial" panose="020B0604020202020204" pitchFamily="34" charset="0"/>
                <a:cs typeface="Arial" panose="020B0604020202020204" pitchFamily="34" charset="0"/>
              </a:rPr>
              <a:t>DEFINITION</a:t>
            </a:r>
          </a:p>
          <a:p>
            <a:pPr marL="800100" lvl="1" indent="-342900">
              <a:buFont typeface="Arial" panose="020B0604020202020204" pitchFamily="34" charset="0"/>
              <a:buChar char="•"/>
            </a:pPr>
            <a:r>
              <a:rPr lang="en-US" dirty="0">
                <a:solidFill>
                  <a:srgbClr val="FF0000"/>
                </a:solidFill>
                <a:latin typeface="Arial" panose="020B0604020202020204" pitchFamily="34" charset="0"/>
                <a:cs typeface="Arial" panose="020B0604020202020204" pitchFamily="34" charset="0"/>
              </a:rPr>
              <a:t>AI is branch of computer science</a:t>
            </a:r>
          </a:p>
          <a:p>
            <a:pPr marL="800100" lvl="1" indent="-342900">
              <a:buFont typeface="Arial" panose="020B0604020202020204" pitchFamily="34" charset="0"/>
              <a:buChar char="•"/>
            </a:pPr>
            <a:r>
              <a:rPr lang="en-US" dirty="0">
                <a:solidFill>
                  <a:srgbClr val="FF0000"/>
                </a:solidFill>
                <a:latin typeface="Arial" panose="020B0604020202020204" pitchFamily="34" charset="0"/>
                <a:cs typeface="Arial" panose="020B0604020202020204" pitchFamily="34" charset="0"/>
              </a:rPr>
              <a:t>It aims to create intelligent machines that can do tasks that normally need human intelligent</a:t>
            </a:r>
          </a:p>
          <a:p>
            <a:pPr marL="800100" lvl="1" indent="-342900">
              <a:buFont typeface="Arial" panose="020B0604020202020204" pitchFamily="34" charset="0"/>
              <a:buChar char="•"/>
            </a:pPr>
            <a:r>
              <a:rPr lang="en-US" dirty="0">
                <a:solidFill>
                  <a:srgbClr val="FF0000"/>
                </a:solidFill>
                <a:latin typeface="Arial" panose="020B0604020202020204" pitchFamily="34" charset="0"/>
                <a:cs typeface="Arial" panose="020B0604020202020204" pitchFamily="34" charset="0"/>
              </a:rPr>
              <a:t>Technology </a:t>
            </a:r>
            <a:r>
              <a:rPr lang="en-US" dirty="0" err="1">
                <a:solidFill>
                  <a:srgbClr val="FF0000"/>
                </a:solidFill>
                <a:latin typeface="Arial" panose="020B0604020202020204" pitchFamily="34" charset="0"/>
                <a:cs typeface="Arial" panose="020B0604020202020204" pitchFamily="34" charset="0"/>
              </a:rPr>
              <a:t>jisme</a:t>
            </a:r>
            <a:r>
              <a:rPr lang="en-US" dirty="0">
                <a:solidFill>
                  <a:srgbClr val="FF0000"/>
                </a:solidFill>
                <a:latin typeface="Arial" panose="020B0604020202020204" pitchFamily="34" charset="0"/>
                <a:cs typeface="Arial" panose="020B0604020202020204" pitchFamily="34" charset="0"/>
              </a:rPr>
              <a:t> machine ko capability di </a:t>
            </a:r>
            <a:r>
              <a:rPr lang="en-US" dirty="0" err="1">
                <a:solidFill>
                  <a:srgbClr val="FF0000"/>
                </a:solidFill>
                <a:latin typeface="Arial" panose="020B0604020202020204" pitchFamily="34" charset="0"/>
                <a:cs typeface="Arial" panose="020B0604020202020204" pitchFamily="34" charset="0"/>
              </a:rPr>
              <a:t>jaati</a:t>
            </a:r>
            <a:r>
              <a:rPr lang="en-US" dirty="0">
                <a:solidFill>
                  <a:srgbClr val="FF0000"/>
                </a:solidFill>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hai</a:t>
            </a:r>
            <a:r>
              <a:rPr lang="en-US" dirty="0">
                <a:solidFill>
                  <a:srgbClr val="FF0000"/>
                </a:solidFill>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taki</a:t>
            </a:r>
            <a:r>
              <a:rPr lang="en-US" dirty="0">
                <a:solidFill>
                  <a:srgbClr val="FF0000"/>
                </a:solidFill>
                <a:latin typeface="Arial" panose="020B0604020202020204" pitchFamily="34" charset="0"/>
                <a:cs typeface="Arial" panose="020B0604020202020204" pitchFamily="34" charset="0"/>
              </a:rPr>
              <a:t> wo human like tasks perform </a:t>
            </a:r>
            <a:r>
              <a:rPr lang="en-US" dirty="0" err="1">
                <a:solidFill>
                  <a:srgbClr val="FF0000"/>
                </a:solidFill>
                <a:latin typeface="Arial" panose="020B0604020202020204" pitchFamily="34" charset="0"/>
                <a:cs typeface="Arial" panose="020B0604020202020204" pitchFamily="34" charset="0"/>
              </a:rPr>
              <a:t>kar</a:t>
            </a:r>
            <a:r>
              <a:rPr lang="en-US" dirty="0">
                <a:solidFill>
                  <a:srgbClr val="FF0000"/>
                </a:solidFill>
                <a:latin typeface="Arial" panose="020B0604020202020204" pitchFamily="34" charset="0"/>
                <a:cs typeface="Arial" panose="020B0604020202020204" pitchFamily="34" charset="0"/>
              </a:rPr>
              <a:t> sake.</a:t>
            </a:r>
          </a:p>
          <a:p>
            <a:endParaRPr lang="en-US" dirty="0">
              <a:solidFill>
                <a:srgbClr val="FF0000"/>
              </a:solidFill>
              <a:latin typeface="Arial" panose="020B0604020202020204" pitchFamily="34" charset="0"/>
              <a:cs typeface="Arial" panose="020B0604020202020204" pitchFamily="34" charset="0"/>
            </a:endParaRPr>
          </a:p>
          <a:p>
            <a:r>
              <a:rPr lang="en-US" b="1" u="sng" dirty="0">
                <a:solidFill>
                  <a:schemeClr val="tx1">
                    <a:lumMod val="95000"/>
                    <a:lumOff val="5000"/>
                  </a:schemeClr>
                </a:solidFill>
                <a:latin typeface="Arial" panose="020B0604020202020204" pitchFamily="34" charset="0"/>
                <a:cs typeface="Arial" panose="020B0604020202020204" pitchFamily="34" charset="0"/>
              </a:rPr>
              <a:t>What can AI do?</a:t>
            </a:r>
          </a:p>
          <a:p>
            <a:r>
              <a:rPr lang="en-US" dirty="0">
                <a:solidFill>
                  <a:schemeClr val="tx1">
                    <a:lumMod val="95000"/>
                    <a:lumOff val="5000"/>
                  </a:schemeClr>
                </a:solidFill>
                <a:latin typeface="Arial" panose="020B0604020202020204" pitchFamily="34" charset="0"/>
                <a:cs typeface="Arial" panose="020B0604020202020204" pitchFamily="34" charset="0"/>
              </a:rPr>
              <a:t>     AI systems can perform tasks like:</a:t>
            </a:r>
          </a:p>
          <a:p>
            <a:pPr marL="1350963" lvl="1" indent="-355600">
              <a:buFont typeface="Arial" panose="020B0604020202020204" pitchFamily="34" charset="0"/>
              <a:buChar char="•"/>
            </a:pPr>
            <a:r>
              <a:rPr lang="en-US" dirty="0">
                <a:solidFill>
                  <a:schemeClr val="tx1">
                    <a:lumMod val="95000"/>
                    <a:lumOff val="5000"/>
                  </a:schemeClr>
                </a:solidFill>
                <a:latin typeface="Arial" panose="020B0604020202020204" pitchFamily="34" charset="0"/>
                <a:cs typeface="Arial" panose="020B0604020202020204" pitchFamily="34" charset="0"/>
              </a:rPr>
              <a:t>Learning</a:t>
            </a:r>
          </a:p>
          <a:p>
            <a:pPr marL="1350963" lvl="1" indent="-355600">
              <a:buFont typeface="Arial" panose="020B0604020202020204" pitchFamily="34" charset="0"/>
              <a:buChar char="•"/>
            </a:pPr>
            <a:r>
              <a:rPr lang="en-US" dirty="0">
                <a:solidFill>
                  <a:schemeClr val="tx1">
                    <a:lumMod val="95000"/>
                    <a:lumOff val="5000"/>
                  </a:schemeClr>
                </a:solidFill>
                <a:latin typeface="Arial" panose="020B0604020202020204" pitchFamily="34" charset="0"/>
                <a:cs typeface="Arial" panose="020B0604020202020204" pitchFamily="34" charset="0"/>
              </a:rPr>
              <a:t>Problem-solving</a:t>
            </a:r>
          </a:p>
          <a:p>
            <a:pPr marL="1350963" lvl="1" indent="-355600">
              <a:buFont typeface="Arial" panose="020B0604020202020204" pitchFamily="34" charset="0"/>
              <a:buChar char="•"/>
            </a:pPr>
            <a:r>
              <a:rPr lang="en-US" dirty="0">
                <a:solidFill>
                  <a:schemeClr val="tx1">
                    <a:lumMod val="95000"/>
                    <a:lumOff val="5000"/>
                  </a:schemeClr>
                </a:solidFill>
                <a:latin typeface="Arial" panose="020B0604020202020204" pitchFamily="34" charset="0"/>
                <a:cs typeface="Arial" panose="020B0604020202020204" pitchFamily="34" charset="0"/>
              </a:rPr>
              <a:t>Perception (Understanding the world through senses)</a:t>
            </a:r>
          </a:p>
          <a:p>
            <a:pPr marL="1350963" lvl="1" indent="-355600">
              <a:buFont typeface="Arial" panose="020B0604020202020204" pitchFamily="34" charset="0"/>
              <a:buChar char="•"/>
            </a:pPr>
            <a:r>
              <a:rPr lang="en-US" dirty="0">
                <a:solidFill>
                  <a:schemeClr val="tx1">
                    <a:lumMod val="95000"/>
                    <a:lumOff val="5000"/>
                  </a:schemeClr>
                </a:solidFill>
                <a:latin typeface="Arial" panose="020B0604020202020204" pitchFamily="34" charset="0"/>
                <a:cs typeface="Arial" panose="020B0604020202020204" pitchFamily="34" charset="0"/>
              </a:rPr>
              <a:t>Understanding natural languages</a:t>
            </a:r>
          </a:p>
          <a:p>
            <a:pPr marL="1350963" lvl="1" indent="-355600">
              <a:buFont typeface="Arial" panose="020B0604020202020204" pitchFamily="34" charset="0"/>
              <a:buChar char="•"/>
            </a:pPr>
            <a:r>
              <a:rPr lang="en-US" dirty="0">
                <a:solidFill>
                  <a:schemeClr val="tx1">
                    <a:lumMod val="95000"/>
                    <a:lumOff val="5000"/>
                  </a:schemeClr>
                </a:solidFill>
                <a:latin typeface="Arial" panose="020B0604020202020204" pitchFamily="34" charset="0"/>
                <a:cs typeface="Arial" panose="020B0604020202020204" pitchFamily="34" charset="0"/>
              </a:rPr>
              <a:t>Interacting with the environment</a:t>
            </a:r>
          </a:p>
          <a:p>
            <a:endParaRPr lang="en-US" b="1"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000981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888E0068-D350-7B43-FF93-0107593D94B1}"/>
              </a:ext>
            </a:extLst>
          </p:cNvPr>
          <p:cNvSpPr>
            <a:spLocks noChangeArrowheads="1"/>
          </p:cNvSpPr>
          <p:nvPr/>
        </p:nvSpPr>
        <p:spPr bwMode="auto">
          <a:xfrm>
            <a:off x="896816" y="0"/>
            <a:ext cx="8063222" cy="1178163"/>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HISTORY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7" name="Picture 6">
            <a:extLst>
              <a:ext uri="{FF2B5EF4-FFF2-40B4-BE49-F238E27FC236}">
                <a16:creationId xmlns:a16="http://schemas.microsoft.com/office/drawing/2014/main" id="{04EECDB8-A8AB-25C2-CFAC-BBBAA33A9FA0}"/>
              </a:ext>
            </a:extLst>
          </p:cNvPr>
          <p:cNvPicPr>
            <a:picLocks noChangeAspect="1" noChangeArrowheads="1"/>
          </p:cNvPicPr>
          <p:nvPr/>
        </p:nvPicPr>
        <p:blipFill>
          <a:blip r:embed="rId2"/>
          <a:srcRect/>
          <a:stretch>
            <a:fillRect/>
          </a:stretch>
        </p:blipFill>
        <p:spPr bwMode="auto">
          <a:xfrm>
            <a:off x="35501" y="-23246"/>
            <a:ext cx="861315" cy="1295774"/>
          </a:xfrm>
          <a:prstGeom prst="rect">
            <a:avLst/>
          </a:prstGeom>
          <a:solidFill>
            <a:srgbClr val="009900"/>
          </a:solidFill>
          <a:ln w="9525">
            <a:noFill/>
            <a:miter lim="800000"/>
            <a:headEnd/>
            <a:tailEnd/>
          </a:ln>
        </p:spPr>
      </p:pic>
      <p:sp>
        <p:nvSpPr>
          <p:cNvPr id="8" name="TextBox 7">
            <a:extLst>
              <a:ext uri="{FF2B5EF4-FFF2-40B4-BE49-F238E27FC236}">
                <a16:creationId xmlns:a16="http://schemas.microsoft.com/office/drawing/2014/main" id="{7A2CB5FA-5765-C702-6B37-7B7D52E124DD}"/>
              </a:ext>
            </a:extLst>
          </p:cNvPr>
          <p:cNvSpPr txBox="1"/>
          <p:nvPr/>
        </p:nvSpPr>
        <p:spPr>
          <a:xfrm>
            <a:off x="35501" y="1473200"/>
            <a:ext cx="8996739" cy="5078313"/>
          </a:xfrm>
          <a:prstGeom prst="rect">
            <a:avLst/>
          </a:prstGeom>
          <a:noFill/>
        </p:spPr>
        <p:txBody>
          <a:bodyPr wrap="square" rtlCol="0">
            <a:spAutoFit/>
          </a:bodyPr>
          <a:lstStyle/>
          <a:p>
            <a:pPr marL="285750" indent="-285750">
              <a:buFont typeface="Wingdings" panose="05000000000000000000" pitchFamily="2" charset="2"/>
              <a:buChar char="q"/>
            </a:pPr>
            <a:r>
              <a:rPr lang="en-IN" b="1" dirty="0">
                <a:solidFill>
                  <a:srgbClr val="FF0000"/>
                </a:solidFill>
              </a:rPr>
              <a:t>1950s - BIRTH OF AI</a:t>
            </a:r>
          </a:p>
          <a:p>
            <a:pPr marL="742950" lvl="1" indent="-285750">
              <a:buFont typeface="Wingdings" panose="05000000000000000000" pitchFamily="2" charset="2"/>
              <a:buChar char="Ø"/>
            </a:pPr>
            <a:r>
              <a:rPr lang="en-IN" dirty="0"/>
              <a:t>ALAN TURING -  “CAN MACHINES THINK”</a:t>
            </a:r>
          </a:p>
          <a:p>
            <a:pPr marL="742950" lvl="1" indent="-285750">
              <a:buFont typeface="Wingdings" panose="05000000000000000000" pitchFamily="2" charset="2"/>
              <a:buChar char="Ø"/>
            </a:pPr>
            <a:r>
              <a:rPr lang="en-IN" dirty="0"/>
              <a:t>1960-Dartmouth conference- “</a:t>
            </a:r>
            <a:r>
              <a:rPr lang="en-IN" b="1" dirty="0"/>
              <a:t>AI</a:t>
            </a:r>
            <a:r>
              <a:rPr lang="en-IN" dirty="0"/>
              <a:t>” field ka Birth</a:t>
            </a:r>
          </a:p>
          <a:p>
            <a:pPr marL="742950" lvl="1" indent="-285750">
              <a:buFont typeface="Wingdings" panose="05000000000000000000" pitchFamily="2" charset="2"/>
              <a:buChar char="Ø"/>
            </a:pPr>
            <a:endParaRPr lang="en-IN" b="1" dirty="0"/>
          </a:p>
          <a:p>
            <a:pPr marL="285750" lvl="1" indent="-285750">
              <a:buFont typeface="Wingdings" panose="05000000000000000000" pitchFamily="2" charset="2"/>
              <a:buChar char="q"/>
            </a:pPr>
            <a:r>
              <a:rPr lang="en-IN" b="1" dirty="0"/>
              <a:t>1960s- 1980s- Rule Based AI</a:t>
            </a:r>
          </a:p>
          <a:p>
            <a:pPr marL="742950" lvl="2" indent="-285750">
              <a:buFont typeface="Wingdings" panose="05000000000000000000" pitchFamily="2" charset="2"/>
              <a:buChar char="Ø"/>
            </a:pPr>
            <a:r>
              <a:rPr lang="en-IN" dirty="0"/>
              <a:t>Computer ko humans </a:t>
            </a:r>
            <a:r>
              <a:rPr lang="en-IN" dirty="0" err="1"/>
              <a:t>ke</a:t>
            </a:r>
            <a:r>
              <a:rPr lang="en-IN" dirty="0"/>
              <a:t> rules /Knowledge Diye </a:t>
            </a:r>
            <a:r>
              <a:rPr lang="en-IN" dirty="0" err="1"/>
              <a:t>jaate</a:t>
            </a:r>
            <a:r>
              <a:rPr lang="en-IN" dirty="0"/>
              <a:t> the </a:t>
            </a:r>
          </a:p>
          <a:p>
            <a:pPr marL="742950" lvl="2" indent="-285750">
              <a:buFont typeface="Wingdings" panose="05000000000000000000" pitchFamily="2" charset="2"/>
              <a:buChar char="Ø"/>
            </a:pPr>
            <a:r>
              <a:rPr lang="en-IN" dirty="0"/>
              <a:t>Computers were told :-</a:t>
            </a:r>
          </a:p>
          <a:p>
            <a:pPr marL="1200150" lvl="3" indent="-285750">
              <a:buFont typeface="Wingdings" panose="05000000000000000000" pitchFamily="2" charset="2"/>
              <a:buChar char="Ø"/>
            </a:pPr>
            <a:r>
              <a:rPr lang="en-IN" dirty="0"/>
              <a:t>Problem solving </a:t>
            </a:r>
          </a:p>
          <a:p>
            <a:pPr marL="1200150" lvl="3" indent="-285750">
              <a:buFont typeface="Wingdings" panose="05000000000000000000" pitchFamily="2" charset="2"/>
              <a:buChar char="Ø"/>
            </a:pPr>
            <a:r>
              <a:rPr lang="en-IN" dirty="0"/>
              <a:t>Games</a:t>
            </a:r>
          </a:p>
          <a:p>
            <a:pPr marL="285750" lvl="3" indent="-285750">
              <a:buFont typeface="Wingdings" panose="05000000000000000000" pitchFamily="2" charset="2"/>
              <a:buChar char="q"/>
            </a:pPr>
            <a:r>
              <a:rPr lang="en-IN" dirty="0">
                <a:solidFill>
                  <a:srgbClr val="0070C0"/>
                </a:solidFill>
              </a:rPr>
              <a:t>1980s-1990s	AI Winter</a:t>
            </a:r>
          </a:p>
          <a:p>
            <a:pPr marL="812800" lvl="4" indent="-285750">
              <a:buFont typeface="Wingdings" panose="05000000000000000000" pitchFamily="2" charset="2"/>
              <a:buChar char="Ø"/>
            </a:pPr>
            <a:r>
              <a:rPr lang="en-IN" dirty="0"/>
              <a:t>Expectations from AI was decreased </a:t>
            </a:r>
          </a:p>
          <a:p>
            <a:pPr marL="812800" lvl="4" indent="-285750">
              <a:buFont typeface="Wingdings" panose="05000000000000000000" pitchFamily="2" charset="2"/>
              <a:buChar char="Ø"/>
            </a:pPr>
            <a:r>
              <a:rPr lang="en-IN" dirty="0"/>
              <a:t>Low Funding </a:t>
            </a:r>
          </a:p>
          <a:p>
            <a:pPr marL="812800" lvl="4" indent="-285750">
              <a:buFont typeface="Wingdings" panose="05000000000000000000" pitchFamily="2" charset="2"/>
              <a:buChar char="Ø"/>
            </a:pPr>
            <a:r>
              <a:rPr lang="en-IN" dirty="0"/>
              <a:t>Low interest</a:t>
            </a:r>
          </a:p>
          <a:p>
            <a:pPr marL="285750" lvl="4" indent="-285750">
              <a:buFont typeface="Wingdings" panose="05000000000000000000" pitchFamily="2" charset="2"/>
              <a:buChar char="q"/>
            </a:pPr>
            <a:r>
              <a:rPr lang="en-IN" dirty="0">
                <a:solidFill>
                  <a:srgbClr val="FF0000"/>
                </a:solidFill>
              </a:rPr>
              <a:t>1997 	IBM Deep Blue</a:t>
            </a:r>
          </a:p>
          <a:p>
            <a:pPr marL="742950" lvl="5" indent="-285750">
              <a:buFont typeface="Wingdings" panose="05000000000000000000" pitchFamily="2" charset="2"/>
              <a:buChar char="q"/>
            </a:pPr>
            <a:r>
              <a:rPr lang="en-IN" dirty="0"/>
              <a:t>Chess game </a:t>
            </a:r>
            <a:r>
              <a:rPr lang="en-IN" dirty="0" err="1"/>
              <a:t>mein</a:t>
            </a:r>
            <a:r>
              <a:rPr lang="en-IN" dirty="0"/>
              <a:t> World Champion Garry Kasparov Ko </a:t>
            </a:r>
            <a:r>
              <a:rPr lang="en-IN" dirty="0" err="1"/>
              <a:t>haraya</a:t>
            </a:r>
            <a:endParaRPr lang="en-IN" dirty="0"/>
          </a:p>
          <a:p>
            <a:pPr marL="742950" lvl="5" indent="-285750">
              <a:buFont typeface="Wingdings" panose="05000000000000000000" pitchFamily="2" charset="2"/>
              <a:buChar char="q"/>
            </a:pPr>
            <a:endParaRPr lang="en-IN" dirty="0"/>
          </a:p>
          <a:p>
            <a:pPr marL="285750" lvl="5" indent="-285750">
              <a:buFont typeface="Wingdings" panose="05000000000000000000" pitchFamily="2" charset="2"/>
              <a:buChar char="q"/>
            </a:pPr>
            <a:r>
              <a:rPr lang="en-IN" dirty="0"/>
              <a:t>1990s – 2010s ML + Deep Learning</a:t>
            </a:r>
          </a:p>
          <a:p>
            <a:pPr marL="742950" lvl="6" indent="-285750">
              <a:buFont typeface="Wingdings" panose="05000000000000000000" pitchFamily="2" charset="2"/>
              <a:buChar char="q"/>
            </a:pPr>
            <a:r>
              <a:rPr lang="en-IN" dirty="0"/>
              <a:t>Machines started learning from Patterns</a:t>
            </a:r>
          </a:p>
        </p:txBody>
      </p:sp>
    </p:spTree>
    <p:extLst>
      <p:ext uri="{BB962C8B-B14F-4D97-AF65-F5344CB8AC3E}">
        <p14:creationId xmlns:p14="http://schemas.microsoft.com/office/powerpoint/2010/main" val="1063206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0CC10-E980-56A3-E4B8-D0B295D01D9D}"/>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4FB760BC-8488-8A90-D02E-B99108F22350}"/>
              </a:ext>
            </a:extLst>
          </p:cNvPr>
          <p:cNvSpPr>
            <a:spLocks noChangeArrowheads="1"/>
          </p:cNvSpPr>
          <p:nvPr/>
        </p:nvSpPr>
        <p:spPr bwMode="auto">
          <a:xfrm>
            <a:off x="896816" y="0"/>
            <a:ext cx="8063222" cy="1178163"/>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HISTORY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7" name="Picture 6">
            <a:extLst>
              <a:ext uri="{FF2B5EF4-FFF2-40B4-BE49-F238E27FC236}">
                <a16:creationId xmlns:a16="http://schemas.microsoft.com/office/drawing/2014/main" id="{41B63A69-0975-D6EE-D4CE-7489944A5BA0}"/>
              </a:ext>
            </a:extLst>
          </p:cNvPr>
          <p:cNvPicPr>
            <a:picLocks noChangeAspect="1" noChangeArrowheads="1"/>
          </p:cNvPicPr>
          <p:nvPr/>
        </p:nvPicPr>
        <p:blipFill>
          <a:blip r:embed="rId2"/>
          <a:srcRect/>
          <a:stretch>
            <a:fillRect/>
          </a:stretch>
        </p:blipFill>
        <p:spPr bwMode="auto">
          <a:xfrm>
            <a:off x="35501" y="-23246"/>
            <a:ext cx="861315" cy="1295774"/>
          </a:xfrm>
          <a:prstGeom prst="rect">
            <a:avLst/>
          </a:prstGeom>
          <a:solidFill>
            <a:srgbClr val="009900"/>
          </a:solidFill>
          <a:ln w="9525">
            <a:noFill/>
            <a:miter lim="800000"/>
            <a:headEnd/>
            <a:tailEnd/>
          </a:ln>
        </p:spPr>
      </p:pic>
      <p:sp>
        <p:nvSpPr>
          <p:cNvPr id="8" name="TextBox 7">
            <a:extLst>
              <a:ext uri="{FF2B5EF4-FFF2-40B4-BE49-F238E27FC236}">
                <a16:creationId xmlns:a16="http://schemas.microsoft.com/office/drawing/2014/main" id="{DCB74D9D-EF08-CD3A-15CC-AFA0DA46F7FC}"/>
              </a:ext>
            </a:extLst>
          </p:cNvPr>
          <p:cNvSpPr txBox="1"/>
          <p:nvPr/>
        </p:nvSpPr>
        <p:spPr>
          <a:xfrm>
            <a:off x="35501" y="1322588"/>
            <a:ext cx="8996739" cy="5509200"/>
          </a:xfrm>
          <a:prstGeom prst="rect">
            <a:avLst/>
          </a:prstGeom>
          <a:noFill/>
        </p:spPr>
        <p:txBody>
          <a:bodyPr wrap="square" rtlCol="0">
            <a:spAutoFit/>
          </a:bodyPr>
          <a:lstStyle/>
          <a:p>
            <a:pPr marL="285750" indent="-285750">
              <a:buFont typeface="Wingdings" panose="05000000000000000000" pitchFamily="2" charset="2"/>
              <a:buChar char="q"/>
            </a:pPr>
            <a:r>
              <a:rPr lang="en-IN" b="1" dirty="0">
                <a:solidFill>
                  <a:srgbClr val="0070C0"/>
                </a:solidFill>
                <a:latin typeface="Arial" panose="020B0604020202020204" pitchFamily="34" charset="0"/>
                <a:cs typeface="Arial" panose="020B0604020202020204" pitchFamily="34" charset="0"/>
              </a:rPr>
              <a:t>2012 Deep Learning Breakthrough</a:t>
            </a:r>
          </a:p>
          <a:p>
            <a:pPr marL="742950" lvl="1" indent="-285750">
              <a:buFont typeface="Wingdings" panose="05000000000000000000" pitchFamily="2" charset="2"/>
              <a:buChar char="Ø"/>
            </a:pPr>
            <a:r>
              <a:rPr lang="en-IN" dirty="0" err="1">
                <a:latin typeface="Arial" panose="020B0604020202020204" pitchFamily="34" charset="0"/>
                <a:cs typeface="Arial" panose="020B0604020202020204" pitchFamily="34" charset="0"/>
              </a:rPr>
              <a:t>Alexnet</a:t>
            </a:r>
            <a:r>
              <a:rPr lang="en-IN" dirty="0">
                <a:latin typeface="Arial" panose="020B0604020202020204" pitchFamily="34" charset="0"/>
                <a:cs typeface="Arial" panose="020B0604020202020204" pitchFamily="34" charset="0"/>
              </a:rPr>
              <a:t> ne Image Recognition </a:t>
            </a:r>
            <a:r>
              <a:rPr lang="en-IN" dirty="0" err="1">
                <a:latin typeface="Arial" panose="020B0604020202020204" pitchFamily="34" charset="0"/>
                <a:cs typeface="Arial" panose="020B0604020202020204" pitchFamily="34" charset="0"/>
              </a:rPr>
              <a:t>mein</a:t>
            </a:r>
            <a:r>
              <a:rPr lang="en-IN" dirty="0">
                <a:latin typeface="Arial" panose="020B0604020202020204" pitchFamily="34" charset="0"/>
                <a:cs typeface="Arial" panose="020B0604020202020204" pitchFamily="34" charset="0"/>
              </a:rPr>
              <a:t> major success </a:t>
            </a:r>
            <a:r>
              <a:rPr lang="en-IN" dirty="0" err="1">
                <a:latin typeface="Arial" panose="020B0604020202020204" pitchFamily="34" charset="0"/>
                <a:cs typeface="Arial" panose="020B0604020202020204" pitchFamily="34" charset="0"/>
              </a:rPr>
              <a:t>dikhaya</a:t>
            </a:r>
            <a:r>
              <a:rPr lang="en-IN" dirty="0">
                <a:latin typeface="Arial" panose="020B0604020202020204" pitchFamily="34" charset="0"/>
                <a:cs typeface="Arial" panose="020B0604020202020204" pitchFamily="34" charset="0"/>
              </a:rPr>
              <a:t>.</a:t>
            </a:r>
          </a:p>
          <a:p>
            <a:pPr marL="285750" lvl="1" indent="-285750">
              <a:buFont typeface="Wingdings" panose="05000000000000000000" pitchFamily="2" charset="2"/>
              <a:buChar char="q"/>
            </a:pPr>
            <a:r>
              <a:rPr lang="en-IN" b="1" dirty="0">
                <a:solidFill>
                  <a:srgbClr val="FF0000"/>
                </a:solidFill>
                <a:latin typeface="Arial" panose="020B0604020202020204" pitchFamily="34" charset="0"/>
                <a:cs typeface="Arial" panose="020B0604020202020204" pitchFamily="34" charset="0"/>
              </a:rPr>
              <a:t>2016</a:t>
            </a:r>
          </a:p>
          <a:p>
            <a:pPr marL="742950" lvl="2" indent="-285750">
              <a:buFont typeface="Wingdings" panose="05000000000000000000" pitchFamily="2" charset="2"/>
              <a:buChar char="Ø"/>
            </a:pPr>
            <a:r>
              <a:rPr lang="en-IN" dirty="0">
                <a:latin typeface="Arial" panose="020B0604020202020204" pitchFamily="34" charset="0"/>
                <a:cs typeface="Arial" panose="020B0604020202020204" pitchFamily="34" charset="0"/>
              </a:rPr>
              <a:t>Google DeepMind AlphaGo </a:t>
            </a:r>
          </a:p>
          <a:p>
            <a:pPr marL="742950" lvl="2" indent="-285750">
              <a:buFont typeface="Wingdings" panose="05000000000000000000" pitchFamily="2" charset="2"/>
              <a:buChar char="Ø"/>
            </a:pPr>
            <a:r>
              <a:rPr lang="en-IN" dirty="0">
                <a:latin typeface="Arial" panose="020B0604020202020204" pitchFamily="34" charset="0"/>
                <a:cs typeface="Arial" panose="020B0604020202020204" pitchFamily="34" charset="0"/>
              </a:rPr>
              <a:t>Go </a:t>
            </a:r>
            <a:r>
              <a:rPr lang="en-IN" dirty="0" err="1">
                <a:latin typeface="Arial" panose="020B0604020202020204" pitchFamily="34" charset="0"/>
                <a:cs typeface="Arial" panose="020B0604020202020204" pitchFamily="34" charset="0"/>
              </a:rPr>
              <a:t>ke</a:t>
            </a:r>
            <a:r>
              <a:rPr lang="en-IN" dirty="0">
                <a:latin typeface="Arial" panose="020B0604020202020204" pitchFamily="34" charset="0"/>
                <a:cs typeface="Arial" panose="020B0604020202020204" pitchFamily="34" charset="0"/>
              </a:rPr>
              <a:t> top Players ko defeat </a:t>
            </a:r>
            <a:r>
              <a:rPr lang="en-IN" dirty="0" err="1">
                <a:latin typeface="Arial" panose="020B0604020202020204" pitchFamily="34" charset="0"/>
                <a:cs typeface="Arial" panose="020B0604020202020204" pitchFamily="34" charset="0"/>
              </a:rPr>
              <a:t>kiya</a:t>
            </a:r>
            <a:r>
              <a:rPr lang="en-IN" dirty="0">
                <a:latin typeface="Arial" panose="020B0604020202020204" pitchFamily="34" charset="0"/>
                <a:cs typeface="Arial" panose="020B0604020202020204" pitchFamily="34" charset="0"/>
              </a:rPr>
              <a:t>.</a:t>
            </a:r>
          </a:p>
          <a:p>
            <a:pPr marL="742950" lvl="2" indent="-285750">
              <a:buFont typeface="Wingdings" panose="05000000000000000000" pitchFamily="2" charset="2"/>
              <a:buChar char="Ø"/>
            </a:pPr>
            <a:endParaRPr lang="en-IN" sz="1400" dirty="0">
              <a:latin typeface="Arial" panose="020B0604020202020204" pitchFamily="34" charset="0"/>
              <a:cs typeface="Arial" panose="020B0604020202020204" pitchFamily="34" charset="0"/>
            </a:endParaRPr>
          </a:p>
          <a:p>
            <a:pPr marL="285750" lvl="3" indent="-285750">
              <a:buFont typeface="Wingdings" panose="05000000000000000000" pitchFamily="2" charset="2"/>
              <a:buChar char="q"/>
            </a:pPr>
            <a:r>
              <a:rPr lang="en-IN" dirty="0">
                <a:latin typeface="Arial" panose="020B0604020202020204" pitchFamily="34" charset="0"/>
                <a:cs typeface="Arial" panose="020B0604020202020204" pitchFamily="34" charset="0"/>
              </a:rPr>
              <a:t>2017</a:t>
            </a:r>
          </a:p>
          <a:p>
            <a:pPr marL="812800" lvl="4" indent="-285750">
              <a:buFont typeface="Wingdings" panose="05000000000000000000" pitchFamily="2" charset="2"/>
              <a:buChar char="Ø"/>
            </a:pPr>
            <a:r>
              <a:rPr lang="en-IN" dirty="0">
                <a:latin typeface="Arial" panose="020B0604020202020204" pitchFamily="34" charset="0"/>
                <a:cs typeface="Arial" panose="020B0604020202020204" pitchFamily="34" charset="0"/>
              </a:rPr>
              <a:t>Transformer</a:t>
            </a:r>
          </a:p>
          <a:p>
            <a:pPr marL="812800" lvl="4" indent="-285750">
              <a:buFont typeface="Wingdings" panose="05000000000000000000" pitchFamily="2" charset="2"/>
              <a:buChar char="Ø"/>
            </a:pPr>
            <a:r>
              <a:rPr lang="en-IN" dirty="0">
                <a:latin typeface="Arial" panose="020B0604020202020204" pitchFamily="34" charset="0"/>
                <a:cs typeface="Arial" panose="020B0604020202020204" pitchFamily="34" charset="0"/>
              </a:rPr>
              <a:t>“Attention based architecture </a:t>
            </a:r>
            <a:r>
              <a:rPr lang="en-IN" dirty="0" err="1">
                <a:latin typeface="Arial" panose="020B0604020202020204" pitchFamily="34" charset="0"/>
                <a:cs typeface="Arial" panose="020B0604020202020204" pitchFamily="34" charset="0"/>
              </a:rPr>
              <a:t>aayi</a:t>
            </a:r>
            <a:r>
              <a:rPr lang="en-IN" dirty="0">
                <a:latin typeface="Arial" panose="020B0604020202020204" pitchFamily="34" charset="0"/>
                <a:cs typeface="Arial" panose="020B0604020202020204" pitchFamily="34" charset="0"/>
              </a:rPr>
              <a:t>”</a:t>
            </a:r>
          </a:p>
          <a:p>
            <a:pPr marL="812800" lvl="4" indent="-285750">
              <a:buFont typeface="Wingdings" panose="05000000000000000000" pitchFamily="2" charset="2"/>
              <a:buChar char="Ø"/>
            </a:pPr>
            <a:endParaRPr lang="en-IN" sz="1400" dirty="0">
              <a:latin typeface="Arial" panose="020B0604020202020204" pitchFamily="34" charset="0"/>
              <a:cs typeface="Arial" panose="020B0604020202020204" pitchFamily="34" charset="0"/>
            </a:endParaRPr>
          </a:p>
          <a:p>
            <a:pPr marL="285750" lvl="4" indent="-285750">
              <a:buFont typeface="Wingdings" panose="05000000000000000000" pitchFamily="2" charset="2"/>
              <a:buChar char="q"/>
            </a:pPr>
            <a:r>
              <a:rPr lang="en-IN" dirty="0">
                <a:solidFill>
                  <a:srgbClr val="0070C0"/>
                </a:solidFill>
                <a:latin typeface="Arial" panose="020B0604020202020204" pitchFamily="34" charset="0"/>
                <a:cs typeface="Arial" panose="020B0604020202020204" pitchFamily="34" charset="0"/>
              </a:rPr>
              <a:t>2020s</a:t>
            </a:r>
          </a:p>
          <a:p>
            <a:pPr marL="742950" lvl="5" indent="-285750">
              <a:buFont typeface="Wingdings" panose="05000000000000000000" pitchFamily="2" charset="2"/>
              <a:buChar char="Ø"/>
            </a:pPr>
            <a:r>
              <a:rPr lang="en-IN" dirty="0">
                <a:latin typeface="Arial" panose="020B0604020202020204" pitchFamily="34" charset="0"/>
                <a:cs typeface="Arial" panose="020B0604020202020204" pitchFamily="34" charset="0"/>
              </a:rPr>
              <a:t>Generative Ai </a:t>
            </a:r>
          </a:p>
          <a:p>
            <a:pPr marL="742950" lvl="5" indent="-285750">
              <a:buFont typeface="Wingdings" panose="05000000000000000000" pitchFamily="2" charset="2"/>
              <a:buChar char="Ø"/>
            </a:pPr>
            <a:r>
              <a:rPr lang="en-IN" dirty="0">
                <a:latin typeface="Arial" panose="020B0604020202020204" pitchFamily="34" charset="0"/>
                <a:cs typeface="Arial" panose="020B0604020202020204" pitchFamily="34" charset="0"/>
              </a:rPr>
              <a:t>AI text, Images, Code etc generate </a:t>
            </a:r>
            <a:r>
              <a:rPr lang="en-IN" dirty="0" err="1">
                <a:latin typeface="Arial" panose="020B0604020202020204" pitchFamily="34" charset="0"/>
                <a:cs typeface="Arial" panose="020B0604020202020204" pitchFamily="34" charset="0"/>
              </a:rPr>
              <a:t>karne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lg</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gaye</a:t>
            </a:r>
            <a:endParaRPr lang="en-IN" dirty="0">
              <a:latin typeface="Arial" panose="020B0604020202020204" pitchFamily="34" charset="0"/>
              <a:cs typeface="Arial" panose="020B0604020202020204" pitchFamily="34" charset="0"/>
            </a:endParaRPr>
          </a:p>
          <a:p>
            <a:pPr marL="742950" lvl="5" indent="-285750">
              <a:buFont typeface="Wingdings" panose="05000000000000000000" pitchFamily="2" charset="2"/>
              <a:buChar char="q"/>
            </a:pPr>
            <a:endParaRPr lang="en-IN" dirty="0">
              <a:latin typeface="Arial" panose="020B0604020202020204" pitchFamily="34" charset="0"/>
              <a:cs typeface="Arial" panose="020B0604020202020204" pitchFamily="34" charset="0"/>
            </a:endParaRPr>
          </a:p>
          <a:p>
            <a:pPr marL="285750" lvl="5" indent="-285750">
              <a:buFont typeface="Wingdings" panose="05000000000000000000" pitchFamily="2" charset="2"/>
              <a:buChar char="q"/>
            </a:pPr>
            <a:r>
              <a:rPr lang="en-IN" dirty="0">
                <a:solidFill>
                  <a:srgbClr val="FF0000"/>
                </a:solidFill>
                <a:latin typeface="Arial" panose="020B0604020202020204" pitchFamily="34" charset="0"/>
                <a:cs typeface="Arial" panose="020B0604020202020204" pitchFamily="34" charset="0"/>
              </a:rPr>
              <a:t>2022 </a:t>
            </a:r>
            <a:r>
              <a:rPr lang="en-IN" dirty="0" err="1">
                <a:solidFill>
                  <a:srgbClr val="FF0000"/>
                </a:solidFill>
                <a:latin typeface="Arial" panose="020B0604020202020204" pitchFamily="34" charset="0"/>
                <a:cs typeface="Arial" panose="020B0604020202020204" pitchFamily="34" charset="0"/>
              </a:rPr>
              <a:t>Chatgpt</a:t>
            </a:r>
            <a:endParaRPr lang="en-IN" dirty="0">
              <a:solidFill>
                <a:srgbClr val="FF0000"/>
              </a:solidFill>
              <a:latin typeface="Arial" panose="020B0604020202020204" pitchFamily="34" charset="0"/>
              <a:cs typeface="Arial" panose="020B0604020202020204" pitchFamily="34" charset="0"/>
            </a:endParaRPr>
          </a:p>
          <a:p>
            <a:pPr marL="742950" lvl="6" indent="-285750">
              <a:buFont typeface="Wingdings" panose="05000000000000000000" pitchFamily="2" charset="2"/>
              <a:buChar char="Ø"/>
            </a:pPr>
            <a:r>
              <a:rPr lang="en-IN" dirty="0">
                <a:latin typeface="Arial" panose="020B0604020202020204" pitchFamily="34" charset="0"/>
                <a:cs typeface="Arial" panose="020B0604020202020204" pitchFamily="34" charset="0"/>
              </a:rPr>
              <a:t>Generative AI mainstream users </a:t>
            </a:r>
            <a:r>
              <a:rPr lang="en-IN" dirty="0" err="1">
                <a:latin typeface="Arial" panose="020B0604020202020204" pitchFamily="34" charset="0"/>
                <a:cs typeface="Arial" panose="020B0604020202020204" pitchFamily="34" charset="0"/>
              </a:rPr>
              <a:t>tak</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pahunchi</a:t>
            </a:r>
            <a:endParaRPr lang="en-IN" dirty="0">
              <a:latin typeface="Arial" panose="020B0604020202020204" pitchFamily="34" charset="0"/>
              <a:cs typeface="Arial" panose="020B0604020202020204" pitchFamily="34" charset="0"/>
            </a:endParaRPr>
          </a:p>
          <a:p>
            <a:pPr marL="742950" lvl="6" indent="-285750">
              <a:buFont typeface="Wingdings" panose="05000000000000000000" pitchFamily="2" charset="2"/>
              <a:buChar char="Ø"/>
            </a:pPr>
            <a:endParaRPr lang="en-IN" sz="1400" dirty="0">
              <a:latin typeface="Arial" panose="020B0604020202020204" pitchFamily="34" charset="0"/>
              <a:cs typeface="Arial" panose="020B0604020202020204" pitchFamily="34" charset="0"/>
            </a:endParaRPr>
          </a:p>
          <a:p>
            <a:pPr marL="285750" lvl="6" indent="-285750">
              <a:buFont typeface="Wingdings" panose="05000000000000000000" pitchFamily="2" charset="2"/>
              <a:buChar char="q"/>
            </a:pPr>
            <a:r>
              <a:rPr lang="en-IN" dirty="0">
                <a:latin typeface="Arial" panose="020B0604020202020204" pitchFamily="34" charset="0"/>
                <a:cs typeface="Arial" panose="020B0604020202020204" pitchFamily="34" charset="0"/>
              </a:rPr>
              <a:t>2023-2026</a:t>
            </a:r>
          </a:p>
          <a:p>
            <a:pPr marL="742950" lvl="7" indent="-285750">
              <a:buFont typeface="Wingdings" panose="05000000000000000000" pitchFamily="2" charset="2"/>
              <a:buChar char="Ø"/>
            </a:pPr>
            <a:r>
              <a:rPr lang="en-IN" dirty="0">
                <a:latin typeface="Arial" panose="020B0604020202020204" pitchFamily="34" charset="0"/>
                <a:cs typeface="Arial" panose="020B0604020202020204" pitchFamily="34" charset="0"/>
              </a:rPr>
              <a:t>Multimodal AI + AI agents </a:t>
            </a:r>
          </a:p>
          <a:p>
            <a:pPr marL="742950" lvl="7" indent="-285750">
              <a:buFont typeface="Wingdings" panose="05000000000000000000" pitchFamily="2" charset="2"/>
              <a:buChar char="Ø"/>
            </a:pPr>
            <a:r>
              <a:rPr lang="en-IN" dirty="0">
                <a:latin typeface="Arial" panose="020B0604020202020204" pitchFamily="34" charset="0"/>
                <a:cs typeface="Arial" panose="020B0604020202020204" pitchFamily="34" charset="0"/>
              </a:rPr>
              <a:t>Text + Image + audio + video</a:t>
            </a:r>
          </a:p>
        </p:txBody>
      </p:sp>
    </p:spTree>
    <p:extLst>
      <p:ext uri="{BB962C8B-B14F-4D97-AF65-F5344CB8AC3E}">
        <p14:creationId xmlns:p14="http://schemas.microsoft.com/office/powerpoint/2010/main" val="2172191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3745C-8898-0FAF-4937-FFD56A633DB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059B27-3CE3-1A35-4F24-8E6B1DF2B00F}"/>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FDF65A91-8AA5-504C-D9BB-C127EFA69341}"/>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INTRO TO ARTIFICIAL INTELLIGENCE</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600E8B70-5372-BE40-9B43-16DAC90472E5}"/>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6C547A36-7149-77E8-8225-EC31962F2573}"/>
              </a:ext>
            </a:extLst>
          </p:cNvPr>
          <p:cNvSpPr txBox="1"/>
          <p:nvPr/>
        </p:nvSpPr>
        <p:spPr>
          <a:xfrm>
            <a:off x="121920" y="1299756"/>
            <a:ext cx="8838118" cy="4247317"/>
          </a:xfrm>
          <a:prstGeom prst="rect">
            <a:avLst/>
          </a:prstGeom>
          <a:noFill/>
        </p:spPr>
        <p:txBody>
          <a:bodyPr wrap="square" rtlCol="0">
            <a:spAutoFit/>
          </a:bodyPr>
          <a:lstStyle/>
          <a:p>
            <a:r>
              <a:rPr lang="en-US" b="1" u="sng" dirty="0">
                <a:solidFill>
                  <a:schemeClr val="tx1">
                    <a:lumMod val="95000"/>
                    <a:lumOff val="5000"/>
                  </a:schemeClr>
                </a:solidFill>
                <a:latin typeface="Arial" panose="020B0604020202020204" pitchFamily="34" charset="0"/>
                <a:cs typeface="Arial" panose="020B0604020202020204" pitchFamily="34" charset="0"/>
              </a:rPr>
              <a:t>Goal of AI</a:t>
            </a:r>
          </a:p>
          <a:p>
            <a:pPr marL="342900" indent="-342900">
              <a:buFont typeface="Arial" panose="020B0604020202020204" pitchFamily="34" charset="0"/>
              <a:buChar char="•"/>
            </a:pPr>
            <a:r>
              <a:rPr lang="en-US" dirty="0">
                <a:solidFill>
                  <a:schemeClr val="tx1">
                    <a:lumMod val="95000"/>
                    <a:lumOff val="5000"/>
                  </a:schemeClr>
                </a:solidFill>
                <a:latin typeface="Arial" panose="020B0604020202020204" pitchFamily="34" charset="0"/>
                <a:cs typeface="Arial" panose="020B0604020202020204" pitchFamily="34" charset="0"/>
              </a:rPr>
              <a:t>The main goal of </a:t>
            </a:r>
            <a:r>
              <a:rPr lang="en-US" dirty="0">
                <a:solidFill>
                  <a:schemeClr val="tx1">
                    <a:lumMod val="95000"/>
                    <a:lumOff val="5000"/>
                  </a:schemeClr>
                </a:solidFill>
                <a:highlight>
                  <a:srgbClr val="FFFF00"/>
                </a:highlight>
                <a:latin typeface="Arial" panose="020B0604020202020204" pitchFamily="34" charset="0"/>
                <a:cs typeface="Arial" panose="020B0604020202020204" pitchFamily="34" charset="0"/>
              </a:rPr>
              <a:t>AI is to build systems that can Mimic (think and act like humans)</a:t>
            </a:r>
            <a:r>
              <a:rPr lang="en-US" dirty="0">
                <a:solidFill>
                  <a:schemeClr val="tx1">
                    <a:lumMod val="95000"/>
                    <a:lumOff val="5000"/>
                  </a:schemeClr>
                </a:solidFill>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US" dirty="0">
                <a:solidFill>
                  <a:schemeClr val="tx1">
                    <a:lumMod val="95000"/>
                    <a:lumOff val="5000"/>
                  </a:schemeClr>
                </a:solidFill>
                <a:latin typeface="Arial" panose="020B0604020202020204" pitchFamily="34" charset="0"/>
                <a:cs typeface="Arial" panose="020B0604020202020204" pitchFamily="34" charset="0"/>
              </a:rPr>
              <a:t>These systems can:</a:t>
            </a:r>
          </a:p>
          <a:p>
            <a:pPr marL="742950" lvl="1" indent="-285750">
              <a:buFont typeface="Courier New" panose="02070309020205020404" pitchFamily="49" charset="0"/>
              <a:buChar char="o"/>
            </a:pPr>
            <a:r>
              <a:rPr lang="en-US" dirty="0">
                <a:solidFill>
                  <a:schemeClr val="tx1">
                    <a:lumMod val="95000"/>
                    <a:lumOff val="5000"/>
                  </a:schemeClr>
                </a:solidFill>
                <a:latin typeface="Arial" panose="020B0604020202020204" pitchFamily="34" charset="0"/>
                <a:cs typeface="Arial" panose="020B0604020202020204" pitchFamily="34" charset="0"/>
              </a:rPr>
              <a:t>Reason</a:t>
            </a:r>
          </a:p>
          <a:p>
            <a:pPr marL="742950" lvl="1" indent="-285750">
              <a:buFont typeface="Courier New" panose="02070309020205020404" pitchFamily="49" charset="0"/>
              <a:buChar char="o"/>
            </a:pPr>
            <a:r>
              <a:rPr lang="en-US" dirty="0">
                <a:solidFill>
                  <a:schemeClr val="tx1">
                    <a:lumMod val="95000"/>
                    <a:lumOff val="5000"/>
                  </a:schemeClr>
                </a:solidFill>
                <a:latin typeface="Arial" panose="020B0604020202020204" pitchFamily="34" charset="0"/>
                <a:cs typeface="Arial" panose="020B0604020202020204" pitchFamily="34" charset="0"/>
              </a:rPr>
              <a:t>Learn </a:t>
            </a:r>
          </a:p>
          <a:p>
            <a:pPr marL="742950" lvl="1" indent="-285750">
              <a:buFont typeface="Courier New" panose="02070309020205020404" pitchFamily="49" charset="0"/>
              <a:buChar char="o"/>
            </a:pPr>
            <a:r>
              <a:rPr lang="en-US" dirty="0">
                <a:solidFill>
                  <a:schemeClr val="tx1">
                    <a:lumMod val="95000"/>
                    <a:lumOff val="5000"/>
                  </a:schemeClr>
                </a:solidFill>
                <a:latin typeface="Arial" panose="020B0604020202020204" pitchFamily="34" charset="0"/>
                <a:cs typeface="Arial" panose="020B0604020202020204" pitchFamily="34" charset="0"/>
              </a:rPr>
              <a:t>Plan</a:t>
            </a:r>
          </a:p>
          <a:p>
            <a:pPr marL="742950" lvl="1" indent="-285750">
              <a:buFont typeface="Courier New" panose="02070309020205020404" pitchFamily="49" charset="0"/>
              <a:buChar char="o"/>
            </a:pPr>
            <a:r>
              <a:rPr lang="en-US" dirty="0">
                <a:solidFill>
                  <a:schemeClr val="tx1">
                    <a:lumMod val="95000"/>
                    <a:lumOff val="5000"/>
                  </a:schemeClr>
                </a:solidFill>
                <a:latin typeface="Arial" panose="020B0604020202020204" pitchFamily="34" charset="0"/>
                <a:cs typeface="Arial" panose="020B0604020202020204" pitchFamily="34" charset="0"/>
              </a:rPr>
              <a:t>Adapt</a:t>
            </a:r>
          </a:p>
          <a:p>
            <a:pPr marL="742950" lvl="1" indent="-285750">
              <a:buFont typeface="Courier New" panose="02070309020205020404" pitchFamily="49" charset="0"/>
              <a:buChar char="o"/>
            </a:pPr>
            <a:endParaRPr lang="en-US" dirty="0">
              <a:solidFill>
                <a:schemeClr val="tx1">
                  <a:lumMod val="95000"/>
                  <a:lumOff val="5000"/>
                </a:schemeClr>
              </a:solidFill>
              <a:latin typeface="Arial" panose="020B0604020202020204" pitchFamily="34" charset="0"/>
              <a:cs typeface="Arial" panose="020B0604020202020204" pitchFamily="34" charset="0"/>
            </a:endParaRPr>
          </a:p>
          <a:p>
            <a:pPr marL="263525" lvl="1" indent="-263525">
              <a:buFont typeface="Wingdings" panose="05000000000000000000" pitchFamily="2" charset="2"/>
              <a:buChar char="q"/>
            </a:pPr>
            <a:r>
              <a:rPr lang="en-US" b="1" u="sng" dirty="0">
                <a:solidFill>
                  <a:schemeClr val="tx1">
                    <a:lumMod val="95000"/>
                    <a:lumOff val="5000"/>
                  </a:schemeClr>
                </a:solidFill>
                <a:latin typeface="Arial" panose="020B0604020202020204" pitchFamily="34" charset="0"/>
                <a:cs typeface="Arial" panose="020B0604020202020204" pitchFamily="34" charset="0"/>
              </a:rPr>
              <a:t>Example of AI</a:t>
            </a:r>
          </a:p>
          <a:p>
            <a:pPr marL="0" lvl="1"/>
            <a:endParaRPr lang="en-US" b="1" u="sng" dirty="0">
              <a:solidFill>
                <a:schemeClr val="tx1">
                  <a:lumMod val="95000"/>
                  <a:lumOff val="5000"/>
                </a:schemeClr>
              </a:solidFill>
              <a:latin typeface="Arial" panose="020B0604020202020204" pitchFamily="34" charset="0"/>
              <a:cs typeface="Arial" panose="020B0604020202020204" pitchFamily="34" charset="0"/>
            </a:endParaRPr>
          </a:p>
          <a:p>
            <a:pPr marL="742950" lvl="2" indent="-285750">
              <a:buFont typeface="Wingdings" panose="05000000000000000000" pitchFamily="2" charset="2"/>
              <a:buChar char="Ø"/>
            </a:pPr>
            <a:r>
              <a:rPr lang="en-US" b="1" dirty="0" err="1">
                <a:solidFill>
                  <a:schemeClr val="tx1">
                    <a:lumMod val="95000"/>
                    <a:lumOff val="5000"/>
                  </a:schemeClr>
                </a:solidFill>
                <a:latin typeface="Arial" panose="020B0604020202020204" pitchFamily="34" charset="0"/>
                <a:cs typeface="Arial" panose="020B0604020202020204" pitchFamily="34" charset="0"/>
              </a:rPr>
              <a:t>Chatgpt</a:t>
            </a:r>
            <a:r>
              <a:rPr lang="en-US" dirty="0">
                <a:solidFill>
                  <a:schemeClr val="tx1">
                    <a:lumMod val="95000"/>
                    <a:lumOff val="5000"/>
                  </a:schemeClr>
                </a:solidFill>
                <a:latin typeface="Arial" panose="020B0604020202020204" pitchFamily="34" charset="0"/>
                <a:cs typeface="Arial" panose="020B0604020202020204" pitchFamily="34" charset="0"/>
              </a:rPr>
              <a:t> – Question </a:t>
            </a:r>
            <a:r>
              <a:rPr lang="en-US" dirty="0" err="1">
                <a:solidFill>
                  <a:schemeClr val="tx1">
                    <a:lumMod val="95000"/>
                    <a:lumOff val="5000"/>
                  </a:schemeClr>
                </a:solidFill>
                <a:latin typeface="Arial" panose="020B0604020202020204" pitchFamily="34" charset="0"/>
                <a:cs typeface="Arial" panose="020B0604020202020204" pitchFamily="34" charset="0"/>
              </a:rPr>
              <a:t>Samajkar</a:t>
            </a:r>
            <a:r>
              <a:rPr lang="en-US" dirty="0">
                <a:solidFill>
                  <a:schemeClr val="tx1">
                    <a:lumMod val="95000"/>
                    <a:lumOff val="5000"/>
                  </a:schemeClr>
                </a:solidFill>
                <a:latin typeface="Arial" panose="020B0604020202020204" pitchFamily="34" charset="0"/>
                <a:cs typeface="Arial" panose="020B0604020202020204" pitchFamily="34" charset="0"/>
              </a:rPr>
              <a:t> answer </a:t>
            </a:r>
            <a:r>
              <a:rPr lang="en-US" dirty="0" err="1">
                <a:solidFill>
                  <a:schemeClr val="tx1">
                    <a:lumMod val="95000"/>
                    <a:lumOff val="5000"/>
                  </a:schemeClr>
                </a:solidFill>
                <a:latin typeface="Arial" panose="020B0604020202020204" pitchFamily="34" charset="0"/>
                <a:cs typeface="Arial" panose="020B0604020202020204" pitchFamily="34" charset="0"/>
              </a:rPr>
              <a:t>karta</a:t>
            </a:r>
            <a:r>
              <a:rPr lang="en-US" dirty="0">
                <a:solidFill>
                  <a:schemeClr val="tx1">
                    <a:lumMod val="95000"/>
                    <a:lumOff val="5000"/>
                  </a:schemeClr>
                </a:solidFill>
                <a:latin typeface="Arial" panose="020B0604020202020204" pitchFamily="34" charset="0"/>
                <a:cs typeface="Arial" panose="020B0604020202020204" pitchFamily="34" charset="0"/>
              </a:rPr>
              <a:t> </a:t>
            </a:r>
            <a:r>
              <a:rPr lang="en-US" dirty="0" err="1">
                <a:solidFill>
                  <a:schemeClr val="tx1">
                    <a:lumMod val="95000"/>
                    <a:lumOff val="5000"/>
                  </a:schemeClr>
                </a:solidFill>
                <a:latin typeface="Arial" panose="020B0604020202020204" pitchFamily="34" charset="0"/>
                <a:cs typeface="Arial" panose="020B0604020202020204" pitchFamily="34" charset="0"/>
              </a:rPr>
              <a:t>hai</a:t>
            </a:r>
            <a:r>
              <a:rPr lang="en-US" dirty="0">
                <a:solidFill>
                  <a:schemeClr val="tx1">
                    <a:lumMod val="95000"/>
                    <a:lumOff val="5000"/>
                  </a:schemeClr>
                </a:solidFill>
                <a:latin typeface="Arial" panose="020B0604020202020204" pitchFamily="34" charset="0"/>
                <a:cs typeface="Arial" panose="020B0604020202020204" pitchFamily="34" charset="0"/>
              </a:rPr>
              <a:t>.</a:t>
            </a:r>
          </a:p>
          <a:p>
            <a:pPr marL="742950" lvl="2" indent="-285750">
              <a:buFont typeface="Wingdings" panose="05000000000000000000" pitchFamily="2" charset="2"/>
              <a:buChar char="Ø"/>
            </a:pPr>
            <a:r>
              <a:rPr lang="en-US" b="1" dirty="0">
                <a:solidFill>
                  <a:schemeClr val="tx1">
                    <a:lumMod val="95000"/>
                    <a:lumOff val="5000"/>
                  </a:schemeClr>
                </a:solidFill>
                <a:latin typeface="Arial" panose="020B0604020202020204" pitchFamily="34" charset="0"/>
                <a:cs typeface="Arial" panose="020B0604020202020204" pitchFamily="34" charset="0"/>
              </a:rPr>
              <a:t>Google Maps </a:t>
            </a:r>
            <a:r>
              <a:rPr lang="en-US" dirty="0">
                <a:solidFill>
                  <a:schemeClr val="tx1">
                    <a:lumMod val="95000"/>
                    <a:lumOff val="5000"/>
                  </a:schemeClr>
                </a:solidFill>
                <a:latin typeface="Arial" panose="020B0604020202020204" pitchFamily="34" charset="0"/>
                <a:cs typeface="Arial" panose="020B0604020202020204" pitchFamily="34" charset="0"/>
              </a:rPr>
              <a:t>– Route Suggest </a:t>
            </a:r>
            <a:r>
              <a:rPr lang="en-US" dirty="0" err="1">
                <a:solidFill>
                  <a:schemeClr val="tx1">
                    <a:lumMod val="95000"/>
                    <a:lumOff val="5000"/>
                  </a:schemeClr>
                </a:solidFill>
                <a:latin typeface="Arial" panose="020B0604020202020204" pitchFamily="34" charset="0"/>
                <a:cs typeface="Arial" panose="020B0604020202020204" pitchFamily="34" charset="0"/>
              </a:rPr>
              <a:t>Krta</a:t>
            </a:r>
            <a:r>
              <a:rPr lang="en-US" dirty="0">
                <a:solidFill>
                  <a:schemeClr val="tx1">
                    <a:lumMod val="95000"/>
                    <a:lumOff val="5000"/>
                  </a:schemeClr>
                </a:solidFill>
                <a:latin typeface="Arial" panose="020B0604020202020204" pitchFamily="34" charset="0"/>
                <a:cs typeface="Arial" panose="020B0604020202020204" pitchFamily="34" charset="0"/>
              </a:rPr>
              <a:t> Hai.</a:t>
            </a:r>
          </a:p>
          <a:p>
            <a:pPr marL="742950" lvl="2" indent="-285750">
              <a:buFont typeface="Wingdings" panose="05000000000000000000" pitchFamily="2" charset="2"/>
              <a:buChar char="Ø"/>
            </a:pPr>
            <a:r>
              <a:rPr lang="en-US" b="1" dirty="0">
                <a:solidFill>
                  <a:schemeClr val="tx1">
                    <a:lumMod val="95000"/>
                    <a:lumOff val="5000"/>
                  </a:schemeClr>
                </a:solidFill>
                <a:latin typeface="Arial" panose="020B0604020202020204" pitchFamily="34" charset="0"/>
                <a:cs typeface="Arial" panose="020B0604020202020204" pitchFamily="34" charset="0"/>
              </a:rPr>
              <a:t>Face Unlock </a:t>
            </a:r>
            <a:r>
              <a:rPr lang="en-US" dirty="0">
                <a:solidFill>
                  <a:schemeClr val="tx1">
                    <a:lumMod val="95000"/>
                    <a:lumOff val="5000"/>
                  </a:schemeClr>
                </a:solidFill>
                <a:latin typeface="Arial" panose="020B0604020202020204" pitchFamily="34" charset="0"/>
                <a:cs typeface="Arial" panose="020B0604020202020204" pitchFamily="34" charset="0"/>
              </a:rPr>
              <a:t>– Face Recognize </a:t>
            </a:r>
            <a:r>
              <a:rPr lang="en-US" dirty="0" err="1">
                <a:solidFill>
                  <a:schemeClr val="tx1">
                    <a:lumMod val="95000"/>
                    <a:lumOff val="5000"/>
                  </a:schemeClr>
                </a:solidFill>
                <a:latin typeface="Arial" panose="020B0604020202020204" pitchFamily="34" charset="0"/>
                <a:cs typeface="Arial" panose="020B0604020202020204" pitchFamily="34" charset="0"/>
              </a:rPr>
              <a:t>krta</a:t>
            </a:r>
            <a:r>
              <a:rPr lang="en-US" dirty="0">
                <a:solidFill>
                  <a:schemeClr val="tx1">
                    <a:lumMod val="95000"/>
                    <a:lumOff val="5000"/>
                  </a:schemeClr>
                </a:solidFill>
                <a:latin typeface="Arial" panose="020B0604020202020204" pitchFamily="34" charset="0"/>
                <a:cs typeface="Arial" panose="020B0604020202020204" pitchFamily="34" charset="0"/>
              </a:rPr>
              <a:t> </a:t>
            </a:r>
            <a:r>
              <a:rPr lang="en-US" dirty="0" err="1">
                <a:solidFill>
                  <a:schemeClr val="tx1">
                    <a:lumMod val="95000"/>
                    <a:lumOff val="5000"/>
                  </a:schemeClr>
                </a:solidFill>
                <a:latin typeface="Arial" panose="020B0604020202020204" pitchFamily="34" charset="0"/>
                <a:cs typeface="Arial" panose="020B0604020202020204" pitchFamily="34" charset="0"/>
              </a:rPr>
              <a:t>hai</a:t>
            </a:r>
            <a:r>
              <a:rPr lang="en-US" dirty="0">
                <a:solidFill>
                  <a:schemeClr val="tx1">
                    <a:lumMod val="95000"/>
                    <a:lumOff val="5000"/>
                  </a:schemeClr>
                </a:solidFill>
                <a:latin typeface="Arial" panose="020B0604020202020204" pitchFamily="34" charset="0"/>
                <a:cs typeface="Arial" panose="020B0604020202020204" pitchFamily="34" charset="0"/>
              </a:rPr>
              <a:t>.</a:t>
            </a:r>
          </a:p>
          <a:p>
            <a:pPr marL="742950" lvl="2" indent="-285750">
              <a:buFont typeface="Wingdings" panose="05000000000000000000" pitchFamily="2" charset="2"/>
              <a:buChar char="Ø"/>
            </a:pPr>
            <a:r>
              <a:rPr lang="en-US" b="1" dirty="0">
                <a:solidFill>
                  <a:schemeClr val="tx1">
                    <a:lumMod val="95000"/>
                    <a:lumOff val="5000"/>
                  </a:schemeClr>
                </a:solidFill>
                <a:latin typeface="Arial" panose="020B0604020202020204" pitchFamily="34" charset="0"/>
                <a:cs typeface="Arial" panose="020B0604020202020204" pitchFamily="34" charset="0"/>
              </a:rPr>
              <a:t>YouTube </a:t>
            </a:r>
            <a:r>
              <a:rPr lang="en-US" dirty="0">
                <a:solidFill>
                  <a:schemeClr val="tx1">
                    <a:lumMod val="95000"/>
                    <a:lumOff val="5000"/>
                  </a:schemeClr>
                </a:solidFill>
                <a:latin typeface="Arial" panose="020B0604020202020204" pitchFamily="34" charset="0"/>
                <a:cs typeface="Arial" panose="020B0604020202020204" pitchFamily="34" charset="0"/>
              </a:rPr>
              <a:t>– Videos Recommend </a:t>
            </a:r>
            <a:r>
              <a:rPr lang="en-US" dirty="0" err="1">
                <a:solidFill>
                  <a:schemeClr val="tx1">
                    <a:lumMod val="95000"/>
                    <a:lumOff val="5000"/>
                  </a:schemeClr>
                </a:solidFill>
                <a:latin typeface="Arial" panose="020B0604020202020204" pitchFamily="34" charset="0"/>
                <a:cs typeface="Arial" panose="020B0604020202020204" pitchFamily="34" charset="0"/>
              </a:rPr>
              <a:t>krta</a:t>
            </a:r>
            <a:r>
              <a:rPr lang="en-US" dirty="0">
                <a:solidFill>
                  <a:schemeClr val="tx1">
                    <a:lumMod val="95000"/>
                    <a:lumOff val="5000"/>
                  </a:schemeClr>
                </a:solidFill>
                <a:latin typeface="Arial" panose="020B0604020202020204" pitchFamily="34" charset="0"/>
                <a:cs typeface="Arial" panose="020B0604020202020204" pitchFamily="34" charset="0"/>
              </a:rPr>
              <a:t> </a:t>
            </a:r>
            <a:r>
              <a:rPr lang="en-US" dirty="0" err="1">
                <a:solidFill>
                  <a:schemeClr val="tx1">
                    <a:lumMod val="95000"/>
                    <a:lumOff val="5000"/>
                  </a:schemeClr>
                </a:solidFill>
                <a:latin typeface="Arial" panose="020B0604020202020204" pitchFamily="34" charset="0"/>
                <a:cs typeface="Arial" panose="020B0604020202020204" pitchFamily="34" charset="0"/>
              </a:rPr>
              <a:t>hai</a:t>
            </a:r>
            <a:r>
              <a:rPr lang="en-US" dirty="0">
                <a:solidFill>
                  <a:schemeClr val="tx1">
                    <a:lumMod val="95000"/>
                    <a:lumOff val="5000"/>
                  </a:schemeClr>
                </a:solidFill>
                <a:latin typeface="Arial" panose="020B0604020202020204" pitchFamily="34" charset="0"/>
                <a:cs typeface="Arial" panose="020B0604020202020204" pitchFamily="34" charset="0"/>
              </a:rPr>
              <a:t>.</a:t>
            </a:r>
          </a:p>
          <a:p>
            <a:pPr marL="742950" lvl="2" indent="-285750">
              <a:buFont typeface="Wingdings" panose="05000000000000000000" pitchFamily="2" charset="2"/>
              <a:buChar char="Ø"/>
            </a:pPr>
            <a:r>
              <a:rPr lang="en-US" b="1" dirty="0">
                <a:solidFill>
                  <a:schemeClr val="tx1">
                    <a:lumMod val="95000"/>
                    <a:lumOff val="5000"/>
                  </a:schemeClr>
                </a:solidFill>
                <a:latin typeface="Arial" panose="020B0604020202020204" pitchFamily="34" charset="0"/>
                <a:cs typeface="Arial" panose="020B0604020202020204" pitchFamily="34" charset="0"/>
              </a:rPr>
              <a:t>Self Driving Systems </a:t>
            </a:r>
            <a:r>
              <a:rPr lang="en-US" dirty="0">
                <a:solidFill>
                  <a:schemeClr val="tx1">
                    <a:lumMod val="95000"/>
                    <a:lumOff val="5000"/>
                  </a:schemeClr>
                </a:solidFill>
                <a:latin typeface="Arial" panose="020B0604020202020204" pitchFamily="34" charset="0"/>
                <a:cs typeface="Arial" panose="020B0604020202020204" pitchFamily="34" charset="0"/>
              </a:rPr>
              <a:t>– Surroundings detect </a:t>
            </a:r>
            <a:r>
              <a:rPr lang="en-US" dirty="0" err="1">
                <a:solidFill>
                  <a:schemeClr val="tx1">
                    <a:lumMod val="95000"/>
                    <a:lumOff val="5000"/>
                  </a:schemeClr>
                </a:solidFill>
                <a:latin typeface="Arial" panose="020B0604020202020204" pitchFamily="34" charset="0"/>
                <a:cs typeface="Arial" panose="020B0604020202020204" pitchFamily="34" charset="0"/>
              </a:rPr>
              <a:t>karke</a:t>
            </a:r>
            <a:r>
              <a:rPr lang="en-US" dirty="0">
                <a:solidFill>
                  <a:schemeClr val="tx1">
                    <a:lumMod val="95000"/>
                    <a:lumOff val="5000"/>
                  </a:schemeClr>
                </a:solidFill>
                <a:latin typeface="Arial" panose="020B0604020202020204" pitchFamily="34" charset="0"/>
                <a:cs typeface="Arial" panose="020B0604020202020204" pitchFamily="34" charset="0"/>
              </a:rPr>
              <a:t> decisions </a:t>
            </a:r>
            <a:r>
              <a:rPr lang="en-US" dirty="0" err="1">
                <a:solidFill>
                  <a:schemeClr val="tx1">
                    <a:lumMod val="95000"/>
                    <a:lumOff val="5000"/>
                  </a:schemeClr>
                </a:solidFill>
                <a:latin typeface="Arial" panose="020B0604020202020204" pitchFamily="34" charset="0"/>
                <a:cs typeface="Arial" panose="020B0604020202020204" pitchFamily="34" charset="0"/>
              </a:rPr>
              <a:t>lete</a:t>
            </a:r>
            <a:r>
              <a:rPr lang="en-US" dirty="0">
                <a:solidFill>
                  <a:schemeClr val="tx1">
                    <a:lumMod val="95000"/>
                    <a:lumOff val="5000"/>
                  </a:schemeClr>
                </a:solidFill>
                <a:latin typeface="Arial" panose="020B0604020202020204" pitchFamily="34" charset="0"/>
                <a:cs typeface="Arial" panose="020B0604020202020204" pitchFamily="34" charset="0"/>
              </a:rPr>
              <a:t> </a:t>
            </a:r>
            <a:r>
              <a:rPr lang="en-US" dirty="0" err="1">
                <a:solidFill>
                  <a:schemeClr val="tx1">
                    <a:lumMod val="95000"/>
                    <a:lumOff val="5000"/>
                  </a:schemeClr>
                </a:solidFill>
                <a:latin typeface="Arial" panose="020B0604020202020204" pitchFamily="34" charset="0"/>
                <a:cs typeface="Arial" panose="020B0604020202020204" pitchFamily="34" charset="0"/>
              </a:rPr>
              <a:t>hain</a:t>
            </a:r>
            <a:r>
              <a:rPr lang="en-US" dirty="0">
                <a:solidFill>
                  <a:schemeClr val="tx1">
                    <a:lumMod val="95000"/>
                    <a:lumOff val="5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55948582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CC39096-1EB1-8C50-1CA7-61FD78B5A440}"/>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Types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A8F6B734-D111-CD7C-5527-A184E0B8DEDF}"/>
              </a:ext>
            </a:extLst>
          </p:cNvPr>
          <p:cNvPicPr>
            <a:picLocks noChangeAspect="1" noChangeArrowheads="1"/>
          </p:cNvPicPr>
          <p:nvPr/>
        </p:nvPicPr>
        <p:blipFill>
          <a:blip r:embed="rId2"/>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42" name="TextBox 41">
            <a:extLst>
              <a:ext uri="{FF2B5EF4-FFF2-40B4-BE49-F238E27FC236}">
                <a16:creationId xmlns:a16="http://schemas.microsoft.com/office/drawing/2014/main" id="{A5E12D32-D33B-E27C-5491-1900EBE6800E}"/>
              </a:ext>
            </a:extLst>
          </p:cNvPr>
          <p:cNvSpPr txBox="1"/>
          <p:nvPr/>
        </p:nvSpPr>
        <p:spPr>
          <a:xfrm>
            <a:off x="233680" y="1175336"/>
            <a:ext cx="8726357" cy="5601533"/>
          </a:xfrm>
          <a:prstGeom prst="rect">
            <a:avLst/>
          </a:prstGeom>
          <a:noFill/>
        </p:spPr>
        <p:txBody>
          <a:bodyPr wrap="square">
            <a:spAutoFit/>
          </a:bodyPr>
          <a:lstStyle/>
          <a:p>
            <a:pPr>
              <a:buNone/>
            </a:pPr>
            <a:r>
              <a:rPr lang="en-US" sz="1600" b="1" dirty="0">
                <a:solidFill>
                  <a:srgbClr val="FF0000"/>
                </a:solidFill>
                <a:latin typeface="Arial" panose="020B0604020202020204" pitchFamily="34" charset="0"/>
                <a:cs typeface="Arial" panose="020B0604020202020204" pitchFamily="34" charset="0"/>
              </a:rPr>
              <a:t>1. </a:t>
            </a:r>
            <a:r>
              <a:rPr lang="en-US" sz="1600" b="1" u="sng" dirty="0">
                <a:solidFill>
                  <a:srgbClr val="FF0000"/>
                </a:solidFill>
                <a:latin typeface="Arial" panose="020B0604020202020204" pitchFamily="34" charset="0"/>
                <a:cs typeface="Arial" panose="020B0604020202020204" pitchFamily="34" charset="0"/>
              </a:rPr>
              <a:t>Narrow AI (Weak AI)</a:t>
            </a:r>
            <a:r>
              <a:rPr lang="en-US" sz="1600" b="1" dirty="0">
                <a:solidFill>
                  <a:srgbClr val="FF0000"/>
                </a:solidFill>
                <a:latin typeface="Arial" panose="020B0604020202020204" pitchFamily="34" charset="0"/>
                <a:cs typeface="Arial" panose="020B0604020202020204" pitchFamily="34" charset="0"/>
              </a:rPr>
              <a:t> - AI that can do only one specific task</a:t>
            </a:r>
          </a:p>
          <a:p>
            <a:pPr marL="742950" lvl="1" indent="-285750">
              <a:buFont typeface="Arial" panose="020B0604020202020204" pitchFamily="34" charset="0"/>
              <a:buChar char="•"/>
            </a:pPr>
            <a:r>
              <a:rPr lang="en-US" sz="1600" dirty="0">
                <a:solidFill>
                  <a:srgbClr val="FF0000"/>
                </a:solidFill>
                <a:highlight>
                  <a:srgbClr val="FFFF00"/>
                </a:highlight>
                <a:latin typeface="Arial" panose="020B0604020202020204" pitchFamily="34" charset="0"/>
                <a:cs typeface="Arial" panose="020B0604020202020204" pitchFamily="34" charset="0"/>
              </a:rPr>
              <a:t>Works on a </a:t>
            </a:r>
            <a:r>
              <a:rPr lang="en-US" sz="1600" b="1" dirty="0">
                <a:solidFill>
                  <a:srgbClr val="FF0000"/>
                </a:solidFill>
                <a:highlight>
                  <a:srgbClr val="FFFF00"/>
                </a:highlight>
                <a:latin typeface="Arial" panose="020B0604020202020204" pitchFamily="34" charset="0"/>
                <a:cs typeface="Arial" panose="020B0604020202020204" pitchFamily="34" charset="0"/>
              </a:rPr>
              <a:t>single</a:t>
            </a:r>
            <a:r>
              <a:rPr lang="en-US" sz="1600" dirty="0">
                <a:solidFill>
                  <a:srgbClr val="FF0000"/>
                </a:solidFill>
                <a:highlight>
                  <a:srgbClr val="FFFF00"/>
                </a:highlight>
                <a:latin typeface="Arial" panose="020B0604020202020204" pitchFamily="34" charset="0"/>
                <a:cs typeface="Arial" panose="020B0604020202020204" pitchFamily="34" charset="0"/>
              </a:rPr>
              <a:t> task</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Cannot think or do things outside its programming</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Most AI in the world today is Narrow AI</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Learns from data but only for its specific job</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Faster and more accurate than humans in that one task</a:t>
            </a:r>
          </a:p>
          <a:p>
            <a:pPr marL="742950" lvl="1" indent="-285750">
              <a:buFont typeface="Arial" panose="020B0604020202020204" pitchFamily="34" charset="0"/>
              <a:buChar char="•"/>
            </a:pPr>
            <a:r>
              <a:rPr lang="en-US" sz="1600" b="1" dirty="0">
                <a:solidFill>
                  <a:srgbClr val="FF0000"/>
                </a:solidFill>
                <a:latin typeface="Arial" panose="020B0604020202020204" pitchFamily="34" charset="0"/>
                <a:cs typeface="Arial" panose="020B0604020202020204" pitchFamily="34" charset="0"/>
              </a:rPr>
              <a:t>Example:</a:t>
            </a:r>
            <a:r>
              <a:rPr lang="en-US" sz="1600" dirty="0">
                <a:solidFill>
                  <a:srgbClr val="FF0000"/>
                </a:solidFill>
                <a:latin typeface="Arial" panose="020B0604020202020204" pitchFamily="34" charset="0"/>
                <a:cs typeface="Arial" panose="020B0604020202020204" pitchFamily="34" charset="0"/>
              </a:rPr>
              <a:t> </a:t>
            </a:r>
            <a:r>
              <a:rPr lang="en-US" sz="1600" dirty="0">
                <a:solidFill>
                  <a:srgbClr val="FF0000"/>
                </a:solidFill>
                <a:highlight>
                  <a:srgbClr val="FFFF00"/>
                </a:highlight>
                <a:latin typeface="Arial" panose="020B0604020202020204" pitchFamily="34" charset="0"/>
                <a:cs typeface="Arial" panose="020B0604020202020204" pitchFamily="34" charset="0"/>
              </a:rPr>
              <a:t>Google Maps (shows directions only</a:t>
            </a:r>
            <a:r>
              <a:rPr lang="en-US" sz="1600" dirty="0">
                <a:solidFill>
                  <a:srgbClr val="FF0000"/>
                </a:solidFill>
                <a:latin typeface="Arial" panose="020B0604020202020204" pitchFamily="34" charset="0"/>
                <a:cs typeface="Arial" panose="020B0604020202020204" pitchFamily="34" charset="0"/>
              </a:rPr>
              <a:t>)</a:t>
            </a:r>
          </a:p>
          <a:p>
            <a:pPr lvl="1"/>
            <a:endParaRPr lang="en-US" sz="1400" dirty="0">
              <a:solidFill>
                <a:srgbClr val="FF0000"/>
              </a:solidFill>
              <a:latin typeface="Arial" panose="020B0604020202020204" pitchFamily="34" charset="0"/>
              <a:cs typeface="Arial" panose="020B0604020202020204" pitchFamily="34" charset="0"/>
            </a:endParaRPr>
          </a:p>
          <a:p>
            <a:pPr>
              <a:buNone/>
            </a:pPr>
            <a:r>
              <a:rPr lang="en-US" sz="1600" b="1" dirty="0">
                <a:latin typeface="Arial" panose="020B0604020202020204" pitchFamily="34" charset="0"/>
                <a:cs typeface="Arial" panose="020B0604020202020204" pitchFamily="34" charset="0"/>
              </a:rPr>
              <a:t>2. </a:t>
            </a:r>
            <a:r>
              <a:rPr lang="en-US" sz="1600" b="1" u="sng" dirty="0">
                <a:latin typeface="Arial" panose="020B0604020202020204" pitchFamily="34" charset="0"/>
                <a:cs typeface="Arial" panose="020B0604020202020204" pitchFamily="34" charset="0"/>
              </a:rPr>
              <a:t>General AI (AGI)</a:t>
            </a:r>
            <a:r>
              <a:rPr lang="en-US" sz="1600" b="1" dirty="0">
                <a:latin typeface="Arial" panose="020B0604020202020204" pitchFamily="34" charset="0"/>
                <a:cs typeface="Arial" panose="020B0604020202020204" pitchFamily="34" charset="0"/>
              </a:rPr>
              <a:t> - AI that can think and learn like a human</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Can do </a:t>
            </a:r>
            <a:r>
              <a:rPr lang="en-US" sz="1600" b="1" dirty="0">
                <a:latin typeface="Arial" panose="020B0604020202020204" pitchFamily="34" charset="0"/>
                <a:cs typeface="Arial" panose="020B0604020202020204" pitchFamily="34" charset="0"/>
              </a:rPr>
              <a:t>any</a:t>
            </a:r>
            <a:r>
              <a:rPr lang="en-US" sz="1600" dirty="0">
                <a:latin typeface="Arial" panose="020B0604020202020204" pitchFamily="34" charset="0"/>
                <a:cs typeface="Arial" panose="020B0604020202020204" pitchFamily="34" charset="0"/>
              </a:rPr>
              <a:t> mental task a human can do</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Can understand, learn, and apply knowledge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Can switch between different tasks easily</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Not limited to one job</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Still does </a:t>
            </a:r>
            <a:r>
              <a:rPr lang="en-US" sz="1600" b="1" dirty="0">
                <a:latin typeface="Arial" panose="020B0604020202020204" pitchFamily="34" charset="0"/>
                <a:cs typeface="Arial" panose="020B0604020202020204" pitchFamily="34" charset="0"/>
              </a:rPr>
              <a:t>not exist</a:t>
            </a:r>
            <a:r>
              <a:rPr lang="en-US" sz="1600" dirty="0">
                <a:latin typeface="Arial" panose="020B0604020202020204" pitchFamily="34" charset="0"/>
                <a:cs typeface="Arial" panose="020B0604020202020204" pitchFamily="34" charset="0"/>
              </a:rPr>
              <a:t> in real life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Example:</a:t>
            </a:r>
            <a:r>
              <a:rPr lang="en-US" sz="1600" dirty="0">
                <a:latin typeface="Arial" panose="020B0604020202020204" pitchFamily="34" charset="0"/>
                <a:cs typeface="Arial" panose="020B0604020202020204" pitchFamily="34" charset="0"/>
              </a:rPr>
              <a:t> </a:t>
            </a:r>
            <a:r>
              <a:rPr lang="en-US" sz="1600" dirty="0">
                <a:highlight>
                  <a:srgbClr val="FFFF00"/>
                </a:highlight>
                <a:latin typeface="Arial" panose="020B0604020202020204" pitchFamily="34" charset="0"/>
                <a:cs typeface="Arial" panose="020B0604020202020204" pitchFamily="34" charset="0"/>
              </a:rPr>
              <a:t>A robot that can cook, drive, study, and talk like a human</a:t>
            </a:r>
          </a:p>
          <a:p>
            <a:pPr>
              <a:buNone/>
            </a:pPr>
            <a:endParaRPr lang="en-US" sz="800" dirty="0">
              <a:solidFill>
                <a:srgbClr val="FF0000"/>
              </a:solidFill>
              <a:latin typeface="Arial" panose="020B0604020202020204" pitchFamily="34" charset="0"/>
              <a:cs typeface="Arial" panose="020B0604020202020204" pitchFamily="34" charset="0"/>
            </a:endParaRPr>
          </a:p>
          <a:p>
            <a:pPr>
              <a:buNone/>
            </a:pPr>
            <a:r>
              <a:rPr lang="en-US" sz="1600" b="1" dirty="0">
                <a:solidFill>
                  <a:srgbClr val="FF0000"/>
                </a:solidFill>
                <a:latin typeface="Arial" panose="020B0604020202020204" pitchFamily="34" charset="0"/>
                <a:cs typeface="Arial" panose="020B0604020202020204" pitchFamily="34" charset="0"/>
              </a:rPr>
              <a:t>3. </a:t>
            </a:r>
            <a:r>
              <a:rPr lang="en-US" sz="1600" b="1" u="sng" dirty="0">
                <a:solidFill>
                  <a:srgbClr val="FF0000"/>
                </a:solidFill>
                <a:latin typeface="Arial" panose="020B0604020202020204" pitchFamily="34" charset="0"/>
                <a:cs typeface="Arial" panose="020B0604020202020204" pitchFamily="34" charset="0"/>
              </a:rPr>
              <a:t>Superintelligent AI</a:t>
            </a:r>
            <a:r>
              <a:rPr lang="en-US" sz="1600" b="1" dirty="0">
                <a:solidFill>
                  <a:srgbClr val="FF0000"/>
                </a:solidFill>
                <a:latin typeface="Arial" panose="020B0604020202020204" pitchFamily="34" charset="0"/>
                <a:cs typeface="Arial" panose="020B0604020202020204" pitchFamily="34" charset="0"/>
              </a:rPr>
              <a:t> - AI that is smarter than humans in every way</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More intelligent than the best human minds</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Can learn and improve by itself very fast</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Better at creativity, problem-solving, and planning</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Only a future idea; not real yet</a:t>
            </a:r>
          </a:p>
          <a:p>
            <a:pPr marL="742950" lvl="1" indent="-285750">
              <a:buFont typeface="Arial" panose="020B0604020202020204" pitchFamily="34" charset="0"/>
              <a:buChar char="•"/>
            </a:pPr>
            <a:r>
              <a:rPr lang="en-US" sz="1600" dirty="0">
                <a:solidFill>
                  <a:srgbClr val="FF0000"/>
                </a:solidFill>
                <a:latin typeface="Arial" panose="020B0604020202020204" pitchFamily="34" charset="0"/>
                <a:cs typeface="Arial" panose="020B0604020202020204" pitchFamily="34" charset="0"/>
              </a:rPr>
              <a:t>Considered both powerful and risky</a:t>
            </a:r>
          </a:p>
          <a:p>
            <a:pPr marL="742950" lvl="1" indent="-285750">
              <a:buFont typeface="Arial" panose="020B0604020202020204" pitchFamily="34" charset="0"/>
              <a:buChar char="•"/>
            </a:pPr>
            <a:r>
              <a:rPr lang="en-US" sz="1600" b="1" dirty="0">
                <a:solidFill>
                  <a:srgbClr val="FF0000"/>
                </a:solidFill>
                <a:latin typeface="Arial" panose="020B0604020202020204" pitchFamily="34" charset="0"/>
                <a:cs typeface="Arial" panose="020B0604020202020204" pitchFamily="34" charset="0"/>
              </a:rPr>
              <a:t>Example:</a:t>
            </a:r>
            <a:r>
              <a:rPr lang="en-US" sz="1600" dirty="0">
                <a:solidFill>
                  <a:srgbClr val="FF0000"/>
                </a:solidFill>
                <a:latin typeface="Arial" panose="020B0604020202020204" pitchFamily="34" charset="0"/>
                <a:cs typeface="Arial" panose="020B0604020202020204" pitchFamily="34" charset="0"/>
              </a:rPr>
              <a:t> </a:t>
            </a:r>
            <a:r>
              <a:rPr lang="en-US" sz="1600" dirty="0">
                <a:solidFill>
                  <a:srgbClr val="FF0000"/>
                </a:solidFill>
                <a:highlight>
                  <a:srgbClr val="FFFF00"/>
                </a:highlight>
                <a:latin typeface="Arial" panose="020B0604020202020204" pitchFamily="34" charset="0"/>
                <a:cs typeface="Arial" panose="020B0604020202020204" pitchFamily="34" charset="0"/>
              </a:rPr>
              <a:t>An AI that invents new science and technologies on its own</a:t>
            </a:r>
          </a:p>
        </p:txBody>
      </p:sp>
    </p:spTree>
    <p:extLst>
      <p:ext uri="{BB962C8B-B14F-4D97-AF65-F5344CB8AC3E}">
        <p14:creationId xmlns:p14="http://schemas.microsoft.com/office/powerpoint/2010/main" val="4282165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3D264-6AA6-976A-D05A-4123285208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A9475E2-3376-4A5E-D3FA-6BABB9EB0466}"/>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pic>
        <p:nvPicPr>
          <p:cNvPr id="8" name="Picture 7">
            <a:extLst>
              <a:ext uri="{FF2B5EF4-FFF2-40B4-BE49-F238E27FC236}">
                <a16:creationId xmlns:a16="http://schemas.microsoft.com/office/drawing/2014/main" id="{D6F85AC4-3B4B-2512-4C97-906494DDD974}"/>
              </a:ext>
            </a:extLst>
          </p:cNvPr>
          <p:cNvPicPr>
            <a:picLocks noChangeAspect="1"/>
          </p:cNvPicPr>
          <p:nvPr/>
        </p:nvPicPr>
        <p:blipFill>
          <a:blip r:embed="rId3"/>
          <a:stretch>
            <a:fillRect/>
          </a:stretch>
        </p:blipFill>
        <p:spPr>
          <a:xfrm>
            <a:off x="183962" y="3414750"/>
            <a:ext cx="8960038" cy="3371242"/>
          </a:xfrm>
          <a:prstGeom prst="rect">
            <a:avLst/>
          </a:prstGeom>
        </p:spPr>
      </p:pic>
      <p:sp>
        <p:nvSpPr>
          <p:cNvPr id="7" name="Rectangle 2">
            <a:extLst>
              <a:ext uri="{FF2B5EF4-FFF2-40B4-BE49-F238E27FC236}">
                <a16:creationId xmlns:a16="http://schemas.microsoft.com/office/drawing/2014/main" id="{EE2A5930-B832-0797-D586-79548B780157}"/>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COMPONENTS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9902D51C-C82F-BC7A-7D3E-44A7CDE3257E}"/>
              </a:ext>
            </a:extLst>
          </p:cNvPr>
          <p:cNvPicPr>
            <a:picLocks noChangeAspect="1" noChangeArrowheads="1"/>
          </p:cNvPicPr>
          <p:nvPr/>
        </p:nvPicPr>
        <p:blipFill>
          <a:blip r:embed="rId4"/>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6A64937A-8086-B170-BFDA-DEF45FDFA7EE}"/>
              </a:ext>
            </a:extLst>
          </p:cNvPr>
          <p:cNvSpPr txBox="1"/>
          <p:nvPr/>
        </p:nvSpPr>
        <p:spPr>
          <a:xfrm>
            <a:off x="775742" y="1164646"/>
            <a:ext cx="8184296" cy="2250103"/>
          </a:xfrm>
          <a:prstGeom prst="rect">
            <a:avLst/>
          </a:prstGeom>
          <a:noFill/>
        </p:spPr>
        <p:txBody>
          <a:bodyPr wrap="square" rtlCol="0">
            <a:spAutoFit/>
          </a:bodyPr>
          <a:lstStyle/>
          <a:p>
            <a:pPr marL="342900" indent="-342900" algn="just">
              <a:lnSpc>
                <a:spcPct val="160000"/>
              </a:lnSpc>
              <a:buFont typeface="Wingdings" panose="05000000000000000000" pitchFamily="2" charset="2"/>
              <a:buChar char="Ø"/>
            </a:pPr>
            <a:r>
              <a:rPr lang="en-US" b="1" u="sng" dirty="0">
                <a:solidFill>
                  <a:srgbClr val="FF0000"/>
                </a:solidFill>
                <a:latin typeface="Arial" panose="020B0604020202020204" pitchFamily="34" charset="0"/>
                <a:cs typeface="Arial" panose="020B0604020202020204" pitchFamily="34" charset="0"/>
              </a:rPr>
              <a:t>Machine learning </a:t>
            </a:r>
            <a:r>
              <a:rPr lang="en-US" b="1" dirty="0">
                <a:solidFill>
                  <a:srgbClr val="FF0000"/>
                </a:solidFill>
                <a:latin typeface="Arial" panose="020B0604020202020204" pitchFamily="34" charset="0"/>
                <a:cs typeface="Arial" panose="020B0604020202020204" pitchFamily="34" charset="0"/>
              </a:rPr>
              <a:t>: it is a branch of artificial intelligence that enables computers to learn from data and improve their performance on specific tasks without being explicitly programmed. Machine learning models use algorithms to analyze data, identify patterns and make predictions or decisions based on the input they receive.</a:t>
            </a:r>
          </a:p>
        </p:txBody>
      </p:sp>
      <p:sp>
        <p:nvSpPr>
          <p:cNvPr id="4" name="AutoShape 2" descr="Machine-Learning-Techniques">
            <a:extLst>
              <a:ext uri="{FF2B5EF4-FFF2-40B4-BE49-F238E27FC236}">
                <a16:creationId xmlns:a16="http://schemas.microsoft.com/office/drawing/2014/main" id="{3C0129A1-A131-6B12-BAF5-4366EA19818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960482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EC0A73-B0FE-6F9E-F79A-087ED9A8ED15}"/>
              </a:ext>
            </a:extLst>
          </p:cNvPr>
          <p:cNvSpPr txBox="1"/>
          <p:nvPr/>
        </p:nvSpPr>
        <p:spPr>
          <a:xfrm>
            <a:off x="677917" y="1221482"/>
            <a:ext cx="8466083" cy="5352491"/>
          </a:xfrm>
          <a:prstGeom prst="rect">
            <a:avLst/>
          </a:prstGeom>
          <a:noFill/>
        </p:spPr>
        <p:txBody>
          <a:bodyPr wrap="square">
            <a:spAutoFit/>
          </a:bodyPr>
          <a:lstStyle/>
          <a:p>
            <a:pPr marL="342900" indent="-342900" algn="just">
              <a:lnSpc>
                <a:spcPct val="160000"/>
              </a:lnSpc>
              <a:buFont typeface="Wingdings" panose="05000000000000000000" pitchFamily="2" charset="2"/>
              <a:buChar char="Ø"/>
            </a:pPr>
            <a:r>
              <a:rPr lang="en-US" b="1" dirty="0">
                <a:solidFill>
                  <a:srgbClr val="FF0000"/>
                </a:solidFill>
                <a:latin typeface="Arial" panose="020B0604020202020204" pitchFamily="34" charset="0"/>
                <a:cs typeface="Arial" panose="020B0604020202020204" pitchFamily="34" charset="0"/>
              </a:rPr>
              <a:t>Types of machine learning</a:t>
            </a:r>
          </a:p>
          <a:p>
            <a:pPr marL="285750" indent="-285750" fontAlgn="base">
              <a:buFont typeface="Wingdings" panose="05000000000000000000" pitchFamily="2" charset="2"/>
              <a:buChar char="v"/>
            </a:pPr>
            <a:r>
              <a:rPr lang="en-US" b="1" dirty="0">
                <a:solidFill>
                  <a:srgbClr val="FF0000"/>
                </a:solidFill>
                <a:latin typeface="Arial" panose="020B0604020202020204" pitchFamily="34" charset="0"/>
                <a:cs typeface="Arial" panose="020B0604020202020204" pitchFamily="34" charset="0"/>
              </a:rPr>
              <a:t>Supervised Learning</a:t>
            </a:r>
          </a:p>
          <a:p>
            <a:pPr marL="342900" indent="-342900" fontAlgn="base">
              <a:buFont typeface="+mj-lt"/>
              <a:buAutoNum type="arabicPeriod"/>
            </a:pPr>
            <a:r>
              <a:rPr lang="en-US" dirty="0">
                <a:solidFill>
                  <a:srgbClr val="FF0000"/>
                </a:solidFill>
                <a:latin typeface="Arial" panose="020B0604020202020204" pitchFamily="34" charset="0"/>
                <a:cs typeface="Arial" panose="020B0604020202020204" pitchFamily="34" charset="0"/>
              </a:rPr>
              <a:t>Involves training models using labeled datasets. Both input and output variables are provided during training.</a:t>
            </a:r>
          </a:p>
          <a:p>
            <a:pPr marL="342900" indent="-342900" fontAlgn="base">
              <a:buFont typeface="+mj-lt"/>
              <a:buAutoNum type="arabicPeriod"/>
            </a:pPr>
            <a:r>
              <a:rPr lang="en-US" dirty="0">
                <a:solidFill>
                  <a:srgbClr val="FF0000"/>
                </a:solidFill>
                <a:latin typeface="Arial" panose="020B0604020202020204" pitchFamily="34" charset="0"/>
                <a:cs typeface="Arial" panose="020B0604020202020204" pitchFamily="34" charset="0"/>
              </a:rPr>
              <a:t>The aim is to establish a mapping function that predicts outcomes for new, unseen data.</a:t>
            </a:r>
          </a:p>
          <a:p>
            <a:pPr marL="342900" indent="-342900" fontAlgn="base">
              <a:buFont typeface="+mj-lt"/>
              <a:buAutoNum type="arabicPeriod"/>
            </a:pPr>
            <a:r>
              <a:rPr lang="en-US" dirty="0">
                <a:solidFill>
                  <a:srgbClr val="FF0000"/>
                </a:solidFill>
                <a:latin typeface="Arial" panose="020B0604020202020204" pitchFamily="34" charset="0"/>
                <a:cs typeface="Arial" panose="020B0604020202020204" pitchFamily="34" charset="0"/>
              </a:rPr>
              <a:t>Common applications include classification, regression, and forecasting.</a:t>
            </a:r>
          </a:p>
          <a:p>
            <a:pPr marL="285750" indent="-285750" fontAlgn="base">
              <a:buFont typeface="Wingdings" panose="05000000000000000000" pitchFamily="2" charset="2"/>
              <a:buChar char="v"/>
            </a:pPr>
            <a:r>
              <a:rPr lang="en-US" b="1" dirty="0">
                <a:latin typeface="Arial" panose="020B0604020202020204" pitchFamily="34" charset="0"/>
                <a:cs typeface="Arial" panose="020B0604020202020204" pitchFamily="34" charset="0"/>
              </a:rPr>
              <a:t>Unsupervised Learning</a:t>
            </a:r>
          </a:p>
          <a:p>
            <a:pPr marL="342900" indent="-342900" fontAlgn="base">
              <a:buFont typeface="+mj-lt"/>
              <a:buAutoNum type="arabicPeriod"/>
            </a:pPr>
            <a:r>
              <a:rPr lang="en-US" dirty="0">
                <a:latin typeface="Arial" panose="020B0604020202020204" pitchFamily="34" charset="0"/>
                <a:cs typeface="Arial" panose="020B0604020202020204" pitchFamily="34" charset="0"/>
              </a:rPr>
              <a:t>Works with unlabeled data where outputs are not known in advance.</a:t>
            </a:r>
          </a:p>
          <a:p>
            <a:pPr marL="342900" indent="-342900" fontAlgn="base">
              <a:buFont typeface="+mj-lt"/>
              <a:buAutoNum type="arabicPeriod"/>
            </a:pPr>
            <a:r>
              <a:rPr lang="en-US" dirty="0">
                <a:latin typeface="Arial" panose="020B0604020202020204" pitchFamily="34" charset="0"/>
                <a:cs typeface="Arial" panose="020B0604020202020204" pitchFamily="34" charset="0"/>
              </a:rPr>
              <a:t>The model identifies hidden structures, relationships, or groupings in the data.</a:t>
            </a:r>
          </a:p>
          <a:p>
            <a:pPr marL="342900" indent="-342900" fontAlgn="base">
              <a:buFont typeface="+mj-lt"/>
              <a:buAutoNum type="arabicPeriod"/>
            </a:pPr>
            <a:r>
              <a:rPr lang="en-US" dirty="0">
                <a:latin typeface="Arial" panose="020B0604020202020204" pitchFamily="34" charset="0"/>
                <a:cs typeface="Arial" panose="020B0604020202020204" pitchFamily="34" charset="0"/>
              </a:rPr>
              <a:t>Useful for clustering, dimensionality reduction, and anomaly detection.</a:t>
            </a:r>
          </a:p>
          <a:p>
            <a:pPr marL="342900" indent="-342900" fontAlgn="base">
              <a:buFont typeface="+mj-lt"/>
              <a:buAutoNum type="arabicPeriod"/>
            </a:pPr>
            <a:r>
              <a:rPr lang="en-US" dirty="0">
                <a:latin typeface="Arial" panose="020B0604020202020204" pitchFamily="34" charset="0"/>
                <a:cs typeface="Arial" panose="020B0604020202020204" pitchFamily="34" charset="0"/>
              </a:rPr>
              <a:t>Focuses on discovering inherent patterns within datasets.</a:t>
            </a:r>
          </a:p>
          <a:p>
            <a:pPr marL="285750" indent="-285750" fontAlgn="base">
              <a:buFont typeface="Wingdings" panose="05000000000000000000" pitchFamily="2" charset="2"/>
              <a:buChar char="v"/>
            </a:pPr>
            <a:r>
              <a:rPr lang="en-US" b="1" dirty="0">
                <a:solidFill>
                  <a:srgbClr val="002060"/>
                </a:solidFill>
                <a:latin typeface="Arial" panose="020B0604020202020204" pitchFamily="34" charset="0"/>
                <a:cs typeface="Arial" panose="020B0604020202020204" pitchFamily="34" charset="0"/>
              </a:rPr>
              <a:t>Reinforcement Learning</a:t>
            </a:r>
          </a:p>
          <a:p>
            <a:pPr marL="342900" indent="-342900" fontAlgn="base">
              <a:buFont typeface="+mj-lt"/>
              <a:buAutoNum type="arabicPeriod"/>
            </a:pPr>
            <a:r>
              <a:rPr lang="en-US" dirty="0">
                <a:solidFill>
                  <a:srgbClr val="002060"/>
                </a:solidFill>
                <a:latin typeface="Arial" panose="020B0604020202020204" pitchFamily="34" charset="0"/>
                <a:cs typeface="Arial" panose="020B0604020202020204" pitchFamily="34" charset="0"/>
              </a:rPr>
              <a:t>Based on decision-making through interaction with an environment.</a:t>
            </a:r>
          </a:p>
          <a:p>
            <a:pPr marL="342900" indent="-342900" fontAlgn="base">
              <a:buFont typeface="+mj-lt"/>
              <a:buAutoNum type="arabicPeriod"/>
            </a:pPr>
            <a:r>
              <a:rPr lang="en-US" dirty="0">
                <a:solidFill>
                  <a:srgbClr val="002060"/>
                </a:solidFill>
                <a:latin typeface="Arial" panose="020B0604020202020204" pitchFamily="34" charset="0"/>
                <a:cs typeface="Arial" panose="020B0604020202020204" pitchFamily="34" charset="0"/>
              </a:rPr>
              <a:t>An agent performs actions and receives rewards or penalties as feedback.</a:t>
            </a:r>
          </a:p>
          <a:p>
            <a:pPr marL="342900" indent="-342900" fontAlgn="base">
              <a:buFont typeface="+mj-lt"/>
              <a:buAutoNum type="arabicPeriod"/>
            </a:pPr>
            <a:r>
              <a:rPr lang="en-US" dirty="0">
                <a:solidFill>
                  <a:srgbClr val="002060"/>
                </a:solidFill>
                <a:latin typeface="Arial" panose="020B0604020202020204" pitchFamily="34" charset="0"/>
                <a:cs typeface="Arial" panose="020B0604020202020204" pitchFamily="34" charset="0"/>
              </a:rPr>
              <a:t>The goal is to learn an optimal strategy that maximizes long-term rewards.</a:t>
            </a:r>
          </a:p>
          <a:p>
            <a:pPr marL="342900" indent="-342900" fontAlgn="base">
              <a:buFont typeface="+mj-lt"/>
              <a:buAutoNum type="arabicPeriod"/>
            </a:pPr>
            <a:r>
              <a:rPr lang="en-US" dirty="0">
                <a:solidFill>
                  <a:srgbClr val="002060"/>
                </a:solidFill>
                <a:latin typeface="Arial" panose="020B0604020202020204" pitchFamily="34" charset="0"/>
                <a:cs typeface="Arial" panose="020B0604020202020204" pitchFamily="34" charset="0"/>
              </a:rPr>
              <a:t>Widely applied in robotics, autonomous systems, and strategic game playing.</a:t>
            </a:r>
          </a:p>
          <a:p>
            <a:pPr lvl="1" algn="just">
              <a:lnSpc>
                <a:spcPct val="160000"/>
              </a:lnSpc>
            </a:pPr>
            <a:endParaRPr lang="en-US" b="1" dirty="0">
              <a:highlight>
                <a:srgbClr val="FFFF00"/>
              </a:highlight>
              <a:latin typeface="Arial" panose="020B0604020202020204" pitchFamily="34" charset="0"/>
              <a:cs typeface="Arial" panose="020B0604020202020204" pitchFamily="34" charset="0"/>
            </a:endParaRPr>
          </a:p>
        </p:txBody>
      </p:sp>
      <p:sp>
        <p:nvSpPr>
          <p:cNvPr id="6" name="Rectangle 2">
            <a:extLst>
              <a:ext uri="{FF2B5EF4-FFF2-40B4-BE49-F238E27FC236}">
                <a16:creationId xmlns:a16="http://schemas.microsoft.com/office/drawing/2014/main" id="{1B8AF727-D672-3DE3-3BA4-B8961DE33ED9}"/>
              </a:ext>
            </a:extLst>
          </p:cNvPr>
          <p:cNvSpPr>
            <a:spLocks noChangeArrowheads="1"/>
          </p:cNvSpPr>
          <p:nvPr/>
        </p:nvSpPr>
        <p:spPr bwMode="auto">
          <a:xfrm>
            <a:off x="928348"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COMPONENTS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7" name="Picture 6">
            <a:extLst>
              <a:ext uri="{FF2B5EF4-FFF2-40B4-BE49-F238E27FC236}">
                <a16:creationId xmlns:a16="http://schemas.microsoft.com/office/drawing/2014/main" id="{72868B27-C5E4-64A7-A24D-23E0B9B5B8DC}"/>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Tree>
    <p:extLst>
      <p:ext uri="{BB962C8B-B14F-4D97-AF65-F5344CB8AC3E}">
        <p14:creationId xmlns:p14="http://schemas.microsoft.com/office/powerpoint/2010/main" val="1864912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57C41A8-D895-0D9D-3DAF-8C606D2CE82E}"/>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COMPONENTS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C2EF4EF5-336C-39B2-E359-C69FF6D7BBD7}"/>
              </a:ext>
            </a:extLst>
          </p:cNvPr>
          <p:cNvPicPr>
            <a:picLocks noChangeAspect="1" noChangeArrowheads="1"/>
          </p:cNvPicPr>
          <p:nvPr/>
        </p:nvPicPr>
        <p:blipFill>
          <a:blip r:embed="rId2"/>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6" name="TextBox 5">
            <a:extLst>
              <a:ext uri="{FF2B5EF4-FFF2-40B4-BE49-F238E27FC236}">
                <a16:creationId xmlns:a16="http://schemas.microsoft.com/office/drawing/2014/main" id="{90109C35-2F99-4991-DA73-8E8C6069BC7A}"/>
              </a:ext>
            </a:extLst>
          </p:cNvPr>
          <p:cNvSpPr txBox="1"/>
          <p:nvPr/>
        </p:nvSpPr>
        <p:spPr>
          <a:xfrm>
            <a:off x="466153" y="1608083"/>
            <a:ext cx="7930055" cy="1477328"/>
          </a:xfrm>
          <a:prstGeom prst="rect">
            <a:avLst/>
          </a:prstGeom>
          <a:noFill/>
        </p:spPr>
        <p:txBody>
          <a:bodyPr wrap="square" rtlCol="0">
            <a:spAutoFit/>
          </a:bodyPr>
          <a:lstStyle/>
          <a:p>
            <a:pPr marL="285750" indent="-285750">
              <a:buFont typeface="Wingdings" panose="05000000000000000000" pitchFamily="2" charset="2"/>
              <a:buChar char="Ø"/>
            </a:pPr>
            <a:r>
              <a:rPr lang="en-US" b="1" u="sng" dirty="0">
                <a:solidFill>
                  <a:schemeClr val="tx1">
                    <a:lumMod val="95000"/>
                    <a:lumOff val="5000"/>
                  </a:schemeClr>
                </a:solidFill>
                <a:latin typeface="Arial" panose="020B0604020202020204" pitchFamily="34" charset="0"/>
                <a:cs typeface="Arial" panose="020B0604020202020204" pitchFamily="34" charset="0"/>
              </a:rPr>
              <a:t>Deep learning </a:t>
            </a:r>
            <a:r>
              <a:rPr lang="en-US" b="1" dirty="0">
                <a:solidFill>
                  <a:schemeClr val="tx1">
                    <a:lumMod val="95000"/>
                    <a:lumOff val="5000"/>
                  </a:schemeClr>
                </a:solidFill>
                <a:latin typeface="Arial" panose="020B0604020202020204" pitchFamily="34" charset="0"/>
                <a:cs typeface="Arial" panose="020B0604020202020204" pitchFamily="34" charset="0"/>
              </a:rPr>
              <a:t>: </a:t>
            </a:r>
            <a:r>
              <a:rPr lang="en-US" dirty="0">
                <a:solidFill>
                  <a:schemeClr val="tx1">
                    <a:lumMod val="95000"/>
                    <a:lumOff val="5000"/>
                  </a:schemeClr>
                </a:solidFill>
                <a:latin typeface="Arial" panose="020B0604020202020204" pitchFamily="34" charset="0"/>
                <a:cs typeface="Arial" panose="020B0604020202020204" pitchFamily="34" charset="0"/>
              </a:rPr>
              <a:t>it is a type of artificial intelligence that teaches computers to learn and make decisions by </a:t>
            </a:r>
            <a:r>
              <a:rPr lang="en-US" dirty="0">
                <a:solidFill>
                  <a:schemeClr val="tx1">
                    <a:lumMod val="95000"/>
                    <a:lumOff val="5000"/>
                  </a:schemeClr>
                </a:solidFill>
                <a:highlight>
                  <a:srgbClr val="FFFF00"/>
                </a:highlight>
                <a:latin typeface="Arial" panose="020B0604020202020204" pitchFamily="34" charset="0"/>
                <a:cs typeface="Arial" panose="020B0604020202020204" pitchFamily="34" charset="0"/>
              </a:rPr>
              <a:t>mimicking how the human brain works. It uses layers of neural networks to process and understand complex data like images, sounds or text.</a:t>
            </a:r>
          </a:p>
          <a:p>
            <a:endParaRPr lang="en-US" dirty="0"/>
          </a:p>
        </p:txBody>
      </p:sp>
    </p:spTree>
    <p:extLst>
      <p:ext uri="{BB962C8B-B14F-4D97-AF65-F5344CB8AC3E}">
        <p14:creationId xmlns:p14="http://schemas.microsoft.com/office/powerpoint/2010/main" val="1004170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7CB24-CF6A-700B-8D8E-63E6667C4A0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56DBA77-B650-118C-1B8D-0C4B957B2E0A}"/>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735A2939-4CE1-B4D5-1106-EAE7783C290B}"/>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COMPONENTS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ED26A0B3-CDF8-3BCA-0383-351211EEF727}"/>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2C72D9B1-3817-0B48-B6A6-BC0B2183647D}"/>
              </a:ext>
            </a:extLst>
          </p:cNvPr>
          <p:cNvSpPr txBox="1"/>
          <p:nvPr/>
        </p:nvSpPr>
        <p:spPr>
          <a:xfrm>
            <a:off x="775742" y="1404627"/>
            <a:ext cx="8184296" cy="4736168"/>
          </a:xfrm>
          <a:prstGeom prst="rect">
            <a:avLst/>
          </a:prstGeom>
          <a:noFill/>
        </p:spPr>
        <p:txBody>
          <a:bodyPr wrap="square" rtlCol="0">
            <a:spAutoFit/>
          </a:bodyPr>
          <a:lstStyle/>
          <a:p>
            <a:pPr marL="342900" indent="-342900" algn="just">
              <a:lnSpc>
                <a:spcPct val="170000"/>
              </a:lnSpc>
              <a:buFont typeface="Arial" panose="020B0604020202020204" pitchFamily="34" charset="0"/>
              <a:buChar char="•"/>
            </a:pPr>
            <a:r>
              <a:rPr lang="en-US" b="1" u="sng" dirty="0">
                <a:solidFill>
                  <a:srgbClr val="FF0000"/>
                </a:solidFill>
                <a:latin typeface="Arial" panose="020B0604020202020204" pitchFamily="34" charset="0"/>
                <a:cs typeface="Arial" panose="020B0604020202020204" pitchFamily="34" charset="0"/>
              </a:rPr>
              <a:t>Natural language processing</a:t>
            </a:r>
            <a:r>
              <a:rPr lang="en-US" b="1" dirty="0">
                <a:solidFill>
                  <a:srgbClr val="FF0000"/>
                </a:solidFill>
                <a:latin typeface="Arial" panose="020B0604020202020204" pitchFamily="34" charset="0"/>
                <a:cs typeface="Arial" panose="020B0604020202020204" pitchFamily="34" charset="0"/>
              </a:rPr>
              <a:t> : </a:t>
            </a:r>
            <a:r>
              <a:rPr lang="en-US" dirty="0">
                <a:solidFill>
                  <a:srgbClr val="FF0000"/>
                </a:solidFill>
                <a:latin typeface="Arial" panose="020B0604020202020204" pitchFamily="34" charset="0"/>
                <a:cs typeface="Arial" panose="020B0604020202020204" pitchFamily="34" charset="0"/>
              </a:rPr>
              <a:t>NLP is a field of artificial intelligence that helps computers understand, interpret and respond to human language both spoken and written. It’s what makes machines like </a:t>
            </a:r>
            <a:r>
              <a:rPr lang="en-US" dirty="0" err="1">
                <a:solidFill>
                  <a:srgbClr val="FF0000"/>
                </a:solidFill>
                <a:highlight>
                  <a:srgbClr val="FFFF00"/>
                </a:highlight>
                <a:latin typeface="Arial" panose="020B0604020202020204" pitchFamily="34" charset="0"/>
                <a:cs typeface="Arial" panose="020B0604020202020204" pitchFamily="34" charset="0"/>
              </a:rPr>
              <a:t>alexa</a:t>
            </a:r>
            <a:r>
              <a:rPr lang="en-US" dirty="0">
                <a:solidFill>
                  <a:srgbClr val="FF0000"/>
                </a:solidFill>
                <a:highlight>
                  <a:srgbClr val="FFFF00"/>
                </a:highlight>
                <a:latin typeface="Arial" panose="020B0604020202020204" pitchFamily="34" charset="0"/>
                <a:cs typeface="Arial" panose="020B0604020202020204" pitchFamily="34" charset="0"/>
              </a:rPr>
              <a:t> or google assistant able to understand your questions and respond</a:t>
            </a:r>
            <a:r>
              <a:rPr lang="en-US" dirty="0">
                <a:solidFill>
                  <a:srgbClr val="FF0000"/>
                </a:solidFill>
                <a:latin typeface="Arial" panose="020B0604020202020204" pitchFamily="34" charset="0"/>
                <a:cs typeface="Arial" panose="020B0604020202020204" pitchFamily="34" charset="0"/>
              </a:rPr>
              <a:t>. ( think of it like teaching a computer how to read, write and talk like a person).</a:t>
            </a:r>
          </a:p>
          <a:p>
            <a:pPr algn="just">
              <a:lnSpc>
                <a:spcPct val="170000"/>
              </a:lnSpc>
            </a:pPr>
            <a:endParaRPr lang="en-US" dirty="0">
              <a:solidFill>
                <a:srgbClr val="FF0000"/>
              </a:solidFill>
              <a:latin typeface="Arial" panose="020B0604020202020204" pitchFamily="34" charset="0"/>
              <a:cs typeface="Arial" panose="020B0604020202020204" pitchFamily="34" charset="0"/>
            </a:endParaRPr>
          </a:p>
          <a:p>
            <a:pPr marL="342900" indent="-342900" algn="just">
              <a:lnSpc>
                <a:spcPct val="170000"/>
              </a:lnSpc>
              <a:buFont typeface="Arial" panose="020B0604020202020204" pitchFamily="34" charset="0"/>
              <a:buChar char="•"/>
            </a:pPr>
            <a:r>
              <a:rPr lang="en-US" b="1" u="sng" dirty="0">
                <a:solidFill>
                  <a:schemeClr val="tx1">
                    <a:lumMod val="95000"/>
                    <a:lumOff val="5000"/>
                  </a:schemeClr>
                </a:solidFill>
                <a:latin typeface="Arial" panose="020B0604020202020204" pitchFamily="34" charset="0"/>
                <a:cs typeface="Arial" panose="020B0604020202020204" pitchFamily="34" charset="0"/>
              </a:rPr>
              <a:t>Computer vision</a:t>
            </a:r>
            <a:r>
              <a:rPr lang="en-US" b="1" dirty="0">
                <a:solidFill>
                  <a:schemeClr val="tx1">
                    <a:lumMod val="95000"/>
                    <a:lumOff val="5000"/>
                  </a:schemeClr>
                </a:solidFill>
                <a:latin typeface="Arial" panose="020B0604020202020204" pitchFamily="34" charset="0"/>
                <a:cs typeface="Arial" panose="020B0604020202020204" pitchFamily="34" charset="0"/>
              </a:rPr>
              <a:t> : </a:t>
            </a:r>
            <a:r>
              <a:rPr lang="en-US" dirty="0">
                <a:solidFill>
                  <a:schemeClr val="tx1">
                    <a:lumMod val="95000"/>
                    <a:lumOff val="5000"/>
                  </a:schemeClr>
                </a:solidFill>
                <a:latin typeface="Arial" panose="020B0604020202020204" pitchFamily="34" charset="0"/>
                <a:cs typeface="Arial" panose="020B0604020202020204" pitchFamily="34" charset="0"/>
              </a:rPr>
              <a:t>computer vision aims to give machines the ability to interpret and understand visual information from the real world. It involves tasks such as </a:t>
            </a:r>
            <a:r>
              <a:rPr lang="en-US" dirty="0">
                <a:solidFill>
                  <a:schemeClr val="tx1">
                    <a:lumMod val="95000"/>
                    <a:lumOff val="5000"/>
                  </a:schemeClr>
                </a:solidFill>
                <a:highlight>
                  <a:srgbClr val="FFFF00"/>
                </a:highlight>
                <a:latin typeface="Arial" panose="020B0604020202020204" pitchFamily="34" charset="0"/>
                <a:cs typeface="Arial" panose="020B0604020202020204" pitchFamily="34" charset="0"/>
              </a:rPr>
              <a:t>object detection, image classification and image segmentation, often using deep learning models</a:t>
            </a:r>
            <a:r>
              <a:rPr lang="en-US" dirty="0">
                <a:solidFill>
                  <a:schemeClr val="tx1">
                    <a:lumMod val="95000"/>
                    <a:lumOff val="5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727949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BA911-448E-3D8F-B29D-89D54FD6C87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6F4423-0CD3-C544-FC23-1DB40E6EBF55}"/>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FFA85025-2426-B211-5C16-323BA921B894}"/>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COMPONENTS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C4A18465-0CE4-9C5A-444D-A6AA41F9876E}"/>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29D88A3B-C327-E6C0-8EBA-C708A430D7EC}"/>
              </a:ext>
            </a:extLst>
          </p:cNvPr>
          <p:cNvSpPr txBox="1"/>
          <p:nvPr/>
        </p:nvSpPr>
        <p:spPr>
          <a:xfrm>
            <a:off x="775742" y="1404627"/>
            <a:ext cx="8184296" cy="3323474"/>
          </a:xfrm>
          <a:prstGeom prst="rect">
            <a:avLst/>
          </a:prstGeom>
          <a:noFill/>
        </p:spPr>
        <p:txBody>
          <a:bodyPr wrap="square" rtlCol="0">
            <a:spAutoFit/>
          </a:bodyPr>
          <a:lstStyle/>
          <a:p>
            <a:pPr marL="342900" indent="-342900">
              <a:lnSpc>
                <a:spcPct val="170000"/>
              </a:lnSpc>
              <a:buFont typeface="Arial" panose="020B0604020202020204" pitchFamily="34" charset="0"/>
              <a:buChar char="•"/>
            </a:pPr>
            <a:r>
              <a:rPr lang="en-US" b="1" u="sng" dirty="0">
                <a:solidFill>
                  <a:srgbClr val="FF0000"/>
                </a:solidFill>
                <a:latin typeface="Arial" panose="020B0604020202020204" pitchFamily="34" charset="0"/>
                <a:cs typeface="Arial" panose="020B0604020202020204" pitchFamily="34" charset="0"/>
              </a:rPr>
              <a:t>ROBOTICS</a:t>
            </a:r>
            <a:r>
              <a:rPr lang="en-US" b="1" dirty="0">
                <a:solidFill>
                  <a:srgbClr val="FF0000"/>
                </a:solidFill>
                <a:latin typeface="Arial" panose="020B0604020202020204" pitchFamily="34" charset="0"/>
                <a:cs typeface="Arial" panose="020B0604020202020204" pitchFamily="34" charset="0"/>
              </a:rPr>
              <a:t> : </a:t>
            </a:r>
            <a:r>
              <a:rPr lang="en-US" dirty="0">
                <a:solidFill>
                  <a:srgbClr val="FF0000"/>
                </a:solidFill>
                <a:latin typeface="Arial" panose="020B0604020202020204" pitchFamily="34" charset="0"/>
                <a:cs typeface="Arial" panose="020B0604020202020204" pitchFamily="34" charset="0"/>
              </a:rPr>
              <a:t>Robotics in artificial intelligence is about building machines that can think, learn and perform tasks like humans. By combining AI with robotics these machines can make decisions adapt to new situations and work more independently. (think of a robot as a body and AI as its brain.) Robotics with AI makes machines smarter, so they can help humans with tasks that are repetitive, dangerous or too </a:t>
            </a:r>
            <a:r>
              <a:rPr lang="en-US" dirty="0">
                <a:solidFill>
                  <a:srgbClr val="FF0000"/>
                </a:solidFill>
                <a:highlight>
                  <a:srgbClr val="FFFF00"/>
                </a:highlight>
                <a:latin typeface="Arial" panose="020B0604020202020204" pitchFamily="34" charset="0"/>
                <a:cs typeface="Arial" panose="020B0604020202020204" pitchFamily="34" charset="0"/>
              </a:rPr>
              <a:t>difficult (Indian army hone </a:t>
            </a:r>
            <a:r>
              <a:rPr lang="en-US" dirty="0" err="1">
                <a:solidFill>
                  <a:srgbClr val="FF0000"/>
                </a:solidFill>
                <a:highlight>
                  <a:srgbClr val="FFFF00"/>
                </a:highlight>
                <a:latin typeface="Arial" panose="020B0604020202020204" pitchFamily="34" charset="0"/>
                <a:cs typeface="Arial" panose="020B0604020202020204" pitchFamily="34" charset="0"/>
              </a:rPr>
              <a:t>wala</a:t>
            </a:r>
            <a:r>
              <a:rPr lang="en-US" dirty="0">
                <a:solidFill>
                  <a:srgbClr val="FF0000"/>
                </a:solidFill>
                <a:highlight>
                  <a:srgbClr val="FFFF00"/>
                </a:highlight>
                <a:latin typeface="Arial" panose="020B0604020202020204" pitchFamily="34" charset="0"/>
                <a:cs typeface="Arial" panose="020B0604020202020204" pitchFamily="34" charset="0"/>
              </a:rPr>
              <a:t> robots)</a:t>
            </a:r>
            <a:endParaRPr lang="en-US" dirty="0">
              <a:solidFill>
                <a:schemeClr val="tx1">
                  <a:lumMod val="95000"/>
                  <a:lumOff val="5000"/>
                </a:schemeClr>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84761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4404F-F855-4D65-79BA-FA7B2D7DEA7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225C093-ECFC-4355-3ADE-94438B704A85}"/>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77DDE2FB-5E54-4C1C-EB24-6E430DDA9C06}"/>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ADVANTAGES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AB6B1EC7-25D5-CDF4-2AE0-B91CD0DBDF58}"/>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F0E55EC7-E2B6-788C-226F-074DC9F12D29}"/>
              </a:ext>
            </a:extLst>
          </p:cNvPr>
          <p:cNvSpPr txBox="1"/>
          <p:nvPr/>
        </p:nvSpPr>
        <p:spPr>
          <a:xfrm>
            <a:off x="668166" y="1178163"/>
            <a:ext cx="8184296" cy="5546390"/>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SAVES TIME</a:t>
            </a:r>
          </a:p>
          <a:p>
            <a:pPr marL="342900" indent="-342900">
              <a:lnSpc>
                <a:spcPct val="200000"/>
              </a:lnSpc>
              <a:buFont typeface="Wingdings" panose="05000000000000000000" pitchFamily="2" charset="2"/>
              <a:buChar char="Ø"/>
            </a:pPr>
            <a:r>
              <a:rPr lang="en-US" dirty="0">
                <a:solidFill>
                  <a:schemeClr val="tx1">
                    <a:lumMod val="95000"/>
                    <a:lumOff val="5000"/>
                  </a:schemeClr>
                </a:solidFill>
                <a:latin typeface="Arial" panose="020B0604020202020204" pitchFamily="34" charset="0"/>
                <a:cs typeface="Arial" panose="020B0604020202020204" pitchFamily="34" charset="0"/>
              </a:rPr>
              <a:t>REDUCE HUMAN ERRORS</a:t>
            </a:r>
          </a:p>
          <a:p>
            <a:pPr marL="342900" indent="-342900">
              <a:lnSpc>
                <a:spcPct val="200000"/>
              </a:lnSpc>
              <a:buFont typeface="Wingdings" panose="05000000000000000000" pitchFamily="2" charset="2"/>
              <a:buChar char="Ø"/>
            </a:pPr>
            <a:r>
              <a:rPr lang="en-US" dirty="0">
                <a:solidFill>
                  <a:srgbClr val="0070C0"/>
                </a:solidFill>
                <a:latin typeface="Arial" panose="020B0604020202020204" pitchFamily="34" charset="0"/>
                <a:cs typeface="Arial" panose="020B0604020202020204" pitchFamily="34" charset="0"/>
              </a:rPr>
              <a:t>24/7 WORKING</a:t>
            </a:r>
          </a:p>
          <a:p>
            <a:pPr marL="342900" indent="-342900">
              <a:lnSpc>
                <a:spcPct val="20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AUTOMATION</a:t>
            </a:r>
          </a:p>
          <a:p>
            <a:pPr marL="342900" indent="-342900">
              <a:lnSpc>
                <a:spcPct val="200000"/>
              </a:lnSpc>
              <a:buFont typeface="Wingdings" panose="05000000000000000000" pitchFamily="2" charset="2"/>
              <a:buChar char="Ø"/>
            </a:pPr>
            <a:r>
              <a:rPr lang="en-US" dirty="0">
                <a:solidFill>
                  <a:schemeClr val="tx1">
                    <a:lumMod val="95000"/>
                    <a:lumOff val="5000"/>
                  </a:schemeClr>
                </a:solidFill>
                <a:latin typeface="Arial" panose="020B0604020202020204" pitchFamily="34" charset="0"/>
                <a:cs typeface="Arial" panose="020B0604020202020204" pitchFamily="34" charset="0"/>
              </a:rPr>
              <a:t>FAST DECISION MAKING</a:t>
            </a:r>
          </a:p>
          <a:p>
            <a:pPr marL="342900" indent="-342900">
              <a:lnSpc>
                <a:spcPct val="200000"/>
              </a:lnSpc>
              <a:buFont typeface="Wingdings" panose="05000000000000000000" pitchFamily="2" charset="2"/>
              <a:buChar char="Ø"/>
            </a:pPr>
            <a:r>
              <a:rPr lang="en-US" dirty="0">
                <a:solidFill>
                  <a:srgbClr val="0070C0"/>
                </a:solidFill>
                <a:latin typeface="Arial" panose="020B0604020202020204" pitchFamily="34" charset="0"/>
                <a:cs typeface="Arial" panose="020B0604020202020204" pitchFamily="34" charset="0"/>
              </a:rPr>
              <a:t>INCREASE PRODUCTIVITY-more task in less time</a:t>
            </a:r>
          </a:p>
          <a:p>
            <a:pPr marL="342900" indent="-342900">
              <a:lnSpc>
                <a:spcPct val="20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WORKS WITH BIG DATA</a:t>
            </a:r>
          </a:p>
          <a:p>
            <a:pPr marL="342900" indent="-342900">
              <a:lnSpc>
                <a:spcPct val="200000"/>
              </a:lnSpc>
              <a:buFont typeface="Wingdings" panose="05000000000000000000" pitchFamily="2" charset="2"/>
              <a:buChar char="Ø"/>
            </a:pPr>
            <a:r>
              <a:rPr lang="en-US" dirty="0">
                <a:solidFill>
                  <a:schemeClr val="tx1">
                    <a:lumMod val="95000"/>
                    <a:lumOff val="5000"/>
                  </a:schemeClr>
                </a:solidFill>
                <a:latin typeface="Arial" panose="020B0604020202020204" pitchFamily="34" charset="0"/>
                <a:cs typeface="Arial" panose="020B0604020202020204" pitchFamily="34" charset="0"/>
              </a:rPr>
              <a:t>PERSONALIZATION-</a:t>
            </a:r>
            <a:r>
              <a:rPr lang="en-US" dirty="0" err="1">
                <a:solidFill>
                  <a:schemeClr val="tx1">
                    <a:lumMod val="95000"/>
                    <a:lumOff val="5000"/>
                  </a:schemeClr>
                </a:solidFill>
                <a:latin typeface="Arial" panose="020B0604020202020204" pitchFamily="34" charset="0"/>
                <a:cs typeface="Arial" panose="020B0604020202020204" pitchFamily="34" charset="0"/>
              </a:rPr>
              <a:t>Reccomendation</a:t>
            </a:r>
            <a:r>
              <a:rPr lang="en-US" dirty="0">
                <a:solidFill>
                  <a:schemeClr val="tx1">
                    <a:lumMod val="95000"/>
                    <a:lumOff val="5000"/>
                  </a:schemeClr>
                </a:solidFill>
                <a:latin typeface="Arial" panose="020B0604020202020204" pitchFamily="34" charset="0"/>
                <a:cs typeface="Arial" panose="020B0604020202020204" pitchFamily="34" charset="0"/>
              </a:rPr>
              <a:t> as per user</a:t>
            </a:r>
          </a:p>
          <a:p>
            <a:pPr marL="342900" indent="-342900">
              <a:lnSpc>
                <a:spcPct val="200000"/>
              </a:lnSpc>
              <a:buFont typeface="Wingdings" panose="05000000000000000000" pitchFamily="2" charset="2"/>
              <a:buChar char="Ø"/>
            </a:pPr>
            <a:r>
              <a:rPr lang="en-US" dirty="0">
                <a:solidFill>
                  <a:srgbClr val="0070C0"/>
                </a:solidFill>
                <a:latin typeface="Arial" panose="020B0604020202020204" pitchFamily="34" charset="0"/>
                <a:cs typeface="Arial" panose="020B0604020202020204" pitchFamily="34" charset="0"/>
              </a:rPr>
              <a:t>HELPS IN HEALTHCARE – Disease detection, medical image analysis</a:t>
            </a:r>
          </a:p>
          <a:p>
            <a:pPr marL="342900" indent="-342900">
              <a:lnSpc>
                <a:spcPct val="20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USEFUL IN DANGEROUS TASK- Dangerous </a:t>
            </a:r>
            <a:r>
              <a:rPr lang="en-US" dirty="0" err="1">
                <a:solidFill>
                  <a:srgbClr val="FF0000"/>
                </a:solidFill>
                <a:latin typeface="Arial" panose="020B0604020202020204" pitchFamily="34" charset="0"/>
                <a:cs typeface="Arial" panose="020B0604020202020204" pitchFamily="34" charset="0"/>
              </a:rPr>
              <a:t>envt</a:t>
            </a:r>
            <a:endParaRPr lang="en-US"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053581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AE8DF-3358-9A9A-B6CA-2BBB4FC6E8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9D408D-9F61-15CA-E9AC-35AC3EDE02D1}"/>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DAFF7B48-8C75-8B6D-3E42-724905BCA188}"/>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DRAWBACKS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1DE99757-5C4B-8266-B669-83879E9451FA}"/>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ADA65ADE-D82B-9C38-614E-3512D6BF5EB6}"/>
              </a:ext>
            </a:extLst>
          </p:cNvPr>
          <p:cNvSpPr txBox="1"/>
          <p:nvPr/>
        </p:nvSpPr>
        <p:spPr>
          <a:xfrm>
            <a:off x="775742" y="1404627"/>
            <a:ext cx="8184296" cy="4736168"/>
          </a:xfrm>
          <a:prstGeom prst="rect">
            <a:avLst/>
          </a:prstGeom>
          <a:noFill/>
        </p:spPr>
        <p:txBody>
          <a:bodyPr wrap="square" rtlCol="0">
            <a:spAutoFit/>
          </a:bodyPr>
          <a:lstStyle/>
          <a:p>
            <a:pPr marL="342900" indent="-342900">
              <a:lnSpc>
                <a:spcPct val="17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JOB LOSS</a:t>
            </a:r>
          </a:p>
          <a:p>
            <a:pPr marL="342900" indent="-342900">
              <a:lnSpc>
                <a:spcPct val="170000"/>
              </a:lnSpc>
              <a:buFont typeface="Wingdings" panose="05000000000000000000" pitchFamily="2" charset="2"/>
              <a:buChar char="Ø"/>
            </a:pPr>
            <a:r>
              <a:rPr lang="en-US" dirty="0">
                <a:solidFill>
                  <a:schemeClr val="tx1">
                    <a:lumMod val="95000"/>
                    <a:lumOff val="5000"/>
                  </a:schemeClr>
                </a:solidFill>
                <a:latin typeface="Arial" panose="020B0604020202020204" pitchFamily="34" charset="0"/>
                <a:cs typeface="Arial" panose="020B0604020202020204" pitchFamily="34" charset="0"/>
              </a:rPr>
              <a:t>HIGH COST</a:t>
            </a:r>
          </a:p>
          <a:p>
            <a:pPr marL="342900" indent="-342900">
              <a:lnSpc>
                <a:spcPct val="170000"/>
              </a:lnSpc>
              <a:buFont typeface="Wingdings" panose="05000000000000000000" pitchFamily="2" charset="2"/>
              <a:buChar char="Ø"/>
            </a:pPr>
            <a:r>
              <a:rPr lang="en-US" dirty="0">
                <a:solidFill>
                  <a:srgbClr val="0070C0"/>
                </a:solidFill>
                <a:latin typeface="Arial" panose="020B0604020202020204" pitchFamily="34" charset="0"/>
                <a:cs typeface="Arial" panose="020B0604020202020204" pitchFamily="34" charset="0"/>
              </a:rPr>
              <a:t>PRIVACY CONCERN</a:t>
            </a:r>
          </a:p>
          <a:p>
            <a:pPr marL="342900" indent="-342900">
              <a:lnSpc>
                <a:spcPct val="17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WRONG INFORMATION</a:t>
            </a:r>
          </a:p>
          <a:p>
            <a:pPr marL="342900" indent="-342900">
              <a:lnSpc>
                <a:spcPct val="170000"/>
              </a:lnSpc>
              <a:buFont typeface="Wingdings" panose="05000000000000000000" pitchFamily="2" charset="2"/>
              <a:buChar char="Ø"/>
            </a:pPr>
            <a:r>
              <a:rPr lang="en-US" dirty="0">
                <a:solidFill>
                  <a:schemeClr val="tx1">
                    <a:lumMod val="95000"/>
                    <a:lumOff val="5000"/>
                  </a:schemeClr>
                </a:solidFill>
                <a:latin typeface="Arial" panose="020B0604020202020204" pitchFamily="34" charset="0"/>
                <a:cs typeface="Arial" panose="020B0604020202020204" pitchFamily="34" charset="0"/>
              </a:rPr>
              <a:t>DEEPFAKE </a:t>
            </a:r>
          </a:p>
          <a:p>
            <a:pPr marL="342900" indent="-342900">
              <a:lnSpc>
                <a:spcPct val="170000"/>
              </a:lnSpc>
              <a:buFont typeface="Wingdings" panose="05000000000000000000" pitchFamily="2" charset="2"/>
              <a:buChar char="Ø"/>
            </a:pPr>
            <a:r>
              <a:rPr lang="en-US" dirty="0">
                <a:solidFill>
                  <a:srgbClr val="0070C0"/>
                </a:solidFill>
                <a:latin typeface="Arial" panose="020B0604020202020204" pitchFamily="34" charset="0"/>
                <a:cs typeface="Arial" panose="020B0604020202020204" pitchFamily="34" charset="0"/>
              </a:rPr>
              <a:t>DEPENDANCY</a:t>
            </a:r>
          </a:p>
          <a:p>
            <a:pPr marL="342900" indent="-342900">
              <a:lnSpc>
                <a:spcPct val="17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SECURITY RISK- CYBERCRIME &amp; HACKING</a:t>
            </a:r>
          </a:p>
          <a:p>
            <a:pPr marL="342900" indent="-342900">
              <a:lnSpc>
                <a:spcPct val="170000"/>
              </a:lnSpc>
              <a:buFont typeface="Wingdings" panose="05000000000000000000" pitchFamily="2" charset="2"/>
              <a:buChar char="Ø"/>
            </a:pPr>
            <a:r>
              <a:rPr lang="en-US" dirty="0">
                <a:solidFill>
                  <a:schemeClr val="tx1">
                    <a:lumMod val="95000"/>
                    <a:lumOff val="5000"/>
                  </a:schemeClr>
                </a:solidFill>
                <a:latin typeface="Arial" panose="020B0604020202020204" pitchFamily="34" charset="0"/>
                <a:cs typeface="Arial" panose="020B0604020202020204" pitchFamily="34" charset="0"/>
              </a:rPr>
              <a:t>LACK OF EMOTIONS</a:t>
            </a:r>
          </a:p>
          <a:p>
            <a:pPr marL="342900" indent="-342900">
              <a:lnSpc>
                <a:spcPct val="170000"/>
              </a:lnSpc>
              <a:buFont typeface="Wingdings" panose="05000000000000000000" pitchFamily="2" charset="2"/>
              <a:buChar char="Ø"/>
            </a:pPr>
            <a:r>
              <a:rPr lang="en-US" dirty="0">
                <a:solidFill>
                  <a:srgbClr val="0070C0"/>
                </a:solidFill>
                <a:latin typeface="Arial" panose="020B0604020202020204" pitchFamily="34" charset="0"/>
                <a:cs typeface="Arial" panose="020B0604020202020204" pitchFamily="34" charset="0"/>
              </a:rPr>
              <a:t>BIAS</a:t>
            </a:r>
          </a:p>
          <a:p>
            <a:pPr marL="342900" indent="-342900">
              <a:lnSpc>
                <a:spcPct val="17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ONLINE RECOMMENDATION ARE LIMITED</a:t>
            </a:r>
          </a:p>
        </p:txBody>
      </p:sp>
    </p:spTree>
    <p:extLst>
      <p:ext uri="{BB962C8B-B14F-4D97-AF65-F5344CB8AC3E}">
        <p14:creationId xmlns:p14="http://schemas.microsoft.com/office/powerpoint/2010/main" val="111388202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ACFC4-326F-72B2-4041-315C83B4D8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B4FBB2D-6F8E-D743-4904-A94858A9D9B3}"/>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09606503-0B4E-6BEB-FF36-5DBDB1680638}"/>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FUTURE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A31EB546-48E1-876C-D382-B8A862F99E67}"/>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8DDBE145-F27B-2DDD-C022-07B5925F0CBC}"/>
              </a:ext>
            </a:extLst>
          </p:cNvPr>
          <p:cNvSpPr txBox="1"/>
          <p:nvPr/>
        </p:nvSpPr>
        <p:spPr>
          <a:xfrm>
            <a:off x="775742" y="1404627"/>
            <a:ext cx="8184296" cy="4819268"/>
          </a:xfrm>
          <a:prstGeom prst="rect">
            <a:avLst/>
          </a:prstGeom>
          <a:noFill/>
        </p:spPr>
        <p:txBody>
          <a:bodyPr wrap="square" rtlCol="0">
            <a:spAutoFit/>
          </a:bodyPr>
          <a:lstStyle/>
          <a:p>
            <a:pPr marL="342900" indent="-342900">
              <a:lnSpc>
                <a:spcPct val="2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SMART ROBOTS</a:t>
            </a:r>
          </a:p>
          <a:p>
            <a:pPr marL="342900" indent="-342900">
              <a:lnSpc>
                <a:spcPct val="250000"/>
              </a:lnSpc>
              <a:buFont typeface="Wingdings" panose="05000000000000000000" pitchFamily="2" charset="2"/>
              <a:buChar char="Ø"/>
            </a:pPr>
            <a:r>
              <a:rPr lang="en-US" dirty="0">
                <a:solidFill>
                  <a:schemeClr val="tx1">
                    <a:lumMod val="95000"/>
                    <a:lumOff val="5000"/>
                  </a:schemeClr>
                </a:solidFill>
                <a:latin typeface="Arial" panose="020B0604020202020204" pitchFamily="34" charset="0"/>
                <a:cs typeface="Arial" panose="020B0604020202020204" pitchFamily="34" charset="0"/>
              </a:rPr>
              <a:t>AI IN EDUCATION</a:t>
            </a:r>
          </a:p>
          <a:p>
            <a:pPr marL="342900" indent="-342900">
              <a:lnSpc>
                <a:spcPct val="250000"/>
              </a:lnSpc>
              <a:buFont typeface="Wingdings" panose="05000000000000000000" pitchFamily="2" charset="2"/>
              <a:buChar char="Ø"/>
            </a:pPr>
            <a:r>
              <a:rPr lang="en-US" dirty="0">
                <a:solidFill>
                  <a:srgbClr val="0070C0"/>
                </a:solidFill>
                <a:latin typeface="Arial" panose="020B0604020202020204" pitchFamily="34" charset="0"/>
                <a:cs typeface="Arial" panose="020B0604020202020204" pitchFamily="34" charset="0"/>
              </a:rPr>
              <a:t>AI IN HEALTHCARE</a:t>
            </a:r>
          </a:p>
          <a:p>
            <a:pPr marL="342900" indent="-342900">
              <a:lnSpc>
                <a:spcPct val="2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SELF DRIVING VEHICLES</a:t>
            </a:r>
          </a:p>
          <a:p>
            <a:pPr marL="342900" indent="-342900">
              <a:lnSpc>
                <a:spcPct val="250000"/>
              </a:lnSpc>
              <a:buFont typeface="Wingdings" panose="05000000000000000000" pitchFamily="2" charset="2"/>
              <a:buChar char="Ø"/>
            </a:pPr>
            <a:r>
              <a:rPr lang="en-US" dirty="0">
                <a:solidFill>
                  <a:schemeClr val="tx1">
                    <a:lumMod val="95000"/>
                    <a:lumOff val="5000"/>
                  </a:schemeClr>
                </a:solidFill>
                <a:latin typeface="Arial" panose="020B0604020202020204" pitchFamily="34" charset="0"/>
                <a:cs typeface="Arial" panose="020B0604020202020204" pitchFamily="34" charset="0"/>
              </a:rPr>
              <a:t>SMART CITIES</a:t>
            </a:r>
          </a:p>
          <a:p>
            <a:pPr marL="342900" indent="-342900">
              <a:lnSpc>
                <a:spcPct val="250000"/>
              </a:lnSpc>
              <a:buFont typeface="Wingdings" panose="05000000000000000000" pitchFamily="2" charset="2"/>
              <a:buChar char="Ø"/>
            </a:pPr>
            <a:r>
              <a:rPr lang="en-US" dirty="0">
                <a:solidFill>
                  <a:srgbClr val="0070C0"/>
                </a:solidFill>
                <a:latin typeface="Arial" panose="020B0604020202020204" pitchFamily="34" charset="0"/>
                <a:cs typeface="Arial" panose="020B0604020202020204" pitchFamily="34" charset="0"/>
              </a:rPr>
              <a:t>PERSONAL AI ASSISTANTS</a:t>
            </a:r>
          </a:p>
          <a:p>
            <a:pPr marL="342900" indent="-342900">
              <a:lnSpc>
                <a:spcPct val="2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BETTER CYBERSECURITY</a:t>
            </a:r>
          </a:p>
        </p:txBody>
      </p:sp>
    </p:spTree>
    <p:extLst>
      <p:ext uri="{BB962C8B-B14F-4D97-AF65-F5344CB8AC3E}">
        <p14:creationId xmlns:p14="http://schemas.microsoft.com/office/powerpoint/2010/main" val="207023799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2D849-1EC8-BE11-4383-73BD38E0A6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B09DFB-74C2-F671-B026-55BC99A09888}"/>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44D97DF0-D388-DCDF-D2B4-4D87A2FF3EE7}"/>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APPLICAITONS OF AI</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6FE8E946-2053-4F4D-D38B-40EE54025FDE}"/>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3BF5E32C-DB00-03AF-EEFC-B803422DCC9B}"/>
              </a:ext>
            </a:extLst>
          </p:cNvPr>
          <p:cNvSpPr txBox="1"/>
          <p:nvPr/>
        </p:nvSpPr>
        <p:spPr>
          <a:xfrm>
            <a:off x="775742" y="1404627"/>
            <a:ext cx="8184296" cy="4819268"/>
          </a:xfrm>
          <a:prstGeom prst="rect">
            <a:avLst/>
          </a:prstGeom>
          <a:noFill/>
        </p:spPr>
        <p:txBody>
          <a:bodyPr wrap="square" rtlCol="0">
            <a:spAutoFit/>
          </a:bodyPr>
          <a:lstStyle/>
          <a:p>
            <a:pPr marL="342900" indent="-342900">
              <a:lnSpc>
                <a:spcPct val="250000"/>
              </a:lnSpc>
              <a:buFont typeface="Arial" panose="020B0604020202020204" pitchFamily="34" charset="0"/>
              <a:buChar char="•"/>
            </a:pPr>
            <a:r>
              <a:rPr lang="en-US" b="1" dirty="0">
                <a:solidFill>
                  <a:srgbClr val="FF0000"/>
                </a:solidFill>
                <a:latin typeface="Arial" panose="020B0604020202020204" pitchFamily="34" charset="0"/>
                <a:cs typeface="Arial" panose="020B0604020202020204" pitchFamily="34" charset="0"/>
              </a:rPr>
              <a:t>HEALTHCARE : ( IBM WATSON , AIDOC )</a:t>
            </a:r>
          </a:p>
          <a:p>
            <a:pPr marL="342900" indent="-342900">
              <a:lnSpc>
                <a:spcPct val="250000"/>
              </a:lnSpc>
              <a:buFont typeface="Arial" panose="020B0604020202020204" pitchFamily="34" charset="0"/>
              <a:buChar char="•"/>
            </a:pPr>
            <a:r>
              <a:rPr lang="en-US" b="1" dirty="0">
                <a:latin typeface="Arial" panose="020B0604020202020204" pitchFamily="34" charset="0"/>
                <a:cs typeface="Arial" panose="020B0604020202020204" pitchFamily="34" charset="0"/>
              </a:rPr>
              <a:t>FINANCE : ( KENSHO , ZEST AI )</a:t>
            </a:r>
          </a:p>
          <a:p>
            <a:pPr marL="342900" indent="-342900">
              <a:lnSpc>
                <a:spcPct val="250000"/>
              </a:lnSpc>
              <a:buFont typeface="Arial" panose="020B0604020202020204" pitchFamily="34" charset="0"/>
              <a:buChar char="•"/>
            </a:pPr>
            <a:r>
              <a:rPr lang="en-US" b="1" dirty="0">
                <a:solidFill>
                  <a:srgbClr val="0070C0"/>
                </a:solidFill>
                <a:latin typeface="Arial" panose="020B0604020202020204" pitchFamily="34" charset="0"/>
                <a:cs typeface="Arial" panose="020B0604020202020204" pitchFamily="34" charset="0"/>
              </a:rPr>
              <a:t>TRANSPORTATION : ( WAYMO , TESLA  AUTOPILOT )</a:t>
            </a:r>
          </a:p>
          <a:p>
            <a:pPr marL="342900" indent="-342900">
              <a:lnSpc>
                <a:spcPct val="250000"/>
              </a:lnSpc>
              <a:buFont typeface="Arial" panose="020B0604020202020204" pitchFamily="34" charset="0"/>
              <a:buChar char="•"/>
            </a:pPr>
            <a:r>
              <a:rPr lang="en-US" b="1" dirty="0">
                <a:solidFill>
                  <a:srgbClr val="FF0000"/>
                </a:solidFill>
                <a:latin typeface="Arial" panose="020B0604020202020204" pitchFamily="34" charset="0"/>
                <a:cs typeface="Arial" panose="020B0604020202020204" pitchFamily="34" charset="0"/>
              </a:rPr>
              <a:t>E-COMMERCE : ( SHOPIFY , AMAZON PERSONALIZE )</a:t>
            </a:r>
          </a:p>
          <a:p>
            <a:pPr marL="342900" indent="-342900">
              <a:lnSpc>
                <a:spcPct val="250000"/>
              </a:lnSpc>
              <a:buFont typeface="Arial" panose="020B0604020202020204" pitchFamily="34" charset="0"/>
              <a:buChar char="•"/>
            </a:pPr>
            <a:r>
              <a:rPr lang="en-US" b="1" dirty="0">
                <a:latin typeface="Arial" panose="020B0604020202020204" pitchFamily="34" charset="0"/>
                <a:cs typeface="Arial" panose="020B0604020202020204" pitchFamily="34" charset="0"/>
              </a:rPr>
              <a:t>SMART ASSITANTS : ( ALEXA , GOOGLE ASSITANT , APPLE SIRI )</a:t>
            </a:r>
          </a:p>
          <a:p>
            <a:pPr marL="342900" indent="-342900">
              <a:lnSpc>
                <a:spcPct val="250000"/>
              </a:lnSpc>
              <a:buFont typeface="Arial" panose="020B0604020202020204" pitchFamily="34" charset="0"/>
              <a:buChar char="•"/>
            </a:pPr>
            <a:r>
              <a:rPr lang="en-US" b="1" dirty="0">
                <a:solidFill>
                  <a:srgbClr val="0070C0"/>
                </a:solidFill>
                <a:latin typeface="Arial" panose="020B0604020202020204" pitchFamily="34" charset="0"/>
                <a:cs typeface="Arial" panose="020B0604020202020204" pitchFamily="34" charset="0"/>
              </a:rPr>
              <a:t>CYBERSECURITY : ( DARKTRACE, CYLANCE) AI TOOL</a:t>
            </a:r>
          </a:p>
          <a:p>
            <a:pPr marL="342900" indent="-342900">
              <a:lnSpc>
                <a:spcPct val="250000"/>
              </a:lnSpc>
              <a:buFont typeface="Arial" panose="020B0604020202020204" pitchFamily="34" charset="0"/>
              <a:buChar char="•"/>
            </a:pPr>
            <a:r>
              <a:rPr lang="en-US" b="1" dirty="0">
                <a:solidFill>
                  <a:srgbClr val="FF0000"/>
                </a:solidFill>
                <a:latin typeface="Arial" panose="020B0604020202020204" pitchFamily="34" charset="0"/>
                <a:cs typeface="Arial" panose="020B0604020202020204" pitchFamily="34" charset="0"/>
              </a:rPr>
              <a:t>EDUCATION : (</a:t>
            </a:r>
            <a:r>
              <a:rPr lang="en-US" b="1" dirty="0">
                <a:solidFill>
                  <a:srgbClr val="FF0000"/>
                </a:solidFill>
                <a:highlight>
                  <a:srgbClr val="FFFF00"/>
                </a:highlight>
                <a:latin typeface="Arial" panose="020B0604020202020204" pitchFamily="34" charset="0"/>
                <a:cs typeface="Arial" panose="020B0604020202020204" pitchFamily="34" charset="0"/>
              </a:rPr>
              <a:t>CHATGPT</a:t>
            </a:r>
            <a:r>
              <a:rPr lang="en-US" b="1" dirty="0">
                <a:solidFill>
                  <a:srgbClr val="FF0000"/>
                </a:solidFill>
                <a:latin typeface="Arial" panose="020B0604020202020204" pitchFamily="34" charset="0"/>
                <a:cs typeface="Arial" panose="020B0604020202020204" pitchFamily="34" charset="0"/>
              </a:rPr>
              <a:t> , KNEWTON , GRAMMARLY)</a:t>
            </a:r>
            <a:endParaRPr lang="en-US" b="1"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662977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8669B-B22A-FE32-C5F2-7FD4683C5EC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8D6FD12-F74C-27F5-B36B-70F93F33249C}"/>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AB480925-245B-880A-8A14-31C69CC87185}"/>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PRESENT ROLE OF AI IN INDIAN ARMY</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56A659FB-A1C9-16F5-3369-8DD67BB43B27}"/>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8E317803-C002-5274-5517-364F3F34E327}"/>
              </a:ext>
            </a:extLst>
          </p:cNvPr>
          <p:cNvSpPr txBox="1"/>
          <p:nvPr/>
        </p:nvSpPr>
        <p:spPr>
          <a:xfrm>
            <a:off x="775742" y="1404627"/>
            <a:ext cx="8184296" cy="4909293"/>
          </a:xfrm>
          <a:prstGeom prst="rect">
            <a:avLst/>
          </a:prstGeom>
          <a:noFill/>
        </p:spPr>
        <p:txBody>
          <a:bodyPr wrap="square" rtlCol="0">
            <a:spAutoFit/>
          </a:bodyPr>
          <a:lstStyle/>
          <a:p>
            <a:pPr marL="342900" indent="-342900">
              <a:lnSpc>
                <a:spcPct val="160000"/>
              </a:lnSpc>
              <a:buFont typeface="Arial" panose="020B0604020202020204" pitchFamily="34" charset="0"/>
              <a:buChar char="•"/>
            </a:pPr>
            <a:r>
              <a:rPr lang="en-US" b="1" u="sng" dirty="0">
                <a:solidFill>
                  <a:srgbClr val="FF0000"/>
                </a:solidFill>
                <a:latin typeface="Arial" panose="020B0604020202020204" pitchFamily="34" charset="0"/>
                <a:cs typeface="Arial" panose="020B0604020202020204" pitchFamily="34" charset="0"/>
              </a:rPr>
              <a:t>INTELLIGENCE GATHERING AND ANALYSIS</a:t>
            </a:r>
            <a:r>
              <a:rPr lang="en-US" b="1" dirty="0">
                <a:solidFill>
                  <a:srgbClr val="FF0000"/>
                </a:solidFill>
                <a:latin typeface="Arial" panose="020B0604020202020204" pitchFamily="34" charset="0"/>
                <a:cs typeface="Arial" panose="020B0604020202020204" pitchFamily="34" charset="0"/>
              </a:rPr>
              <a:t> : </a:t>
            </a:r>
            <a:r>
              <a:rPr lang="en-US" dirty="0">
                <a:solidFill>
                  <a:srgbClr val="FF0000"/>
                </a:solidFill>
                <a:latin typeface="Arial" panose="020B0604020202020204" pitchFamily="34" charset="0"/>
                <a:cs typeface="Arial" panose="020B0604020202020204" pitchFamily="34" charset="0"/>
              </a:rPr>
              <a:t>AI-powered systems are being utilized to collect, process and analyze vast amounts of data from diverse sources, including satellite imagery, signals intelligence and social media. These systems help in identifying patterns that aid in decision-making and strategic planning.</a:t>
            </a:r>
          </a:p>
          <a:p>
            <a:pPr>
              <a:lnSpc>
                <a:spcPct val="160000"/>
              </a:lnSpc>
            </a:pPr>
            <a:endParaRPr lang="en-US" dirty="0">
              <a:solidFill>
                <a:srgbClr val="FF0000"/>
              </a:solidFill>
              <a:latin typeface="Arial" panose="020B0604020202020204" pitchFamily="34" charset="0"/>
              <a:cs typeface="Arial" panose="020B0604020202020204" pitchFamily="34" charset="0"/>
            </a:endParaRPr>
          </a:p>
          <a:p>
            <a:pPr marL="342900" indent="-342900">
              <a:lnSpc>
                <a:spcPct val="160000"/>
              </a:lnSpc>
              <a:buFont typeface="Arial" panose="020B0604020202020204" pitchFamily="34" charset="0"/>
              <a:buChar char="•"/>
            </a:pPr>
            <a:r>
              <a:rPr lang="en-US" b="1" u="sng" dirty="0">
                <a:latin typeface="Arial" panose="020B0604020202020204" pitchFamily="34" charset="0"/>
                <a:cs typeface="Arial" panose="020B0604020202020204" pitchFamily="34" charset="0"/>
              </a:rPr>
              <a:t>SURVEILLANCE AND RECONNAISSANCE</a:t>
            </a:r>
            <a:r>
              <a:rPr lang="en-US" b="1" dirty="0">
                <a:latin typeface="Arial" panose="020B0604020202020204" pitchFamily="34" charset="0"/>
                <a:cs typeface="Arial" panose="020B0604020202020204" pitchFamily="34" charset="0"/>
              </a:rPr>
              <a:t> : </a:t>
            </a:r>
            <a:r>
              <a:rPr lang="en-US" dirty="0">
                <a:solidFill>
                  <a:schemeClr val="tx1">
                    <a:lumMod val="95000"/>
                    <a:lumOff val="5000"/>
                  </a:schemeClr>
                </a:solidFill>
                <a:latin typeface="Arial" panose="020B0604020202020204" pitchFamily="34" charset="0"/>
                <a:cs typeface="Arial" panose="020B0604020202020204" pitchFamily="34" charset="0"/>
              </a:rPr>
              <a:t>AI-enabled sensors and unmanned aerial vehicles equipped with computer vision and image processing algorithms provide real time surveillance and reconnaissance capabilities. These systems enhance situational awareness and border security by detecting and tracking potential threats along </a:t>
            </a:r>
            <a:r>
              <a:rPr lang="en-US" dirty="0" err="1">
                <a:solidFill>
                  <a:schemeClr val="tx1">
                    <a:lumMod val="95000"/>
                    <a:lumOff val="5000"/>
                  </a:schemeClr>
                </a:solidFill>
                <a:latin typeface="Arial" panose="020B0604020202020204" pitchFamily="34" charset="0"/>
                <a:cs typeface="Arial" panose="020B0604020202020204" pitchFamily="34" charset="0"/>
              </a:rPr>
              <a:t>india’s</a:t>
            </a:r>
            <a:r>
              <a:rPr lang="en-US" dirty="0">
                <a:solidFill>
                  <a:schemeClr val="tx1">
                    <a:lumMod val="95000"/>
                    <a:lumOff val="5000"/>
                  </a:schemeClr>
                </a:solidFill>
                <a:latin typeface="Arial" panose="020B0604020202020204" pitchFamily="34" charset="0"/>
                <a:cs typeface="Arial" panose="020B0604020202020204" pitchFamily="34" charset="0"/>
              </a:rPr>
              <a:t> border.</a:t>
            </a:r>
          </a:p>
        </p:txBody>
      </p:sp>
    </p:spTree>
    <p:extLst>
      <p:ext uri="{BB962C8B-B14F-4D97-AF65-F5344CB8AC3E}">
        <p14:creationId xmlns:p14="http://schemas.microsoft.com/office/powerpoint/2010/main" val="420629236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DB577-2F44-94FE-65AD-BA438ED9B9C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7AE9818-CDC6-0700-A1E4-FB6218B94FB4}"/>
              </a:ext>
            </a:extLst>
          </p:cNvPr>
          <p:cNvPicPr>
            <a:picLocks noChangeAspect="1"/>
          </p:cNvPicPr>
          <p:nvPr/>
        </p:nvPicPr>
        <p:blipFill>
          <a:blip r:embed="rId2" cstate="print">
            <a:alphaModFix amt="14000"/>
            <a:grayscl/>
            <a:extLst>
              <a:ext uri="{28A0092B-C50C-407E-A947-70E740481C1C}">
                <a14:useLocalDpi xmlns:a14="http://schemas.microsoft.com/office/drawing/2010/main" val="0"/>
              </a:ext>
            </a:extLst>
          </a:blip>
          <a:stretch>
            <a:fillRect/>
          </a:stretch>
        </p:blipFill>
        <p:spPr>
          <a:xfrm>
            <a:off x="-457200" y="1513116"/>
            <a:ext cx="10058400" cy="5615940"/>
          </a:xfrm>
          <a:prstGeom prst="rect">
            <a:avLst/>
          </a:prstGeom>
          <a:effectLst>
            <a:softEdge rad="635000"/>
          </a:effectLst>
        </p:spPr>
      </p:pic>
      <p:sp>
        <p:nvSpPr>
          <p:cNvPr id="7" name="Rectangle 2">
            <a:extLst>
              <a:ext uri="{FF2B5EF4-FFF2-40B4-BE49-F238E27FC236}">
                <a16:creationId xmlns:a16="http://schemas.microsoft.com/office/drawing/2014/main" id="{6E792178-88FE-B389-DF67-9EF714FCF93E}"/>
              </a:ext>
            </a:extLst>
          </p:cNvPr>
          <p:cNvSpPr>
            <a:spLocks noChangeArrowheads="1"/>
          </p:cNvSpPr>
          <p:nvPr/>
        </p:nvSpPr>
        <p:spPr bwMode="auto">
          <a:xfrm>
            <a:off x="896816" y="196112"/>
            <a:ext cx="8063222" cy="982051"/>
          </a:xfrm>
          <a:prstGeom prst="rect">
            <a:avLst/>
          </a:prstGeom>
          <a:noFill/>
          <a:ln w="47625" cap="flat" cmpd="dbl" algn="ctr">
            <a:solidFill>
              <a:sysClr val="windowText" lastClr="000000">
                <a:lumMod val="50000"/>
                <a:lumOff val="50000"/>
              </a:sysClr>
            </a:solidFill>
            <a:prstDash val="solid"/>
            <a:headEnd/>
            <a:tailEnd/>
          </a:ln>
          <a:effectLst>
            <a:outerShdw blurRad="38100" dist="30000" dir="5400000" rotWithShape="0">
              <a:srgbClr val="000000">
                <a:alpha val="45000"/>
              </a:srgbClr>
            </a:outerShdw>
          </a:effectLst>
        </p:spPr>
        <p:txBody>
          <a:bodyPr anchor="ctr"/>
          <a:lstStyle/>
          <a:p>
            <a:pPr algn="ct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en-IN" sz="32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PRESENT ROLE OF AI IN INDIAN ARMY</a:t>
            </a:r>
            <a:endParaRPr lang="en-IN" sz="2800" b="1" u="sng" kern="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kumimoji="0" lang="en-GB" sz="2800" b="1" i="0" u="sng" strike="noStrike" kern="0" cap="none" spc="0" normalizeH="0" baseline="0" noProof="0" dirty="0">
                <a:ln w="12700">
                  <a:solidFill>
                    <a:srgbClr val="676A55">
                      <a:satMod val="155000"/>
                    </a:srgbClr>
                  </a:solidFill>
                  <a:prstDash val="solid"/>
                </a:ln>
                <a:solidFill>
                  <a:srgbClr val="0033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t>
            </a:r>
          </a:p>
        </p:txBody>
      </p:sp>
      <p:pic>
        <p:nvPicPr>
          <p:cNvPr id="5" name="Picture 4">
            <a:extLst>
              <a:ext uri="{FF2B5EF4-FFF2-40B4-BE49-F238E27FC236}">
                <a16:creationId xmlns:a16="http://schemas.microsoft.com/office/drawing/2014/main" id="{6CF0E79E-3AC7-053A-8776-11DDDE2FDA73}"/>
              </a:ext>
            </a:extLst>
          </p:cNvPr>
          <p:cNvPicPr>
            <a:picLocks noChangeAspect="1" noChangeArrowheads="1"/>
          </p:cNvPicPr>
          <p:nvPr/>
        </p:nvPicPr>
        <p:blipFill>
          <a:blip r:embed="rId3"/>
          <a:srcRect/>
          <a:stretch>
            <a:fillRect/>
          </a:stretch>
        </p:blipFill>
        <p:spPr bwMode="auto">
          <a:xfrm>
            <a:off x="35496" y="72009"/>
            <a:ext cx="861315" cy="1149473"/>
          </a:xfrm>
          <a:prstGeom prst="rect">
            <a:avLst/>
          </a:prstGeom>
          <a:solidFill>
            <a:srgbClr val="009900"/>
          </a:solidFill>
          <a:ln w="9525">
            <a:noFill/>
            <a:miter lim="800000"/>
            <a:headEnd/>
            <a:tailEnd/>
          </a:ln>
        </p:spPr>
      </p:pic>
      <p:sp>
        <p:nvSpPr>
          <p:cNvPr id="2" name="TextBox 1">
            <a:extLst>
              <a:ext uri="{FF2B5EF4-FFF2-40B4-BE49-F238E27FC236}">
                <a16:creationId xmlns:a16="http://schemas.microsoft.com/office/drawing/2014/main" id="{61B19955-765B-4875-98B8-356C83BB278C}"/>
              </a:ext>
            </a:extLst>
          </p:cNvPr>
          <p:cNvSpPr txBox="1"/>
          <p:nvPr/>
        </p:nvSpPr>
        <p:spPr>
          <a:xfrm>
            <a:off x="775742" y="1404627"/>
            <a:ext cx="8184296" cy="3136500"/>
          </a:xfrm>
          <a:prstGeom prst="rect">
            <a:avLst/>
          </a:prstGeom>
          <a:noFill/>
        </p:spPr>
        <p:txBody>
          <a:bodyPr wrap="square" rtlCol="0">
            <a:spAutoFit/>
          </a:bodyPr>
          <a:lstStyle/>
          <a:p>
            <a:pPr marL="342900" indent="-342900">
              <a:lnSpc>
                <a:spcPct val="160000"/>
              </a:lnSpc>
              <a:buFont typeface="Arial" panose="020B0604020202020204" pitchFamily="34" charset="0"/>
              <a:buChar char="•"/>
            </a:pPr>
            <a:r>
              <a:rPr lang="en-US" b="1" u="sng" dirty="0">
                <a:solidFill>
                  <a:srgbClr val="FF0000"/>
                </a:solidFill>
                <a:latin typeface="Arial" panose="020B0604020202020204" pitchFamily="34" charset="0"/>
                <a:cs typeface="Arial" panose="020B0604020202020204" pitchFamily="34" charset="0"/>
              </a:rPr>
              <a:t>PREDICTIVE MAINTENANCE</a:t>
            </a:r>
            <a:r>
              <a:rPr lang="en-US" b="1" dirty="0">
                <a:solidFill>
                  <a:srgbClr val="FF0000"/>
                </a:solidFill>
                <a:latin typeface="Arial" panose="020B0604020202020204" pitchFamily="34" charset="0"/>
                <a:cs typeface="Arial" panose="020B0604020202020204" pitchFamily="34" charset="0"/>
              </a:rPr>
              <a:t> : </a:t>
            </a:r>
            <a:r>
              <a:rPr lang="en-US" dirty="0">
                <a:solidFill>
                  <a:srgbClr val="FF0000"/>
                </a:solidFill>
                <a:latin typeface="Arial" panose="020B0604020202020204" pitchFamily="34" charset="0"/>
                <a:cs typeface="Arial" panose="020B0604020202020204" pitchFamily="34" charset="0"/>
              </a:rPr>
              <a:t>AI- based predictive analytics are CYBERSECURITY AND INFORMATION WAREFARE : AI-powered cybersecurity solutions are deployed to detect and respond to cyber threats, including malware, phishing attacks and network intrusions. AI algorithms analyze network traffic, identify suspicious activities and autonomously respond to cyber attacks thereby safeguarding sensitive military information and infrastructure.</a:t>
            </a:r>
          </a:p>
        </p:txBody>
      </p:sp>
    </p:spTree>
    <p:extLst>
      <p:ext uri="{BB962C8B-B14F-4D97-AF65-F5344CB8AC3E}">
        <p14:creationId xmlns:p14="http://schemas.microsoft.com/office/powerpoint/2010/main" val="4173174685"/>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651</TotalTime>
  <Words>1329</Words>
  <Application>Microsoft Office PowerPoint</Application>
  <PresentationFormat>On-screen Show (4:3)</PresentationFormat>
  <Paragraphs>208</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Calibri Light</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akanksh485@gmail.com</dc:creator>
  <cp:lastModifiedBy>vikash panwar</cp:lastModifiedBy>
  <cp:revision>83</cp:revision>
  <dcterms:created xsi:type="dcterms:W3CDTF">2024-09-10T05:30:56Z</dcterms:created>
  <dcterms:modified xsi:type="dcterms:W3CDTF">2026-08-22T04:30:33Z</dcterms:modified>
</cp:coreProperties>
</file>