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331" r:id="rId2"/>
    <p:sldId id="275" r:id="rId3"/>
    <p:sldId id="258" r:id="rId4"/>
    <p:sldId id="332" r:id="rId5"/>
    <p:sldId id="265" r:id="rId6"/>
    <p:sldId id="266" r:id="rId7"/>
    <p:sldId id="267" r:id="rId8"/>
    <p:sldId id="268" r:id="rId9"/>
    <p:sldId id="262"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410"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3E1CA-895F-4EEA-8F97-B55102B3A0D5}" type="datetimeFigureOut">
              <a:rPr lang="en-US" smtClean="0"/>
              <a:t>8/23/2025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AF1414-F5AC-4B93-8DF3-E5C92E7557E4}" type="slidenum">
              <a:rPr lang="en-US" smtClean="0"/>
              <a:t>‹#›</a:t>
            </a:fld>
            <a:endParaRPr lang="en-US"/>
          </a:p>
        </p:txBody>
      </p:sp>
    </p:spTree>
    <p:extLst>
      <p:ext uri="{BB962C8B-B14F-4D97-AF65-F5344CB8AC3E}">
        <p14:creationId xmlns:p14="http://schemas.microsoft.com/office/powerpoint/2010/main" val="3741296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A11E53BE-1D5B-4A78-A64D-0FF248B3FC95}" type="slidenum">
              <a:rPr lang="en-US" smtClean="0"/>
              <a:pPr/>
              <a:t>2</a:t>
            </a:fld>
            <a:endParaRPr lang="en-US"/>
          </a:p>
        </p:txBody>
      </p:sp>
      <p:sp>
        <p:nvSpPr>
          <p:cNvPr id="29699"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297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1421501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38DB91D-7463-4E15-BBAD-8544B57A93FA}"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2383094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8DB91D-7463-4E15-BBAD-8544B57A93FA}"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658336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8DB91D-7463-4E15-BBAD-8544B57A93FA}"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3269038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8DB91D-7463-4E15-BBAD-8544B57A93FA}"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2227627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8DB91D-7463-4E15-BBAD-8544B57A93FA}" type="datetimeFigureOut">
              <a:rPr lang="en-US" smtClean="0"/>
              <a:t>8/23/2025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1398950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8DB91D-7463-4E15-BBAD-8544B57A93FA}" type="datetimeFigureOut">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1627299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8DB91D-7463-4E15-BBAD-8544B57A93FA}" type="datetimeFigureOut">
              <a:rPr lang="en-US" smtClean="0"/>
              <a:t>8/23/2025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4196828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8DB91D-7463-4E15-BBAD-8544B57A93FA}"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3011675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8DB91D-7463-4E15-BBAD-8544B57A93FA}"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2991403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8DB91D-7463-4E15-BBAD-8544B57A93FA}"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3080684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8DB91D-7463-4E15-BBAD-8544B57A93FA}"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D6432-7A28-48AA-AA90-517D5762B8FB}" type="slidenum">
              <a:rPr lang="en-US" smtClean="0"/>
              <a:t>‹#›</a:t>
            </a:fld>
            <a:endParaRPr lang="en-US"/>
          </a:p>
        </p:txBody>
      </p:sp>
    </p:spTree>
    <p:extLst>
      <p:ext uri="{BB962C8B-B14F-4D97-AF65-F5344CB8AC3E}">
        <p14:creationId xmlns:p14="http://schemas.microsoft.com/office/powerpoint/2010/main" val="10540071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9767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8DB91D-7463-4E15-BBAD-8544B57A93FA}" type="datetimeFigureOut">
              <a:rPr lang="en-US" smtClean="0"/>
              <a:t>8/23/2025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ED6432-7A28-48AA-AA90-517D5762B8FB}" type="slidenum">
              <a:rPr lang="en-US" smtClean="0"/>
              <a:t>‹#›</a:t>
            </a:fld>
            <a:endParaRPr lang="en-US"/>
          </a:p>
        </p:txBody>
      </p:sp>
    </p:spTree>
    <p:extLst>
      <p:ext uri="{BB962C8B-B14F-4D97-AF65-F5344CB8AC3E}">
        <p14:creationId xmlns:p14="http://schemas.microsoft.com/office/powerpoint/2010/main" val="1646180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C3162C-08DF-4C69-A2DE-1AA085110AAD}"/>
              </a:ext>
            </a:extLst>
          </p:cNvPr>
          <p:cNvSpPr/>
          <p:nvPr/>
        </p:nvSpPr>
        <p:spPr>
          <a:xfrm>
            <a:off x="0" y="0"/>
            <a:ext cx="9165771" cy="685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DB721C8-54CE-AF2B-7C03-B6AB69B7018C}"/>
              </a:ext>
            </a:extLst>
          </p:cNvPr>
          <p:cNvSpPr txBox="1"/>
          <p:nvPr/>
        </p:nvSpPr>
        <p:spPr>
          <a:xfrm>
            <a:off x="0" y="5620868"/>
            <a:ext cx="9232447" cy="523220"/>
          </a:xfrm>
          <a:prstGeom prst="rect">
            <a:avLst/>
          </a:prstGeom>
          <a:noFill/>
        </p:spPr>
        <p:txBody>
          <a:bodyPr wrap="square" rtlCol="0">
            <a:spAutoFit/>
          </a:bodyPr>
          <a:lstStyle/>
          <a:p>
            <a:pPr algn="ctr"/>
            <a:r>
              <a:rPr lang="en-IN" sz="2800" b="1" u="sng" dirty="0">
                <a:solidFill>
                  <a:srgbClr val="FF0000"/>
                </a:solidFill>
                <a:latin typeface="Arial" pitchFamily="34" charset="0"/>
                <a:cs typeface="Arial" pitchFamily="34" charset="0"/>
              </a:rPr>
              <a:t>INTRODUCTION TO CLOUD COMPUTING </a:t>
            </a:r>
            <a:endParaRPr lang="en-US" sz="2800" b="1" u="sng" dirty="0">
              <a:solidFill>
                <a:srgbClr val="FF0000"/>
              </a:solidFill>
              <a:latin typeface="Arial" pitchFamily="34" charset="0"/>
              <a:cs typeface="Arial" pitchFamily="34" charset="0"/>
            </a:endParaRPr>
          </a:p>
        </p:txBody>
      </p:sp>
      <p:sp>
        <p:nvSpPr>
          <p:cNvPr id="5" name="WordArt 4">
            <a:extLst>
              <a:ext uri="{FF2B5EF4-FFF2-40B4-BE49-F238E27FC236}">
                <a16:creationId xmlns:a16="http://schemas.microsoft.com/office/drawing/2014/main" id="{21662B49-9CF8-401C-912F-17D538BE02DF}"/>
              </a:ext>
            </a:extLst>
          </p:cNvPr>
          <p:cNvSpPr>
            <a:spLocks noChangeArrowheads="1" noChangeShapeType="1" noTextEdit="1"/>
          </p:cNvSpPr>
          <p:nvPr/>
        </p:nvSpPr>
        <p:spPr bwMode="auto">
          <a:xfrm>
            <a:off x="405063" y="533400"/>
            <a:ext cx="8333874" cy="6324600"/>
          </a:xfrm>
          <a:prstGeom prst="rect">
            <a:avLst/>
          </a:prstGeom>
          <a:ln>
            <a:noFill/>
          </a:ln>
        </p:spPr>
        <p:txBody>
          <a:bodyPr spcFirstLastPara="1" wrap="none" fromWordArt="1">
            <a:prstTxWarp prst="textArchUp">
              <a:avLst>
                <a:gd name="adj" fmla="val 10800004"/>
              </a:avLst>
            </a:prstTxWarp>
          </a:bodyPr>
          <a:lstStyle/>
          <a:p>
            <a:pPr algn="ctr"/>
            <a:r>
              <a:rPr lang="en-US" sz="3600" b="1" u="sng" kern="10" dirty="0">
                <a:ln w="9525">
                  <a:noFill/>
                  <a:round/>
                  <a:headEnd/>
                  <a:tailEnd/>
                </a:ln>
                <a:latin typeface="Arial Black" panose="020B0A04020102020204" pitchFamily="34" charset="0"/>
                <a:cs typeface="Arial" panose="020B0604020202020204" pitchFamily="34" charset="0"/>
              </a:rPr>
              <a:t>THE GARHWAL RIFLE REGIMENTAL CENTRE (GRRC)</a:t>
            </a:r>
          </a:p>
        </p:txBody>
      </p:sp>
      <p:sp>
        <p:nvSpPr>
          <p:cNvPr id="7" name="TextBox 6">
            <a:extLst>
              <a:ext uri="{FF2B5EF4-FFF2-40B4-BE49-F238E27FC236}">
                <a16:creationId xmlns:a16="http://schemas.microsoft.com/office/drawing/2014/main" id="{2E41CE33-8DE8-477C-9E27-D1942CC3AAB9}"/>
              </a:ext>
            </a:extLst>
          </p:cNvPr>
          <p:cNvSpPr txBox="1"/>
          <p:nvPr/>
        </p:nvSpPr>
        <p:spPr>
          <a:xfrm>
            <a:off x="88446" y="4202058"/>
            <a:ext cx="9077325" cy="1152110"/>
          </a:xfrm>
          <a:prstGeom prst="rect">
            <a:avLst/>
          </a:prstGeom>
          <a:noFill/>
        </p:spPr>
        <p:txBody>
          <a:bodyPr wrap="square">
            <a:spAutoFit/>
          </a:bodyPr>
          <a:lstStyle/>
          <a:p>
            <a:pPr algn="ctr">
              <a:lnSpc>
                <a:spcPct val="140000"/>
              </a:lnSpc>
              <a:spcBef>
                <a:spcPct val="20000"/>
              </a:spcBef>
            </a:pPr>
            <a:r>
              <a:rPr lang="en-US" sz="2400" b="1" u="sng" dirty="0">
                <a:solidFill>
                  <a:schemeClr val="tx1"/>
                </a:solidFill>
                <a:latin typeface="Arial Black" panose="020B0A04020102020204" pitchFamily="34" charset="0"/>
                <a:cs typeface="Arial" panose="020B0604020202020204" pitchFamily="34" charset="0"/>
              </a:rPr>
              <a:t>WELCOME</a:t>
            </a:r>
          </a:p>
          <a:p>
            <a:pPr algn="ctr">
              <a:lnSpc>
                <a:spcPct val="140000"/>
              </a:lnSpc>
              <a:spcBef>
                <a:spcPct val="20000"/>
              </a:spcBef>
            </a:pPr>
            <a:r>
              <a:rPr lang="en-US" sz="2400" b="1" u="sng" dirty="0">
                <a:solidFill>
                  <a:srgbClr val="0000FF"/>
                </a:solidFill>
                <a:latin typeface="Arial Black" panose="020B0A04020102020204" pitchFamily="34" charset="0"/>
                <a:cs typeface="Arial" panose="020B0604020202020204" pitchFamily="34" charset="0"/>
              </a:rPr>
              <a:t>INFORMATION TECHNOLOGY &amp; CYBER AWARENESS</a:t>
            </a:r>
          </a:p>
        </p:txBody>
      </p:sp>
      <p:pic>
        <p:nvPicPr>
          <p:cNvPr id="9" name="Picture 8">
            <a:extLst>
              <a:ext uri="{FF2B5EF4-FFF2-40B4-BE49-F238E27FC236}">
                <a16:creationId xmlns:a16="http://schemas.microsoft.com/office/drawing/2014/main" id="{D65F66A6-9565-4E08-9BC5-F1B28E335A1F}"/>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1270" b="100000" l="0" r="97251"/>
                    </a14:imgEffect>
                  </a14:imgLayer>
                </a14:imgProps>
              </a:ext>
              <a:ext uri="{28A0092B-C50C-407E-A947-70E740481C1C}">
                <a14:useLocalDpi xmlns:a14="http://schemas.microsoft.com/office/drawing/2010/main" val="0"/>
              </a:ext>
            </a:extLst>
          </a:blip>
          <a:stretch>
            <a:fillRect/>
          </a:stretch>
        </p:blipFill>
        <p:spPr>
          <a:xfrm>
            <a:off x="3962947" y="1105893"/>
            <a:ext cx="1291615" cy="2589807"/>
          </a:xfrm>
          <a:prstGeom prst="rect">
            <a:avLst/>
          </a:prstGeom>
          <a:effectLst>
            <a:glow rad="101600">
              <a:srgbClr val="FFFF00">
                <a:alpha val="60000"/>
              </a:srgbClr>
            </a:glow>
          </a:effectLst>
        </p:spPr>
      </p:pic>
      <p:pic>
        <p:nvPicPr>
          <p:cNvPr id="8" name="Picture 7">
            <a:extLst>
              <a:ext uri="{FF2B5EF4-FFF2-40B4-BE49-F238E27FC236}">
                <a16:creationId xmlns:a16="http://schemas.microsoft.com/office/drawing/2014/main" id="{4C00F1EF-5156-4379-8756-25AB0F64777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697" y="247847"/>
            <a:ext cx="729749" cy="932130"/>
          </a:xfrm>
          <a:prstGeom prst="rect">
            <a:avLst/>
          </a:prstGeom>
          <a:effectLst>
            <a:glow rad="101600">
              <a:srgbClr val="FFFF00">
                <a:alpha val="60000"/>
              </a:srgbClr>
            </a:glow>
          </a:effectLst>
        </p:spPr>
      </p:pic>
      <p:pic>
        <p:nvPicPr>
          <p:cNvPr id="10" name="Picture 9">
            <a:extLst>
              <a:ext uri="{FF2B5EF4-FFF2-40B4-BE49-F238E27FC236}">
                <a16:creationId xmlns:a16="http://schemas.microsoft.com/office/drawing/2014/main" id="{7C83D528-76AA-4812-898F-5FA7081F65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22605" y="154751"/>
            <a:ext cx="729749" cy="932130"/>
          </a:xfrm>
          <a:prstGeom prst="rect">
            <a:avLst/>
          </a:prstGeom>
          <a:effectLst>
            <a:glow rad="101600">
              <a:srgbClr val="FFFF00">
                <a:alpha val="60000"/>
              </a:srgbClr>
            </a:glow>
          </a:effectLst>
        </p:spPr>
      </p:pic>
    </p:spTree>
    <p:extLst>
      <p:ext uri="{BB962C8B-B14F-4D97-AF65-F5344CB8AC3E}">
        <p14:creationId xmlns:p14="http://schemas.microsoft.com/office/powerpoint/2010/main" val="1238956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The 5 Biggest Cloud Computing Trends In 20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246" name="Rectangle 8"/>
          <p:cNvSpPr>
            <a:spLocks noChangeArrowheads="1"/>
          </p:cNvSpPr>
          <p:nvPr/>
        </p:nvSpPr>
        <p:spPr bwMode="auto">
          <a:xfrm>
            <a:off x="1902417" y="3738868"/>
            <a:ext cx="5600700" cy="2308324"/>
          </a:xfrm>
          <a:prstGeom prst="rect">
            <a:avLst/>
          </a:prstGeom>
          <a:noFill/>
          <a:ln w="9525">
            <a:noFill/>
            <a:miter lim="800000"/>
            <a:headEnd/>
            <a:tailEnd/>
          </a:ln>
        </p:spPr>
        <p:txBody>
          <a:bodyPr wrap="square">
            <a:spAutoFit/>
          </a:bodyPr>
          <a:lstStyle/>
          <a:p>
            <a:pPr algn="ctr">
              <a:defRPr/>
            </a:pPr>
            <a:r>
              <a:rPr lang="en-US" sz="7200" b="1" dirty="0">
                <a:solidFill>
                  <a:schemeClr val="bg1"/>
                </a:solidFill>
              </a:rPr>
              <a:t>CLOUD COMPUTING</a:t>
            </a:r>
            <a:endParaRPr lang="en-US" sz="72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160121" y="1233084"/>
            <a:ext cx="8865892" cy="5226710"/>
          </a:xfrm>
        </p:spPr>
        <p:txBody>
          <a:bodyPr>
            <a:normAutofit/>
          </a:bodyPr>
          <a:lstStyle/>
          <a:p>
            <a:pPr marL="0" indent="0" algn="just" eaLnBrk="1" hangingPunct="1">
              <a:buNone/>
            </a:pPr>
            <a:r>
              <a:rPr lang="en-US" sz="2400" b="1" dirty="0">
                <a:solidFill>
                  <a:srgbClr val="FF0000"/>
                </a:solidFill>
                <a:latin typeface="Arial" panose="020B0604020202020204" pitchFamily="34" charset="0"/>
                <a:cs typeface="Arial" panose="020B0604020202020204" pitchFamily="34" charset="0"/>
              </a:rPr>
              <a:t>Cloud computing is the use of internet to access and store data, run applications and use computing power from remote servers instead of your own computer or local servers.</a:t>
            </a:r>
          </a:p>
          <a:p>
            <a:pPr marL="0" indent="0" algn="just" eaLnBrk="1" hangingPunct="1">
              <a:buNone/>
            </a:pPr>
            <a:r>
              <a:rPr lang="en-US" sz="2400" b="1" dirty="0">
                <a:latin typeface="Arial" panose="020B0604020202020204" pitchFamily="34" charset="0"/>
                <a:cs typeface="Arial" panose="020B0604020202020204" pitchFamily="34" charset="0"/>
              </a:rPr>
              <a:t>This makes it easy to access your files and programs form anywhere with an internet connection.</a:t>
            </a:r>
          </a:p>
          <a:p>
            <a:pPr marL="0" indent="0" algn="just" eaLnBrk="1" hangingPunct="1">
              <a:buNone/>
            </a:pPr>
            <a:r>
              <a:rPr lang="en-US" sz="2400" b="1" dirty="0">
                <a:solidFill>
                  <a:schemeClr val="accent1"/>
                </a:solidFill>
                <a:latin typeface="Arial" panose="020B0604020202020204" pitchFamily="34" charset="0"/>
                <a:cs typeface="Arial" panose="020B0604020202020204" pitchFamily="34" charset="0"/>
              </a:rPr>
              <a:t>Easy to use</a:t>
            </a:r>
          </a:p>
          <a:p>
            <a:pPr marL="0" indent="0" algn="just" eaLnBrk="1" hangingPunct="1">
              <a:buNone/>
            </a:pPr>
            <a:r>
              <a:rPr lang="en-US" sz="2400" b="1" dirty="0">
                <a:solidFill>
                  <a:srgbClr val="FF0000"/>
                </a:solidFill>
                <a:latin typeface="Arial" panose="020B0604020202020204" pitchFamily="34" charset="0"/>
                <a:cs typeface="Arial" panose="020B0604020202020204" pitchFamily="34" charset="0"/>
              </a:rPr>
              <a:t>Cost effective</a:t>
            </a:r>
          </a:p>
          <a:p>
            <a:pPr marL="0" indent="0" algn="just" eaLnBrk="1" hangingPunct="1">
              <a:buNone/>
            </a:pPr>
            <a:r>
              <a:rPr lang="en-US" sz="2400" b="1" dirty="0">
                <a:latin typeface="Arial" panose="020B0604020202020204" pitchFamily="34" charset="0"/>
                <a:cs typeface="Arial" panose="020B0604020202020204" pitchFamily="34" charset="0"/>
              </a:rPr>
              <a:t>Speed</a:t>
            </a:r>
          </a:p>
          <a:p>
            <a:pPr marL="0" indent="0" algn="just" eaLnBrk="1" hangingPunct="1">
              <a:buNone/>
            </a:pPr>
            <a:r>
              <a:rPr lang="en-US" sz="2400" b="1" dirty="0">
                <a:solidFill>
                  <a:schemeClr val="accent1"/>
                </a:solidFill>
                <a:latin typeface="Arial" panose="020B0604020202020204" pitchFamily="34" charset="0"/>
                <a:cs typeface="Arial" panose="020B0604020202020204" pitchFamily="34" charset="0"/>
              </a:rPr>
              <a:t>Security</a:t>
            </a:r>
          </a:p>
          <a:p>
            <a:pPr marL="0" indent="0" algn="just" eaLnBrk="1" hangingPunct="1">
              <a:buNone/>
            </a:pPr>
            <a:endParaRPr lang="en-US" sz="2400" b="1" dirty="0">
              <a:latin typeface="Arial" panose="020B0604020202020204" pitchFamily="34" charset="0"/>
              <a:cs typeface="Arial" panose="020B0604020202020204" pitchFamily="34" charset="0"/>
            </a:endParaRPr>
          </a:p>
        </p:txBody>
      </p:sp>
      <p:pic>
        <p:nvPicPr>
          <p:cNvPr id="10244" name="Picture 4" descr="fig2"/>
          <p:cNvPicPr>
            <a:picLocks noChangeAspect="1" noChangeArrowheads="1"/>
          </p:cNvPicPr>
          <p:nvPr/>
        </p:nvPicPr>
        <p:blipFill>
          <a:blip r:embed="rId2" cstate="print"/>
          <a:srcRect/>
          <a:stretch>
            <a:fillRect/>
          </a:stretch>
        </p:blipFill>
        <p:spPr bwMode="auto">
          <a:xfrm>
            <a:off x="3834581" y="3846439"/>
            <a:ext cx="4907824" cy="2780092"/>
          </a:xfrm>
          <a:prstGeom prst="rect">
            <a:avLst/>
          </a:prstGeom>
          <a:noFill/>
          <a:ln w="9525">
            <a:noFill/>
            <a:miter lim="800000"/>
            <a:headEnd/>
            <a:tailEnd/>
          </a:ln>
        </p:spPr>
      </p:pic>
      <p:sp>
        <p:nvSpPr>
          <p:cNvPr id="3" name="Title 2">
            <a:extLst>
              <a:ext uri="{FF2B5EF4-FFF2-40B4-BE49-F238E27FC236}">
                <a16:creationId xmlns:a16="http://schemas.microsoft.com/office/drawing/2014/main" id="{A87671EA-3D53-F255-2F8B-59E70BEEFDE6}"/>
              </a:ext>
            </a:extLst>
          </p:cNvPr>
          <p:cNvSpPr>
            <a:spLocks noGrp="1"/>
          </p:cNvSpPr>
          <p:nvPr>
            <p:ph type="title"/>
          </p:nvPr>
        </p:nvSpPr>
        <p:spPr>
          <a:xfrm>
            <a:off x="0" y="1"/>
            <a:ext cx="9144000" cy="1115878"/>
          </a:xfrm>
          <a:solidFill>
            <a:srgbClr val="FF0000"/>
          </a:solidFill>
        </p:spPr>
        <p:txBody>
          <a:bodyPr/>
          <a:lstStyle/>
          <a:p>
            <a:pPr algn="ctr"/>
            <a:r>
              <a:rPr lang="en-US" sz="4800" b="1" u="sng" dirty="0">
                <a:solidFill>
                  <a:schemeClr val="bg1"/>
                </a:solidFill>
                <a:latin typeface="Arial" panose="020B0604020202020204" pitchFamily="34" charset="0"/>
                <a:cs typeface="Arial" panose="020B0604020202020204" pitchFamily="34" charset="0"/>
              </a:rPr>
              <a:t>INTRODUCTION</a:t>
            </a:r>
            <a:endParaRPr lang="en-US" b="1" u="sng" dirty="0">
              <a:solidFill>
                <a:schemeClr val="bg1"/>
              </a:solidFill>
              <a:latin typeface="Arial" panose="020B0604020202020204" pitchFamily="34" charset="0"/>
              <a:cs typeface="Arial" panose="020B0604020202020204"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072EB-7D64-7D55-682F-56380DBC2EC5}"/>
            </a:ext>
          </a:extLst>
        </p:cNvPr>
        <p:cNvGrpSpPr/>
        <p:nvPr/>
      </p:nvGrpSpPr>
      <p:grpSpPr>
        <a:xfrm>
          <a:off x="0" y="0"/>
          <a:ext cx="0" cy="0"/>
          <a:chOff x="0" y="0"/>
          <a:chExt cx="0" cy="0"/>
        </a:xfrm>
      </p:grpSpPr>
      <p:sp>
        <p:nvSpPr>
          <p:cNvPr id="10243" name="Rectangle 3">
            <a:extLst>
              <a:ext uri="{FF2B5EF4-FFF2-40B4-BE49-F238E27FC236}">
                <a16:creationId xmlns:a16="http://schemas.microsoft.com/office/drawing/2014/main" id="{0D99F416-2CB4-75E7-A09B-843A4C76D07D}"/>
              </a:ext>
            </a:extLst>
          </p:cNvPr>
          <p:cNvSpPr>
            <a:spLocks noGrp="1" noChangeArrowheads="1"/>
          </p:cNvSpPr>
          <p:nvPr>
            <p:ph idx="1"/>
          </p:nvPr>
        </p:nvSpPr>
        <p:spPr>
          <a:xfrm>
            <a:off x="139054" y="1026606"/>
            <a:ext cx="8865892" cy="5689153"/>
          </a:xfrm>
        </p:spPr>
        <p:txBody>
          <a:bodyPr>
            <a:normAutofit/>
          </a:bodyPr>
          <a:lstStyle/>
          <a:p>
            <a:pPr marL="0" indent="0" algn="just" eaLnBrk="1" hangingPunct="1">
              <a:buNone/>
            </a:pPr>
            <a:r>
              <a:rPr lang="en-US" b="1" u="sng" dirty="0">
                <a:solidFill>
                  <a:srgbClr val="FF0000"/>
                </a:solidFill>
                <a:latin typeface="Arial" panose="020B0604020202020204" pitchFamily="34" charset="0"/>
                <a:cs typeface="Arial" panose="020B0604020202020204" pitchFamily="34" charset="0"/>
              </a:rPr>
              <a:t>CHARACTERISTICS</a:t>
            </a:r>
          </a:p>
          <a:p>
            <a:pPr lvl="1" algn="just"/>
            <a:r>
              <a:rPr lang="en-US" sz="2000" b="1" dirty="0">
                <a:solidFill>
                  <a:schemeClr val="tx1">
                    <a:lumMod val="95000"/>
                    <a:lumOff val="5000"/>
                  </a:schemeClr>
                </a:solidFill>
                <a:latin typeface="Arial" panose="020B0604020202020204" pitchFamily="34" charset="0"/>
                <a:cs typeface="Arial" panose="020B0604020202020204" pitchFamily="34" charset="0"/>
              </a:rPr>
              <a:t>On demand self-service </a:t>
            </a:r>
          </a:p>
          <a:p>
            <a:pPr marL="914400" lvl="2" indent="0" algn="just">
              <a:buNone/>
            </a:pPr>
            <a:r>
              <a:rPr lang="en-US" sz="1800" b="1" dirty="0">
                <a:solidFill>
                  <a:srgbClr val="002060"/>
                </a:solidFill>
                <a:latin typeface="Arial" panose="020B0604020202020204" pitchFamily="34" charset="0"/>
                <a:cs typeface="Arial" panose="020B0604020202020204" pitchFamily="34" charset="0"/>
              </a:rPr>
              <a:t>Users can access computing resources like storage, processing power and application whenever they need them, without requiring human intervention from the service provider.</a:t>
            </a:r>
          </a:p>
          <a:p>
            <a:pPr marL="733425" lvl="2" indent="-285750" algn="just"/>
            <a:r>
              <a:rPr lang="en-US" b="1" dirty="0">
                <a:solidFill>
                  <a:srgbClr val="FF0000"/>
                </a:solidFill>
                <a:latin typeface="Arial" panose="020B0604020202020204" pitchFamily="34" charset="0"/>
                <a:cs typeface="Arial" panose="020B0604020202020204" pitchFamily="34" charset="0"/>
              </a:rPr>
              <a:t>Broad NW access</a:t>
            </a:r>
          </a:p>
          <a:p>
            <a:pPr marL="904875" lvl="3" indent="0" algn="just">
              <a:buNone/>
            </a:pPr>
            <a:r>
              <a:rPr lang="en-US" b="1" dirty="0">
                <a:solidFill>
                  <a:schemeClr val="tx1">
                    <a:lumMod val="95000"/>
                    <a:lumOff val="5000"/>
                  </a:schemeClr>
                </a:solidFill>
                <a:latin typeface="Arial" panose="020B0604020202020204" pitchFamily="34" charset="0"/>
                <a:cs typeface="Arial" panose="020B0604020202020204" pitchFamily="34" charset="0"/>
              </a:rPr>
              <a:t>Cloud servers are accessible over the internet from a wide range of device such as smartphones, tablets, laptops and desktop.</a:t>
            </a:r>
          </a:p>
          <a:p>
            <a:pPr marL="733425" lvl="3" indent="-285750" algn="just"/>
            <a:r>
              <a:rPr lang="en-US" b="1" dirty="0">
                <a:solidFill>
                  <a:srgbClr val="002060"/>
                </a:solidFill>
                <a:latin typeface="Arial" panose="020B0604020202020204" pitchFamily="34" charset="0"/>
                <a:cs typeface="Arial" panose="020B0604020202020204" pitchFamily="34" charset="0"/>
              </a:rPr>
              <a:t>Rapid elasticity</a:t>
            </a:r>
          </a:p>
          <a:p>
            <a:pPr marL="893763" lvl="3" indent="0" algn="just">
              <a:buNone/>
            </a:pPr>
            <a:r>
              <a:rPr lang="en-US" b="1" dirty="0">
                <a:solidFill>
                  <a:srgbClr val="FF0000"/>
                </a:solidFill>
                <a:latin typeface="Arial" panose="020B0604020202020204" pitchFamily="34" charset="0"/>
                <a:cs typeface="Arial" panose="020B0604020202020204" pitchFamily="34" charset="0"/>
              </a:rPr>
              <a:t>	It means that you can quickly and easily increase or decrease the amount of computing resources you use, like storage , memory depends on your needs. This flexibility allows you to handle changes in demand without delay, ensuring that you always have the right amount of resources available.</a:t>
            </a:r>
          </a:p>
          <a:p>
            <a:pPr marL="733425" lvl="3" indent="-285750" algn="just"/>
            <a:r>
              <a:rPr lang="en-US" b="1" dirty="0" err="1">
                <a:solidFill>
                  <a:schemeClr val="tx1">
                    <a:lumMod val="95000"/>
                    <a:lumOff val="5000"/>
                  </a:schemeClr>
                </a:solidFill>
                <a:latin typeface="Arial" panose="020B0604020202020204" pitchFamily="34" charset="0"/>
                <a:cs typeface="Arial" panose="020B0604020202020204" pitchFamily="34" charset="0"/>
              </a:rPr>
              <a:t>Mesured</a:t>
            </a:r>
            <a:r>
              <a:rPr lang="en-US" b="1" dirty="0">
                <a:solidFill>
                  <a:schemeClr val="tx1">
                    <a:lumMod val="95000"/>
                    <a:lumOff val="5000"/>
                  </a:schemeClr>
                </a:solidFill>
                <a:latin typeface="Arial" panose="020B0604020202020204" pitchFamily="34" charset="0"/>
                <a:cs typeface="Arial" panose="020B0604020202020204" pitchFamily="34" charset="0"/>
              </a:rPr>
              <a:t> service</a:t>
            </a:r>
          </a:p>
          <a:p>
            <a:pPr marL="904875" lvl="4" indent="0" algn="just">
              <a:buNone/>
            </a:pPr>
            <a:r>
              <a:rPr lang="en-US" b="1" dirty="0">
                <a:solidFill>
                  <a:srgbClr val="002060"/>
                </a:solidFill>
                <a:latin typeface="Arial" panose="020B0604020202020204" pitchFamily="34" charset="0"/>
                <a:cs typeface="Arial" panose="020B0604020202020204" pitchFamily="34" charset="0"/>
              </a:rPr>
              <a:t>Cloud systems automatically measure and monitor resources usage, allowing for transparent billing and usage tracking. This pay as you go model ensure that user only pay for the resource they actually use.</a:t>
            </a:r>
          </a:p>
        </p:txBody>
      </p:sp>
      <p:sp>
        <p:nvSpPr>
          <p:cNvPr id="3" name="Title 2">
            <a:extLst>
              <a:ext uri="{FF2B5EF4-FFF2-40B4-BE49-F238E27FC236}">
                <a16:creationId xmlns:a16="http://schemas.microsoft.com/office/drawing/2014/main" id="{1F65E16B-7C33-3052-E161-B7889C45FB47}"/>
              </a:ext>
            </a:extLst>
          </p:cNvPr>
          <p:cNvSpPr>
            <a:spLocks noGrp="1"/>
          </p:cNvSpPr>
          <p:nvPr>
            <p:ph type="title"/>
          </p:nvPr>
        </p:nvSpPr>
        <p:spPr>
          <a:xfrm>
            <a:off x="0" y="1"/>
            <a:ext cx="9144000" cy="865238"/>
          </a:xfrm>
          <a:solidFill>
            <a:srgbClr val="FF0000"/>
          </a:solidFill>
        </p:spPr>
        <p:txBody>
          <a:bodyPr/>
          <a:lstStyle/>
          <a:p>
            <a:pPr algn="ctr"/>
            <a:r>
              <a:rPr lang="en-US" sz="4000" b="1" u="sng" dirty="0">
                <a:solidFill>
                  <a:schemeClr val="bg1"/>
                </a:solidFill>
                <a:latin typeface="Arial" panose="020B0604020202020204" pitchFamily="34" charset="0"/>
                <a:cs typeface="Arial" panose="020B0604020202020204" pitchFamily="34" charset="0"/>
              </a:rPr>
              <a:t>CLOUD COMPUTING</a:t>
            </a:r>
            <a:endParaRPr lang="en-US" b="1" u="sng"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49511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4" descr="images"/>
          <p:cNvPicPr>
            <a:picLocks noGrp="1" noChangeAspect="1" noChangeArrowheads="1"/>
          </p:cNvPicPr>
          <p:nvPr>
            <p:ph idx="1"/>
          </p:nvPr>
        </p:nvPicPr>
        <p:blipFill>
          <a:blip r:embed="rId2" cstate="print"/>
          <a:srcRect/>
          <a:stretch>
            <a:fillRect/>
          </a:stretch>
        </p:blipFill>
        <p:spPr>
          <a:xfrm>
            <a:off x="0" y="1580827"/>
            <a:ext cx="8710047" cy="4528411"/>
          </a:xfrm>
          <a:noFill/>
        </p:spPr>
      </p:pic>
      <p:sp>
        <p:nvSpPr>
          <p:cNvPr id="3" name="Title 2">
            <a:extLst>
              <a:ext uri="{FF2B5EF4-FFF2-40B4-BE49-F238E27FC236}">
                <a16:creationId xmlns:a16="http://schemas.microsoft.com/office/drawing/2014/main" id="{D84C2D36-D58E-405F-E3F3-F1B6E6EB783F}"/>
              </a:ext>
            </a:extLst>
          </p:cNvPr>
          <p:cNvSpPr>
            <a:spLocks noGrp="1"/>
          </p:cNvSpPr>
          <p:nvPr>
            <p:ph type="title"/>
          </p:nvPr>
        </p:nvSpPr>
        <p:spPr>
          <a:xfrm>
            <a:off x="0" y="1"/>
            <a:ext cx="9144000" cy="1115878"/>
          </a:xfrm>
          <a:solidFill>
            <a:srgbClr val="FF0000"/>
          </a:solidFill>
        </p:spPr>
        <p:txBody>
          <a:bodyPr/>
          <a:lstStyle/>
          <a:p>
            <a:pPr algn="ctr"/>
            <a:r>
              <a:rPr lang="en-US" sz="4400" b="1" dirty="0">
                <a:solidFill>
                  <a:schemeClr val="bg1"/>
                </a:solidFill>
                <a:latin typeface="Arial" panose="020B0604020202020204" pitchFamily="34" charset="0"/>
                <a:cs typeface="Arial" panose="020B0604020202020204" pitchFamily="34" charset="0"/>
              </a:rPr>
              <a:t>TYPES OF</a:t>
            </a:r>
            <a:r>
              <a:rPr lang="en-US" sz="4400" dirty="0">
                <a:solidFill>
                  <a:schemeClr val="bg1"/>
                </a:solidFill>
                <a:latin typeface="Arial" panose="020B0604020202020204" pitchFamily="34" charset="0"/>
                <a:cs typeface="Arial" panose="020B0604020202020204" pitchFamily="34" charset="0"/>
              </a:rPr>
              <a:t> </a:t>
            </a:r>
            <a:r>
              <a:rPr lang="en-US" sz="4400" b="1" dirty="0">
                <a:solidFill>
                  <a:schemeClr val="bg1"/>
                </a:solidFill>
                <a:latin typeface="Arial" panose="020B0604020202020204" pitchFamily="34" charset="0"/>
                <a:cs typeface="Arial" panose="020B0604020202020204" pitchFamily="34" charset="0"/>
              </a:rPr>
              <a:t>CLOUD COMPUTING</a:t>
            </a:r>
            <a:endParaRPr lang="en-US" dirty="0">
              <a:solidFill>
                <a:schemeClr val="bg1"/>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32935"/>
            <a:ext cx="9144000" cy="1067147"/>
          </a:xfrm>
          <a:solidFill>
            <a:srgbClr val="FF0000"/>
          </a:solidFill>
        </p:spPr>
        <p:txBody>
          <a:bodyPr>
            <a:normAutofit/>
          </a:bodyPr>
          <a:lstStyle/>
          <a:p>
            <a:pPr algn="ctr">
              <a:defRPr/>
            </a:pPr>
            <a:r>
              <a:rPr lang="en-US" sz="4000" b="1" u="sng" dirty="0">
                <a:solidFill>
                  <a:schemeClr val="bg1"/>
                </a:solidFill>
                <a:latin typeface="Arial" panose="020B0604020202020204" pitchFamily="34" charset="0"/>
                <a:cs typeface="Arial" panose="020B0604020202020204" pitchFamily="34" charset="0"/>
              </a:rPr>
              <a:t>PUBLIC CLOUD </a:t>
            </a:r>
          </a:p>
        </p:txBody>
      </p:sp>
      <p:sp>
        <p:nvSpPr>
          <p:cNvPr id="16387" name="Rectangle 3"/>
          <p:cNvSpPr>
            <a:spLocks noGrp="1" noChangeArrowheads="1"/>
          </p:cNvSpPr>
          <p:nvPr>
            <p:ph idx="1"/>
          </p:nvPr>
        </p:nvSpPr>
        <p:spPr>
          <a:xfrm>
            <a:off x="121920" y="1191239"/>
            <a:ext cx="8869680" cy="3429000"/>
          </a:xfrm>
        </p:spPr>
        <p:txBody>
          <a:bodyPr>
            <a:normAutofit/>
          </a:bodyPr>
          <a:lstStyle/>
          <a:p>
            <a:pPr algn="just" eaLnBrk="1" hangingPunct="1">
              <a:lnSpc>
                <a:spcPct val="120000"/>
              </a:lnSpc>
            </a:pPr>
            <a:r>
              <a:rPr lang="en-US" sz="2000" b="1" dirty="0">
                <a:latin typeface="Arial" panose="020B0604020202020204" pitchFamily="34" charset="0"/>
                <a:cs typeface="Arial" panose="020B0604020202020204" pitchFamily="34" charset="0"/>
              </a:rPr>
              <a:t>Made available to the </a:t>
            </a:r>
            <a:r>
              <a:rPr lang="en-US" sz="2000" b="1" dirty="0">
                <a:solidFill>
                  <a:srgbClr val="FF0000"/>
                </a:solidFill>
                <a:latin typeface="Arial" panose="020B0604020202020204" pitchFamily="34" charset="0"/>
                <a:cs typeface="Arial" panose="020B0604020202020204" pitchFamily="34" charset="0"/>
              </a:rPr>
              <a:t>general public</a:t>
            </a:r>
            <a:r>
              <a:rPr lang="en-US" sz="2000" b="1" dirty="0">
                <a:latin typeface="Arial" panose="020B0604020202020204" pitchFamily="34" charset="0"/>
                <a:cs typeface="Arial" panose="020B0604020202020204" pitchFamily="34" charset="0"/>
              </a:rPr>
              <a:t>- service provider </a:t>
            </a:r>
          </a:p>
          <a:p>
            <a:pPr algn="just" eaLnBrk="1" hangingPunct="1">
              <a:lnSpc>
                <a:spcPct val="120000"/>
              </a:lnSpc>
            </a:pPr>
            <a:r>
              <a:rPr lang="en-US" sz="2000" b="1" dirty="0">
                <a:latin typeface="Arial" panose="020B0604020202020204" pitchFamily="34" charset="0"/>
                <a:cs typeface="Arial" panose="020B0604020202020204" pitchFamily="34" charset="0"/>
              </a:rPr>
              <a:t>Microsoft, Google </a:t>
            </a:r>
            <a:r>
              <a:rPr lang="en-US" sz="2000" b="1" dirty="0">
                <a:solidFill>
                  <a:srgbClr val="FF0000"/>
                </a:solidFill>
                <a:latin typeface="Arial" panose="020B0604020202020204" pitchFamily="34" charset="0"/>
                <a:cs typeface="Arial" panose="020B0604020202020204" pitchFamily="34" charset="0"/>
              </a:rPr>
              <a:t>own and operate </a:t>
            </a:r>
            <a:r>
              <a:rPr lang="en-US" sz="2000" b="1" dirty="0">
                <a:latin typeface="Arial" panose="020B0604020202020204" pitchFamily="34" charset="0"/>
                <a:cs typeface="Arial" panose="020B0604020202020204" pitchFamily="34" charset="0"/>
              </a:rPr>
              <a:t>infrastructure</a:t>
            </a:r>
          </a:p>
          <a:p>
            <a:pPr algn="just" eaLnBrk="1" hangingPunct="1">
              <a:lnSpc>
                <a:spcPct val="120000"/>
              </a:lnSpc>
            </a:pPr>
            <a:r>
              <a:rPr lang="en-US" sz="2000" b="1" dirty="0">
                <a:solidFill>
                  <a:srgbClr val="FF0000"/>
                </a:solidFill>
                <a:latin typeface="Arial" panose="020B0604020202020204" pitchFamily="34" charset="0"/>
                <a:cs typeface="Arial" panose="020B0604020202020204" pitchFamily="34" charset="0"/>
              </a:rPr>
              <a:t>No visibility or control </a:t>
            </a:r>
            <a:r>
              <a:rPr lang="en-US" sz="2000" b="1" dirty="0">
                <a:latin typeface="Arial" panose="020B0604020202020204" pitchFamily="34" charset="0"/>
                <a:cs typeface="Arial" panose="020B0604020202020204" pitchFamily="34" charset="0"/>
              </a:rPr>
              <a:t>over the infrastructure</a:t>
            </a:r>
          </a:p>
          <a:p>
            <a:pPr algn="just">
              <a:lnSpc>
                <a:spcPct val="120000"/>
              </a:lnSpc>
            </a:pPr>
            <a:r>
              <a:rPr lang="en-US" sz="2000" b="1" dirty="0">
                <a:latin typeface="Arial" panose="020B0604020202020204" pitchFamily="34" charset="0"/>
                <a:cs typeface="Arial" panose="020B0604020202020204" pitchFamily="34" charset="0"/>
              </a:rPr>
              <a:t>It is a type of cloud computing service where the resources like server storage and application are owned and operated by a third-party provider and are shared with many user over the internet. Providers like google cloud.</a:t>
            </a:r>
          </a:p>
          <a:p>
            <a:pPr marL="0" indent="0" algn="just" eaLnBrk="1" hangingPunct="1">
              <a:lnSpc>
                <a:spcPct val="120000"/>
              </a:lnSpc>
              <a:buNone/>
            </a:pPr>
            <a:endParaRPr lang="en-US" sz="2000" b="1" dirty="0">
              <a:solidFill>
                <a:srgbClr val="FF0000"/>
              </a:solidFill>
              <a:latin typeface="Arial" panose="020B0604020202020204" pitchFamily="34" charset="0"/>
              <a:cs typeface="Arial" panose="020B0604020202020204" pitchFamily="34" charset="0"/>
            </a:endParaRPr>
          </a:p>
        </p:txBody>
      </p:sp>
      <p:pic>
        <p:nvPicPr>
          <p:cNvPr id="16388" name="Picture 4" descr="images"/>
          <p:cNvPicPr>
            <a:picLocks noChangeAspect="1" noChangeArrowheads="1"/>
          </p:cNvPicPr>
          <p:nvPr/>
        </p:nvPicPr>
        <p:blipFill>
          <a:blip r:embed="rId2" cstate="print"/>
          <a:srcRect/>
          <a:stretch>
            <a:fillRect/>
          </a:stretch>
        </p:blipFill>
        <p:spPr bwMode="auto">
          <a:xfrm>
            <a:off x="2207268" y="4620239"/>
            <a:ext cx="5004499" cy="1786329"/>
          </a:xfrm>
          <a:prstGeom prst="rect">
            <a:avLst/>
          </a:prstGeom>
          <a:noFill/>
          <a:ln w="9525">
            <a:noFill/>
            <a:miter lim="800000"/>
            <a:headEnd/>
            <a:tailEnd/>
          </a:ln>
        </p:spPr>
      </p:pic>
      <p:sp>
        <p:nvSpPr>
          <p:cNvPr id="2" name="Right Brace 1"/>
          <p:cNvSpPr/>
          <p:nvPr/>
        </p:nvSpPr>
        <p:spPr>
          <a:xfrm>
            <a:off x="4572001" y="4323178"/>
            <a:ext cx="275035" cy="5941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35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descr="images"/>
          <p:cNvPicPr>
            <a:picLocks noChangeAspect="1" noChangeArrowheads="1"/>
          </p:cNvPicPr>
          <p:nvPr/>
        </p:nvPicPr>
        <p:blipFill>
          <a:blip r:embed="rId2" cstate="print"/>
          <a:srcRect/>
          <a:stretch>
            <a:fillRect/>
          </a:stretch>
        </p:blipFill>
        <p:spPr bwMode="auto">
          <a:xfrm>
            <a:off x="30480" y="960894"/>
            <a:ext cx="9113520" cy="5897106"/>
          </a:xfrm>
          <a:prstGeom prst="rect">
            <a:avLst/>
          </a:prstGeom>
          <a:noFill/>
          <a:ln w="9525">
            <a:noFill/>
            <a:miter lim="800000"/>
            <a:headEnd/>
            <a:tailEnd/>
          </a:ln>
        </p:spPr>
      </p:pic>
      <p:sp>
        <p:nvSpPr>
          <p:cNvPr id="13314" name="Rectangle 2"/>
          <p:cNvSpPr>
            <a:spLocks noGrp="1" noChangeArrowheads="1"/>
          </p:cNvSpPr>
          <p:nvPr>
            <p:ph type="title"/>
          </p:nvPr>
        </p:nvSpPr>
        <p:spPr>
          <a:xfrm>
            <a:off x="0" y="-1"/>
            <a:ext cx="9144000" cy="960895"/>
          </a:xfrm>
          <a:solidFill>
            <a:srgbClr val="FF0000"/>
          </a:solidFill>
        </p:spPr>
        <p:txBody>
          <a:bodyPr>
            <a:normAutofit/>
          </a:bodyPr>
          <a:lstStyle/>
          <a:p>
            <a:pPr algn="ctr">
              <a:defRPr/>
            </a:pPr>
            <a:r>
              <a:rPr lang="en-US" sz="4000" b="1" u="sng" dirty="0">
                <a:solidFill>
                  <a:schemeClr val="bg1"/>
                </a:solidFill>
                <a:latin typeface="Arial" panose="020B0604020202020204" pitchFamily="34" charset="0"/>
                <a:cs typeface="Arial" panose="020B0604020202020204" pitchFamily="34" charset="0"/>
              </a:rPr>
              <a:t>PRIVATE CLOUD</a:t>
            </a:r>
            <a:r>
              <a:rPr lang="en-US" sz="4000" u="sng" dirty="0">
                <a:solidFill>
                  <a:schemeClr val="bg1"/>
                </a:solidFill>
                <a:latin typeface="Arial" panose="020B0604020202020204" pitchFamily="34" charset="0"/>
                <a:cs typeface="Arial" panose="020B0604020202020204" pitchFamily="34" charset="0"/>
              </a:rPr>
              <a:t> </a:t>
            </a:r>
          </a:p>
        </p:txBody>
      </p:sp>
      <p:sp>
        <p:nvSpPr>
          <p:cNvPr id="17411" name="Rectangle 3"/>
          <p:cNvSpPr>
            <a:spLocks noGrp="1" noChangeArrowheads="1"/>
          </p:cNvSpPr>
          <p:nvPr>
            <p:ph idx="1"/>
          </p:nvPr>
        </p:nvSpPr>
        <p:spPr>
          <a:xfrm>
            <a:off x="111760" y="960894"/>
            <a:ext cx="8950960" cy="3657600"/>
          </a:xfrm>
        </p:spPr>
        <p:txBody>
          <a:bodyPr/>
          <a:lstStyle/>
          <a:p>
            <a:pPr algn="just" eaLnBrk="1" hangingPunct="1">
              <a:lnSpc>
                <a:spcPct val="100000"/>
              </a:lnSpc>
            </a:pPr>
            <a:r>
              <a:rPr lang="en-US" dirty="0">
                <a:latin typeface="Arial" panose="020B0604020202020204" pitchFamily="34" charset="0"/>
                <a:cs typeface="Arial" panose="020B0604020202020204" pitchFamily="34" charset="0"/>
              </a:rPr>
              <a:t>Infrastructure </a:t>
            </a:r>
            <a:r>
              <a:rPr lang="en-US" dirty="0">
                <a:solidFill>
                  <a:srgbClr val="FF0000"/>
                </a:solidFill>
                <a:latin typeface="Arial" panose="020B0604020202020204" pitchFamily="34" charset="0"/>
                <a:cs typeface="Arial" panose="020B0604020202020204" pitchFamily="34" charset="0"/>
              </a:rPr>
              <a:t>dedicated</a:t>
            </a:r>
            <a:r>
              <a:rPr lang="en-US" dirty="0">
                <a:latin typeface="Arial" panose="020B0604020202020204" pitchFamily="34" charset="0"/>
                <a:cs typeface="Arial" panose="020B0604020202020204" pitchFamily="34" charset="0"/>
              </a:rPr>
              <a:t> to a particular </a:t>
            </a:r>
            <a:r>
              <a:rPr lang="en-US" dirty="0">
                <a:solidFill>
                  <a:srgbClr val="FF0000"/>
                </a:solidFill>
                <a:latin typeface="Arial" panose="020B0604020202020204" pitchFamily="34" charset="0"/>
                <a:cs typeface="Arial" panose="020B0604020202020204" pitchFamily="34" charset="0"/>
              </a:rPr>
              <a:t>organization</a:t>
            </a:r>
            <a:r>
              <a:rPr lang="en-US" dirty="0">
                <a:latin typeface="Arial" panose="020B0604020202020204" pitchFamily="34" charset="0"/>
                <a:cs typeface="Arial" panose="020B0604020202020204" pitchFamily="34" charset="0"/>
              </a:rPr>
              <a:t>.</a:t>
            </a:r>
          </a:p>
          <a:p>
            <a:pPr algn="just" eaLnBrk="1" hangingPunct="1">
              <a:lnSpc>
                <a:spcPct val="100000"/>
              </a:lnSpc>
            </a:pPr>
            <a:r>
              <a:rPr lang="en-US" dirty="0">
                <a:latin typeface="Arial" panose="020B0604020202020204" pitchFamily="34" charset="0"/>
                <a:cs typeface="Arial" panose="020B0604020202020204" pitchFamily="34" charset="0"/>
              </a:rPr>
              <a:t>Ensures better </a:t>
            </a:r>
            <a:r>
              <a:rPr lang="en-US" dirty="0">
                <a:solidFill>
                  <a:srgbClr val="FF0000"/>
                </a:solidFill>
                <a:latin typeface="Arial" panose="020B0604020202020204" pitchFamily="34" charset="0"/>
                <a:cs typeface="Arial" panose="020B0604020202020204" pitchFamily="34" charset="0"/>
              </a:rPr>
              <a:t>security</a:t>
            </a:r>
            <a:r>
              <a:rPr lang="en-US" dirty="0">
                <a:latin typeface="Arial" panose="020B0604020202020204" pitchFamily="34" charset="0"/>
                <a:cs typeface="Arial" panose="020B0604020202020204" pitchFamily="34" charset="0"/>
              </a:rPr>
              <a:t> and </a:t>
            </a:r>
            <a:r>
              <a:rPr lang="en-US" dirty="0">
                <a:solidFill>
                  <a:srgbClr val="FF0000"/>
                </a:solidFill>
                <a:latin typeface="Arial" panose="020B0604020202020204" pitchFamily="34" charset="0"/>
                <a:cs typeface="Arial" panose="020B0604020202020204" pitchFamily="34" charset="0"/>
              </a:rPr>
              <a:t>control.</a:t>
            </a:r>
          </a:p>
          <a:p>
            <a:pPr algn="just" eaLnBrk="1" hangingPunct="1">
              <a:lnSpc>
                <a:spcPct val="100000"/>
              </a:lnSpc>
            </a:pPr>
            <a:r>
              <a:rPr lang="en-US" dirty="0">
                <a:solidFill>
                  <a:schemeClr val="tx1">
                    <a:lumMod val="95000"/>
                    <a:lumOff val="5000"/>
                  </a:schemeClr>
                </a:solidFill>
                <a:latin typeface="Arial" panose="020B0604020202020204" pitchFamily="34" charset="0"/>
                <a:cs typeface="Arial" panose="020B0604020202020204" pitchFamily="34" charset="0"/>
              </a:rPr>
              <a:t>Service that is used exclusively by one organization unlike a public cloud, where resources are shared with many users a private cloud is dedicated to a </a:t>
            </a:r>
            <a:r>
              <a:rPr lang="en-US" dirty="0">
                <a:solidFill>
                  <a:srgbClr val="FF0000"/>
                </a:solidFill>
                <a:latin typeface="Arial" panose="020B0604020202020204" pitchFamily="34" charset="0"/>
                <a:cs typeface="Arial" panose="020B0604020202020204" pitchFamily="34" charset="0"/>
              </a:rPr>
              <a:t>single user or company </a:t>
            </a:r>
            <a:r>
              <a:rPr lang="en-US" dirty="0">
                <a:solidFill>
                  <a:schemeClr val="tx1">
                    <a:lumMod val="95000"/>
                    <a:lumOff val="5000"/>
                  </a:schemeClr>
                </a:solidFill>
                <a:latin typeface="Arial" panose="020B0604020202020204" pitchFamily="34" charset="0"/>
                <a:cs typeface="Arial" panose="020B0604020202020204" pitchFamily="34" charset="0"/>
              </a:rPr>
              <a:t>offering more control, security and privacy.</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153821" y="1199009"/>
            <a:ext cx="8847939" cy="4907151"/>
          </a:xfrm>
        </p:spPr>
        <p:txBody>
          <a:bodyPr>
            <a:noAutofit/>
          </a:bodyPr>
          <a:lstStyle/>
          <a:p>
            <a:pPr marL="205740" indent="-205740">
              <a:lnSpc>
                <a:spcPct val="150000"/>
              </a:lnSpc>
              <a:buFont typeface="Wingdings"/>
              <a:buChar char=""/>
              <a:defRPr/>
            </a:pPr>
            <a:r>
              <a:rPr lang="en-US" sz="2000" b="1" dirty="0">
                <a:latin typeface="Arial" panose="020B0604020202020204" pitchFamily="34" charset="0"/>
                <a:cs typeface="Arial" panose="020B0604020202020204" pitchFamily="34" charset="0"/>
              </a:rPr>
              <a:t> Composition of </a:t>
            </a:r>
            <a:r>
              <a:rPr lang="en-US" sz="2000" b="1" dirty="0">
                <a:solidFill>
                  <a:srgbClr val="FF0000"/>
                </a:solidFill>
                <a:latin typeface="Arial" panose="020B0604020202020204" pitchFamily="34" charset="0"/>
                <a:cs typeface="Arial" panose="020B0604020202020204" pitchFamily="34" charset="0"/>
              </a:rPr>
              <a:t>two or more </a:t>
            </a:r>
            <a:r>
              <a:rPr lang="en-US" sz="2000" b="1" dirty="0">
                <a:latin typeface="Arial" panose="020B0604020202020204" pitchFamily="34" charset="0"/>
                <a:cs typeface="Arial" panose="020B0604020202020204" pitchFamily="34" charset="0"/>
              </a:rPr>
              <a:t>clouds. </a:t>
            </a:r>
          </a:p>
          <a:p>
            <a:pPr marL="203597" lvl="1" indent="-203597">
              <a:lnSpc>
                <a:spcPct val="150000"/>
              </a:lnSpc>
              <a:buFont typeface="Wingdings"/>
              <a:buChar char=""/>
              <a:defRPr/>
            </a:pP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Enviornments</a:t>
            </a:r>
            <a:r>
              <a:rPr lang="en-US" sz="2000" b="1" dirty="0">
                <a:latin typeface="Arial" panose="020B0604020202020204" pitchFamily="34" charset="0"/>
                <a:cs typeface="Arial" panose="020B0604020202020204" pitchFamily="34" charset="0"/>
              </a:rPr>
              <a:t> that mix at least one private cloud and one public cloud are called hybrid. They allow you to </a:t>
            </a:r>
            <a:r>
              <a:rPr lang="en-US" sz="2000" b="1" dirty="0">
                <a:solidFill>
                  <a:srgbClr val="FF0000"/>
                </a:solidFill>
                <a:latin typeface="Arial" panose="020B0604020202020204" pitchFamily="34" charset="0"/>
                <a:cs typeface="Arial" panose="020B0604020202020204" pitchFamily="34" charset="0"/>
              </a:rPr>
              <a:t>leverage the resources and services </a:t>
            </a:r>
            <a:r>
              <a:rPr lang="en-US" sz="2000" b="1" dirty="0">
                <a:latin typeface="Arial" panose="020B0604020202020204" pitchFamily="34" charset="0"/>
                <a:cs typeface="Arial" panose="020B0604020202020204" pitchFamily="34" charset="0"/>
              </a:rPr>
              <a:t>from different computing environments and choose which is the most optional for the workloads.</a:t>
            </a:r>
          </a:p>
          <a:p>
            <a:pPr marL="0" indent="0">
              <a:lnSpc>
                <a:spcPct val="150000"/>
              </a:lnSpc>
              <a:buNone/>
              <a:defRPr/>
            </a:pPr>
            <a:r>
              <a:rPr lang="en-US" sz="2000" b="1" dirty="0">
                <a:latin typeface="Arial" panose="020B0604020202020204" pitchFamily="34" charset="0"/>
                <a:cs typeface="Arial" panose="020B0604020202020204" pitchFamily="34" charset="0"/>
              </a:rPr>
              <a:t> </a:t>
            </a:r>
          </a:p>
        </p:txBody>
      </p:sp>
      <p:sp>
        <p:nvSpPr>
          <p:cNvPr id="3" name="Title 2">
            <a:extLst>
              <a:ext uri="{FF2B5EF4-FFF2-40B4-BE49-F238E27FC236}">
                <a16:creationId xmlns:a16="http://schemas.microsoft.com/office/drawing/2014/main" id="{8AE4FDDA-D1A4-7E77-4B5B-ADEB9860D432}"/>
              </a:ext>
            </a:extLst>
          </p:cNvPr>
          <p:cNvSpPr>
            <a:spLocks noGrp="1"/>
          </p:cNvSpPr>
          <p:nvPr>
            <p:ph type="title"/>
          </p:nvPr>
        </p:nvSpPr>
        <p:spPr>
          <a:xfrm>
            <a:off x="0" y="0"/>
            <a:ext cx="9144000" cy="991891"/>
          </a:xfrm>
          <a:solidFill>
            <a:srgbClr val="FF0000"/>
          </a:solidFill>
        </p:spPr>
        <p:txBody>
          <a:bodyPr>
            <a:normAutofit/>
          </a:bodyPr>
          <a:lstStyle/>
          <a:p>
            <a:pPr algn="ctr"/>
            <a:r>
              <a:rPr lang="en-US" sz="4000" b="1" u="sng" dirty="0">
                <a:solidFill>
                  <a:schemeClr val="bg1"/>
                </a:solidFill>
                <a:latin typeface="Arial" panose="020B0604020202020204" pitchFamily="34" charset="0"/>
                <a:cs typeface="Arial" panose="020B0604020202020204" pitchFamily="34" charset="0"/>
              </a:rPr>
              <a:t>HYBRID CLOUD</a:t>
            </a:r>
            <a:endParaRPr lang="en-US" sz="4000" u="sng" dirty="0">
              <a:solidFill>
                <a:schemeClr val="bg1"/>
              </a:solidFill>
              <a:latin typeface="Arial" panose="020B0604020202020204" pitchFamily="34" charset="0"/>
              <a:cs typeface="Arial" panose="020B0604020202020204" pitchFamily="3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174841" y="1771650"/>
            <a:ext cx="6086475" cy="3829050"/>
          </a:xfrm>
        </p:spPr>
        <p:txBody>
          <a:bodyPr>
            <a:normAutofit/>
          </a:bodyPr>
          <a:lstStyle/>
          <a:p>
            <a:pPr marL="0" indent="0" algn="just" eaLnBrk="1" hangingPunct="1">
              <a:lnSpc>
                <a:spcPct val="80000"/>
              </a:lnSpc>
              <a:buNone/>
            </a:pPr>
            <a:endParaRPr lang="en-US" sz="1650" b="1" dirty="0">
              <a:latin typeface="Comic Sans MS" panose="030F0702030302020204" pitchFamily="66" charset="0"/>
              <a:cs typeface="Arial" panose="020B0604020202020204" pitchFamily="34" charset="0"/>
            </a:endParaRPr>
          </a:p>
          <a:p>
            <a:pPr algn="just" eaLnBrk="1" hangingPunct="1">
              <a:lnSpc>
                <a:spcPct val="80000"/>
              </a:lnSpc>
            </a:pPr>
            <a:endParaRPr lang="en-US" sz="1650" b="1" dirty="0">
              <a:solidFill>
                <a:srgbClr val="FF0000"/>
              </a:solidFill>
              <a:latin typeface="Comic Sans MS" panose="030F0702030302020204" pitchFamily="66" charset="0"/>
              <a:cs typeface="Arial" panose="020B0604020202020204" pitchFamily="34" charset="0"/>
            </a:endParaRPr>
          </a:p>
          <a:p>
            <a:pPr algn="just" eaLnBrk="1" hangingPunct="1">
              <a:lnSpc>
                <a:spcPct val="80000"/>
              </a:lnSpc>
            </a:pPr>
            <a:endParaRPr lang="en-US" sz="1650" b="1" dirty="0">
              <a:latin typeface="Comic Sans MS" panose="030F0702030302020204" pitchFamily="66" charset="0"/>
              <a:cs typeface="Arial" panose="020B0604020202020204" pitchFamily="34" charset="0"/>
            </a:endParaRPr>
          </a:p>
        </p:txBody>
      </p:sp>
      <p:sp>
        <p:nvSpPr>
          <p:cNvPr id="6" name="Rectangle 2"/>
          <p:cNvSpPr txBox="1">
            <a:spLocks noChangeArrowheads="1"/>
          </p:cNvSpPr>
          <p:nvPr/>
        </p:nvSpPr>
        <p:spPr>
          <a:xfrm>
            <a:off x="0" y="0"/>
            <a:ext cx="9144000" cy="1069383"/>
          </a:xfrm>
          <a:prstGeom prst="rect">
            <a:avLst/>
          </a:prstGeom>
          <a:solidFill>
            <a:srgbClr val="FF0000"/>
          </a:solidFill>
        </p:spPr>
        <p:txBody>
          <a:bodyPr vert="horz" anchor="ctr">
            <a:normAutofit/>
          </a:bodyPr>
          <a:lst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eaLnBrk="1" fontAlgn="auto" hangingPunct="1">
              <a:spcAft>
                <a:spcPts val="0"/>
              </a:spcAft>
              <a:defRPr/>
            </a:pPr>
            <a:r>
              <a:rPr lang="en-US" sz="2400" b="1" u="sng" dirty="0">
                <a:solidFill>
                  <a:schemeClr val="bg1"/>
                </a:solidFill>
                <a:latin typeface="Arial" panose="020B0604020202020204" pitchFamily="34" charset="0"/>
                <a:cs typeface="Arial" panose="020B0604020202020204" pitchFamily="34" charset="0"/>
              </a:rPr>
              <a:t>TYPES/ SERVICES OF CLOUD COMPUTING</a:t>
            </a:r>
            <a:endParaRPr lang="en-US" sz="2400" b="1" u="sng" dirty="0">
              <a:solidFill>
                <a:srgbClr val="FF0000"/>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E2BB9343-F22E-EF38-1D12-192A569CB285}"/>
              </a:ext>
            </a:extLst>
          </p:cNvPr>
          <p:cNvSpPr txBox="1"/>
          <p:nvPr/>
        </p:nvSpPr>
        <p:spPr>
          <a:xfrm>
            <a:off x="174841" y="1239520"/>
            <a:ext cx="8794318" cy="5078313"/>
          </a:xfrm>
          <a:prstGeom prst="rect">
            <a:avLst/>
          </a:prstGeom>
          <a:noFill/>
        </p:spPr>
        <p:txBody>
          <a:bodyPr wrap="square" rtlCol="0">
            <a:spAutoFit/>
          </a:bodyPr>
          <a:lstStyle/>
          <a:p>
            <a:r>
              <a:rPr lang="en-US" b="1" u="sng" dirty="0">
                <a:solidFill>
                  <a:srgbClr val="FF0000"/>
                </a:solidFill>
                <a:latin typeface="Arial" panose="020B0604020202020204" pitchFamily="34" charset="0"/>
                <a:cs typeface="Arial" panose="020B0604020202020204" pitchFamily="34" charset="0"/>
              </a:rPr>
              <a:t>SaaS (Software as a service) </a:t>
            </a:r>
            <a:endParaRPr lang="en-US" b="1" dirty="0">
              <a:solidFill>
                <a:srgbClr val="FF0000"/>
              </a:solidFill>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it is way to deliver software over the internet. Instead of buying and installing software on your computer, you can access and use it online through a web browser. </a:t>
            </a:r>
            <a:r>
              <a:rPr lang="en-IN" dirty="0" err="1">
                <a:latin typeface="Arial" panose="020B0604020202020204" pitchFamily="34" charset="0"/>
                <a:cs typeface="Arial" panose="020B0604020202020204" pitchFamily="34" charset="0"/>
              </a:rPr>
              <a:t>Eg</a:t>
            </a:r>
            <a:r>
              <a:rPr lang="en-IN" dirty="0">
                <a:latin typeface="Arial" panose="020B0604020202020204" pitchFamily="34" charset="0"/>
                <a:cs typeface="Arial" panose="020B0604020202020204" pitchFamily="34" charset="0"/>
              </a:rPr>
              <a:t>: email server like Gmail don’t worry about installing updates or maintaining the software. </a:t>
            </a:r>
          </a:p>
          <a:p>
            <a:endParaRPr lang="en-IN" dirty="0">
              <a:latin typeface="Arial" panose="020B0604020202020204" pitchFamily="34" charset="0"/>
              <a:cs typeface="Arial" panose="020B0604020202020204" pitchFamily="34" charset="0"/>
            </a:endParaRPr>
          </a:p>
          <a:p>
            <a:r>
              <a:rPr lang="en-IN" b="1" u="sng" dirty="0">
                <a:latin typeface="Arial" panose="020B0604020202020204" pitchFamily="34" charset="0"/>
                <a:cs typeface="Arial" panose="020B0604020202020204" pitchFamily="34" charset="0"/>
              </a:rPr>
              <a:t>PaaS (Platform as a service)</a:t>
            </a:r>
          </a:p>
          <a:p>
            <a:r>
              <a:rPr lang="en-IN" b="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it is cloud service that provides a platform for developers to build deploy and manage application over the internet. It includes everything needed for development such as server, storage and database along with tools and frameworks to create software example of PaaS google apps.</a:t>
            </a:r>
          </a:p>
          <a:p>
            <a:endParaRPr lang="en-IN" b="1" dirty="0">
              <a:latin typeface="Arial" panose="020B0604020202020204" pitchFamily="34" charset="0"/>
              <a:cs typeface="Arial" panose="020B0604020202020204" pitchFamily="34" charset="0"/>
            </a:endParaRPr>
          </a:p>
          <a:p>
            <a:r>
              <a:rPr lang="en-IN" b="1" u="sng" dirty="0">
                <a:solidFill>
                  <a:srgbClr val="002060"/>
                </a:solidFill>
                <a:latin typeface="Arial" panose="020B0604020202020204" pitchFamily="34" charset="0"/>
                <a:cs typeface="Arial" panose="020B0604020202020204" pitchFamily="34" charset="0"/>
              </a:rPr>
              <a:t>IaaS (Infrastructure as a service)</a:t>
            </a:r>
          </a:p>
          <a:p>
            <a:r>
              <a:rPr lang="en-IN" b="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it is a cloud service that provides virtualized computing resource over the internet. It offers fundamental computing information like servers, storage and networking on a pay as you go. Instead of buying and managing physical hardware, you rent these resources from cloud providers and scale them up or down as needed. </a:t>
            </a:r>
            <a:r>
              <a:rPr lang="en-IN" dirty="0" err="1">
                <a:latin typeface="Arial" panose="020B0604020202020204" pitchFamily="34" charset="0"/>
                <a:cs typeface="Arial" panose="020B0604020202020204" pitchFamily="34" charset="0"/>
              </a:rPr>
              <a:t>Eg</a:t>
            </a:r>
            <a:r>
              <a:rPr lang="en-IN" dirty="0">
                <a:latin typeface="Arial" panose="020B0604020202020204" pitchFamily="34" charset="0"/>
                <a:cs typeface="Arial" panose="020B0604020202020204" pitchFamily="34" charset="0"/>
              </a:rPr>
              <a:t>: of IaaS include Amazon web server.</a:t>
            </a:r>
            <a:endParaRPr lang="en-IN" b="1" dirty="0">
              <a:latin typeface="Arial" panose="020B0604020202020204" pitchFamily="34" charset="0"/>
              <a:cs typeface="Arial" panose="020B0604020202020204" pitchFamily="34" charset="0"/>
            </a:endParaRPr>
          </a:p>
        </p:txBody>
      </p:sp>
    </p:spTree>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143</TotalTime>
  <Words>590</Words>
  <Application>Microsoft Office PowerPoint</Application>
  <PresentationFormat>On-screen Show (4:3)</PresentationFormat>
  <Paragraphs>47</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Comic Sans MS</vt:lpstr>
      <vt:lpstr>Wingdings</vt:lpstr>
      <vt:lpstr>Office Theme</vt:lpstr>
      <vt:lpstr>PowerPoint Presentation</vt:lpstr>
      <vt:lpstr>PowerPoint Presentation</vt:lpstr>
      <vt:lpstr>INTRODUCTION</vt:lpstr>
      <vt:lpstr>CLOUD COMPUTING</vt:lpstr>
      <vt:lpstr>TYPES OF CLOUD COMPUTING</vt:lpstr>
      <vt:lpstr>PUBLIC CLOUD </vt:lpstr>
      <vt:lpstr>PRIVATE CLOUD </vt:lpstr>
      <vt:lpstr>HYBRID CLOUD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c:creator>
  <cp:lastModifiedBy>Sanny Kuniyal</cp:lastModifiedBy>
  <cp:revision>17</cp:revision>
  <dcterms:created xsi:type="dcterms:W3CDTF">2024-11-06T06:03:00Z</dcterms:created>
  <dcterms:modified xsi:type="dcterms:W3CDTF">2025-08-23T06:28:44Z</dcterms:modified>
</cp:coreProperties>
</file>