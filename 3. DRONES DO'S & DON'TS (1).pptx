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0"/>
  </p:notesMasterIdLst>
  <p:sldIdLst>
    <p:sldId id="256" r:id="rId2"/>
    <p:sldId id="273" r:id="rId3"/>
    <p:sldId id="463" r:id="rId4"/>
    <p:sldId id="257" r:id="rId5"/>
    <p:sldId id="444" r:id="rId6"/>
    <p:sldId id="453" r:id="rId7"/>
    <p:sldId id="445" r:id="rId8"/>
    <p:sldId id="448" r:id="rId9"/>
    <p:sldId id="454" r:id="rId10"/>
    <p:sldId id="449" r:id="rId11"/>
    <p:sldId id="452" r:id="rId12"/>
    <p:sldId id="455" r:id="rId13"/>
    <p:sldId id="458" r:id="rId14"/>
    <p:sldId id="457" r:id="rId15"/>
    <p:sldId id="459" r:id="rId16"/>
    <p:sldId id="456" r:id="rId17"/>
    <p:sldId id="462" r:id="rId18"/>
    <p:sldId id="358" r:id="rId19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D00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5" autoAdjust="0"/>
    <p:restoredTop sz="92336" autoAdjust="0"/>
  </p:normalViewPr>
  <p:slideViewPr>
    <p:cSldViewPr>
      <p:cViewPr varScale="1">
        <p:scale>
          <a:sx n="64" d="100"/>
          <a:sy n="64" d="100"/>
        </p:scale>
        <p:origin x="660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35F4DB1-685A-43A7-85E9-9BBFE53262F6}" type="datetimeFigureOut">
              <a:rPr lang="en-IN"/>
              <a:pPr>
                <a:defRPr/>
              </a:pPr>
              <a:t>26-05-2024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IN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7F416D7-0A59-4B3C-8662-E4E765044CED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5823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416D7-0A59-4B3C-8662-E4E765044CED}" type="slidenum">
              <a:rPr lang="en-IN" smtClean="0"/>
              <a:pPr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1E6267-F68B-4C45-85D5-51272B3CAEA0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0F4033-58D3-4EE9-BD23-08BC4B09C9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58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3BB7A72-8569-4464-97EC-96E03C2C062C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A4BB9-DFB5-4B33-BE9A-4275098D3DC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236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B4EFAC-9E68-4DC1-81CD-50A3AF2372D8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F7637-CC80-4278-9D5D-CDD6F0CF1AA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3869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E67A260-5612-42C1-9F8C-615176CE5E1C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715B22-13AF-4668-A6D1-2B696FC6238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75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9FD6FCB-DB48-4657-988B-F036553359DD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FF4BFC-42FF-4BF5-84D7-29E5E35EFB1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785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FB4A7D6-ED28-4C2E-B111-5F92AA42B534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1A467-19C3-4CAD-A182-DA9F3D672FA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646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06E276-BAFF-462A-9797-5A1D5EDDE15F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D96F2-CE90-42DD-B800-975848CB7A2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53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7C94B2-E116-49E7-8C51-259AFD1BAC12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74FAF-03EF-4E4A-8631-62A470762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187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F7BB0D-BA06-48A3-9A92-2FA3F4A04FF9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D3E00C-E884-48CA-B9C2-6841D5D5F0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69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B6A9285-3818-429B-AA3F-60C520B550EC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F1C4F4-3533-4393-9FD5-C2147B50A95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19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F37B7DA-C94A-4797-934C-4A0D5D4D531D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6D72-9094-43D0-BB6A-84DB727FE4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BE3AEC0-2824-4700-9E36-826901326C05}" type="datetimeFigureOut">
              <a:rPr lang="en-US" smtClean="0"/>
              <a:pPr>
                <a:defRPr/>
              </a:pPr>
              <a:t>5/26/2024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B5FA9-04C2-4670-A7F8-8CA9CEA238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1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itle 1"/>
          <p:cNvSpPr txBox="1">
            <a:spLocks/>
          </p:cNvSpPr>
          <p:nvPr/>
        </p:nvSpPr>
        <p:spPr bwMode="auto">
          <a:xfrm>
            <a:off x="0" y="5181600"/>
            <a:ext cx="9144000" cy="1676400"/>
          </a:xfrm>
          <a:prstGeom prst="rect">
            <a:avLst/>
          </a:prstGeom>
          <a:solidFill>
            <a:srgbClr val="FF0000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DRONE  KE NIYAM</a:t>
            </a:r>
          </a:p>
          <a:p>
            <a:pPr algn="ctr" eaLnBrk="1" hangingPunct="1"/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&amp; </a:t>
            </a:r>
          </a:p>
          <a:p>
            <a:pPr algn="ctr" eaLnBrk="1" hangingPunct="1"/>
            <a:r>
              <a:rPr lang="en-US" sz="3200" b="1" u="sng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DO’S &amp; DON’TS</a:t>
            </a:r>
            <a:endParaRPr lang="en-US" sz="3200" b="1" u="sng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6498" name="Picture 2" descr="C:\Users\user\Desktop\DRONES PICS\images (3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143999" cy="518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9" name="Group 10"/>
          <p:cNvGrpSpPr>
            <a:grpSpLocks/>
          </p:cNvGrpSpPr>
          <p:nvPr/>
        </p:nvGrpSpPr>
        <p:grpSpPr bwMode="auto">
          <a:xfrm>
            <a:off x="0" y="2743200"/>
            <a:ext cx="9144000" cy="914400"/>
            <a:chOff x="0" y="91440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914400"/>
              <a:ext cx="9144000" cy="9144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>
                  <a:solidFill>
                    <a:srgbClr val="FFFF00"/>
                  </a:solidFill>
                  <a:latin typeface="Arial" charset="0"/>
                  <a:ea typeface="+mj-ea"/>
                  <a:cs typeface="Arial" charset="0"/>
                </a:rPr>
                <a:t>INTRODUCTION</a:t>
              </a:r>
            </a:p>
          </p:txBody>
        </p:sp>
        <p:grpSp>
          <p:nvGrpSpPr>
            <p:cNvPr id="4101" name="Group 10"/>
            <p:cNvGrpSpPr>
              <a:grpSpLocks/>
            </p:cNvGrpSpPr>
            <p:nvPr/>
          </p:nvGrpSpPr>
          <p:grpSpPr bwMode="auto">
            <a:xfrm>
              <a:off x="83342" y="1066800"/>
              <a:ext cx="9019383" cy="620713"/>
              <a:chOff x="83342" y="152400"/>
              <a:chExt cx="9019383" cy="620713"/>
            </a:xfrm>
          </p:grpSpPr>
          <p:pic>
            <p:nvPicPr>
              <p:cNvPr id="4102" name="Picture 2" descr="C:\Users\abc\Desktop\RED copy.jpg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t="18520" b="20869"/>
              <a:stretch>
                <a:fillRect/>
              </a:stretch>
            </p:blipFill>
            <p:spPr bwMode="auto">
              <a:xfrm>
                <a:off x="8416905" y="152400"/>
                <a:ext cx="685820" cy="620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4103" name="Picture 7" descr="Triple Fists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83342" y="152400"/>
                <a:ext cx="678658" cy="6186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ChangeArrowheads="1"/>
          </p:cNvSpPr>
          <p:nvPr/>
        </p:nvSpPr>
        <p:spPr bwMode="auto">
          <a:xfrm>
            <a:off x="0" y="0"/>
            <a:ext cx="9144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en-US" sz="4000" b="1" u="sng">
                <a:latin typeface="Arial Rounded MT Bold" pitchFamily="34" charset="0"/>
                <a:ea typeface="Calibri" pitchFamily="34" charset="0"/>
                <a:cs typeface="Arial" charset="0"/>
              </a:rPr>
              <a:t>AIM</a:t>
            </a:r>
            <a:endParaRPr lang="en-US" sz="4000">
              <a:latin typeface="Arial Rounded MT Bold" pitchFamily="34" charset="0"/>
              <a:ea typeface="Calibri" pitchFamily="34" charset="0"/>
              <a:cs typeface="Arial" charset="0"/>
            </a:endParaRPr>
          </a:p>
        </p:txBody>
      </p:sp>
      <p:sp>
        <p:nvSpPr>
          <p:cNvPr id="5123" name="Rectangle 2"/>
          <p:cNvSpPr>
            <a:spLocks noChangeArrowheads="1"/>
          </p:cNvSpPr>
          <p:nvPr/>
        </p:nvSpPr>
        <p:spPr bwMode="auto">
          <a:xfrm>
            <a:off x="0" y="1905000"/>
            <a:ext cx="9144000" cy="2193677"/>
          </a:xfrm>
          <a:prstGeom prst="rect">
            <a:avLst/>
          </a:prstGeom>
          <a:solidFill>
            <a:srgbClr val="FFFFFF">
              <a:alpha val="50195"/>
            </a:srgb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63550" indent="-463550" algn="just"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PHASE I 	- RULES</a:t>
            </a:r>
          </a:p>
          <a:p>
            <a:pPr marL="463550" indent="-463550" algn="just" eaLnBrk="1" hangingPunct="1">
              <a:lnSpc>
                <a:spcPct val="200000"/>
              </a:lnSpc>
              <a:buFont typeface="Wingdings" pitchFamily="2" charset="2"/>
              <a:buChar char="Ø"/>
            </a:pPr>
            <a:r>
              <a:rPr lang="en-IN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PHASE II	- 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DO’S &amp; DON’TS</a:t>
            </a:r>
          </a:p>
          <a:p>
            <a:pPr marL="463550" indent="-463550" algn="just" eaLnBrk="1" hangingPunct="1">
              <a:lnSpc>
                <a:spcPct val="200000"/>
              </a:lnSpc>
            </a:pPr>
            <a:endParaRPr lang="en-IN" sz="24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0" y="0"/>
            <a:ext cx="9144000" cy="914400"/>
            <a:chOff x="0" y="91440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914400"/>
              <a:ext cx="9144000" cy="9144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charset="0"/>
                  <a:ea typeface="+mj-ea"/>
                  <a:cs typeface="Arial" charset="0"/>
                </a:rPr>
                <a:t>SCOPE</a:t>
              </a:r>
              <a:endParaRPr lang="en-US" sz="3200" b="1" u="sng" kern="0" dirty="0">
                <a:solidFill>
                  <a:srgbClr val="FFFF00"/>
                </a:solidFill>
                <a:latin typeface="Arial" charset="0"/>
                <a:ea typeface="+mj-ea"/>
                <a:cs typeface="Arial" charset="0"/>
              </a:endParaRPr>
            </a:p>
          </p:txBody>
        </p:sp>
        <p:grpSp>
          <p:nvGrpSpPr>
            <p:cNvPr id="3" name="Group 10"/>
            <p:cNvGrpSpPr>
              <a:grpSpLocks/>
            </p:cNvGrpSpPr>
            <p:nvPr/>
          </p:nvGrpSpPr>
          <p:grpSpPr bwMode="auto">
            <a:xfrm>
              <a:off x="83342" y="1066800"/>
              <a:ext cx="9019383" cy="620713"/>
              <a:chOff x="83342" y="152400"/>
              <a:chExt cx="9019383" cy="620713"/>
            </a:xfrm>
          </p:grpSpPr>
          <p:pic>
            <p:nvPicPr>
              <p:cNvPr id="5127" name="Picture 2" descr="C:\Users\abc\Desktop\RED copy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18520" b="20869"/>
              <a:stretch>
                <a:fillRect/>
              </a:stretch>
            </p:blipFill>
            <p:spPr bwMode="auto">
              <a:xfrm>
                <a:off x="8416905" y="152400"/>
                <a:ext cx="685820" cy="620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128" name="Picture 7" descr="Triple Fists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3342" y="152400"/>
                <a:ext cx="678658" cy="6186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4" name="Group 10"/>
          <p:cNvGrpSpPr>
            <a:grpSpLocks/>
          </p:cNvGrpSpPr>
          <p:nvPr/>
        </p:nvGrpSpPr>
        <p:grpSpPr bwMode="auto">
          <a:xfrm>
            <a:off x="0" y="2286000"/>
            <a:ext cx="9144000" cy="1219200"/>
            <a:chOff x="0" y="91440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914400"/>
              <a:ext cx="9144000" cy="914400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rgbClr val="FFFF00"/>
              </a:solidFill>
              <a:miter lim="800000"/>
              <a:headEnd/>
              <a:tailEnd/>
            </a:ln>
            <a:effectLst/>
          </p:spPr>
          <p:txBody>
            <a:bodyPr anchor="ctr"/>
            <a:lstStyle/>
            <a:p>
              <a:pPr marL="463550" indent="-463550" algn="ctr" eaLnBrk="1" hangingPunct="1">
                <a:lnSpc>
                  <a:spcPct val="200000"/>
                </a:lnSpc>
              </a:pPr>
              <a:r>
                <a:rPr lang="en-IN" sz="3200" b="1" u="sng" dirty="0" smtClean="0">
                  <a:solidFill>
                    <a:srgbClr val="FFFF00"/>
                  </a:solidFill>
                  <a:latin typeface="Arial" pitchFamily="34" charset="0"/>
                  <a:cs typeface="Arial" pitchFamily="34" charset="0"/>
                </a:rPr>
                <a:t>PHASE I - RULES</a:t>
              </a:r>
              <a:endParaRPr lang="en-IN" sz="3200" b="1" dirty="0" smtClean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grpSp>
          <p:nvGrpSpPr>
            <p:cNvPr id="5126" name="Group 10"/>
            <p:cNvGrpSpPr>
              <a:grpSpLocks/>
            </p:cNvGrpSpPr>
            <p:nvPr/>
          </p:nvGrpSpPr>
          <p:grpSpPr bwMode="auto">
            <a:xfrm>
              <a:off x="83342" y="1066800"/>
              <a:ext cx="9019383" cy="620713"/>
              <a:chOff x="83342" y="152400"/>
              <a:chExt cx="9019383" cy="620713"/>
            </a:xfrm>
          </p:grpSpPr>
          <p:pic>
            <p:nvPicPr>
              <p:cNvPr id="5127" name="Picture 2" descr="C:\Users\abc\Desktop\RED copy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 t="18520" b="20869"/>
              <a:stretch>
                <a:fillRect/>
              </a:stretch>
            </p:blipFill>
            <p:spPr bwMode="auto">
              <a:xfrm>
                <a:off x="8416905" y="152400"/>
                <a:ext cx="685820" cy="6207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5128" name="Picture 7" descr="Triple Fists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83342" y="152400"/>
                <a:ext cx="678658" cy="6186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DGCA RULES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Content Placeholder 1"/>
          <p:cNvSpPr txBox="1">
            <a:spLocks/>
          </p:cNvSpPr>
          <p:nvPr/>
        </p:nvSpPr>
        <p:spPr>
          <a:xfrm>
            <a:off x="0" y="1219200"/>
            <a:ext cx="9102725" cy="231598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Unmanned Aerial System (UAS) Rules, notified in Mar 2021</a:t>
            </a:r>
          </a:p>
          <a:p>
            <a:pPr lvl="0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Aim:</a:t>
            </a:r>
            <a:endParaRPr lang="en-US" sz="2400" b="1" u="sng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150000"/>
              </a:lnSpc>
              <a:buNone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Digital sky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platfrom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me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kam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manav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interface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64008" indent="0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 smtClean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18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PRAVDHAN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Content Placeholder 1"/>
          <p:cNvSpPr txBox="1">
            <a:spLocks/>
          </p:cNvSpPr>
          <p:nvPr/>
        </p:nvSpPr>
        <p:spPr>
          <a:xfrm>
            <a:off x="20638" y="808219"/>
            <a:ext cx="9102725" cy="604978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4813" indent="-40481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b="1" u="sng" kern="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PRAVDHAN</a:t>
            </a:r>
            <a:endParaRPr lang="en-US" sz="24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Fee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kam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kam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level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gataya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jaye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Iska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size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sath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sambandh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nahi</a:t>
            </a:r>
          </a:p>
          <a:p>
            <a:pPr lvl="1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Bibhin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Approval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avashkta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samapt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Anurupta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praman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patra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rakh-rakhav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ka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praman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patra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certificate of maintenance,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majauda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aayat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manjuri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, operator permit,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authorisation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of R&amp;D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organisation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and student remote pilot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licence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88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PRAVDHAN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Content Placeholder 1"/>
          <p:cNvSpPr txBox="1">
            <a:spLocks/>
          </p:cNvSpPr>
          <p:nvPr/>
        </p:nvSpPr>
        <p:spPr>
          <a:xfrm>
            <a:off x="20638" y="808219"/>
            <a:ext cx="9102725" cy="604978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4813" indent="-404813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DIGITAL SKY PLATFORM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digital sky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platfrom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viksit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raha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jismein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interactive airspace map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desh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green, yellow 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red area zone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bantega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Yeh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surakshit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scalable platform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pradan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karega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technology frameworks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samarthan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karta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jaise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anumati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nahi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,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take off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nahi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) </a:t>
            </a:r>
          </a:p>
          <a:p>
            <a:pPr lvl="1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Jatayat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kushalta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purvak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udaan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anumati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digital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rup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saksham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design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gaya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lvl="1" algn="just">
              <a:lnSpc>
                <a:spcPct val="200000"/>
              </a:lnSpc>
              <a:buFont typeface="Wingdings" pitchFamily="2" charset="2"/>
              <a:buChar char="ü"/>
            </a:pPr>
            <a:endParaRPr lang="en-US" sz="22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888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KEY PTS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Content Placeholder 1"/>
          <p:cNvSpPr txBox="1">
            <a:spLocks/>
          </p:cNvSpPr>
          <p:nvPr/>
        </p:nvSpPr>
        <p:spPr>
          <a:xfrm>
            <a:off x="20638" y="808219"/>
            <a:ext cx="9102725" cy="490678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Reduced Airport </a:t>
            </a:r>
            <a:r>
              <a:rPr lang="en-US" sz="24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Perimeter</a:t>
            </a:r>
            <a:r>
              <a:rPr lang="en-US" sz="24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 </a:t>
            </a:r>
            <a:endParaRPr lang="en-US" sz="2400" b="1" dirty="0" smtClean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marL="914400" lvl="1" indent="-566738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Majauda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niyamo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ne airport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dairya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45 km 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ghata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12 km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diya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.</a:t>
            </a:r>
            <a:endParaRPr lang="en-US" sz="24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914400" lvl="1" indent="-566738" algn="just">
              <a:lnSpc>
                <a:spcPct val="150000"/>
              </a:lnSpc>
              <a:buFont typeface="Wingdings" pitchFamily="2" charset="2"/>
              <a:buChar char="ü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Niyam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bataya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gaya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green zone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400 feet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airport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perimeter 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8 se 12 km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bich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aera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200 fit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bahrne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anumati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jarurat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nahi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hogi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..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1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KEY PTS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Content Placeholder 1"/>
          <p:cNvSpPr txBox="1">
            <a:spLocks/>
          </p:cNvSpPr>
          <p:nvPr/>
        </p:nvSpPr>
        <p:spPr>
          <a:xfrm>
            <a:off x="20638" y="0"/>
            <a:ext cx="9102725" cy="4678181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 algn="just">
              <a:lnSpc>
                <a:spcPct val="200000"/>
              </a:lnSpc>
              <a:buNone/>
            </a:pP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  <a:p>
            <a:pPr lvl="0" algn="just"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4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Pilot License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1203325" lvl="1" indent="-746125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Non commercial use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micro drone,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Naino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R&amp;D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organisation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kisi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pilot license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jarurat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nahi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hogi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.</a:t>
            </a:r>
            <a:endParaRPr lang="en-US" sz="2400" b="1" dirty="0">
              <a:solidFill>
                <a:srgbClr val="0000FF"/>
              </a:solidFill>
              <a:latin typeface="Arial" pitchFamily="34" charset="0"/>
              <a:cs typeface="Arial" pitchFamily="34" charset="0"/>
            </a:endParaRPr>
          </a:p>
          <a:p>
            <a:pPr marL="1203325" lvl="1" indent="-746125" algn="just">
              <a:lnSpc>
                <a:spcPct val="200000"/>
              </a:lnSpc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Bharat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registered company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dwara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sanchalan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per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pratibandh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nahi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hoga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.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1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KEY PTS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" name="Content Placeholder 1"/>
          <p:cNvSpPr txBox="1">
            <a:spLocks/>
          </p:cNvSpPr>
          <p:nvPr/>
        </p:nvSpPr>
        <p:spPr>
          <a:xfrm>
            <a:off x="41275" y="838200"/>
            <a:ext cx="9102725" cy="60198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buFont typeface="Wingdings" pitchFamily="2" charset="2"/>
              <a:buChar char="Ø"/>
            </a:pPr>
            <a:r>
              <a:rPr lang="en-US" sz="24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Drone </a:t>
            </a:r>
            <a:r>
              <a:rPr lang="en-US" sz="2400" b="1" u="sng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Corridor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 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Defense department delivery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corridor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vikas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suvidha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bhi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dega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business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anukul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suvidha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ek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promotion council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sthapana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jayegi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.</a:t>
            </a:r>
          </a:p>
          <a:p>
            <a:pPr marL="0" lvl="0" indent="0"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lvl="0" algn="just">
              <a:buFont typeface="Wingdings" pitchFamily="2" charset="2"/>
              <a:buChar char="Ø"/>
            </a:pPr>
            <a:r>
              <a:rPr lang="en-US" sz="2400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Safety </a:t>
            </a:r>
            <a:r>
              <a:rPr lang="en-US" sz="2400" b="1" u="sng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Features</a:t>
            </a:r>
            <a:r>
              <a:rPr lang="en-US" sz="2400" b="1" u="sng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  <a:r>
              <a:rPr lang="en-US" sz="2400" b="1" dirty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 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Majauda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niyam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real time tracking beacon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je0-fencing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jaisi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suraksha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ka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pravdhan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jinhe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future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notified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kiye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jane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ummid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anupalan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liye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6 month ka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samay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diya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jayega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0" lvl="0" indent="0"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  <a:p>
            <a:pPr lvl="0" algn="just">
              <a:buFont typeface="Wingdings" pitchFamily="2" charset="2"/>
              <a:buChar char="Ø"/>
            </a:pPr>
            <a:r>
              <a:rPr lang="en-US" sz="2400" b="1" u="sng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Increased Coverage of Drones</a:t>
            </a:r>
            <a:r>
              <a:rPr lang="en-US" sz="2400" b="1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: 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Coverage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300 kg 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badhakar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500 kg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diya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gya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taxis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cover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karega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jabki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yogata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praman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patra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jari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karne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ka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kaam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quality council of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india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iske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dwara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authorised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pramapan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sansthayon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diya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gya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181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0" name="Group 6"/>
          <p:cNvGrpSpPr>
            <a:grpSpLocks/>
          </p:cNvGrpSpPr>
          <p:nvPr/>
        </p:nvGrpSpPr>
        <p:grpSpPr bwMode="auto">
          <a:xfrm>
            <a:off x="3110" y="2590800"/>
            <a:ext cx="9144000" cy="12192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PHASE II - DO’S &amp; DON’TS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2042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DO’S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0" y="762000"/>
            <a:ext cx="914400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Sunischit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aap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ka Drone (50 feet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uncontrolled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hawai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khestra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naino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chhodkar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) digital  sky no permission</a:t>
            </a:r>
            <a:r>
              <a:rPr lang="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–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take off 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anurup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Control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hawai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khestra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( ATC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siwayein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sakriya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sanchalan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lie DGCA 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vishisht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pahchan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sankhya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(UIN)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prapat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apne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dronepar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lagayen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Commercial operation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liyere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DGCA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lagu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hone par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Unmaned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aircraft operator permit (UAOP)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prapat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sambhal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rakhen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DO’S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0" y="762000"/>
            <a:ext cx="91440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1 Dec 2018 se DGCA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website par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ublabdh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digital sky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plateform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madhyam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pretek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pahle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anumati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prapat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Hastkshep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par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nazar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rakhen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mobile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upkarnon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ya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sanketon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avrodh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se ho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sakta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Kewal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din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ujale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dauran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(sunrise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baad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sun set 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pahle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)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bharen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Achchhe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mausam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bhare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Achchha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mausam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aapko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kewal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apne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behtar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tarike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udhane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deta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balki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hawa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bhi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iska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track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rakhta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 smtClean="0">
              <a:latin typeface="Arial" pitchFamily="34" charset="0"/>
              <a:cs typeface="Arial" pitchFamily="34" charset="0"/>
            </a:endParaRP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DO’S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0" y="76200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Fly in visual line of sight (VLOS).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Hawai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khestra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pabandhiyon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/Drone zone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nahi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hone 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avgat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rahen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logon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privacy ka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samman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Apne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gatividhi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bare local police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suchit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Agar police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aapse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sampark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karti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to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usko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paryapat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jaankari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pradan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Apni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login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kisi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ghatna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durghatna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bare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sambandhit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adhikariyon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jaise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DGCA , Local police)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suchit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DO’S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0" y="762000"/>
            <a:ext cx="9144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Fly in visual line of sight (VLOS).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Hawai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khestra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pabandhiyon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/Drone zone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nahi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hone 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avgat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rahen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logon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privacy ka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samman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Apne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gatividhi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bare local police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suchit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Agar police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aapse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sampark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karti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to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usko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paryapat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jaankari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pradan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Apni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login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kisi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ghatna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/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durghatna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bare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sambandhit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adhikariyon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jaise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DGCA , Local police)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suchit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karen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cs typeface="Arial" pitchFamily="34" charset="0"/>
                </a:rPr>
                <a:t>DON’TS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0" y="762001"/>
            <a:ext cx="9144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Nano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jamini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level se 50 feet 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upar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Jamini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level se 200 feet se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upar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micro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ko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Jamini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level se 400 feet 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adhik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uchai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par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Other aircraft (Manned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Unmaaned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paas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No fly zone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Airport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aur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  heliports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paas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762000"/>
            <a:chOff x="0" y="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cs typeface="Arial" pitchFamily="34" charset="0"/>
                </a:rPr>
                <a:t>DON’TS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37543" y="152400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15240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7" name="TextBox 6"/>
          <p:cNvSpPr txBox="1"/>
          <p:nvPr/>
        </p:nvSpPr>
        <p:spPr>
          <a:xfrm>
            <a:off x="0" y="762001"/>
            <a:ext cx="9144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Logon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gp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public place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ya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stadium par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bina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anumati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Govt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facility/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Sainik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bases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paas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Jab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tak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anumati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di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jaye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niji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sampati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par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 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yojana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dakhil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keye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bina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airport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pass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Heavy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saman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drone se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lekar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jaye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hi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girayen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Nashe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ki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halat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mein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drone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udhayen</a:t>
            </a:r>
            <a:r>
              <a:rPr lang="en-US" sz="2400" b="1" dirty="0" smtClean="0">
                <a:solidFill>
                  <a:srgbClr val="0000FF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Chalte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veh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, Ship and aircraft se drone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na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 err="1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udhyen</a:t>
            </a:r>
            <a:r>
              <a:rPr lang="en-US" sz="2400" b="1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682625" indent="-509588" algn="just">
              <a:lnSpc>
                <a:spcPct val="150000"/>
              </a:lnSpc>
              <a:buFont typeface="Wingdings" pitchFamily="2" charset="2"/>
              <a:buChar char="Ø"/>
            </a:pPr>
            <a:endParaRPr lang="en-US" sz="24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20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-3544" y="3106869"/>
            <a:ext cx="9144000" cy="762000"/>
            <a:chOff x="0" y="-304800"/>
            <a:chExt cx="9144000" cy="914400"/>
          </a:xfrm>
        </p:grpSpPr>
        <p:sp>
          <p:nvSpPr>
            <p:cNvPr id="5" name="Title 1"/>
            <p:cNvSpPr txBox="1">
              <a:spLocks/>
            </p:cNvSpPr>
            <p:nvPr/>
          </p:nvSpPr>
          <p:spPr bwMode="auto">
            <a:xfrm>
              <a:off x="0" y="-304800"/>
              <a:ext cx="9144000" cy="9144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3200" b="1" u="sng" kern="0" dirty="0" smtClean="0">
                  <a:solidFill>
                    <a:srgbClr val="FFFF00"/>
                  </a:solidFill>
                  <a:latin typeface="Arial" pitchFamily="34" charset="0"/>
                  <a:ea typeface="+mj-ea"/>
                  <a:cs typeface="Arial" pitchFamily="34" charset="0"/>
                </a:rPr>
                <a:t>JAI HIND</a:t>
              </a:r>
              <a:endParaRPr lang="en-US" sz="3200" b="1" u="sng" kern="0" dirty="0">
                <a:solidFill>
                  <a:srgbClr val="FFFF00"/>
                </a:solidFill>
                <a:latin typeface="Arial" pitchFamily="34" charset="0"/>
                <a:ea typeface="+mj-ea"/>
                <a:cs typeface="Arial" pitchFamily="34" charset="0"/>
              </a:endParaRPr>
            </a:p>
          </p:txBody>
        </p:sp>
        <p:pic>
          <p:nvPicPr>
            <p:cNvPr id="7177" name="Picture 2" descr="C:\Users\abc\Desktop\RED copy.jpg"/>
            <p:cNvPicPr>
              <a:picLocks noChangeAspect="1" noChangeArrowheads="1"/>
            </p:cNvPicPr>
            <p:nvPr/>
          </p:nvPicPr>
          <p:blipFill>
            <a:blip r:embed="rId2" cstate="print"/>
            <a:srcRect t="18520" b="20869"/>
            <a:stretch>
              <a:fillRect/>
            </a:stretch>
          </p:blipFill>
          <p:spPr bwMode="auto">
            <a:xfrm>
              <a:off x="8413976" y="-77227"/>
              <a:ext cx="685820" cy="6207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178" name="Picture 6" descr="Triple Fists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0638" y="-9080"/>
              <a:ext cx="678658" cy="6186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NAME" val="E:\TCCC\TCCC - 46\Amnd Class Tccc\Drone Class Tccc 45\DRONE CAPSULE AUTO WG\3. DRONES DO'S &amp; DON'TS.pptx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8740</TotalTime>
  <Words>716</Words>
  <Application>Microsoft Office PowerPoint</Application>
  <PresentationFormat>On-screen Show (4:3)</PresentationFormat>
  <Paragraphs>79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Rounded MT Bold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rohit</dc:creator>
  <cp:lastModifiedBy>SAWTCCCWGCLK</cp:lastModifiedBy>
  <cp:revision>445</cp:revision>
  <dcterms:created xsi:type="dcterms:W3CDTF">2006-08-16T00:00:00Z</dcterms:created>
  <dcterms:modified xsi:type="dcterms:W3CDTF">2024-05-26T07:23:20Z</dcterms:modified>
</cp:coreProperties>
</file>