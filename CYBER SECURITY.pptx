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2"/>
  </p:notesMasterIdLst>
  <p:sldIdLst>
    <p:sldId id="308" r:id="rId2"/>
    <p:sldId id="358" r:id="rId3"/>
    <p:sldId id="258" r:id="rId4"/>
    <p:sldId id="458" r:id="rId5"/>
    <p:sldId id="459" r:id="rId6"/>
    <p:sldId id="460" r:id="rId7"/>
    <p:sldId id="359" r:id="rId8"/>
    <p:sldId id="461" r:id="rId9"/>
    <p:sldId id="360" r:id="rId10"/>
    <p:sldId id="361" r:id="rId11"/>
    <p:sldId id="363" r:id="rId12"/>
    <p:sldId id="462" r:id="rId13"/>
    <p:sldId id="364" r:id="rId14"/>
    <p:sldId id="365" r:id="rId15"/>
    <p:sldId id="463" r:id="rId16"/>
    <p:sldId id="366" r:id="rId17"/>
    <p:sldId id="367" r:id="rId18"/>
    <p:sldId id="368" r:id="rId19"/>
    <p:sldId id="369" r:id="rId20"/>
    <p:sldId id="370" r:id="rId21"/>
    <p:sldId id="464" r:id="rId22"/>
    <p:sldId id="371" r:id="rId23"/>
    <p:sldId id="372" r:id="rId24"/>
    <p:sldId id="465" r:id="rId25"/>
    <p:sldId id="373" r:id="rId26"/>
    <p:sldId id="466" r:id="rId27"/>
    <p:sldId id="374" r:id="rId28"/>
    <p:sldId id="467" r:id="rId29"/>
    <p:sldId id="375" r:id="rId30"/>
    <p:sldId id="468" r:id="rId31"/>
    <p:sldId id="376" r:id="rId32"/>
    <p:sldId id="469" r:id="rId33"/>
    <p:sldId id="377" r:id="rId34"/>
    <p:sldId id="378" r:id="rId35"/>
    <p:sldId id="379" r:id="rId36"/>
    <p:sldId id="380" r:id="rId37"/>
    <p:sldId id="381" r:id="rId38"/>
    <p:sldId id="382" r:id="rId39"/>
    <p:sldId id="383" r:id="rId40"/>
    <p:sldId id="384" r:id="rId41"/>
    <p:sldId id="385" r:id="rId42"/>
    <p:sldId id="386" r:id="rId43"/>
    <p:sldId id="387" r:id="rId44"/>
    <p:sldId id="388" r:id="rId45"/>
    <p:sldId id="389" r:id="rId46"/>
    <p:sldId id="390" r:id="rId47"/>
    <p:sldId id="391" r:id="rId48"/>
    <p:sldId id="392" r:id="rId49"/>
    <p:sldId id="393" r:id="rId50"/>
    <p:sldId id="394" r:id="rId51"/>
    <p:sldId id="395" r:id="rId52"/>
    <p:sldId id="470" r:id="rId53"/>
    <p:sldId id="396" r:id="rId54"/>
    <p:sldId id="397" r:id="rId55"/>
    <p:sldId id="398" r:id="rId56"/>
    <p:sldId id="399" r:id="rId57"/>
    <p:sldId id="400" r:id="rId58"/>
    <p:sldId id="471" r:id="rId59"/>
    <p:sldId id="401" r:id="rId60"/>
    <p:sldId id="402" r:id="rId61"/>
    <p:sldId id="403" r:id="rId62"/>
    <p:sldId id="404" r:id="rId63"/>
    <p:sldId id="472" r:id="rId64"/>
    <p:sldId id="405" r:id="rId65"/>
    <p:sldId id="406" r:id="rId66"/>
    <p:sldId id="407" r:id="rId67"/>
    <p:sldId id="408" r:id="rId68"/>
    <p:sldId id="409" r:id="rId69"/>
    <p:sldId id="410" r:id="rId70"/>
    <p:sldId id="411" r:id="rId71"/>
    <p:sldId id="474" r:id="rId72"/>
    <p:sldId id="473" r:id="rId73"/>
    <p:sldId id="412" r:id="rId74"/>
    <p:sldId id="475" r:id="rId75"/>
    <p:sldId id="414" r:id="rId76"/>
    <p:sldId id="415" r:id="rId77"/>
    <p:sldId id="416" r:id="rId78"/>
    <p:sldId id="417" r:id="rId79"/>
    <p:sldId id="418" r:id="rId80"/>
    <p:sldId id="419" r:id="rId81"/>
    <p:sldId id="420" r:id="rId82"/>
    <p:sldId id="421" r:id="rId83"/>
    <p:sldId id="422" r:id="rId84"/>
    <p:sldId id="423" r:id="rId85"/>
    <p:sldId id="424" r:id="rId86"/>
    <p:sldId id="425" r:id="rId87"/>
    <p:sldId id="426" r:id="rId88"/>
    <p:sldId id="427" r:id="rId89"/>
    <p:sldId id="428" r:id="rId90"/>
    <p:sldId id="429" r:id="rId91"/>
    <p:sldId id="430" r:id="rId92"/>
    <p:sldId id="431" r:id="rId93"/>
    <p:sldId id="432" r:id="rId94"/>
    <p:sldId id="433" r:id="rId95"/>
    <p:sldId id="434" r:id="rId96"/>
    <p:sldId id="435" r:id="rId97"/>
    <p:sldId id="436" r:id="rId98"/>
    <p:sldId id="437" r:id="rId99"/>
    <p:sldId id="438" r:id="rId100"/>
    <p:sldId id="439" r:id="rId101"/>
    <p:sldId id="440" r:id="rId102"/>
    <p:sldId id="441" r:id="rId103"/>
    <p:sldId id="442" r:id="rId104"/>
    <p:sldId id="443" r:id="rId105"/>
    <p:sldId id="444" r:id="rId106"/>
    <p:sldId id="445" r:id="rId107"/>
    <p:sldId id="446" r:id="rId108"/>
    <p:sldId id="447" r:id="rId109"/>
    <p:sldId id="448" r:id="rId110"/>
    <p:sldId id="449" r:id="rId111"/>
    <p:sldId id="450" r:id="rId112"/>
    <p:sldId id="451" r:id="rId113"/>
    <p:sldId id="452" r:id="rId114"/>
    <p:sldId id="453" r:id="rId115"/>
    <p:sldId id="454" r:id="rId116"/>
    <p:sldId id="457" r:id="rId117"/>
    <p:sldId id="455" r:id="rId118"/>
    <p:sldId id="476" r:id="rId119"/>
    <p:sldId id="477" r:id="rId120"/>
    <p:sldId id="479" r:id="rId1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06" autoAdjust="0"/>
  </p:normalViewPr>
  <p:slideViewPr>
    <p:cSldViewPr snapToGrid="0">
      <p:cViewPr varScale="1">
        <p:scale>
          <a:sx n="74" d="100"/>
          <a:sy n="74" d="100"/>
        </p:scale>
        <p:origin x="1085" y="72"/>
      </p:cViewPr>
      <p:guideLst/>
    </p:cSldViewPr>
  </p:slideViewPr>
  <p:notesTextViewPr>
    <p:cViewPr>
      <p:scale>
        <a:sx n="1" d="1"/>
        <a:sy n="1" d="1"/>
      </p:scale>
      <p:origin x="0" y="0"/>
    </p:cViewPr>
  </p:notesTextViewPr>
  <p:sorterViewPr>
    <p:cViewPr>
      <p:scale>
        <a:sx n="100" d="100"/>
        <a:sy n="100" d="100"/>
      </p:scale>
      <p:origin x="0" y="-3195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4_1#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2F27D6-BE94-45F6-9724-A898FEBE24B7}" type="doc">
      <dgm:prSet loTypeId="urn:microsoft.com/office/officeart/2005/8/layout/process1" loCatId="process" qsTypeId="urn:microsoft.com/office/officeart/2005/8/quickstyle/simple1#1" qsCatId="simple" csTypeId="urn:microsoft.com/office/officeart/2005/8/colors/accent4_1#1" csCatId="accent4" phldr="1"/>
      <dgm:spPr/>
    </dgm:pt>
    <dgm:pt modelId="{603FB178-3526-444C-9E69-7BE3CD1317F3}">
      <dgm:prSet phldrT="[Text]"/>
      <dgm:spPr/>
      <dgm:t>
        <a:bodyPr/>
        <a:lstStyle/>
        <a:p>
          <a:r>
            <a:rPr lang="en-US" dirty="0"/>
            <a:t>2005</a:t>
          </a:r>
          <a:endParaRPr lang="en-IN" dirty="0"/>
        </a:p>
      </dgm:t>
    </dgm:pt>
    <dgm:pt modelId="{150F9E11-D50E-4C3A-98D8-97F3FB802C5D}" type="parTrans" cxnId="{17C9A619-7CA9-46DD-A741-3C02AFEA58F1}">
      <dgm:prSet/>
      <dgm:spPr/>
      <dgm:t>
        <a:bodyPr/>
        <a:lstStyle/>
        <a:p>
          <a:endParaRPr lang="en-IN"/>
        </a:p>
      </dgm:t>
    </dgm:pt>
    <dgm:pt modelId="{B33464CE-0F4A-418D-8045-203E80EA40A2}" type="sibTrans" cxnId="{17C9A619-7CA9-46DD-A741-3C02AFEA58F1}">
      <dgm:prSet/>
      <dgm:spPr/>
      <dgm:t>
        <a:bodyPr/>
        <a:lstStyle/>
        <a:p>
          <a:endParaRPr lang="en-IN"/>
        </a:p>
      </dgm:t>
    </dgm:pt>
    <dgm:pt modelId="{3553C0CB-5ACD-4869-9B6A-43651DE385FF}">
      <dgm:prSet phldrT="[Text]"/>
      <dgm:spPr/>
      <dgm:t>
        <a:bodyPr/>
        <a:lstStyle/>
        <a:p>
          <a:r>
            <a:rPr lang="en-US" dirty="0"/>
            <a:t>2007</a:t>
          </a:r>
          <a:endParaRPr lang="en-IN" dirty="0"/>
        </a:p>
      </dgm:t>
    </dgm:pt>
    <dgm:pt modelId="{28F353C0-E2BB-4AF3-A337-0DD3CBCF8E50}" type="parTrans" cxnId="{A6BF2E44-85D4-4D1D-8B3E-6E5B1CF2664E}">
      <dgm:prSet/>
      <dgm:spPr/>
      <dgm:t>
        <a:bodyPr/>
        <a:lstStyle/>
        <a:p>
          <a:endParaRPr lang="en-IN"/>
        </a:p>
      </dgm:t>
    </dgm:pt>
    <dgm:pt modelId="{B7E84674-862B-4A7B-840A-DF3E4CD5F3C3}" type="sibTrans" cxnId="{A6BF2E44-85D4-4D1D-8B3E-6E5B1CF2664E}">
      <dgm:prSet/>
      <dgm:spPr/>
      <dgm:t>
        <a:bodyPr/>
        <a:lstStyle/>
        <a:p>
          <a:endParaRPr lang="en-IN"/>
        </a:p>
      </dgm:t>
    </dgm:pt>
    <dgm:pt modelId="{796F76AF-2562-4EFD-B45F-6D9588E3D2CC}">
      <dgm:prSet phldrT="[Text]"/>
      <dgm:spPr/>
      <dgm:t>
        <a:bodyPr/>
        <a:lstStyle/>
        <a:p>
          <a:r>
            <a:rPr lang="en-US" dirty="0"/>
            <a:t>2012</a:t>
          </a:r>
          <a:endParaRPr lang="en-IN" dirty="0"/>
        </a:p>
      </dgm:t>
    </dgm:pt>
    <dgm:pt modelId="{F96BDC6C-2E0B-437A-9280-5F73BBA52364}" type="parTrans" cxnId="{671C09F5-C83B-47D3-867A-A17F8A8E8BA0}">
      <dgm:prSet/>
      <dgm:spPr/>
      <dgm:t>
        <a:bodyPr/>
        <a:lstStyle/>
        <a:p>
          <a:endParaRPr lang="en-IN"/>
        </a:p>
      </dgm:t>
    </dgm:pt>
    <dgm:pt modelId="{BBE4DD75-0A55-4BEA-ACF6-103E51A5084F}" type="sibTrans" cxnId="{671C09F5-C83B-47D3-867A-A17F8A8E8BA0}">
      <dgm:prSet/>
      <dgm:spPr/>
      <dgm:t>
        <a:bodyPr/>
        <a:lstStyle/>
        <a:p>
          <a:endParaRPr lang="en-IN"/>
        </a:p>
      </dgm:t>
    </dgm:pt>
    <dgm:pt modelId="{5D7BA284-4E23-4061-8F7E-9D6DC5DEC77C}">
      <dgm:prSet/>
      <dgm:spPr/>
      <dgm:t>
        <a:bodyPr/>
        <a:lstStyle/>
        <a:p>
          <a:r>
            <a:rPr lang="en-US" dirty="0"/>
            <a:t>2014</a:t>
          </a:r>
          <a:endParaRPr lang="en-IN" dirty="0"/>
        </a:p>
      </dgm:t>
    </dgm:pt>
    <dgm:pt modelId="{99DAB77B-7439-46A9-B1C8-AE245CB91B30}" type="parTrans" cxnId="{2370E06C-7FAB-4EB7-A7A9-91540763CF04}">
      <dgm:prSet/>
      <dgm:spPr/>
      <dgm:t>
        <a:bodyPr/>
        <a:lstStyle/>
        <a:p>
          <a:endParaRPr lang="en-IN"/>
        </a:p>
      </dgm:t>
    </dgm:pt>
    <dgm:pt modelId="{09EA40E4-A382-444A-BA1F-E5719867C1FD}" type="sibTrans" cxnId="{2370E06C-7FAB-4EB7-A7A9-91540763CF04}">
      <dgm:prSet/>
      <dgm:spPr/>
      <dgm:t>
        <a:bodyPr/>
        <a:lstStyle/>
        <a:p>
          <a:endParaRPr lang="en-IN"/>
        </a:p>
      </dgm:t>
    </dgm:pt>
    <dgm:pt modelId="{D0C6E85C-03F1-4F0E-B3AE-131453BAC40A}">
      <dgm:prSet/>
      <dgm:spPr/>
      <dgm:t>
        <a:bodyPr/>
        <a:lstStyle/>
        <a:p>
          <a:r>
            <a:rPr lang="en-US" dirty="0"/>
            <a:t>2017</a:t>
          </a:r>
          <a:endParaRPr lang="en-IN" dirty="0"/>
        </a:p>
      </dgm:t>
    </dgm:pt>
    <dgm:pt modelId="{D7A519C3-3647-46DC-B90D-B246454B5AAC}" type="parTrans" cxnId="{4B54BF3A-B320-4896-B876-BCD10ECB35F7}">
      <dgm:prSet/>
      <dgm:spPr/>
      <dgm:t>
        <a:bodyPr/>
        <a:lstStyle/>
        <a:p>
          <a:endParaRPr lang="en-IN"/>
        </a:p>
      </dgm:t>
    </dgm:pt>
    <dgm:pt modelId="{922E360A-D58E-41B5-AD9F-56B548C0AE27}" type="sibTrans" cxnId="{4B54BF3A-B320-4896-B876-BCD10ECB35F7}">
      <dgm:prSet/>
      <dgm:spPr/>
      <dgm:t>
        <a:bodyPr/>
        <a:lstStyle/>
        <a:p>
          <a:endParaRPr lang="en-IN"/>
        </a:p>
      </dgm:t>
    </dgm:pt>
    <dgm:pt modelId="{F55E07C1-C476-48EE-8FDA-0CCC95B39CC7}">
      <dgm:prSet/>
      <dgm:spPr/>
      <dgm:t>
        <a:bodyPr/>
        <a:lstStyle/>
        <a:p>
          <a:r>
            <a:rPr lang="en-US" dirty="0"/>
            <a:t>2023</a:t>
          </a:r>
          <a:endParaRPr lang="en-IN" dirty="0"/>
        </a:p>
      </dgm:t>
    </dgm:pt>
    <dgm:pt modelId="{5CE167DA-5D3A-4666-B94D-5628E4EC7D44}" type="parTrans" cxnId="{D14AF70C-78A2-47EC-A17C-5F0983E799D4}">
      <dgm:prSet/>
      <dgm:spPr/>
      <dgm:t>
        <a:bodyPr/>
        <a:lstStyle/>
        <a:p>
          <a:endParaRPr lang="en-IN"/>
        </a:p>
      </dgm:t>
    </dgm:pt>
    <dgm:pt modelId="{47509063-C29F-4F58-88B0-77F73F4829FC}" type="sibTrans" cxnId="{D14AF70C-78A2-47EC-A17C-5F0983E799D4}">
      <dgm:prSet/>
      <dgm:spPr/>
      <dgm:t>
        <a:bodyPr/>
        <a:lstStyle/>
        <a:p>
          <a:endParaRPr lang="en-IN"/>
        </a:p>
      </dgm:t>
    </dgm:pt>
    <dgm:pt modelId="{39C0C260-6AF4-431B-A27A-D7C3CD6A2489}">
      <dgm:prSet/>
      <dgm:spPr/>
      <dgm:t>
        <a:bodyPr/>
        <a:lstStyle/>
        <a:p>
          <a:r>
            <a:rPr lang="en-US" dirty="0"/>
            <a:t>Genesis</a:t>
          </a:r>
          <a:endParaRPr lang="en-IN" dirty="0"/>
        </a:p>
      </dgm:t>
    </dgm:pt>
    <dgm:pt modelId="{35886FB4-DE4E-43FB-9944-7C55F2FDF010}" type="parTrans" cxnId="{E6F87290-48D9-4E6A-96A6-87DA0AEE8840}">
      <dgm:prSet/>
      <dgm:spPr/>
      <dgm:t>
        <a:bodyPr/>
        <a:lstStyle/>
        <a:p>
          <a:endParaRPr lang="en-IN"/>
        </a:p>
      </dgm:t>
    </dgm:pt>
    <dgm:pt modelId="{065D98DF-80FA-4BEB-B8ED-E9B5DC011E2E}" type="sibTrans" cxnId="{E6F87290-48D9-4E6A-96A6-87DA0AEE8840}">
      <dgm:prSet/>
      <dgm:spPr/>
      <dgm:t>
        <a:bodyPr/>
        <a:lstStyle/>
        <a:p>
          <a:endParaRPr lang="en-IN"/>
        </a:p>
      </dgm:t>
    </dgm:pt>
    <dgm:pt modelId="{A8A94922-7859-4E2A-ACF4-C0EDA54AFF8C}" type="pres">
      <dgm:prSet presAssocID="{902F27D6-BE94-45F6-9724-A898FEBE24B7}" presName="Name0" presStyleCnt="0">
        <dgm:presLayoutVars>
          <dgm:dir/>
          <dgm:resizeHandles val="exact"/>
        </dgm:presLayoutVars>
      </dgm:prSet>
      <dgm:spPr/>
    </dgm:pt>
    <dgm:pt modelId="{2E44BA0F-57D7-41B4-A11E-CE4F47D88E39}" type="pres">
      <dgm:prSet presAssocID="{39C0C260-6AF4-431B-A27A-D7C3CD6A2489}" presName="node" presStyleLbl="node1" presStyleIdx="0" presStyleCnt="7" custScaleX="288848">
        <dgm:presLayoutVars>
          <dgm:bulletEnabled val="1"/>
        </dgm:presLayoutVars>
      </dgm:prSet>
      <dgm:spPr/>
    </dgm:pt>
    <dgm:pt modelId="{287E9B64-3BF7-4611-850B-F0F656D30800}" type="pres">
      <dgm:prSet presAssocID="{065D98DF-80FA-4BEB-B8ED-E9B5DC011E2E}" presName="sibTrans" presStyleLbl="sibTrans2D1" presStyleIdx="0" presStyleCnt="6"/>
      <dgm:spPr/>
    </dgm:pt>
    <dgm:pt modelId="{F74D0A08-185C-4E69-A92A-79E4B60C9B78}" type="pres">
      <dgm:prSet presAssocID="{065D98DF-80FA-4BEB-B8ED-E9B5DC011E2E}" presName="connectorText" presStyleLbl="sibTrans2D1" presStyleIdx="0" presStyleCnt="6"/>
      <dgm:spPr/>
    </dgm:pt>
    <dgm:pt modelId="{DC9EFA12-5A56-4EC2-B72C-96D4475CAEDB}" type="pres">
      <dgm:prSet presAssocID="{603FB178-3526-444C-9E69-7BE3CD1317F3}" presName="node" presStyleLbl="node1" presStyleIdx="1" presStyleCnt="7">
        <dgm:presLayoutVars>
          <dgm:bulletEnabled val="1"/>
        </dgm:presLayoutVars>
      </dgm:prSet>
      <dgm:spPr/>
    </dgm:pt>
    <dgm:pt modelId="{C513F099-AC78-4F6E-B674-5994BE45ACD8}" type="pres">
      <dgm:prSet presAssocID="{B33464CE-0F4A-418D-8045-203E80EA40A2}" presName="sibTrans" presStyleLbl="sibTrans2D1" presStyleIdx="1" presStyleCnt="6"/>
      <dgm:spPr/>
    </dgm:pt>
    <dgm:pt modelId="{8D813655-7437-4F45-BC3F-42C76210D84C}" type="pres">
      <dgm:prSet presAssocID="{B33464CE-0F4A-418D-8045-203E80EA40A2}" presName="connectorText" presStyleLbl="sibTrans2D1" presStyleIdx="1" presStyleCnt="6"/>
      <dgm:spPr/>
    </dgm:pt>
    <dgm:pt modelId="{B517F1B0-5FCE-4245-8FF4-1AD50DF569E2}" type="pres">
      <dgm:prSet presAssocID="{3553C0CB-5ACD-4869-9B6A-43651DE385FF}" presName="node" presStyleLbl="node1" presStyleIdx="2" presStyleCnt="7">
        <dgm:presLayoutVars>
          <dgm:bulletEnabled val="1"/>
        </dgm:presLayoutVars>
      </dgm:prSet>
      <dgm:spPr/>
    </dgm:pt>
    <dgm:pt modelId="{C67782AB-CCB0-42A1-B3F7-0452E82D022B}" type="pres">
      <dgm:prSet presAssocID="{B7E84674-862B-4A7B-840A-DF3E4CD5F3C3}" presName="sibTrans" presStyleLbl="sibTrans2D1" presStyleIdx="2" presStyleCnt="6"/>
      <dgm:spPr/>
    </dgm:pt>
    <dgm:pt modelId="{C2FB27BC-C558-4AFE-AB4A-9765B1852522}" type="pres">
      <dgm:prSet presAssocID="{B7E84674-862B-4A7B-840A-DF3E4CD5F3C3}" presName="connectorText" presStyleLbl="sibTrans2D1" presStyleIdx="2" presStyleCnt="6"/>
      <dgm:spPr/>
    </dgm:pt>
    <dgm:pt modelId="{2AA77962-7C1D-4DA9-94E6-44B8C83E2F62}" type="pres">
      <dgm:prSet presAssocID="{796F76AF-2562-4EFD-B45F-6D9588E3D2CC}" presName="node" presStyleLbl="node1" presStyleIdx="3" presStyleCnt="7">
        <dgm:presLayoutVars>
          <dgm:bulletEnabled val="1"/>
        </dgm:presLayoutVars>
      </dgm:prSet>
      <dgm:spPr/>
    </dgm:pt>
    <dgm:pt modelId="{52BCE3DA-FEBE-423E-B62C-14BA6D39B9A0}" type="pres">
      <dgm:prSet presAssocID="{BBE4DD75-0A55-4BEA-ACF6-103E51A5084F}" presName="sibTrans" presStyleLbl="sibTrans2D1" presStyleIdx="3" presStyleCnt="6"/>
      <dgm:spPr/>
    </dgm:pt>
    <dgm:pt modelId="{6F03AB57-D679-4928-B5C1-ACEEB236945F}" type="pres">
      <dgm:prSet presAssocID="{BBE4DD75-0A55-4BEA-ACF6-103E51A5084F}" presName="connectorText" presStyleLbl="sibTrans2D1" presStyleIdx="3" presStyleCnt="6"/>
      <dgm:spPr/>
    </dgm:pt>
    <dgm:pt modelId="{D145C48B-21AC-4FBB-B1EE-1FBD45990453}" type="pres">
      <dgm:prSet presAssocID="{5D7BA284-4E23-4061-8F7E-9D6DC5DEC77C}" presName="node" presStyleLbl="node1" presStyleIdx="4" presStyleCnt="7">
        <dgm:presLayoutVars>
          <dgm:bulletEnabled val="1"/>
        </dgm:presLayoutVars>
      </dgm:prSet>
      <dgm:spPr/>
    </dgm:pt>
    <dgm:pt modelId="{708777F1-420B-4625-89D3-9B5EAE902990}" type="pres">
      <dgm:prSet presAssocID="{09EA40E4-A382-444A-BA1F-E5719867C1FD}" presName="sibTrans" presStyleLbl="sibTrans2D1" presStyleIdx="4" presStyleCnt="6"/>
      <dgm:spPr/>
    </dgm:pt>
    <dgm:pt modelId="{A7737B4C-4C26-4C63-8C9C-CEB89B9E7D6A}" type="pres">
      <dgm:prSet presAssocID="{09EA40E4-A382-444A-BA1F-E5719867C1FD}" presName="connectorText" presStyleLbl="sibTrans2D1" presStyleIdx="4" presStyleCnt="6"/>
      <dgm:spPr/>
    </dgm:pt>
    <dgm:pt modelId="{E8AB634A-65DA-4721-B125-ABE73E2C537E}" type="pres">
      <dgm:prSet presAssocID="{D0C6E85C-03F1-4F0E-B3AE-131453BAC40A}" presName="node" presStyleLbl="node1" presStyleIdx="5" presStyleCnt="7">
        <dgm:presLayoutVars>
          <dgm:bulletEnabled val="1"/>
        </dgm:presLayoutVars>
      </dgm:prSet>
      <dgm:spPr/>
    </dgm:pt>
    <dgm:pt modelId="{57ABA9E6-43B3-4DAD-9C06-8D798D6D6ABB}" type="pres">
      <dgm:prSet presAssocID="{922E360A-D58E-41B5-AD9F-56B548C0AE27}" presName="sibTrans" presStyleLbl="sibTrans2D1" presStyleIdx="5" presStyleCnt="6"/>
      <dgm:spPr/>
    </dgm:pt>
    <dgm:pt modelId="{7BE82E7D-4A9E-4023-8E41-08A2F14623AE}" type="pres">
      <dgm:prSet presAssocID="{922E360A-D58E-41B5-AD9F-56B548C0AE27}" presName="connectorText" presStyleLbl="sibTrans2D1" presStyleIdx="5" presStyleCnt="6"/>
      <dgm:spPr/>
    </dgm:pt>
    <dgm:pt modelId="{91CA2A69-2529-4308-BB2D-CAD04C420DE3}" type="pres">
      <dgm:prSet presAssocID="{F55E07C1-C476-48EE-8FDA-0CCC95B39CC7}" presName="node" presStyleLbl="node1" presStyleIdx="6" presStyleCnt="7">
        <dgm:presLayoutVars>
          <dgm:bulletEnabled val="1"/>
        </dgm:presLayoutVars>
      </dgm:prSet>
      <dgm:spPr/>
    </dgm:pt>
  </dgm:ptLst>
  <dgm:cxnLst>
    <dgm:cxn modelId="{D14AF70C-78A2-47EC-A17C-5F0983E799D4}" srcId="{902F27D6-BE94-45F6-9724-A898FEBE24B7}" destId="{F55E07C1-C476-48EE-8FDA-0CCC95B39CC7}" srcOrd="6" destOrd="0" parTransId="{5CE167DA-5D3A-4666-B94D-5628E4EC7D44}" sibTransId="{47509063-C29F-4F58-88B0-77F73F4829FC}"/>
    <dgm:cxn modelId="{C9646913-CC5F-4BAE-90CC-D11B8A4BD11C}" type="presOf" srcId="{B7E84674-862B-4A7B-840A-DF3E4CD5F3C3}" destId="{C67782AB-CCB0-42A1-B3F7-0452E82D022B}" srcOrd="0" destOrd="0" presId="urn:microsoft.com/office/officeart/2005/8/layout/process1"/>
    <dgm:cxn modelId="{8F945A13-D23B-4CDE-ACD5-8D45972A4DD8}" type="presOf" srcId="{902F27D6-BE94-45F6-9724-A898FEBE24B7}" destId="{A8A94922-7859-4E2A-ACF4-C0EDA54AFF8C}" srcOrd="0" destOrd="0" presId="urn:microsoft.com/office/officeart/2005/8/layout/process1"/>
    <dgm:cxn modelId="{5B75F416-7361-4C1E-851D-FC1457D0554A}" type="presOf" srcId="{D0C6E85C-03F1-4F0E-B3AE-131453BAC40A}" destId="{E8AB634A-65DA-4721-B125-ABE73E2C537E}" srcOrd="0" destOrd="0" presId="urn:microsoft.com/office/officeart/2005/8/layout/process1"/>
    <dgm:cxn modelId="{17C9A619-7CA9-46DD-A741-3C02AFEA58F1}" srcId="{902F27D6-BE94-45F6-9724-A898FEBE24B7}" destId="{603FB178-3526-444C-9E69-7BE3CD1317F3}" srcOrd="1" destOrd="0" parTransId="{150F9E11-D50E-4C3A-98D8-97F3FB802C5D}" sibTransId="{B33464CE-0F4A-418D-8045-203E80EA40A2}"/>
    <dgm:cxn modelId="{5807391D-008C-4373-9935-9B17F1134685}" type="presOf" srcId="{B33464CE-0F4A-418D-8045-203E80EA40A2}" destId="{C513F099-AC78-4F6E-B674-5994BE45ACD8}" srcOrd="0" destOrd="0" presId="urn:microsoft.com/office/officeart/2005/8/layout/process1"/>
    <dgm:cxn modelId="{3D9B322A-AAA3-4962-BF3A-0103CDC9EB3C}" type="presOf" srcId="{39C0C260-6AF4-431B-A27A-D7C3CD6A2489}" destId="{2E44BA0F-57D7-41B4-A11E-CE4F47D88E39}" srcOrd="0" destOrd="0" presId="urn:microsoft.com/office/officeart/2005/8/layout/process1"/>
    <dgm:cxn modelId="{8B78A834-F29F-42B7-9C22-BD977E1FD246}" type="presOf" srcId="{065D98DF-80FA-4BEB-B8ED-E9B5DC011E2E}" destId="{287E9B64-3BF7-4611-850B-F0F656D30800}" srcOrd="0" destOrd="0" presId="urn:microsoft.com/office/officeart/2005/8/layout/process1"/>
    <dgm:cxn modelId="{4B54BF3A-B320-4896-B876-BCD10ECB35F7}" srcId="{902F27D6-BE94-45F6-9724-A898FEBE24B7}" destId="{D0C6E85C-03F1-4F0E-B3AE-131453BAC40A}" srcOrd="5" destOrd="0" parTransId="{D7A519C3-3647-46DC-B90D-B246454B5AAC}" sibTransId="{922E360A-D58E-41B5-AD9F-56B548C0AE27}"/>
    <dgm:cxn modelId="{6FBB163E-6EEF-43BF-853F-FDCA2CA01DF8}" type="presOf" srcId="{603FB178-3526-444C-9E69-7BE3CD1317F3}" destId="{DC9EFA12-5A56-4EC2-B72C-96D4475CAEDB}" srcOrd="0" destOrd="0" presId="urn:microsoft.com/office/officeart/2005/8/layout/process1"/>
    <dgm:cxn modelId="{1719DD5D-1FDC-49C7-9A19-8436DB37D393}" type="presOf" srcId="{065D98DF-80FA-4BEB-B8ED-E9B5DC011E2E}" destId="{F74D0A08-185C-4E69-A92A-79E4B60C9B78}" srcOrd="1" destOrd="0" presId="urn:microsoft.com/office/officeart/2005/8/layout/process1"/>
    <dgm:cxn modelId="{A6BF2E44-85D4-4D1D-8B3E-6E5B1CF2664E}" srcId="{902F27D6-BE94-45F6-9724-A898FEBE24B7}" destId="{3553C0CB-5ACD-4869-9B6A-43651DE385FF}" srcOrd="2" destOrd="0" parTransId="{28F353C0-E2BB-4AF3-A337-0DD3CBCF8E50}" sibTransId="{B7E84674-862B-4A7B-840A-DF3E4CD5F3C3}"/>
    <dgm:cxn modelId="{BDF2F46B-F8EF-48CE-93A6-A5693DB5C499}" type="presOf" srcId="{BBE4DD75-0A55-4BEA-ACF6-103E51A5084F}" destId="{6F03AB57-D679-4928-B5C1-ACEEB236945F}" srcOrd="1" destOrd="0" presId="urn:microsoft.com/office/officeart/2005/8/layout/process1"/>
    <dgm:cxn modelId="{2370E06C-7FAB-4EB7-A7A9-91540763CF04}" srcId="{902F27D6-BE94-45F6-9724-A898FEBE24B7}" destId="{5D7BA284-4E23-4061-8F7E-9D6DC5DEC77C}" srcOrd="4" destOrd="0" parTransId="{99DAB77B-7439-46A9-B1C8-AE245CB91B30}" sibTransId="{09EA40E4-A382-444A-BA1F-E5719867C1FD}"/>
    <dgm:cxn modelId="{3F92DA4D-DA32-47E9-8C30-F47AC02264EA}" type="presOf" srcId="{5D7BA284-4E23-4061-8F7E-9D6DC5DEC77C}" destId="{D145C48B-21AC-4FBB-B1EE-1FBD45990453}" srcOrd="0" destOrd="0" presId="urn:microsoft.com/office/officeart/2005/8/layout/process1"/>
    <dgm:cxn modelId="{03A72F76-E8F4-4C84-8A15-981BC83B1B31}" type="presOf" srcId="{796F76AF-2562-4EFD-B45F-6D9588E3D2CC}" destId="{2AA77962-7C1D-4DA9-94E6-44B8C83E2F62}" srcOrd="0" destOrd="0" presId="urn:microsoft.com/office/officeart/2005/8/layout/process1"/>
    <dgm:cxn modelId="{5C1FC976-1648-4B66-9554-BFBF3FC9C454}" type="presOf" srcId="{F55E07C1-C476-48EE-8FDA-0CCC95B39CC7}" destId="{91CA2A69-2529-4308-BB2D-CAD04C420DE3}" srcOrd="0" destOrd="0" presId="urn:microsoft.com/office/officeart/2005/8/layout/process1"/>
    <dgm:cxn modelId="{939F6382-7C82-429D-B541-87C2D2C840FD}" type="presOf" srcId="{09EA40E4-A382-444A-BA1F-E5719867C1FD}" destId="{A7737B4C-4C26-4C63-8C9C-CEB89B9E7D6A}" srcOrd="1" destOrd="0" presId="urn:microsoft.com/office/officeart/2005/8/layout/process1"/>
    <dgm:cxn modelId="{06ED1084-67A6-45D0-9557-48AE349527C6}" type="presOf" srcId="{B33464CE-0F4A-418D-8045-203E80EA40A2}" destId="{8D813655-7437-4F45-BC3F-42C76210D84C}" srcOrd="1" destOrd="0" presId="urn:microsoft.com/office/officeart/2005/8/layout/process1"/>
    <dgm:cxn modelId="{5EB57F84-C08C-4EDB-8CE4-1521E31A1B5A}" type="presOf" srcId="{B7E84674-862B-4A7B-840A-DF3E4CD5F3C3}" destId="{C2FB27BC-C558-4AFE-AB4A-9765B1852522}" srcOrd="1" destOrd="0" presId="urn:microsoft.com/office/officeart/2005/8/layout/process1"/>
    <dgm:cxn modelId="{E6F87290-48D9-4E6A-96A6-87DA0AEE8840}" srcId="{902F27D6-BE94-45F6-9724-A898FEBE24B7}" destId="{39C0C260-6AF4-431B-A27A-D7C3CD6A2489}" srcOrd="0" destOrd="0" parTransId="{35886FB4-DE4E-43FB-9944-7C55F2FDF010}" sibTransId="{065D98DF-80FA-4BEB-B8ED-E9B5DC011E2E}"/>
    <dgm:cxn modelId="{A5BFAE90-023B-4465-B13E-5A3C6884A92B}" type="presOf" srcId="{09EA40E4-A382-444A-BA1F-E5719867C1FD}" destId="{708777F1-420B-4625-89D3-9B5EAE902990}" srcOrd="0" destOrd="0" presId="urn:microsoft.com/office/officeart/2005/8/layout/process1"/>
    <dgm:cxn modelId="{144E52A0-99DF-427E-8D0B-477A3EAEEF15}" type="presOf" srcId="{BBE4DD75-0A55-4BEA-ACF6-103E51A5084F}" destId="{52BCE3DA-FEBE-423E-B62C-14BA6D39B9A0}" srcOrd="0" destOrd="0" presId="urn:microsoft.com/office/officeart/2005/8/layout/process1"/>
    <dgm:cxn modelId="{8E9014C2-DFA7-4EA6-9E1A-82C008939FF9}" type="presOf" srcId="{922E360A-D58E-41B5-AD9F-56B548C0AE27}" destId="{57ABA9E6-43B3-4DAD-9C06-8D798D6D6ABB}" srcOrd="0" destOrd="0" presId="urn:microsoft.com/office/officeart/2005/8/layout/process1"/>
    <dgm:cxn modelId="{FABD96EC-1211-4084-BAA8-CB3D3D999216}" type="presOf" srcId="{3553C0CB-5ACD-4869-9B6A-43651DE385FF}" destId="{B517F1B0-5FCE-4245-8FF4-1AD50DF569E2}" srcOrd="0" destOrd="0" presId="urn:microsoft.com/office/officeart/2005/8/layout/process1"/>
    <dgm:cxn modelId="{671C09F5-C83B-47D3-867A-A17F8A8E8BA0}" srcId="{902F27D6-BE94-45F6-9724-A898FEBE24B7}" destId="{796F76AF-2562-4EFD-B45F-6D9588E3D2CC}" srcOrd="3" destOrd="0" parTransId="{F96BDC6C-2E0B-437A-9280-5F73BBA52364}" sibTransId="{BBE4DD75-0A55-4BEA-ACF6-103E51A5084F}"/>
    <dgm:cxn modelId="{8E6CCAFA-8039-45A2-AD99-916A576104E0}" type="presOf" srcId="{922E360A-D58E-41B5-AD9F-56B548C0AE27}" destId="{7BE82E7D-4A9E-4023-8E41-08A2F14623AE}" srcOrd="1" destOrd="0" presId="urn:microsoft.com/office/officeart/2005/8/layout/process1"/>
    <dgm:cxn modelId="{A999A84F-C0AB-4965-B9AF-382471F8FFF3}" type="presParOf" srcId="{A8A94922-7859-4E2A-ACF4-C0EDA54AFF8C}" destId="{2E44BA0F-57D7-41B4-A11E-CE4F47D88E39}" srcOrd="0" destOrd="0" presId="urn:microsoft.com/office/officeart/2005/8/layout/process1"/>
    <dgm:cxn modelId="{1C7744CF-8E22-4883-B78B-7E1E6FA229B6}" type="presParOf" srcId="{A8A94922-7859-4E2A-ACF4-C0EDA54AFF8C}" destId="{287E9B64-3BF7-4611-850B-F0F656D30800}" srcOrd="1" destOrd="0" presId="urn:microsoft.com/office/officeart/2005/8/layout/process1"/>
    <dgm:cxn modelId="{EFCEA625-6846-4A3F-9896-6F58AA954EA6}" type="presParOf" srcId="{287E9B64-3BF7-4611-850B-F0F656D30800}" destId="{F74D0A08-185C-4E69-A92A-79E4B60C9B78}" srcOrd="0" destOrd="0" presId="urn:microsoft.com/office/officeart/2005/8/layout/process1"/>
    <dgm:cxn modelId="{C989BF28-76CF-4DCB-BF7F-956EF9AE1285}" type="presParOf" srcId="{A8A94922-7859-4E2A-ACF4-C0EDA54AFF8C}" destId="{DC9EFA12-5A56-4EC2-B72C-96D4475CAEDB}" srcOrd="2" destOrd="0" presId="urn:microsoft.com/office/officeart/2005/8/layout/process1"/>
    <dgm:cxn modelId="{E6572587-2E87-4B07-8515-130E248FA308}" type="presParOf" srcId="{A8A94922-7859-4E2A-ACF4-C0EDA54AFF8C}" destId="{C513F099-AC78-4F6E-B674-5994BE45ACD8}" srcOrd="3" destOrd="0" presId="urn:microsoft.com/office/officeart/2005/8/layout/process1"/>
    <dgm:cxn modelId="{25A5258A-895D-4D99-92BF-1A1E1A2BE437}" type="presParOf" srcId="{C513F099-AC78-4F6E-B674-5994BE45ACD8}" destId="{8D813655-7437-4F45-BC3F-42C76210D84C}" srcOrd="0" destOrd="0" presId="urn:microsoft.com/office/officeart/2005/8/layout/process1"/>
    <dgm:cxn modelId="{DF29FB39-F4D9-42CD-A67B-37F9B3732DC3}" type="presParOf" srcId="{A8A94922-7859-4E2A-ACF4-C0EDA54AFF8C}" destId="{B517F1B0-5FCE-4245-8FF4-1AD50DF569E2}" srcOrd="4" destOrd="0" presId="urn:microsoft.com/office/officeart/2005/8/layout/process1"/>
    <dgm:cxn modelId="{96DFE9EA-0E8F-4FF4-A186-7E9F888F5E86}" type="presParOf" srcId="{A8A94922-7859-4E2A-ACF4-C0EDA54AFF8C}" destId="{C67782AB-CCB0-42A1-B3F7-0452E82D022B}" srcOrd="5" destOrd="0" presId="urn:microsoft.com/office/officeart/2005/8/layout/process1"/>
    <dgm:cxn modelId="{2C6CB25C-C8D3-44ED-9BBB-4345285D931E}" type="presParOf" srcId="{C67782AB-CCB0-42A1-B3F7-0452E82D022B}" destId="{C2FB27BC-C558-4AFE-AB4A-9765B1852522}" srcOrd="0" destOrd="0" presId="urn:microsoft.com/office/officeart/2005/8/layout/process1"/>
    <dgm:cxn modelId="{93BDCD78-CE3C-4899-8D6E-0368A9AE3B11}" type="presParOf" srcId="{A8A94922-7859-4E2A-ACF4-C0EDA54AFF8C}" destId="{2AA77962-7C1D-4DA9-94E6-44B8C83E2F62}" srcOrd="6" destOrd="0" presId="urn:microsoft.com/office/officeart/2005/8/layout/process1"/>
    <dgm:cxn modelId="{B6AA0A6E-ED8F-45E3-A70F-6294CEAD39D4}" type="presParOf" srcId="{A8A94922-7859-4E2A-ACF4-C0EDA54AFF8C}" destId="{52BCE3DA-FEBE-423E-B62C-14BA6D39B9A0}" srcOrd="7" destOrd="0" presId="urn:microsoft.com/office/officeart/2005/8/layout/process1"/>
    <dgm:cxn modelId="{3DBB221E-80E6-458D-94C8-A452FCDF1E3B}" type="presParOf" srcId="{52BCE3DA-FEBE-423E-B62C-14BA6D39B9A0}" destId="{6F03AB57-D679-4928-B5C1-ACEEB236945F}" srcOrd="0" destOrd="0" presId="urn:microsoft.com/office/officeart/2005/8/layout/process1"/>
    <dgm:cxn modelId="{68FA3184-EAC7-4329-AA25-9AAF10C8DDE6}" type="presParOf" srcId="{A8A94922-7859-4E2A-ACF4-C0EDA54AFF8C}" destId="{D145C48B-21AC-4FBB-B1EE-1FBD45990453}" srcOrd="8" destOrd="0" presId="urn:microsoft.com/office/officeart/2005/8/layout/process1"/>
    <dgm:cxn modelId="{3ED2E206-7BE4-43BB-9CB1-A7505FFDCE80}" type="presParOf" srcId="{A8A94922-7859-4E2A-ACF4-C0EDA54AFF8C}" destId="{708777F1-420B-4625-89D3-9B5EAE902990}" srcOrd="9" destOrd="0" presId="urn:microsoft.com/office/officeart/2005/8/layout/process1"/>
    <dgm:cxn modelId="{8DD10178-0463-4369-AC7D-592FB7E081C7}" type="presParOf" srcId="{708777F1-420B-4625-89D3-9B5EAE902990}" destId="{A7737B4C-4C26-4C63-8C9C-CEB89B9E7D6A}" srcOrd="0" destOrd="0" presId="urn:microsoft.com/office/officeart/2005/8/layout/process1"/>
    <dgm:cxn modelId="{E363A1E6-F12F-42E2-A543-F0BCAED6A847}" type="presParOf" srcId="{A8A94922-7859-4E2A-ACF4-C0EDA54AFF8C}" destId="{E8AB634A-65DA-4721-B125-ABE73E2C537E}" srcOrd="10" destOrd="0" presId="urn:microsoft.com/office/officeart/2005/8/layout/process1"/>
    <dgm:cxn modelId="{A627B713-0237-41CA-9F24-4DD5E0D881E1}" type="presParOf" srcId="{A8A94922-7859-4E2A-ACF4-C0EDA54AFF8C}" destId="{57ABA9E6-43B3-4DAD-9C06-8D798D6D6ABB}" srcOrd="11" destOrd="0" presId="urn:microsoft.com/office/officeart/2005/8/layout/process1"/>
    <dgm:cxn modelId="{A4E82350-D7CC-405F-A923-842459AEC738}" type="presParOf" srcId="{57ABA9E6-43B3-4DAD-9C06-8D798D6D6ABB}" destId="{7BE82E7D-4A9E-4023-8E41-08A2F14623AE}" srcOrd="0" destOrd="0" presId="urn:microsoft.com/office/officeart/2005/8/layout/process1"/>
    <dgm:cxn modelId="{BEB22B80-2D95-40FC-9CC7-5AB21CAD0D83}" type="presParOf" srcId="{A8A94922-7859-4E2A-ACF4-C0EDA54AFF8C}" destId="{91CA2A69-2529-4308-BB2D-CAD04C420DE3}"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5609E2-52A7-4186-B8C4-CA0E22E6EE6D}" type="doc">
      <dgm:prSet loTypeId="urn:microsoft.com/office/officeart/2005/8/layout/hierarchy6" loCatId="hierarchy" qsTypeId="urn:microsoft.com/office/officeart/2005/8/quickstyle/simple3#1" qsCatId="simple" csTypeId="urn:microsoft.com/office/officeart/2005/8/colors/accent6_1#1" csCatId="accent6" phldr="1"/>
      <dgm:spPr/>
      <dgm:t>
        <a:bodyPr/>
        <a:lstStyle/>
        <a:p>
          <a:endParaRPr lang="en-IN"/>
        </a:p>
      </dgm:t>
    </dgm:pt>
    <dgm:pt modelId="{2B524651-7FEA-4ECA-AD2A-B5685BB0D2F4}">
      <dgm:prSet phldrT="[Text]" custT="1"/>
      <dgm:spPr/>
      <dgm:t>
        <a:bodyPr/>
        <a:lstStyle/>
        <a:p>
          <a:r>
            <a:rPr lang="en-US" sz="1600" b="1" dirty="0"/>
            <a:t>DG MO, Chairman</a:t>
          </a:r>
        </a:p>
        <a:p>
          <a:r>
            <a:rPr lang="en-US" sz="1600" b="1" dirty="0"/>
            <a:t>Cyber Security Forum</a:t>
          </a:r>
          <a:endParaRPr lang="en-IN" sz="1600" b="1" dirty="0"/>
        </a:p>
      </dgm:t>
    </dgm:pt>
    <dgm:pt modelId="{736F8240-8ED4-47B0-9BAD-354FE4E6F212}" type="parTrans" cxnId="{0CB92C1D-7E3B-4B12-B8AD-65B27C62E3F3}">
      <dgm:prSet/>
      <dgm:spPr/>
      <dgm:t>
        <a:bodyPr/>
        <a:lstStyle/>
        <a:p>
          <a:endParaRPr lang="en-IN"/>
        </a:p>
      </dgm:t>
    </dgm:pt>
    <dgm:pt modelId="{E0B9810E-7CDC-4CB6-BCBF-0CB23744E4D2}" type="sibTrans" cxnId="{0CB92C1D-7E3B-4B12-B8AD-65B27C62E3F3}">
      <dgm:prSet/>
      <dgm:spPr/>
      <dgm:t>
        <a:bodyPr/>
        <a:lstStyle/>
        <a:p>
          <a:endParaRPr lang="en-IN"/>
        </a:p>
      </dgm:t>
    </dgm:pt>
    <dgm:pt modelId="{B1FD72F1-55A7-4C0F-9BD9-C70F39B9568D}">
      <dgm:prSet phldrT="[Text]" custT="1"/>
      <dgm:spPr/>
      <dgm:t>
        <a:bodyPr/>
        <a:lstStyle/>
        <a:p>
          <a:r>
            <a:rPr lang="en-US" sz="2000" b="1" dirty="0"/>
            <a:t>ADG MO (IW), CISO</a:t>
          </a:r>
          <a:endParaRPr lang="en-IN" sz="2000" b="1" dirty="0"/>
        </a:p>
      </dgm:t>
    </dgm:pt>
    <dgm:pt modelId="{9003B537-4972-45A3-BC4F-2B328D279F9D}" type="parTrans" cxnId="{F964FC6F-7E6D-4292-850D-0507DA88E8E1}">
      <dgm:prSet/>
      <dgm:spPr/>
      <dgm:t>
        <a:bodyPr/>
        <a:lstStyle/>
        <a:p>
          <a:endParaRPr lang="en-IN"/>
        </a:p>
      </dgm:t>
    </dgm:pt>
    <dgm:pt modelId="{BA853757-C0F9-47FA-A349-BE34298A70A1}" type="sibTrans" cxnId="{F964FC6F-7E6D-4292-850D-0507DA88E8E1}">
      <dgm:prSet/>
      <dgm:spPr/>
      <dgm:t>
        <a:bodyPr/>
        <a:lstStyle/>
        <a:p>
          <a:endParaRPr lang="en-IN"/>
        </a:p>
      </dgm:t>
    </dgm:pt>
    <dgm:pt modelId="{B1D85034-E11C-4C39-8B66-C2EC73151E57}">
      <dgm:prSet custT="1"/>
      <dgm:spPr/>
      <dgm:t>
        <a:bodyPr/>
        <a:lstStyle/>
        <a:p>
          <a:r>
            <a:rPr lang="en-US" sz="2000" b="1" dirty="0"/>
            <a:t>ACG (EXEC FN)</a:t>
          </a:r>
        </a:p>
      </dgm:t>
    </dgm:pt>
    <dgm:pt modelId="{51ABADF9-0FF0-4A6B-9B8F-21077420E25E}" type="parTrans" cxnId="{6084C453-355C-417B-8A42-CC46F7B4CE97}">
      <dgm:prSet/>
      <dgm:spPr/>
      <dgm:t>
        <a:bodyPr/>
        <a:lstStyle/>
        <a:p>
          <a:endParaRPr lang="en-IN"/>
        </a:p>
      </dgm:t>
    </dgm:pt>
    <dgm:pt modelId="{BA2ABD5D-75D3-4077-8393-76B68B5C7F82}" type="sibTrans" cxnId="{6084C453-355C-417B-8A42-CC46F7B4CE97}">
      <dgm:prSet/>
      <dgm:spPr/>
      <dgm:t>
        <a:bodyPr/>
        <a:lstStyle/>
        <a:p>
          <a:endParaRPr lang="en-IN"/>
        </a:p>
      </dgm:t>
    </dgm:pt>
    <dgm:pt modelId="{E1B2E5C4-F6D9-41C9-9D91-8EA9451162F2}">
      <dgm:prSet/>
      <dgm:spPr/>
      <dgm:t>
        <a:bodyPr/>
        <a:lstStyle/>
        <a:p>
          <a:r>
            <a:rPr lang="en-US" b="1" dirty="0"/>
            <a:t>MO-12(Nodal for Ops and Policy)</a:t>
          </a:r>
          <a:endParaRPr lang="en-IN" b="1" dirty="0"/>
        </a:p>
      </dgm:t>
    </dgm:pt>
    <dgm:pt modelId="{2FF5A22C-E6A6-4795-8865-8484BC2933AC}" type="parTrans" cxnId="{83D6D98D-F009-4739-B50F-D5A7776B1025}">
      <dgm:prSet/>
      <dgm:spPr/>
      <dgm:t>
        <a:bodyPr/>
        <a:lstStyle/>
        <a:p>
          <a:endParaRPr lang="en-IN"/>
        </a:p>
      </dgm:t>
    </dgm:pt>
    <dgm:pt modelId="{755C9399-6A11-4E0F-B382-9F55F0665247}" type="sibTrans" cxnId="{83D6D98D-F009-4739-B50F-D5A7776B1025}">
      <dgm:prSet/>
      <dgm:spPr/>
      <dgm:t>
        <a:bodyPr/>
        <a:lstStyle/>
        <a:p>
          <a:endParaRPr lang="en-IN"/>
        </a:p>
      </dgm:t>
    </dgm:pt>
    <dgm:pt modelId="{6F62EFA1-74C5-44B1-BA3A-A04BA9205E13}" type="pres">
      <dgm:prSet presAssocID="{D75609E2-52A7-4186-B8C4-CA0E22E6EE6D}" presName="mainComposite" presStyleCnt="0">
        <dgm:presLayoutVars>
          <dgm:chPref val="1"/>
          <dgm:dir/>
          <dgm:animOne val="branch"/>
          <dgm:animLvl val="lvl"/>
          <dgm:resizeHandles val="exact"/>
        </dgm:presLayoutVars>
      </dgm:prSet>
      <dgm:spPr/>
    </dgm:pt>
    <dgm:pt modelId="{CAAD046D-8F16-426F-B484-C92440EF0D99}" type="pres">
      <dgm:prSet presAssocID="{D75609E2-52A7-4186-B8C4-CA0E22E6EE6D}" presName="hierFlow" presStyleCnt="0"/>
      <dgm:spPr/>
    </dgm:pt>
    <dgm:pt modelId="{84E588FF-2F3F-422D-86A8-9AE00FB2DAC9}" type="pres">
      <dgm:prSet presAssocID="{D75609E2-52A7-4186-B8C4-CA0E22E6EE6D}" presName="hierChild1" presStyleCnt="0">
        <dgm:presLayoutVars>
          <dgm:chPref val="1"/>
          <dgm:animOne val="branch"/>
          <dgm:animLvl val="lvl"/>
        </dgm:presLayoutVars>
      </dgm:prSet>
      <dgm:spPr/>
    </dgm:pt>
    <dgm:pt modelId="{BDC5698D-68A7-4E24-A52A-A7B76451BF3F}" type="pres">
      <dgm:prSet presAssocID="{2B524651-7FEA-4ECA-AD2A-B5685BB0D2F4}" presName="Name14" presStyleCnt="0"/>
      <dgm:spPr/>
    </dgm:pt>
    <dgm:pt modelId="{C21C7AF8-4338-4E55-B84C-09D691D07C49}" type="pres">
      <dgm:prSet presAssocID="{2B524651-7FEA-4ECA-AD2A-B5685BB0D2F4}" presName="level1Shape" presStyleLbl="node0" presStyleIdx="0" presStyleCnt="1">
        <dgm:presLayoutVars>
          <dgm:chPref val="3"/>
        </dgm:presLayoutVars>
      </dgm:prSet>
      <dgm:spPr/>
    </dgm:pt>
    <dgm:pt modelId="{4E66BA25-B630-4A70-A4B0-B7C6A52AAB41}" type="pres">
      <dgm:prSet presAssocID="{2B524651-7FEA-4ECA-AD2A-B5685BB0D2F4}" presName="hierChild2" presStyleCnt="0"/>
      <dgm:spPr/>
    </dgm:pt>
    <dgm:pt modelId="{41EF38C3-5F47-4BA2-895A-9F2355918972}" type="pres">
      <dgm:prSet presAssocID="{9003B537-4972-45A3-BC4F-2B328D279F9D}" presName="Name19" presStyleLbl="parChTrans1D2" presStyleIdx="0" presStyleCnt="1"/>
      <dgm:spPr/>
    </dgm:pt>
    <dgm:pt modelId="{0CA80630-807E-48E9-9A62-6E36F5C24D6E}" type="pres">
      <dgm:prSet presAssocID="{B1FD72F1-55A7-4C0F-9BD9-C70F39B9568D}" presName="Name21" presStyleCnt="0"/>
      <dgm:spPr/>
    </dgm:pt>
    <dgm:pt modelId="{CBEC4D36-AEBA-4FD3-B432-E4988804DF1F}" type="pres">
      <dgm:prSet presAssocID="{B1FD72F1-55A7-4C0F-9BD9-C70F39B9568D}" presName="level2Shape" presStyleLbl="node2" presStyleIdx="0" presStyleCnt="1"/>
      <dgm:spPr/>
    </dgm:pt>
    <dgm:pt modelId="{6DB5E803-593F-4EA1-A1D2-EA4A6DE7C436}" type="pres">
      <dgm:prSet presAssocID="{B1FD72F1-55A7-4C0F-9BD9-C70F39B9568D}" presName="hierChild3" presStyleCnt="0"/>
      <dgm:spPr/>
    </dgm:pt>
    <dgm:pt modelId="{1163D71E-71DE-4267-8CC4-2E54372F9E15}" type="pres">
      <dgm:prSet presAssocID="{2FF5A22C-E6A6-4795-8865-8484BC2933AC}" presName="Name19" presStyleLbl="parChTrans1D3" presStyleIdx="0" presStyleCnt="2"/>
      <dgm:spPr/>
    </dgm:pt>
    <dgm:pt modelId="{20615EC5-5A17-475B-BBE6-F24F5C332395}" type="pres">
      <dgm:prSet presAssocID="{E1B2E5C4-F6D9-41C9-9D91-8EA9451162F2}" presName="Name21" presStyleCnt="0"/>
      <dgm:spPr/>
    </dgm:pt>
    <dgm:pt modelId="{2A47ECC5-B96B-4478-98FC-E61780AC70E3}" type="pres">
      <dgm:prSet presAssocID="{E1B2E5C4-F6D9-41C9-9D91-8EA9451162F2}" presName="level2Shape" presStyleLbl="node3" presStyleIdx="0" presStyleCnt="2"/>
      <dgm:spPr/>
    </dgm:pt>
    <dgm:pt modelId="{1F3F37A3-191D-4C72-BD97-4B52D3D25452}" type="pres">
      <dgm:prSet presAssocID="{E1B2E5C4-F6D9-41C9-9D91-8EA9451162F2}" presName="hierChild3" presStyleCnt="0"/>
      <dgm:spPr/>
    </dgm:pt>
    <dgm:pt modelId="{A52EFC9B-6D0F-42EE-A732-90D3C9ED1F83}" type="pres">
      <dgm:prSet presAssocID="{51ABADF9-0FF0-4A6B-9B8F-21077420E25E}" presName="Name19" presStyleLbl="parChTrans1D3" presStyleIdx="1" presStyleCnt="2"/>
      <dgm:spPr/>
    </dgm:pt>
    <dgm:pt modelId="{6353652D-4DC4-431B-821A-BDD7ED98F338}" type="pres">
      <dgm:prSet presAssocID="{B1D85034-E11C-4C39-8B66-C2EC73151E57}" presName="Name21" presStyleCnt="0"/>
      <dgm:spPr/>
    </dgm:pt>
    <dgm:pt modelId="{135D3F14-C639-46E9-98CA-5DC0FF59C12F}" type="pres">
      <dgm:prSet presAssocID="{B1D85034-E11C-4C39-8B66-C2EC73151E57}" presName="level2Shape" presStyleLbl="node3" presStyleIdx="1" presStyleCnt="2"/>
      <dgm:spPr/>
    </dgm:pt>
    <dgm:pt modelId="{12A55314-805E-4D19-AC8A-E0BBCF2B3051}" type="pres">
      <dgm:prSet presAssocID="{B1D85034-E11C-4C39-8B66-C2EC73151E57}" presName="hierChild3" presStyleCnt="0"/>
      <dgm:spPr/>
    </dgm:pt>
    <dgm:pt modelId="{DE1C6701-A890-4DF6-AD02-CA740044166A}" type="pres">
      <dgm:prSet presAssocID="{D75609E2-52A7-4186-B8C4-CA0E22E6EE6D}" presName="bgShapesFlow" presStyleCnt="0"/>
      <dgm:spPr/>
    </dgm:pt>
  </dgm:ptLst>
  <dgm:cxnLst>
    <dgm:cxn modelId="{0CB92C1D-7E3B-4B12-B8AD-65B27C62E3F3}" srcId="{D75609E2-52A7-4186-B8C4-CA0E22E6EE6D}" destId="{2B524651-7FEA-4ECA-AD2A-B5685BB0D2F4}" srcOrd="0" destOrd="0" parTransId="{736F8240-8ED4-47B0-9BAD-354FE4E6F212}" sibTransId="{E0B9810E-7CDC-4CB6-BCBF-0CB23744E4D2}"/>
    <dgm:cxn modelId="{EE728232-A200-4217-BB75-E806945D5782}" type="presOf" srcId="{E1B2E5C4-F6D9-41C9-9D91-8EA9451162F2}" destId="{2A47ECC5-B96B-4478-98FC-E61780AC70E3}" srcOrd="0" destOrd="0" presId="urn:microsoft.com/office/officeart/2005/8/layout/hierarchy6"/>
    <dgm:cxn modelId="{121A0237-DE1E-4B41-8793-CA78E4B39816}" type="presOf" srcId="{2B524651-7FEA-4ECA-AD2A-B5685BB0D2F4}" destId="{C21C7AF8-4338-4E55-B84C-09D691D07C49}" srcOrd="0" destOrd="0" presId="urn:microsoft.com/office/officeart/2005/8/layout/hierarchy6"/>
    <dgm:cxn modelId="{FCA2254F-12F2-460B-9CF6-8D3017D140D9}" type="presOf" srcId="{9003B537-4972-45A3-BC4F-2B328D279F9D}" destId="{41EF38C3-5F47-4BA2-895A-9F2355918972}" srcOrd="0" destOrd="0" presId="urn:microsoft.com/office/officeart/2005/8/layout/hierarchy6"/>
    <dgm:cxn modelId="{F964FC6F-7E6D-4292-850D-0507DA88E8E1}" srcId="{2B524651-7FEA-4ECA-AD2A-B5685BB0D2F4}" destId="{B1FD72F1-55A7-4C0F-9BD9-C70F39B9568D}" srcOrd="0" destOrd="0" parTransId="{9003B537-4972-45A3-BC4F-2B328D279F9D}" sibTransId="{BA853757-C0F9-47FA-A349-BE34298A70A1}"/>
    <dgm:cxn modelId="{6084C453-355C-417B-8A42-CC46F7B4CE97}" srcId="{B1FD72F1-55A7-4C0F-9BD9-C70F39B9568D}" destId="{B1D85034-E11C-4C39-8B66-C2EC73151E57}" srcOrd="1" destOrd="0" parTransId="{51ABADF9-0FF0-4A6B-9B8F-21077420E25E}" sibTransId="{BA2ABD5D-75D3-4077-8393-76B68B5C7F82}"/>
    <dgm:cxn modelId="{556A8B7F-1FCB-478D-8C83-6FEFDE7D1849}" type="presOf" srcId="{B1D85034-E11C-4C39-8B66-C2EC73151E57}" destId="{135D3F14-C639-46E9-98CA-5DC0FF59C12F}" srcOrd="0" destOrd="0" presId="urn:microsoft.com/office/officeart/2005/8/layout/hierarchy6"/>
    <dgm:cxn modelId="{F5AFCE84-022A-4648-BD8B-34CCD4292CCC}" type="presOf" srcId="{51ABADF9-0FF0-4A6B-9B8F-21077420E25E}" destId="{A52EFC9B-6D0F-42EE-A732-90D3C9ED1F83}" srcOrd="0" destOrd="0" presId="urn:microsoft.com/office/officeart/2005/8/layout/hierarchy6"/>
    <dgm:cxn modelId="{83D6D98D-F009-4739-B50F-D5A7776B1025}" srcId="{B1FD72F1-55A7-4C0F-9BD9-C70F39B9568D}" destId="{E1B2E5C4-F6D9-41C9-9D91-8EA9451162F2}" srcOrd="0" destOrd="0" parTransId="{2FF5A22C-E6A6-4795-8865-8484BC2933AC}" sibTransId="{755C9399-6A11-4E0F-B382-9F55F0665247}"/>
    <dgm:cxn modelId="{83EDFB9B-C683-44C5-8DD5-E70A8454CDBD}" type="presOf" srcId="{D75609E2-52A7-4186-B8C4-CA0E22E6EE6D}" destId="{6F62EFA1-74C5-44B1-BA3A-A04BA9205E13}" srcOrd="0" destOrd="0" presId="urn:microsoft.com/office/officeart/2005/8/layout/hierarchy6"/>
    <dgm:cxn modelId="{85A6F4CB-104C-444E-9A52-198801316841}" type="presOf" srcId="{B1FD72F1-55A7-4C0F-9BD9-C70F39B9568D}" destId="{CBEC4D36-AEBA-4FD3-B432-E4988804DF1F}" srcOrd="0" destOrd="0" presId="urn:microsoft.com/office/officeart/2005/8/layout/hierarchy6"/>
    <dgm:cxn modelId="{19A411EB-00B0-4851-B0AF-F2FF8AE49B2B}" type="presOf" srcId="{2FF5A22C-E6A6-4795-8865-8484BC2933AC}" destId="{1163D71E-71DE-4267-8CC4-2E54372F9E15}" srcOrd="0" destOrd="0" presId="urn:microsoft.com/office/officeart/2005/8/layout/hierarchy6"/>
    <dgm:cxn modelId="{6B12970D-15F3-40B0-8D82-CE4653B7B8C1}" type="presParOf" srcId="{6F62EFA1-74C5-44B1-BA3A-A04BA9205E13}" destId="{CAAD046D-8F16-426F-B484-C92440EF0D99}" srcOrd="0" destOrd="0" presId="urn:microsoft.com/office/officeart/2005/8/layout/hierarchy6"/>
    <dgm:cxn modelId="{6BAD1718-DAFD-41E8-B433-1207F5BE1431}" type="presParOf" srcId="{CAAD046D-8F16-426F-B484-C92440EF0D99}" destId="{84E588FF-2F3F-422D-86A8-9AE00FB2DAC9}" srcOrd="0" destOrd="0" presId="urn:microsoft.com/office/officeart/2005/8/layout/hierarchy6"/>
    <dgm:cxn modelId="{0567AE5A-1AC4-4985-949A-77C95D45B007}" type="presParOf" srcId="{84E588FF-2F3F-422D-86A8-9AE00FB2DAC9}" destId="{BDC5698D-68A7-4E24-A52A-A7B76451BF3F}" srcOrd="0" destOrd="0" presId="urn:microsoft.com/office/officeart/2005/8/layout/hierarchy6"/>
    <dgm:cxn modelId="{CB69E164-7308-4C58-849D-2E86A11A20A7}" type="presParOf" srcId="{BDC5698D-68A7-4E24-A52A-A7B76451BF3F}" destId="{C21C7AF8-4338-4E55-B84C-09D691D07C49}" srcOrd="0" destOrd="0" presId="urn:microsoft.com/office/officeart/2005/8/layout/hierarchy6"/>
    <dgm:cxn modelId="{E8D0E810-D9A8-41BC-8188-CF59BCA3D4EF}" type="presParOf" srcId="{BDC5698D-68A7-4E24-A52A-A7B76451BF3F}" destId="{4E66BA25-B630-4A70-A4B0-B7C6A52AAB41}" srcOrd="1" destOrd="0" presId="urn:microsoft.com/office/officeart/2005/8/layout/hierarchy6"/>
    <dgm:cxn modelId="{C80EBC71-C33D-4F2F-BC55-D8800F4BF565}" type="presParOf" srcId="{4E66BA25-B630-4A70-A4B0-B7C6A52AAB41}" destId="{41EF38C3-5F47-4BA2-895A-9F2355918972}" srcOrd="0" destOrd="0" presId="urn:microsoft.com/office/officeart/2005/8/layout/hierarchy6"/>
    <dgm:cxn modelId="{09B3BDCD-7D36-4399-A29F-A13334F27614}" type="presParOf" srcId="{4E66BA25-B630-4A70-A4B0-B7C6A52AAB41}" destId="{0CA80630-807E-48E9-9A62-6E36F5C24D6E}" srcOrd="1" destOrd="0" presId="urn:microsoft.com/office/officeart/2005/8/layout/hierarchy6"/>
    <dgm:cxn modelId="{156F24D5-FE8A-4433-9FC0-D4AF5C903400}" type="presParOf" srcId="{0CA80630-807E-48E9-9A62-6E36F5C24D6E}" destId="{CBEC4D36-AEBA-4FD3-B432-E4988804DF1F}" srcOrd="0" destOrd="0" presId="urn:microsoft.com/office/officeart/2005/8/layout/hierarchy6"/>
    <dgm:cxn modelId="{2D4E5E5C-5C96-4469-BFFD-B11BA09891C2}" type="presParOf" srcId="{0CA80630-807E-48E9-9A62-6E36F5C24D6E}" destId="{6DB5E803-593F-4EA1-A1D2-EA4A6DE7C436}" srcOrd="1" destOrd="0" presId="urn:microsoft.com/office/officeart/2005/8/layout/hierarchy6"/>
    <dgm:cxn modelId="{B045A535-F708-461F-8B9A-8AFAD92EFA05}" type="presParOf" srcId="{6DB5E803-593F-4EA1-A1D2-EA4A6DE7C436}" destId="{1163D71E-71DE-4267-8CC4-2E54372F9E15}" srcOrd="0" destOrd="0" presId="urn:microsoft.com/office/officeart/2005/8/layout/hierarchy6"/>
    <dgm:cxn modelId="{FC462BC8-1865-4F4E-B34A-20F15C4139F7}" type="presParOf" srcId="{6DB5E803-593F-4EA1-A1D2-EA4A6DE7C436}" destId="{20615EC5-5A17-475B-BBE6-F24F5C332395}" srcOrd="1" destOrd="0" presId="urn:microsoft.com/office/officeart/2005/8/layout/hierarchy6"/>
    <dgm:cxn modelId="{6818F4A9-E4EF-43D4-AC47-04B3E5094014}" type="presParOf" srcId="{20615EC5-5A17-475B-BBE6-F24F5C332395}" destId="{2A47ECC5-B96B-4478-98FC-E61780AC70E3}" srcOrd="0" destOrd="0" presId="urn:microsoft.com/office/officeart/2005/8/layout/hierarchy6"/>
    <dgm:cxn modelId="{B482D92C-D36B-4F62-8223-DFCE477B294F}" type="presParOf" srcId="{20615EC5-5A17-475B-BBE6-F24F5C332395}" destId="{1F3F37A3-191D-4C72-BD97-4B52D3D25452}" srcOrd="1" destOrd="0" presId="urn:microsoft.com/office/officeart/2005/8/layout/hierarchy6"/>
    <dgm:cxn modelId="{EB7714BB-A7CC-45AD-B26B-91E99F627A71}" type="presParOf" srcId="{6DB5E803-593F-4EA1-A1D2-EA4A6DE7C436}" destId="{A52EFC9B-6D0F-42EE-A732-90D3C9ED1F83}" srcOrd="2" destOrd="0" presId="urn:microsoft.com/office/officeart/2005/8/layout/hierarchy6"/>
    <dgm:cxn modelId="{3CC805D3-E575-4C39-9588-90FC4B8EB19A}" type="presParOf" srcId="{6DB5E803-593F-4EA1-A1D2-EA4A6DE7C436}" destId="{6353652D-4DC4-431B-821A-BDD7ED98F338}" srcOrd="3" destOrd="0" presId="urn:microsoft.com/office/officeart/2005/8/layout/hierarchy6"/>
    <dgm:cxn modelId="{CF423EAF-B4E7-4518-B125-9BC1FA2A47BC}" type="presParOf" srcId="{6353652D-4DC4-431B-821A-BDD7ED98F338}" destId="{135D3F14-C639-46E9-98CA-5DC0FF59C12F}" srcOrd="0" destOrd="0" presId="urn:microsoft.com/office/officeart/2005/8/layout/hierarchy6"/>
    <dgm:cxn modelId="{5AA8162F-D3BE-48E5-9259-8186CBED66E1}" type="presParOf" srcId="{6353652D-4DC4-431B-821A-BDD7ED98F338}" destId="{12A55314-805E-4D19-AC8A-E0BBCF2B3051}" srcOrd="1" destOrd="0" presId="urn:microsoft.com/office/officeart/2005/8/layout/hierarchy6"/>
    <dgm:cxn modelId="{B28D15DC-000C-43D3-8D8E-AC9642A50FF7}" type="presParOf" srcId="{6F62EFA1-74C5-44B1-BA3A-A04BA9205E13}" destId="{DE1C6701-A890-4DF6-AD02-CA740044166A}"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57A75E-36B8-451A-80F9-36F49FB6D7F7}" type="doc">
      <dgm:prSet loTypeId="urn:microsoft.com/office/officeart/2005/8/layout/hierarchy6" loCatId="hierarchy" qsTypeId="urn:microsoft.com/office/officeart/2005/8/quickstyle/simple1#2" qsCatId="simple" csTypeId="urn:microsoft.com/office/officeart/2005/8/colors/accent0_1#1" csCatId="mainScheme" phldr="1"/>
      <dgm:spPr/>
      <dgm:t>
        <a:bodyPr/>
        <a:lstStyle/>
        <a:p>
          <a:endParaRPr lang="en-IN"/>
        </a:p>
      </dgm:t>
    </dgm:pt>
    <dgm:pt modelId="{706A5249-CE8C-4C5F-9600-5420E55178D1}">
      <dgm:prSet phldrT="[Text]" custT="1"/>
      <dgm:spPr/>
      <dgm:t>
        <a:bodyPr/>
        <a:lstStyle/>
        <a:p>
          <a:r>
            <a:rPr lang="en-US" sz="1600" b="1" dirty="0"/>
            <a:t>COMD HQ/ MGGS Ops</a:t>
          </a:r>
          <a:endParaRPr lang="en-IN" sz="1600" b="1" dirty="0"/>
        </a:p>
      </dgm:t>
    </dgm:pt>
    <dgm:pt modelId="{E12A477F-AA85-4DCA-8648-EDCD5CE0FC1E}" type="parTrans" cxnId="{AE95F655-BCD7-42A3-BDE1-E5D8F2D493A1}">
      <dgm:prSet/>
      <dgm:spPr/>
      <dgm:t>
        <a:bodyPr/>
        <a:lstStyle/>
        <a:p>
          <a:endParaRPr lang="en-IN"/>
        </a:p>
      </dgm:t>
    </dgm:pt>
    <dgm:pt modelId="{39530337-EE6E-4806-A5B2-4793D6D709A8}" type="sibTrans" cxnId="{AE95F655-BCD7-42A3-BDE1-E5D8F2D493A1}">
      <dgm:prSet/>
      <dgm:spPr/>
      <dgm:t>
        <a:bodyPr/>
        <a:lstStyle/>
        <a:p>
          <a:endParaRPr lang="en-IN"/>
        </a:p>
      </dgm:t>
    </dgm:pt>
    <dgm:pt modelId="{AA32D4F6-CD9F-4C56-931D-DD9753C31114}">
      <dgm:prSet phldrT="[Text]" custT="1"/>
      <dgm:spPr/>
      <dgm:t>
        <a:bodyPr/>
        <a:lstStyle/>
        <a:p>
          <a:r>
            <a:rPr lang="en-US" sz="1600" b="1" dirty="0"/>
            <a:t>BGS (IW)</a:t>
          </a:r>
          <a:endParaRPr lang="en-IN" sz="1600" b="1" dirty="0"/>
        </a:p>
      </dgm:t>
    </dgm:pt>
    <dgm:pt modelId="{47E13D87-6D6D-4A49-99F4-9CE9534DD0C4}" type="parTrans" cxnId="{D5F0262D-D840-43BA-92B1-D9B93AB69B80}">
      <dgm:prSet/>
      <dgm:spPr/>
      <dgm:t>
        <a:bodyPr/>
        <a:lstStyle/>
        <a:p>
          <a:endParaRPr lang="en-IN"/>
        </a:p>
      </dgm:t>
    </dgm:pt>
    <dgm:pt modelId="{29648805-29ED-4138-8174-308788E6A09D}" type="sibTrans" cxnId="{D5F0262D-D840-43BA-92B1-D9B93AB69B80}">
      <dgm:prSet/>
      <dgm:spPr/>
      <dgm:t>
        <a:bodyPr/>
        <a:lstStyle/>
        <a:p>
          <a:endParaRPr lang="en-IN"/>
        </a:p>
      </dgm:t>
    </dgm:pt>
    <dgm:pt modelId="{44F2946A-3EF3-4F23-B32B-E9C19B4B79C5}">
      <dgm:prSet custT="1"/>
      <dgm:spPr/>
      <dgm:t>
        <a:bodyPr/>
        <a:lstStyle/>
        <a:p>
          <a:r>
            <a:rPr lang="en-US" sz="2000" b="1" dirty="0"/>
            <a:t>Col GS (IW)</a:t>
          </a:r>
          <a:endParaRPr lang="en-IN" sz="2000" b="1" dirty="0"/>
        </a:p>
      </dgm:t>
    </dgm:pt>
    <dgm:pt modelId="{C8DF5616-E742-495E-BD45-F49F28C99733}" type="parTrans" cxnId="{25817EA5-634D-484B-AB5D-CBD60B5AAF08}">
      <dgm:prSet/>
      <dgm:spPr/>
      <dgm:t>
        <a:bodyPr/>
        <a:lstStyle/>
        <a:p>
          <a:endParaRPr lang="en-IN"/>
        </a:p>
      </dgm:t>
    </dgm:pt>
    <dgm:pt modelId="{EAF716C6-588E-4705-B8D3-AAC01E8B76AF}" type="sibTrans" cxnId="{25817EA5-634D-484B-AB5D-CBD60B5AAF08}">
      <dgm:prSet/>
      <dgm:spPr/>
      <dgm:t>
        <a:bodyPr/>
        <a:lstStyle/>
        <a:p>
          <a:endParaRPr lang="en-IN"/>
        </a:p>
      </dgm:t>
    </dgm:pt>
    <dgm:pt modelId="{FF9733EA-4ED7-4971-B43F-082C44DB3A9C}">
      <dgm:prSet custT="1"/>
      <dgm:spPr/>
      <dgm:t>
        <a:bodyPr/>
        <a:lstStyle/>
        <a:p>
          <a:r>
            <a:rPr lang="en-US" sz="1400" b="1" dirty="0">
              <a:latin typeface="Arial" panose="020B0604020202020204" pitchFamily="34" charset="0"/>
              <a:cs typeface="Arial" panose="020B0604020202020204" pitchFamily="34" charset="0"/>
            </a:rPr>
            <a:t>Command Cyber Ops and </a:t>
          </a:r>
          <a:r>
            <a:rPr lang="en-US" sz="1400" b="1" dirty="0" err="1">
              <a:latin typeface="Arial" panose="020B0604020202020204" pitchFamily="34" charset="0"/>
              <a:cs typeface="Arial" panose="020B0604020202020204" pitchFamily="34" charset="0"/>
            </a:rPr>
            <a:t>Sp</a:t>
          </a:r>
          <a:r>
            <a:rPr lang="en-US" sz="1400" b="1" dirty="0">
              <a:latin typeface="Arial" panose="020B0604020202020204" pitchFamily="34" charset="0"/>
              <a:cs typeface="Arial" panose="020B0604020202020204" pitchFamily="34" charset="0"/>
            </a:rPr>
            <a:t> </a:t>
          </a:r>
          <a:r>
            <a:rPr lang="en-US" sz="1400" b="1" dirty="0" err="1">
              <a:latin typeface="Arial" panose="020B0604020202020204" pitchFamily="34" charset="0"/>
              <a:cs typeface="Arial" panose="020B0604020202020204" pitchFamily="34" charset="0"/>
            </a:rPr>
            <a:t>Wg</a:t>
          </a:r>
          <a:r>
            <a:rPr lang="en-US" sz="1400" b="1" dirty="0">
              <a:latin typeface="Arial" panose="020B0604020202020204" pitchFamily="34" charset="0"/>
              <a:cs typeface="Arial" panose="020B0604020202020204" pitchFamily="34" charset="0"/>
            </a:rPr>
            <a:t> (CCOSW</a:t>
          </a:r>
          <a:r>
            <a:rPr lang="en-US" sz="1300" dirty="0"/>
            <a:t>)</a:t>
          </a:r>
          <a:endParaRPr lang="en-IN" sz="1300" dirty="0"/>
        </a:p>
      </dgm:t>
    </dgm:pt>
    <dgm:pt modelId="{F0E38BB1-7A56-4453-897A-6200AF724907}" type="parTrans" cxnId="{F697B371-7C05-4637-8B4C-E8FF55051F8C}">
      <dgm:prSet/>
      <dgm:spPr/>
      <dgm:t>
        <a:bodyPr/>
        <a:lstStyle/>
        <a:p>
          <a:endParaRPr lang="en-IN"/>
        </a:p>
      </dgm:t>
    </dgm:pt>
    <dgm:pt modelId="{31F04D19-B607-4682-9349-99FE94D61F7D}" type="sibTrans" cxnId="{F697B371-7C05-4637-8B4C-E8FF55051F8C}">
      <dgm:prSet/>
      <dgm:spPr/>
      <dgm:t>
        <a:bodyPr/>
        <a:lstStyle/>
        <a:p>
          <a:endParaRPr lang="en-IN"/>
        </a:p>
      </dgm:t>
    </dgm:pt>
    <dgm:pt modelId="{ABD00A94-65BD-4CF6-ADD4-606A1EA62B8A}" type="pres">
      <dgm:prSet presAssocID="{FF57A75E-36B8-451A-80F9-36F49FB6D7F7}" presName="mainComposite" presStyleCnt="0">
        <dgm:presLayoutVars>
          <dgm:chPref val="1"/>
          <dgm:dir/>
          <dgm:animOne val="branch"/>
          <dgm:animLvl val="lvl"/>
          <dgm:resizeHandles val="exact"/>
        </dgm:presLayoutVars>
      </dgm:prSet>
      <dgm:spPr/>
    </dgm:pt>
    <dgm:pt modelId="{B6195F3C-4D6A-4538-80FB-7E02E10C204E}" type="pres">
      <dgm:prSet presAssocID="{FF57A75E-36B8-451A-80F9-36F49FB6D7F7}" presName="hierFlow" presStyleCnt="0"/>
      <dgm:spPr/>
    </dgm:pt>
    <dgm:pt modelId="{258F0FF8-4ABC-4825-83DA-2C7FB07A5F87}" type="pres">
      <dgm:prSet presAssocID="{FF57A75E-36B8-451A-80F9-36F49FB6D7F7}" presName="hierChild1" presStyleCnt="0">
        <dgm:presLayoutVars>
          <dgm:chPref val="1"/>
          <dgm:animOne val="branch"/>
          <dgm:animLvl val="lvl"/>
        </dgm:presLayoutVars>
      </dgm:prSet>
      <dgm:spPr/>
    </dgm:pt>
    <dgm:pt modelId="{4233EEE0-1DD5-4639-ACD8-25BCABADD9BF}" type="pres">
      <dgm:prSet presAssocID="{706A5249-CE8C-4C5F-9600-5420E55178D1}" presName="Name14" presStyleCnt="0"/>
      <dgm:spPr/>
    </dgm:pt>
    <dgm:pt modelId="{1F5CCD44-0CDB-41DB-9024-B38738296A77}" type="pres">
      <dgm:prSet presAssocID="{706A5249-CE8C-4C5F-9600-5420E55178D1}" presName="level1Shape" presStyleLbl="node0" presStyleIdx="0" presStyleCnt="1">
        <dgm:presLayoutVars>
          <dgm:chPref val="3"/>
        </dgm:presLayoutVars>
      </dgm:prSet>
      <dgm:spPr/>
    </dgm:pt>
    <dgm:pt modelId="{853B5468-F2A0-418E-9706-0D66AB707E80}" type="pres">
      <dgm:prSet presAssocID="{706A5249-CE8C-4C5F-9600-5420E55178D1}" presName="hierChild2" presStyleCnt="0"/>
      <dgm:spPr/>
    </dgm:pt>
    <dgm:pt modelId="{DCA8C638-372A-4698-A01B-4F45C99C0598}" type="pres">
      <dgm:prSet presAssocID="{47E13D87-6D6D-4A49-99F4-9CE9534DD0C4}" presName="Name19" presStyleLbl="parChTrans1D2" presStyleIdx="0" presStyleCnt="1"/>
      <dgm:spPr/>
    </dgm:pt>
    <dgm:pt modelId="{B0AA2A37-20D8-4A59-B625-4BF6D5CBD50A}" type="pres">
      <dgm:prSet presAssocID="{AA32D4F6-CD9F-4C56-931D-DD9753C31114}" presName="Name21" presStyleCnt="0"/>
      <dgm:spPr/>
    </dgm:pt>
    <dgm:pt modelId="{D486F532-DB5A-4CCA-8F25-643B90076934}" type="pres">
      <dgm:prSet presAssocID="{AA32D4F6-CD9F-4C56-931D-DD9753C31114}" presName="level2Shape" presStyleLbl="node2" presStyleIdx="0" presStyleCnt="1"/>
      <dgm:spPr/>
    </dgm:pt>
    <dgm:pt modelId="{5FC6AE6A-B448-4CFF-976C-D399A0D873B3}" type="pres">
      <dgm:prSet presAssocID="{AA32D4F6-CD9F-4C56-931D-DD9753C31114}" presName="hierChild3" presStyleCnt="0"/>
      <dgm:spPr/>
    </dgm:pt>
    <dgm:pt modelId="{C373DE2D-B5C1-4C26-9CA5-8999CBD7A71C}" type="pres">
      <dgm:prSet presAssocID="{F0E38BB1-7A56-4453-897A-6200AF724907}" presName="Name19" presStyleLbl="parChTrans1D3" presStyleIdx="0" presStyleCnt="2"/>
      <dgm:spPr/>
    </dgm:pt>
    <dgm:pt modelId="{E89570DB-5F21-4EEE-801A-A2ED3645A0E7}" type="pres">
      <dgm:prSet presAssocID="{FF9733EA-4ED7-4971-B43F-082C44DB3A9C}" presName="Name21" presStyleCnt="0"/>
      <dgm:spPr/>
    </dgm:pt>
    <dgm:pt modelId="{14B4BC4D-B127-4CAE-B3F5-69746E9C7CB4}" type="pres">
      <dgm:prSet presAssocID="{FF9733EA-4ED7-4971-B43F-082C44DB3A9C}" presName="level2Shape" presStyleLbl="node3" presStyleIdx="0" presStyleCnt="2"/>
      <dgm:spPr/>
    </dgm:pt>
    <dgm:pt modelId="{E1E42C5A-6368-4679-931A-1AD227095DA6}" type="pres">
      <dgm:prSet presAssocID="{FF9733EA-4ED7-4971-B43F-082C44DB3A9C}" presName="hierChild3" presStyleCnt="0"/>
      <dgm:spPr/>
    </dgm:pt>
    <dgm:pt modelId="{725FD392-267B-4A07-BD3A-65DF239B36DE}" type="pres">
      <dgm:prSet presAssocID="{C8DF5616-E742-495E-BD45-F49F28C99733}" presName="Name19" presStyleLbl="parChTrans1D3" presStyleIdx="1" presStyleCnt="2"/>
      <dgm:spPr/>
    </dgm:pt>
    <dgm:pt modelId="{73C1504A-D58E-48AC-BFE6-E25783CA77FB}" type="pres">
      <dgm:prSet presAssocID="{44F2946A-3EF3-4F23-B32B-E9C19B4B79C5}" presName="Name21" presStyleCnt="0"/>
      <dgm:spPr/>
    </dgm:pt>
    <dgm:pt modelId="{9C7BF0D4-A835-4F82-A0A5-0E33D99AE933}" type="pres">
      <dgm:prSet presAssocID="{44F2946A-3EF3-4F23-B32B-E9C19B4B79C5}" presName="level2Shape" presStyleLbl="node3" presStyleIdx="1" presStyleCnt="2"/>
      <dgm:spPr/>
    </dgm:pt>
    <dgm:pt modelId="{E011668E-ED9A-402F-A3E9-77BB60AF188A}" type="pres">
      <dgm:prSet presAssocID="{44F2946A-3EF3-4F23-B32B-E9C19B4B79C5}" presName="hierChild3" presStyleCnt="0"/>
      <dgm:spPr/>
    </dgm:pt>
    <dgm:pt modelId="{2779BD10-F791-4248-A912-5D8846A887B5}" type="pres">
      <dgm:prSet presAssocID="{FF57A75E-36B8-451A-80F9-36F49FB6D7F7}" presName="bgShapesFlow" presStyleCnt="0"/>
      <dgm:spPr/>
    </dgm:pt>
  </dgm:ptLst>
  <dgm:cxnLst>
    <dgm:cxn modelId="{A0D88028-7033-42CB-9768-9A04BD6E5347}" type="presOf" srcId="{FF57A75E-36B8-451A-80F9-36F49FB6D7F7}" destId="{ABD00A94-65BD-4CF6-ADD4-606A1EA62B8A}" srcOrd="0" destOrd="0" presId="urn:microsoft.com/office/officeart/2005/8/layout/hierarchy6"/>
    <dgm:cxn modelId="{D5F0262D-D840-43BA-92B1-D9B93AB69B80}" srcId="{706A5249-CE8C-4C5F-9600-5420E55178D1}" destId="{AA32D4F6-CD9F-4C56-931D-DD9753C31114}" srcOrd="0" destOrd="0" parTransId="{47E13D87-6D6D-4A49-99F4-9CE9534DD0C4}" sibTransId="{29648805-29ED-4138-8174-308788E6A09D}"/>
    <dgm:cxn modelId="{C6A89E5E-68D1-41E2-AEA6-26A5B79D994A}" type="presOf" srcId="{C8DF5616-E742-495E-BD45-F49F28C99733}" destId="{725FD392-267B-4A07-BD3A-65DF239B36DE}" srcOrd="0" destOrd="0" presId="urn:microsoft.com/office/officeart/2005/8/layout/hierarchy6"/>
    <dgm:cxn modelId="{A2B35646-79ED-46B8-9714-E7447BEB6191}" type="presOf" srcId="{F0E38BB1-7A56-4453-897A-6200AF724907}" destId="{C373DE2D-B5C1-4C26-9CA5-8999CBD7A71C}" srcOrd="0" destOrd="0" presId="urn:microsoft.com/office/officeart/2005/8/layout/hierarchy6"/>
    <dgm:cxn modelId="{017FB650-072A-4F07-82C9-6B18EA7E1664}" type="presOf" srcId="{47E13D87-6D6D-4A49-99F4-9CE9534DD0C4}" destId="{DCA8C638-372A-4698-A01B-4F45C99C0598}" srcOrd="0" destOrd="0" presId="urn:microsoft.com/office/officeart/2005/8/layout/hierarchy6"/>
    <dgm:cxn modelId="{F697B371-7C05-4637-8B4C-E8FF55051F8C}" srcId="{AA32D4F6-CD9F-4C56-931D-DD9753C31114}" destId="{FF9733EA-4ED7-4971-B43F-082C44DB3A9C}" srcOrd="0" destOrd="0" parTransId="{F0E38BB1-7A56-4453-897A-6200AF724907}" sibTransId="{31F04D19-B607-4682-9349-99FE94D61F7D}"/>
    <dgm:cxn modelId="{AE95F655-BCD7-42A3-BDE1-E5D8F2D493A1}" srcId="{FF57A75E-36B8-451A-80F9-36F49FB6D7F7}" destId="{706A5249-CE8C-4C5F-9600-5420E55178D1}" srcOrd="0" destOrd="0" parTransId="{E12A477F-AA85-4DCA-8648-EDCD5CE0FC1E}" sibTransId="{39530337-EE6E-4806-A5B2-4793D6D709A8}"/>
    <dgm:cxn modelId="{C3495988-B021-457F-AA58-BBFE32CA5D21}" type="presOf" srcId="{706A5249-CE8C-4C5F-9600-5420E55178D1}" destId="{1F5CCD44-0CDB-41DB-9024-B38738296A77}" srcOrd="0" destOrd="0" presId="urn:microsoft.com/office/officeart/2005/8/layout/hierarchy6"/>
    <dgm:cxn modelId="{E3372F8D-E6F1-4375-9C7E-FB7D9D229FDC}" type="presOf" srcId="{44F2946A-3EF3-4F23-B32B-E9C19B4B79C5}" destId="{9C7BF0D4-A835-4F82-A0A5-0E33D99AE933}" srcOrd="0" destOrd="0" presId="urn:microsoft.com/office/officeart/2005/8/layout/hierarchy6"/>
    <dgm:cxn modelId="{20697E9E-DF0B-4D84-9A47-994A4342DD14}" type="presOf" srcId="{AA32D4F6-CD9F-4C56-931D-DD9753C31114}" destId="{D486F532-DB5A-4CCA-8F25-643B90076934}" srcOrd="0" destOrd="0" presId="urn:microsoft.com/office/officeart/2005/8/layout/hierarchy6"/>
    <dgm:cxn modelId="{25817EA5-634D-484B-AB5D-CBD60B5AAF08}" srcId="{AA32D4F6-CD9F-4C56-931D-DD9753C31114}" destId="{44F2946A-3EF3-4F23-B32B-E9C19B4B79C5}" srcOrd="1" destOrd="0" parTransId="{C8DF5616-E742-495E-BD45-F49F28C99733}" sibTransId="{EAF716C6-588E-4705-B8D3-AAC01E8B76AF}"/>
    <dgm:cxn modelId="{063E16BD-827A-44B8-8F38-5153D4F4AF32}" type="presOf" srcId="{FF9733EA-4ED7-4971-B43F-082C44DB3A9C}" destId="{14B4BC4D-B127-4CAE-B3F5-69746E9C7CB4}" srcOrd="0" destOrd="0" presId="urn:microsoft.com/office/officeart/2005/8/layout/hierarchy6"/>
    <dgm:cxn modelId="{C08825F1-B71D-43C9-BC03-3A925F0DCBC4}" type="presParOf" srcId="{ABD00A94-65BD-4CF6-ADD4-606A1EA62B8A}" destId="{B6195F3C-4D6A-4538-80FB-7E02E10C204E}" srcOrd="0" destOrd="0" presId="urn:microsoft.com/office/officeart/2005/8/layout/hierarchy6"/>
    <dgm:cxn modelId="{B7C5411A-2D44-46B5-97E5-65F012C50649}" type="presParOf" srcId="{B6195F3C-4D6A-4538-80FB-7E02E10C204E}" destId="{258F0FF8-4ABC-4825-83DA-2C7FB07A5F87}" srcOrd="0" destOrd="0" presId="urn:microsoft.com/office/officeart/2005/8/layout/hierarchy6"/>
    <dgm:cxn modelId="{CEDB698F-545D-4842-8DC0-C95495F9BBEA}" type="presParOf" srcId="{258F0FF8-4ABC-4825-83DA-2C7FB07A5F87}" destId="{4233EEE0-1DD5-4639-ACD8-25BCABADD9BF}" srcOrd="0" destOrd="0" presId="urn:microsoft.com/office/officeart/2005/8/layout/hierarchy6"/>
    <dgm:cxn modelId="{F08BFEB3-34B0-4E39-BC40-42580BC19C77}" type="presParOf" srcId="{4233EEE0-1DD5-4639-ACD8-25BCABADD9BF}" destId="{1F5CCD44-0CDB-41DB-9024-B38738296A77}" srcOrd="0" destOrd="0" presId="urn:microsoft.com/office/officeart/2005/8/layout/hierarchy6"/>
    <dgm:cxn modelId="{C5A88625-20FD-483C-B009-B7A644671DEC}" type="presParOf" srcId="{4233EEE0-1DD5-4639-ACD8-25BCABADD9BF}" destId="{853B5468-F2A0-418E-9706-0D66AB707E80}" srcOrd="1" destOrd="0" presId="urn:microsoft.com/office/officeart/2005/8/layout/hierarchy6"/>
    <dgm:cxn modelId="{112B0DD6-1A6E-4A76-8AEC-31DE52C5D02F}" type="presParOf" srcId="{853B5468-F2A0-418E-9706-0D66AB707E80}" destId="{DCA8C638-372A-4698-A01B-4F45C99C0598}" srcOrd="0" destOrd="0" presId="urn:microsoft.com/office/officeart/2005/8/layout/hierarchy6"/>
    <dgm:cxn modelId="{8E5C2DE3-28DB-4738-BED2-48FDF5C1C6E0}" type="presParOf" srcId="{853B5468-F2A0-418E-9706-0D66AB707E80}" destId="{B0AA2A37-20D8-4A59-B625-4BF6D5CBD50A}" srcOrd="1" destOrd="0" presId="urn:microsoft.com/office/officeart/2005/8/layout/hierarchy6"/>
    <dgm:cxn modelId="{1F4CE57A-1E6A-4CFA-A5D3-BBF0CDD21C2C}" type="presParOf" srcId="{B0AA2A37-20D8-4A59-B625-4BF6D5CBD50A}" destId="{D486F532-DB5A-4CCA-8F25-643B90076934}" srcOrd="0" destOrd="0" presId="urn:microsoft.com/office/officeart/2005/8/layout/hierarchy6"/>
    <dgm:cxn modelId="{39051EE0-2718-4EBD-9905-93C74917B909}" type="presParOf" srcId="{B0AA2A37-20D8-4A59-B625-4BF6D5CBD50A}" destId="{5FC6AE6A-B448-4CFF-976C-D399A0D873B3}" srcOrd="1" destOrd="0" presId="urn:microsoft.com/office/officeart/2005/8/layout/hierarchy6"/>
    <dgm:cxn modelId="{5364CBD5-242C-485B-B7F4-37727D236900}" type="presParOf" srcId="{5FC6AE6A-B448-4CFF-976C-D399A0D873B3}" destId="{C373DE2D-B5C1-4C26-9CA5-8999CBD7A71C}" srcOrd="0" destOrd="0" presId="urn:microsoft.com/office/officeart/2005/8/layout/hierarchy6"/>
    <dgm:cxn modelId="{151B4E48-C99F-483A-AD65-59BE3F9F0AB4}" type="presParOf" srcId="{5FC6AE6A-B448-4CFF-976C-D399A0D873B3}" destId="{E89570DB-5F21-4EEE-801A-A2ED3645A0E7}" srcOrd="1" destOrd="0" presId="urn:microsoft.com/office/officeart/2005/8/layout/hierarchy6"/>
    <dgm:cxn modelId="{C10FB486-E196-4770-88B0-2A9DCE317A4A}" type="presParOf" srcId="{E89570DB-5F21-4EEE-801A-A2ED3645A0E7}" destId="{14B4BC4D-B127-4CAE-B3F5-69746E9C7CB4}" srcOrd="0" destOrd="0" presId="urn:microsoft.com/office/officeart/2005/8/layout/hierarchy6"/>
    <dgm:cxn modelId="{7B4DA060-6854-45A7-AB78-373A53F6D915}" type="presParOf" srcId="{E89570DB-5F21-4EEE-801A-A2ED3645A0E7}" destId="{E1E42C5A-6368-4679-931A-1AD227095DA6}" srcOrd="1" destOrd="0" presId="urn:microsoft.com/office/officeart/2005/8/layout/hierarchy6"/>
    <dgm:cxn modelId="{E10D5776-7315-4217-85C8-4C6500C34621}" type="presParOf" srcId="{5FC6AE6A-B448-4CFF-976C-D399A0D873B3}" destId="{725FD392-267B-4A07-BD3A-65DF239B36DE}" srcOrd="2" destOrd="0" presId="urn:microsoft.com/office/officeart/2005/8/layout/hierarchy6"/>
    <dgm:cxn modelId="{1DEECCD4-AF41-450E-9CC4-A59D39ED4B5B}" type="presParOf" srcId="{5FC6AE6A-B448-4CFF-976C-D399A0D873B3}" destId="{73C1504A-D58E-48AC-BFE6-E25783CA77FB}" srcOrd="3" destOrd="0" presId="urn:microsoft.com/office/officeart/2005/8/layout/hierarchy6"/>
    <dgm:cxn modelId="{B99F3C6F-AF27-4965-98DD-776429D5A274}" type="presParOf" srcId="{73C1504A-D58E-48AC-BFE6-E25783CA77FB}" destId="{9C7BF0D4-A835-4F82-A0A5-0E33D99AE933}" srcOrd="0" destOrd="0" presId="urn:microsoft.com/office/officeart/2005/8/layout/hierarchy6"/>
    <dgm:cxn modelId="{C7B5E863-3305-47DA-997B-DB36030EE8A8}" type="presParOf" srcId="{73C1504A-D58E-48AC-BFE6-E25783CA77FB}" destId="{E011668E-ED9A-402F-A3E9-77BB60AF188A}" srcOrd="1" destOrd="0" presId="urn:microsoft.com/office/officeart/2005/8/layout/hierarchy6"/>
    <dgm:cxn modelId="{6C389DC4-786D-454A-8B3B-C619BEC7B1CC}" type="presParOf" srcId="{ABD00A94-65BD-4CF6-ADD4-606A1EA62B8A}" destId="{2779BD10-F791-4248-A912-5D8846A887B5}" srcOrd="1" destOrd="0" presId="urn:microsoft.com/office/officeart/2005/8/layout/hierarchy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5609E2-52A7-4186-B8C4-CA0E22E6EE6D}" type="doc">
      <dgm:prSet loTypeId="urn:microsoft.com/office/officeart/2008/layout/HalfCircleOrganizationChart" loCatId="hierarchy" qsTypeId="urn:microsoft.com/office/officeart/2005/8/quickstyle/simple3#2" qsCatId="simple" csTypeId="urn:microsoft.com/office/officeart/2005/8/colors/accent2_2#1" csCatId="accent2" phldr="1"/>
      <dgm:spPr/>
      <dgm:t>
        <a:bodyPr/>
        <a:lstStyle/>
        <a:p>
          <a:endParaRPr lang="en-IN"/>
        </a:p>
      </dgm:t>
    </dgm:pt>
    <dgm:pt modelId="{2B524651-7FEA-4ECA-AD2A-B5685BB0D2F4}">
      <dgm:prSet phldrT="[Text]" custT="1"/>
      <dgm:spPr/>
      <dgm:t>
        <a:bodyPr/>
        <a:lstStyle/>
        <a:p>
          <a:r>
            <a:rPr lang="en-US" sz="1400" b="1" dirty="0">
              <a:latin typeface="Arial" panose="020B0604020202020204" pitchFamily="34" charset="0"/>
              <a:cs typeface="Arial" panose="020B0604020202020204" pitchFamily="34" charset="0"/>
            </a:rPr>
            <a:t>COMMANDER/</a:t>
          </a:r>
        </a:p>
        <a:p>
          <a:r>
            <a:rPr lang="en-US" sz="1400" b="1" dirty="0">
              <a:latin typeface="Arial" panose="020B0604020202020204" pitchFamily="34" charset="0"/>
              <a:cs typeface="Arial" panose="020B0604020202020204" pitchFamily="34" charset="0"/>
            </a:rPr>
            <a:t>HEAD</a:t>
          </a:r>
          <a:endParaRPr lang="en-IN" sz="1400" b="1" dirty="0">
            <a:latin typeface="Arial" panose="020B0604020202020204" pitchFamily="34" charset="0"/>
            <a:cs typeface="Arial" panose="020B0604020202020204" pitchFamily="34" charset="0"/>
          </a:endParaRPr>
        </a:p>
      </dgm:t>
    </dgm:pt>
    <dgm:pt modelId="{736F8240-8ED4-47B0-9BAD-354FE4E6F212}" type="parTrans" cxnId="{0CB92C1D-7E3B-4B12-B8AD-65B27C62E3F3}">
      <dgm:prSet/>
      <dgm:spPr/>
      <dgm:t>
        <a:bodyPr/>
        <a:lstStyle/>
        <a:p>
          <a:endParaRPr lang="en-IN"/>
        </a:p>
      </dgm:t>
    </dgm:pt>
    <dgm:pt modelId="{E0B9810E-7CDC-4CB6-BCBF-0CB23744E4D2}" type="sibTrans" cxnId="{0CB92C1D-7E3B-4B12-B8AD-65B27C62E3F3}">
      <dgm:prSet/>
      <dgm:spPr/>
      <dgm:t>
        <a:bodyPr/>
        <a:lstStyle/>
        <a:p>
          <a:endParaRPr lang="en-IN"/>
        </a:p>
      </dgm:t>
    </dgm:pt>
    <dgm:pt modelId="{B1FD72F1-55A7-4C0F-9BD9-C70F39B9568D}">
      <dgm:prSet phldrT="[Text]" custT="1"/>
      <dgm:spPr/>
      <dgm:t>
        <a:bodyPr/>
        <a:lstStyle/>
        <a:p>
          <a:r>
            <a:rPr lang="en-US" sz="1400" b="1" dirty="0">
              <a:latin typeface="Arial" panose="020B0604020202020204" pitchFamily="34" charset="0"/>
              <a:cs typeface="Arial" panose="020B0604020202020204" pitchFamily="34" charset="0"/>
            </a:rPr>
            <a:t>Chief information security officer (CISO</a:t>
          </a:r>
          <a:r>
            <a:rPr lang="en-US" sz="1600" b="1" dirty="0">
              <a:latin typeface="Arial" panose="020B0604020202020204" pitchFamily="34" charset="0"/>
              <a:cs typeface="Arial" panose="020B0604020202020204" pitchFamily="34" charset="0"/>
            </a:rPr>
            <a:t>)</a:t>
          </a:r>
          <a:endParaRPr lang="en-IN" sz="1600" b="1" dirty="0">
            <a:latin typeface="Arial" panose="020B0604020202020204" pitchFamily="34" charset="0"/>
            <a:cs typeface="Arial" panose="020B0604020202020204" pitchFamily="34" charset="0"/>
          </a:endParaRPr>
        </a:p>
      </dgm:t>
    </dgm:pt>
    <dgm:pt modelId="{9003B537-4972-45A3-BC4F-2B328D279F9D}" type="parTrans" cxnId="{F964FC6F-7E6D-4292-850D-0507DA88E8E1}">
      <dgm:prSet/>
      <dgm:spPr/>
      <dgm:t>
        <a:bodyPr/>
        <a:lstStyle/>
        <a:p>
          <a:endParaRPr lang="en-IN"/>
        </a:p>
      </dgm:t>
    </dgm:pt>
    <dgm:pt modelId="{BA853757-C0F9-47FA-A349-BE34298A70A1}" type="sibTrans" cxnId="{F964FC6F-7E6D-4292-850D-0507DA88E8E1}">
      <dgm:prSet/>
      <dgm:spPr/>
      <dgm:t>
        <a:bodyPr/>
        <a:lstStyle/>
        <a:p>
          <a:endParaRPr lang="en-IN"/>
        </a:p>
      </dgm:t>
    </dgm:pt>
    <dgm:pt modelId="{B1D85034-E11C-4C39-8B66-C2EC73151E57}">
      <dgm:prSet custT="1"/>
      <dgm:spPr/>
      <dgm:t>
        <a:bodyPr/>
        <a:lstStyle/>
        <a:p>
          <a:r>
            <a:rPr lang="en-US" sz="1600" b="1" dirty="0">
              <a:latin typeface="Arial" panose="020B0604020202020204" pitchFamily="34" charset="0"/>
              <a:cs typeface="Arial" panose="020B0604020202020204" pitchFamily="34" charset="0"/>
            </a:rPr>
            <a:t>IT Officer (ITO)</a:t>
          </a:r>
        </a:p>
      </dgm:t>
    </dgm:pt>
    <dgm:pt modelId="{51ABADF9-0FF0-4A6B-9B8F-21077420E25E}" type="parTrans" cxnId="{6084C453-355C-417B-8A42-CC46F7B4CE97}">
      <dgm:prSet/>
      <dgm:spPr/>
      <dgm:t>
        <a:bodyPr/>
        <a:lstStyle/>
        <a:p>
          <a:endParaRPr lang="en-IN"/>
        </a:p>
      </dgm:t>
    </dgm:pt>
    <dgm:pt modelId="{BA2ABD5D-75D3-4077-8393-76B68B5C7F82}" type="sibTrans" cxnId="{6084C453-355C-417B-8A42-CC46F7B4CE97}">
      <dgm:prSet/>
      <dgm:spPr/>
      <dgm:t>
        <a:bodyPr/>
        <a:lstStyle/>
        <a:p>
          <a:endParaRPr lang="en-IN"/>
        </a:p>
      </dgm:t>
    </dgm:pt>
    <dgm:pt modelId="{E1B2E5C4-F6D9-41C9-9D91-8EA9451162F2}">
      <dgm:prSet custT="1"/>
      <dgm:spPr/>
      <dgm:t>
        <a:bodyPr/>
        <a:lstStyle/>
        <a:p>
          <a:r>
            <a:rPr lang="en-US" sz="1600" b="1" dirty="0">
              <a:latin typeface="Arial" panose="020B0604020202020204" pitchFamily="34" charset="0"/>
              <a:cs typeface="Arial" panose="020B0604020202020204" pitchFamily="34" charset="0"/>
            </a:rPr>
            <a:t>Cyber security officer</a:t>
          </a:r>
          <a:endParaRPr lang="en-IN" sz="1600" b="1" dirty="0">
            <a:latin typeface="Arial" panose="020B0604020202020204" pitchFamily="34" charset="0"/>
            <a:cs typeface="Arial" panose="020B0604020202020204" pitchFamily="34" charset="0"/>
          </a:endParaRPr>
        </a:p>
      </dgm:t>
    </dgm:pt>
    <dgm:pt modelId="{2FF5A22C-E6A6-4795-8865-8484BC2933AC}" type="parTrans" cxnId="{83D6D98D-F009-4739-B50F-D5A7776B1025}">
      <dgm:prSet/>
      <dgm:spPr/>
      <dgm:t>
        <a:bodyPr/>
        <a:lstStyle/>
        <a:p>
          <a:endParaRPr lang="en-IN"/>
        </a:p>
      </dgm:t>
    </dgm:pt>
    <dgm:pt modelId="{755C9399-6A11-4E0F-B382-9F55F0665247}" type="sibTrans" cxnId="{83D6D98D-F009-4739-B50F-D5A7776B1025}">
      <dgm:prSet/>
      <dgm:spPr/>
      <dgm:t>
        <a:bodyPr/>
        <a:lstStyle/>
        <a:p>
          <a:endParaRPr lang="en-IN"/>
        </a:p>
      </dgm:t>
    </dgm:pt>
    <dgm:pt modelId="{9D265DC3-48BE-437C-9C41-F7870337AB8D}">
      <dgm:prSet custT="1"/>
      <dgm:spPr/>
      <dgm:t>
        <a:bodyPr/>
        <a:lstStyle/>
        <a:p>
          <a:r>
            <a:rPr lang="en-US" sz="1600" b="1" dirty="0">
              <a:latin typeface="Arial" panose="020B0604020202020204" pitchFamily="34" charset="0"/>
              <a:cs typeface="Arial" panose="020B0604020202020204" pitchFamily="34" charset="0"/>
            </a:rPr>
            <a:t>Network administrator</a:t>
          </a:r>
          <a:endParaRPr lang="en-IN" sz="1600" b="1" dirty="0">
            <a:latin typeface="Arial" panose="020B0604020202020204" pitchFamily="34" charset="0"/>
            <a:cs typeface="Arial" panose="020B0604020202020204" pitchFamily="34" charset="0"/>
          </a:endParaRPr>
        </a:p>
      </dgm:t>
    </dgm:pt>
    <dgm:pt modelId="{FED6408C-73E0-41E5-B9D9-19D3EC4EFF94}" type="parTrans" cxnId="{5F9D11D9-6B0D-4CCF-9EB9-A03094CB18C8}">
      <dgm:prSet/>
      <dgm:spPr/>
      <dgm:t>
        <a:bodyPr/>
        <a:lstStyle/>
        <a:p>
          <a:endParaRPr lang="en-IN"/>
        </a:p>
      </dgm:t>
    </dgm:pt>
    <dgm:pt modelId="{0872C153-F02F-40FE-89A4-E30C72FD49C3}" type="sibTrans" cxnId="{5F9D11D9-6B0D-4CCF-9EB9-A03094CB18C8}">
      <dgm:prSet/>
      <dgm:spPr/>
      <dgm:t>
        <a:bodyPr/>
        <a:lstStyle/>
        <a:p>
          <a:endParaRPr lang="en-IN"/>
        </a:p>
      </dgm:t>
    </dgm:pt>
    <dgm:pt modelId="{3487B990-A912-45A0-899B-C17E892FBCD7}">
      <dgm:prSet custT="1"/>
      <dgm:spPr/>
      <dgm:t>
        <a:bodyPr/>
        <a:lstStyle/>
        <a:p>
          <a:r>
            <a:rPr lang="en-US" sz="1600" b="1" dirty="0">
              <a:latin typeface="Arial" panose="020B0604020202020204" pitchFamily="34" charset="0"/>
              <a:cs typeface="Arial" panose="020B0604020202020204" pitchFamily="34" charset="0"/>
            </a:rPr>
            <a:t>Incident response</a:t>
          </a:r>
          <a:endParaRPr lang="en-IN" sz="1600" b="1" dirty="0">
            <a:latin typeface="Arial" panose="020B0604020202020204" pitchFamily="34" charset="0"/>
            <a:cs typeface="Arial" panose="020B0604020202020204" pitchFamily="34" charset="0"/>
          </a:endParaRPr>
        </a:p>
      </dgm:t>
    </dgm:pt>
    <dgm:pt modelId="{57E2B15F-928D-426A-A154-69DC6C7B7F99}" type="parTrans" cxnId="{659EBBD2-6608-4F3A-BD2D-9220EE70C0F5}">
      <dgm:prSet/>
      <dgm:spPr/>
      <dgm:t>
        <a:bodyPr/>
        <a:lstStyle/>
        <a:p>
          <a:endParaRPr lang="en-IN"/>
        </a:p>
      </dgm:t>
    </dgm:pt>
    <dgm:pt modelId="{DFDFE63B-80C9-4082-B416-FD6457D95E15}" type="sibTrans" cxnId="{659EBBD2-6608-4F3A-BD2D-9220EE70C0F5}">
      <dgm:prSet/>
      <dgm:spPr/>
      <dgm:t>
        <a:bodyPr/>
        <a:lstStyle/>
        <a:p>
          <a:endParaRPr lang="en-IN"/>
        </a:p>
      </dgm:t>
    </dgm:pt>
    <dgm:pt modelId="{F227C59A-DCE4-4601-AE2F-D52EFCFCDC41}">
      <dgm:prSet custT="1"/>
      <dgm:spPr/>
      <dgm:t>
        <a:bodyPr/>
        <a:lstStyle/>
        <a:p>
          <a:r>
            <a:rPr lang="en-US" sz="1600" b="1">
              <a:latin typeface="Arial" panose="020B0604020202020204" pitchFamily="34" charset="0"/>
              <a:cs typeface="Arial" panose="020B0604020202020204" pitchFamily="34" charset="0"/>
            </a:rPr>
            <a:t>Cyber security operations</a:t>
          </a:r>
          <a:endParaRPr lang="en-IN" sz="1600" b="1" dirty="0">
            <a:latin typeface="Arial" panose="020B0604020202020204" pitchFamily="34" charset="0"/>
            <a:cs typeface="Arial" panose="020B0604020202020204" pitchFamily="34" charset="0"/>
          </a:endParaRPr>
        </a:p>
      </dgm:t>
    </dgm:pt>
    <dgm:pt modelId="{E362B90A-033F-432C-9A77-987811D817C0}" type="parTrans" cxnId="{DEEC41FC-274B-443A-980E-A7731CF2D14A}">
      <dgm:prSet/>
      <dgm:spPr/>
      <dgm:t>
        <a:bodyPr/>
        <a:lstStyle/>
        <a:p>
          <a:endParaRPr lang="en-IN"/>
        </a:p>
      </dgm:t>
    </dgm:pt>
    <dgm:pt modelId="{4A515553-14D4-4348-841A-BA53E9A7E69D}" type="sibTrans" cxnId="{DEEC41FC-274B-443A-980E-A7731CF2D14A}">
      <dgm:prSet/>
      <dgm:spPr/>
      <dgm:t>
        <a:bodyPr/>
        <a:lstStyle/>
        <a:p>
          <a:endParaRPr lang="en-IN"/>
        </a:p>
      </dgm:t>
    </dgm:pt>
    <dgm:pt modelId="{CC034B40-BB2F-4F4D-A657-C3F4642CE796}">
      <dgm:prSet custT="1"/>
      <dgm:spPr/>
      <dgm:t>
        <a:bodyPr/>
        <a:lstStyle/>
        <a:p>
          <a:r>
            <a:rPr lang="en-US" sz="1600" b="1" dirty="0">
              <a:latin typeface="Arial" panose="020B0604020202020204" pitchFamily="34" charset="0"/>
              <a:cs typeface="Arial" panose="020B0604020202020204" pitchFamily="34" charset="0"/>
            </a:rPr>
            <a:t>Provisioning of IT assets</a:t>
          </a:r>
          <a:endParaRPr lang="en-IN" sz="1600" b="1" dirty="0">
            <a:latin typeface="Arial" panose="020B0604020202020204" pitchFamily="34" charset="0"/>
            <a:cs typeface="Arial" panose="020B0604020202020204" pitchFamily="34" charset="0"/>
          </a:endParaRPr>
        </a:p>
      </dgm:t>
    </dgm:pt>
    <dgm:pt modelId="{F4894064-6D6B-4A5D-8D6F-AC7BD33B7394}" type="parTrans" cxnId="{A317649E-AE16-4437-A593-9B37A54788F5}">
      <dgm:prSet/>
      <dgm:spPr/>
      <dgm:t>
        <a:bodyPr/>
        <a:lstStyle/>
        <a:p>
          <a:endParaRPr lang="en-IN"/>
        </a:p>
      </dgm:t>
    </dgm:pt>
    <dgm:pt modelId="{A582437E-80FE-4A7F-AD5A-083D8CA715A7}" type="sibTrans" cxnId="{A317649E-AE16-4437-A593-9B37A54788F5}">
      <dgm:prSet/>
      <dgm:spPr/>
      <dgm:t>
        <a:bodyPr/>
        <a:lstStyle/>
        <a:p>
          <a:endParaRPr lang="en-IN"/>
        </a:p>
      </dgm:t>
    </dgm:pt>
    <dgm:pt modelId="{1BEF78E4-41C2-41A3-9CDC-E9583FCBCEAE}">
      <dgm:prSet custT="1"/>
      <dgm:spPr/>
      <dgm:t>
        <a:bodyPr/>
        <a:lstStyle/>
        <a:p>
          <a:r>
            <a:rPr lang="en-US" sz="1600" b="1" dirty="0">
              <a:latin typeface="Arial" panose="020B0604020202020204" pitchFamily="34" charset="0"/>
              <a:cs typeface="Arial" panose="020B0604020202020204" pitchFamily="34" charset="0"/>
            </a:rPr>
            <a:t>ADN</a:t>
          </a:r>
          <a:endParaRPr lang="en-IN" sz="1600" b="1" dirty="0">
            <a:latin typeface="Arial" panose="020B0604020202020204" pitchFamily="34" charset="0"/>
            <a:cs typeface="Arial" panose="020B0604020202020204" pitchFamily="34" charset="0"/>
          </a:endParaRPr>
        </a:p>
      </dgm:t>
    </dgm:pt>
    <dgm:pt modelId="{0E554C0A-4A60-45FA-B537-8F4B599B8D14}" type="parTrans" cxnId="{9590DB58-6F73-4AB2-BA10-174049C45B78}">
      <dgm:prSet/>
      <dgm:spPr/>
      <dgm:t>
        <a:bodyPr/>
        <a:lstStyle/>
        <a:p>
          <a:endParaRPr lang="en-IN"/>
        </a:p>
      </dgm:t>
    </dgm:pt>
    <dgm:pt modelId="{C10250AF-5D70-4315-B853-C961343DC4A8}" type="sibTrans" cxnId="{9590DB58-6F73-4AB2-BA10-174049C45B78}">
      <dgm:prSet/>
      <dgm:spPr/>
      <dgm:t>
        <a:bodyPr/>
        <a:lstStyle/>
        <a:p>
          <a:endParaRPr lang="en-IN"/>
        </a:p>
      </dgm:t>
    </dgm:pt>
    <dgm:pt modelId="{B4B09EC2-8B25-4D81-9101-304B3E7E0E43}">
      <dgm:prSet custT="1"/>
      <dgm:spPr/>
      <dgm:t>
        <a:bodyPr/>
        <a:lstStyle/>
        <a:p>
          <a:r>
            <a:rPr lang="en-US" sz="1600" b="1" dirty="0">
              <a:latin typeface="Arial" panose="020B0604020202020204" pitchFamily="34" charset="0"/>
              <a:cs typeface="Arial" panose="020B0604020202020204" pitchFamily="34" charset="0"/>
            </a:rPr>
            <a:t>Local network administration</a:t>
          </a:r>
          <a:endParaRPr lang="en-IN" sz="1600" b="1" dirty="0">
            <a:latin typeface="Arial" panose="020B0604020202020204" pitchFamily="34" charset="0"/>
            <a:cs typeface="Arial" panose="020B0604020202020204" pitchFamily="34" charset="0"/>
          </a:endParaRPr>
        </a:p>
      </dgm:t>
    </dgm:pt>
    <dgm:pt modelId="{6BA36357-774D-4D13-BA4A-C8869C55CCD8}" type="parTrans" cxnId="{064D7249-4FC7-4F0B-811A-B8929D663627}">
      <dgm:prSet/>
      <dgm:spPr/>
      <dgm:t>
        <a:bodyPr/>
        <a:lstStyle/>
        <a:p>
          <a:endParaRPr lang="en-IN"/>
        </a:p>
      </dgm:t>
    </dgm:pt>
    <dgm:pt modelId="{78374F3A-1098-47A4-B043-097BBA31ACC9}" type="sibTrans" cxnId="{064D7249-4FC7-4F0B-811A-B8929D663627}">
      <dgm:prSet/>
      <dgm:spPr/>
      <dgm:t>
        <a:bodyPr/>
        <a:lstStyle/>
        <a:p>
          <a:endParaRPr lang="en-IN"/>
        </a:p>
      </dgm:t>
    </dgm:pt>
    <dgm:pt modelId="{F7B5B0B8-0174-4A86-8DE9-9C38FA076665}" type="pres">
      <dgm:prSet presAssocID="{D75609E2-52A7-4186-B8C4-CA0E22E6EE6D}" presName="Name0" presStyleCnt="0">
        <dgm:presLayoutVars>
          <dgm:orgChart val="1"/>
          <dgm:chPref val="1"/>
          <dgm:dir/>
          <dgm:animOne val="branch"/>
          <dgm:animLvl val="lvl"/>
          <dgm:resizeHandles/>
        </dgm:presLayoutVars>
      </dgm:prSet>
      <dgm:spPr/>
    </dgm:pt>
    <dgm:pt modelId="{C1338291-C24C-4288-BBE3-027A47FEB222}" type="pres">
      <dgm:prSet presAssocID="{2B524651-7FEA-4ECA-AD2A-B5685BB0D2F4}" presName="hierRoot1" presStyleCnt="0">
        <dgm:presLayoutVars>
          <dgm:hierBranch val="init"/>
        </dgm:presLayoutVars>
      </dgm:prSet>
      <dgm:spPr/>
    </dgm:pt>
    <dgm:pt modelId="{43466E82-33C9-4253-9F5B-BA767193EFEC}" type="pres">
      <dgm:prSet presAssocID="{2B524651-7FEA-4ECA-AD2A-B5685BB0D2F4}" presName="rootComposite1" presStyleCnt="0"/>
      <dgm:spPr/>
    </dgm:pt>
    <dgm:pt modelId="{17C5D96B-8F8B-429B-8113-78C8A2F57F73}" type="pres">
      <dgm:prSet presAssocID="{2B524651-7FEA-4ECA-AD2A-B5685BB0D2F4}" presName="rootText1" presStyleLbl="alignAcc1" presStyleIdx="0" presStyleCnt="0">
        <dgm:presLayoutVars>
          <dgm:chPref val="3"/>
        </dgm:presLayoutVars>
      </dgm:prSet>
      <dgm:spPr/>
    </dgm:pt>
    <dgm:pt modelId="{DE98A7CD-1C6A-41B1-B580-9F9461D05E2A}" type="pres">
      <dgm:prSet presAssocID="{2B524651-7FEA-4ECA-AD2A-B5685BB0D2F4}" presName="topArc1" presStyleLbl="parChTrans1D1" presStyleIdx="0" presStyleCnt="20"/>
      <dgm:spPr/>
    </dgm:pt>
    <dgm:pt modelId="{94E3B0B6-0123-484C-B0BB-07F4AE408F3E}" type="pres">
      <dgm:prSet presAssocID="{2B524651-7FEA-4ECA-AD2A-B5685BB0D2F4}" presName="bottomArc1" presStyleLbl="parChTrans1D1" presStyleIdx="1" presStyleCnt="20"/>
      <dgm:spPr/>
    </dgm:pt>
    <dgm:pt modelId="{781E6344-C558-4D2B-9247-53EA4307A015}" type="pres">
      <dgm:prSet presAssocID="{2B524651-7FEA-4ECA-AD2A-B5685BB0D2F4}" presName="topConnNode1" presStyleLbl="node1" presStyleIdx="0" presStyleCnt="0"/>
      <dgm:spPr/>
    </dgm:pt>
    <dgm:pt modelId="{11D5831E-D1C6-4718-9BAA-908A23C411C9}" type="pres">
      <dgm:prSet presAssocID="{2B524651-7FEA-4ECA-AD2A-B5685BB0D2F4}" presName="hierChild2" presStyleCnt="0"/>
      <dgm:spPr/>
    </dgm:pt>
    <dgm:pt modelId="{39D01323-F86D-4CB8-8B3B-38E81E078C48}" type="pres">
      <dgm:prSet presAssocID="{9003B537-4972-45A3-BC4F-2B328D279F9D}" presName="Name28" presStyleLbl="parChTrans1D2" presStyleIdx="0" presStyleCnt="1"/>
      <dgm:spPr/>
    </dgm:pt>
    <dgm:pt modelId="{48E5C2B7-D555-4A6D-A95C-209923C59070}" type="pres">
      <dgm:prSet presAssocID="{B1FD72F1-55A7-4C0F-9BD9-C70F39B9568D}" presName="hierRoot2" presStyleCnt="0">
        <dgm:presLayoutVars>
          <dgm:hierBranch val="init"/>
        </dgm:presLayoutVars>
      </dgm:prSet>
      <dgm:spPr/>
    </dgm:pt>
    <dgm:pt modelId="{D5FDBE1E-A78F-4CF1-9C3C-352E1A58A54A}" type="pres">
      <dgm:prSet presAssocID="{B1FD72F1-55A7-4C0F-9BD9-C70F39B9568D}" presName="rootComposite2" presStyleCnt="0"/>
      <dgm:spPr/>
    </dgm:pt>
    <dgm:pt modelId="{FF5C0C26-DD09-4EC8-BEF4-6B419B9B0B03}" type="pres">
      <dgm:prSet presAssocID="{B1FD72F1-55A7-4C0F-9BD9-C70F39B9568D}" presName="rootText2" presStyleLbl="alignAcc1" presStyleIdx="0" presStyleCnt="0">
        <dgm:presLayoutVars>
          <dgm:chPref val="3"/>
        </dgm:presLayoutVars>
      </dgm:prSet>
      <dgm:spPr/>
    </dgm:pt>
    <dgm:pt modelId="{234984E8-8520-47E8-A8EF-8FD15B2764CE}" type="pres">
      <dgm:prSet presAssocID="{B1FD72F1-55A7-4C0F-9BD9-C70F39B9568D}" presName="topArc2" presStyleLbl="parChTrans1D1" presStyleIdx="2" presStyleCnt="20"/>
      <dgm:spPr/>
    </dgm:pt>
    <dgm:pt modelId="{E4A0EE7F-3567-4EE0-874F-70997AAC8419}" type="pres">
      <dgm:prSet presAssocID="{B1FD72F1-55A7-4C0F-9BD9-C70F39B9568D}" presName="bottomArc2" presStyleLbl="parChTrans1D1" presStyleIdx="3" presStyleCnt="20"/>
      <dgm:spPr/>
    </dgm:pt>
    <dgm:pt modelId="{1951671E-7EFC-49FC-A9BF-6A9E1B45CFBC}" type="pres">
      <dgm:prSet presAssocID="{B1FD72F1-55A7-4C0F-9BD9-C70F39B9568D}" presName="topConnNode2" presStyleLbl="node2" presStyleIdx="0" presStyleCnt="0"/>
      <dgm:spPr/>
    </dgm:pt>
    <dgm:pt modelId="{D5D9C653-76ED-4DD9-9E93-2F8DB69B53B5}" type="pres">
      <dgm:prSet presAssocID="{B1FD72F1-55A7-4C0F-9BD9-C70F39B9568D}" presName="hierChild4" presStyleCnt="0"/>
      <dgm:spPr/>
    </dgm:pt>
    <dgm:pt modelId="{20C185DB-3F72-4CA6-8BF7-B4D3429A560F}" type="pres">
      <dgm:prSet presAssocID="{2FF5A22C-E6A6-4795-8865-8484BC2933AC}" presName="Name28" presStyleLbl="parChTrans1D3" presStyleIdx="0" presStyleCnt="3"/>
      <dgm:spPr/>
    </dgm:pt>
    <dgm:pt modelId="{DB14793E-B364-4523-AFAD-0F708293F51B}" type="pres">
      <dgm:prSet presAssocID="{E1B2E5C4-F6D9-41C9-9D91-8EA9451162F2}" presName="hierRoot2" presStyleCnt="0">
        <dgm:presLayoutVars>
          <dgm:hierBranch val="init"/>
        </dgm:presLayoutVars>
      </dgm:prSet>
      <dgm:spPr/>
    </dgm:pt>
    <dgm:pt modelId="{B5719518-6F9A-4F53-8A06-4177C4D1CD54}" type="pres">
      <dgm:prSet presAssocID="{E1B2E5C4-F6D9-41C9-9D91-8EA9451162F2}" presName="rootComposite2" presStyleCnt="0"/>
      <dgm:spPr/>
    </dgm:pt>
    <dgm:pt modelId="{92F4C185-C1DF-486D-BD62-F389867DFE60}" type="pres">
      <dgm:prSet presAssocID="{E1B2E5C4-F6D9-41C9-9D91-8EA9451162F2}" presName="rootText2" presStyleLbl="alignAcc1" presStyleIdx="0" presStyleCnt="0">
        <dgm:presLayoutVars>
          <dgm:chPref val="3"/>
        </dgm:presLayoutVars>
      </dgm:prSet>
      <dgm:spPr/>
    </dgm:pt>
    <dgm:pt modelId="{ADAF66F7-A575-4A5C-A10C-40EE678A0372}" type="pres">
      <dgm:prSet presAssocID="{E1B2E5C4-F6D9-41C9-9D91-8EA9451162F2}" presName="topArc2" presStyleLbl="parChTrans1D1" presStyleIdx="4" presStyleCnt="20"/>
      <dgm:spPr/>
    </dgm:pt>
    <dgm:pt modelId="{C05222A6-C97E-4F77-9E5D-1BE012A11A84}" type="pres">
      <dgm:prSet presAssocID="{E1B2E5C4-F6D9-41C9-9D91-8EA9451162F2}" presName="bottomArc2" presStyleLbl="parChTrans1D1" presStyleIdx="5" presStyleCnt="20"/>
      <dgm:spPr/>
    </dgm:pt>
    <dgm:pt modelId="{904BDBDC-A476-40FE-B020-64E9AD8B2F19}" type="pres">
      <dgm:prSet presAssocID="{E1B2E5C4-F6D9-41C9-9D91-8EA9451162F2}" presName="topConnNode2" presStyleLbl="node3" presStyleIdx="0" presStyleCnt="0"/>
      <dgm:spPr/>
    </dgm:pt>
    <dgm:pt modelId="{0F79F02D-08CD-4431-AA6E-CCCD97D1AF39}" type="pres">
      <dgm:prSet presAssocID="{E1B2E5C4-F6D9-41C9-9D91-8EA9451162F2}" presName="hierChild4" presStyleCnt="0"/>
      <dgm:spPr/>
    </dgm:pt>
    <dgm:pt modelId="{3754D663-85D7-4F3E-B4AC-24452D80D26E}" type="pres">
      <dgm:prSet presAssocID="{E362B90A-033F-432C-9A77-987811D817C0}" presName="Name28" presStyleLbl="parChTrans1D4" presStyleIdx="0" presStyleCnt="5"/>
      <dgm:spPr/>
    </dgm:pt>
    <dgm:pt modelId="{755EC36D-D3F6-4827-AD47-E7F91D1CCE47}" type="pres">
      <dgm:prSet presAssocID="{F227C59A-DCE4-4601-AE2F-D52EFCFCDC41}" presName="hierRoot2" presStyleCnt="0">
        <dgm:presLayoutVars>
          <dgm:hierBranch val="init"/>
        </dgm:presLayoutVars>
      </dgm:prSet>
      <dgm:spPr/>
    </dgm:pt>
    <dgm:pt modelId="{F69023E3-5078-4A4A-8897-AEBD0216F156}" type="pres">
      <dgm:prSet presAssocID="{F227C59A-DCE4-4601-AE2F-D52EFCFCDC41}" presName="rootComposite2" presStyleCnt="0"/>
      <dgm:spPr/>
    </dgm:pt>
    <dgm:pt modelId="{AFA53E9E-43D9-45D9-8036-F92E19F6EB71}" type="pres">
      <dgm:prSet presAssocID="{F227C59A-DCE4-4601-AE2F-D52EFCFCDC41}" presName="rootText2" presStyleLbl="alignAcc1" presStyleIdx="0" presStyleCnt="0">
        <dgm:presLayoutVars>
          <dgm:chPref val="3"/>
        </dgm:presLayoutVars>
      </dgm:prSet>
      <dgm:spPr/>
    </dgm:pt>
    <dgm:pt modelId="{13F5FD96-669E-4E93-9E48-243FD84E9C69}" type="pres">
      <dgm:prSet presAssocID="{F227C59A-DCE4-4601-AE2F-D52EFCFCDC41}" presName="topArc2" presStyleLbl="parChTrans1D1" presStyleIdx="6" presStyleCnt="20"/>
      <dgm:spPr/>
    </dgm:pt>
    <dgm:pt modelId="{ED6D15F1-C900-4C0A-BADE-8031AA4BD69F}" type="pres">
      <dgm:prSet presAssocID="{F227C59A-DCE4-4601-AE2F-D52EFCFCDC41}" presName="bottomArc2" presStyleLbl="parChTrans1D1" presStyleIdx="7" presStyleCnt="20"/>
      <dgm:spPr/>
    </dgm:pt>
    <dgm:pt modelId="{BC474888-764A-437B-B076-40AEB1543F09}" type="pres">
      <dgm:prSet presAssocID="{F227C59A-DCE4-4601-AE2F-D52EFCFCDC41}" presName="topConnNode2" presStyleLbl="node4" presStyleIdx="0" presStyleCnt="0"/>
      <dgm:spPr/>
    </dgm:pt>
    <dgm:pt modelId="{ADAA5E69-FE1C-474B-B2D1-D83FDC61640B}" type="pres">
      <dgm:prSet presAssocID="{F227C59A-DCE4-4601-AE2F-D52EFCFCDC41}" presName="hierChild4" presStyleCnt="0"/>
      <dgm:spPr/>
    </dgm:pt>
    <dgm:pt modelId="{32A1981A-181C-46CA-A323-13534995DC28}" type="pres">
      <dgm:prSet presAssocID="{F227C59A-DCE4-4601-AE2F-D52EFCFCDC41}" presName="hierChild5" presStyleCnt="0"/>
      <dgm:spPr/>
    </dgm:pt>
    <dgm:pt modelId="{534C1A57-4E26-47D5-A254-D5F5B91ABA7A}" type="pres">
      <dgm:prSet presAssocID="{57E2B15F-928D-426A-A154-69DC6C7B7F99}" presName="Name28" presStyleLbl="parChTrans1D4" presStyleIdx="1" presStyleCnt="5"/>
      <dgm:spPr/>
    </dgm:pt>
    <dgm:pt modelId="{9F33575B-DBAC-4310-91B3-4A00815E2631}" type="pres">
      <dgm:prSet presAssocID="{3487B990-A912-45A0-899B-C17E892FBCD7}" presName="hierRoot2" presStyleCnt="0">
        <dgm:presLayoutVars>
          <dgm:hierBranch val="init"/>
        </dgm:presLayoutVars>
      </dgm:prSet>
      <dgm:spPr/>
    </dgm:pt>
    <dgm:pt modelId="{4C3E9ABD-52EB-4450-8DE8-6CDDDCE91E69}" type="pres">
      <dgm:prSet presAssocID="{3487B990-A912-45A0-899B-C17E892FBCD7}" presName="rootComposite2" presStyleCnt="0"/>
      <dgm:spPr/>
    </dgm:pt>
    <dgm:pt modelId="{AB40DBCB-B650-40F1-A091-332D63F8C4A3}" type="pres">
      <dgm:prSet presAssocID="{3487B990-A912-45A0-899B-C17E892FBCD7}" presName="rootText2" presStyleLbl="alignAcc1" presStyleIdx="0" presStyleCnt="0">
        <dgm:presLayoutVars>
          <dgm:chPref val="3"/>
        </dgm:presLayoutVars>
      </dgm:prSet>
      <dgm:spPr/>
    </dgm:pt>
    <dgm:pt modelId="{384980F0-F4E8-4D4E-8C65-E81F921E52BD}" type="pres">
      <dgm:prSet presAssocID="{3487B990-A912-45A0-899B-C17E892FBCD7}" presName="topArc2" presStyleLbl="parChTrans1D1" presStyleIdx="8" presStyleCnt="20"/>
      <dgm:spPr/>
    </dgm:pt>
    <dgm:pt modelId="{D1F29346-7580-4C1C-8E11-A60699464C59}" type="pres">
      <dgm:prSet presAssocID="{3487B990-A912-45A0-899B-C17E892FBCD7}" presName="bottomArc2" presStyleLbl="parChTrans1D1" presStyleIdx="9" presStyleCnt="20"/>
      <dgm:spPr/>
    </dgm:pt>
    <dgm:pt modelId="{7CCE0991-C47E-4952-92A2-698E70A9576A}" type="pres">
      <dgm:prSet presAssocID="{3487B990-A912-45A0-899B-C17E892FBCD7}" presName="topConnNode2" presStyleLbl="node4" presStyleIdx="0" presStyleCnt="0"/>
      <dgm:spPr/>
    </dgm:pt>
    <dgm:pt modelId="{E412E8B9-996E-412C-A588-F76F1C665897}" type="pres">
      <dgm:prSet presAssocID="{3487B990-A912-45A0-899B-C17E892FBCD7}" presName="hierChild4" presStyleCnt="0"/>
      <dgm:spPr/>
    </dgm:pt>
    <dgm:pt modelId="{77C550E7-CAE5-4960-A601-81C8DE8147F6}" type="pres">
      <dgm:prSet presAssocID="{3487B990-A912-45A0-899B-C17E892FBCD7}" presName="hierChild5" presStyleCnt="0"/>
      <dgm:spPr/>
    </dgm:pt>
    <dgm:pt modelId="{D2B95492-A26E-4AE8-AC73-CE03A952E9E7}" type="pres">
      <dgm:prSet presAssocID="{E1B2E5C4-F6D9-41C9-9D91-8EA9451162F2}" presName="hierChild5" presStyleCnt="0"/>
      <dgm:spPr/>
    </dgm:pt>
    <dgm:pt modelId="{BD5D5931-1F33-4B8D-87CE-9B4E1BE2C875}" type="pres">
      <dgm:prSet presAssocID="{51ABADF9-0FF0-4A6B-9B8F-21077420E25E}" presName="Name28" presStyleLbl="parChTrans1D3" presStyleIdx="1" presStyleCnt="3"/>
      <dgm:spPr/>
    </dgm:pt>
    <dgm:pt modelId="{21CB82D1-BB2A-49FE-9D0B-91A0AA1E120D}" type="pres">
      <dgm:prSet presAssocID="{B1D85034-E11C-4C39-8B66-C2EC73151E57}" presName="hierRoot2" presStyleCnt="0">
        <dgm:presLayoutVars>
          <dgm:hierBranch val="init"/>
        </dgm:presLayoutVars>
      </dgm:prSet>
      <dgm:spPr/>
    </dgm:pt>
    <dgm:pt modelId="{49065056-456F-4C38-A86D-C09BF3708228}" type="pres">
      <dgm:prSet presAssocID="{B1D85034-E11C-4C39-8B66-C2EC73151E57}" presName="rootComposite2" presStyleCnt="0"/>
      <dgm:spPr/>
    </dgm:pt>
    <dgm:pt modelId="{FC8CCD72-ACA7-4AE8-AC92-2FF336C3EBD1}" type="pres">
      <dgm:prSet presAssocID="{B1D85034-E11C-4C39-8B66-C2EC73151E57}" presName="rootText2" presStyleLbl="alignAcc1" presStyleIdx="0" presStyleCnt="0">
        <dgm:presLayoutVars>
          <dgm:chPref val="3"/>
        </dgm:presLayoutVars>
      </dgm:prSet>
      <dgm:spPr/>
    </dgm:pt>
    <dgm:pt modelId="{6B49C98B-82DA-4521-B1CB-90865BA81E9E}" type="pres">
      <dgm:prSet presAssocID="{B1D85034-E11C-4C39-8B66-C2EC73151E57}" presName="topArc2" presStyleLbl="parChTrans1D1" presStyleIdx="10" presStyleCnt="20"/>
      <dgm:spPr/>
    </dgm:pt>
    <dgm:pt modelId="{FE892461-BD48-45AD-BAC6-C4113BED2934}" type="pres">
      <dgm:prSet presAssocID="{B1D85034-E11C-4C39-8B66-C2EC73151E57}" presName="bottomArc2" presStyleLbl="parChTrans1D1" presStyleIdx="11" presStyleCnt="20"/>
      <dgm:spPr/>
    </dgm:pt>
    <dgm:pt modelId="{0AC3BA84-847D-40F6-8F2F-65ADEE827CD2}" type="pres">
      <dgm:prSet presAssocID="{B1D85034-E11C-4C39-8B66-C2EC73151E57}" presName="topConnNode2" presStyleLbl="node3" presStyleIdx="0" presStyleCnt="0"/>
      <dgm:spPr/>
    </dgm:pt>
    <dgm:pt modelId="{8B746D80-270F-42F4-B322-2EC131940979}" type="pres">
      <dgm:prSet presAssocID="{B1D85034-E11C-4C39-8B66-C2EC73151E57}" presName="hierChild4" presStyleCnt="0"/>
      <dgm:spPr/>
    </dgm:pt>
    <dgm:pt modelId="{8FA969AC-E21A-44C5-9634-8C4D4CA46B4B}" type="pres">
      <dgm:prSet presAssocID="{F4894064-6D6B-4A5D-8D6F-AC7BD33B7394}" presName="Name28" presStyleLbl="parChTrans1D4" presStyleIdx="2" presStyleCnt="5"/>
      <dgm:spPr/>
    </dgm:pt>
    <dgm:pt modelId="{00A4B601-5A29-44F3-A0F2-D2559C5F10CA}" type="pres">
      <dgm:prSet presAssocID="{CC034B40-BB2F-4F4D-A657-C3F4642CE796}" presName="hierRoot2" presStyleCnt="0">
        <dgm:presLayoutVars>
          <dgm:hierBranch val="init"/>
        </dgm:presLayoutVars>
      </dgm:prSet>
      <dgm:spPr/>
    </dgm:pt>
    <dgm:pt modelId="{90066C1B-602D-4BA7-BC31-6978A173C0D2}" type="pres">
      <dgm:prSet presAssocID="{CC034B40-BB2F-4F4D-A657-C3F4642CE796}" presName="rootComposite2" presStyleCnt="0"/>
      <dgm:spPr/>
    </dgm:pt>
    <dgm:pt modelId="{AFE77134-6103-4929-B1F0-148D60A34E5A}" type="pres">
      <dgm:prSet presAssocID="{CC034B40-BB2F-4F4D-A657-C3F4642CE796}" presName="rootText2" presStyleLbl="alignAcc1" presStyleIdx="0" presStyleCnt="0">
        <dgm:presLayoutVars>
          <dgm:chPref val="3"/>
        </dgm:presLayoutVars>
      </dgm:prSet>
      <dgm:spPr/>
    </dgm:pt>
    <dgm:pt modelId="{321A0D2C-396D-4821-901D-B6659CF6DD9F}" type="pres">
      <dgm:prSet presAssocID="{CC034B40-BB2F-4F4D-A657-C3F4642CE796}" presName="topArc2" presStyleLbl="parChTrans1D1" presStyleIdx="12" presStyleCnt="20"/>
      <dgm:spPr/>
    </dgm:pt>
    <dgm:pt modelId="{CDBCDAD0-7010-4897-899C-2473F112FEE6}" type="pres">
      <dgm:prSet presAssocID="{CC034B40-BB2F-4F4D-A657-C3F4642CE796}" presName="bottomArc2" presStyleLbl="parChTrans1D1" presStyleIdx="13" presStyleCnt="20"/>
      <dgm:spPr/>
    </dgm:pt>
    <dgm:pt modelId="{103C0B59-4BEF-4277-B88E-AE0A4E129547}" type="pres">
      <dgm:prSet presAssocID="{CC034B40-BB2F-4F4D-A657-C3F4642CE796}" presName="topConnNode2" presStyleLbl="node4" presStyleIdx="0" presStyleCnt="0"/>
      <dgm:spPr/>
    </dgm:pt>
    <dgm:pt modelId="{78BA7AF8-5FBD-40A2-842F-0D06069B96F1}" type="pres">
      <dgm:prSet presAssocID="{CC034B40-BB2F-4F4D-A657-C3F4642CE796}" presName="hierChild4" presStyleCnt="0"/>
      <dgm:spPr/>
    </dgm:pt>
    <dgm:pt modelId="{8A1C426A-63B6-4CB3-ABD3-081DD4B0EE6E}" type="pres">
      <dgm:prSet presAssocID="{CC034B40-BB2F-4F4D-A657-C3F4642CE796}" presName="hierChild5" presStyleCnt="0"/>
      <dgm:spPr/>
    </dgm:pt>
    <dgm:pt modelId="{328520B2-5CEE-400B-BAE1-FC57C3328491}" type="pres">
      <dgm:prSet presAssocID="{B1D85034-E11C-4C39-8B66-C2EC73151E57}" presName="hierChild5" presStyleCnt="0"/>
      <dgm:spPr/>
    </dgm:pt>
    <dgm:pt modelId="{35CC1D83-C1C6-4F17-BF01-A62E429CF4E3}" type="pres">
      <dgm:prSet presAssocID="{FED6408C-73E0-41E5-B9D9-19D3EC4EFF94}" presName="Name28" presStyleLbl="parChTrans1D3" presStyleIdx="2" presStyleCnt="3"/>
      <dgm:spPr/>
    </dgm:pt>
    <dgm:pt modelId="{E6E581FE-54CB-42A6-AEBF-C9E4443EDAF6}" type="pres">
      <dgm:prSet presAssocID="{9D265DC3-48BE-437C-9C41-F7870337AB8D}" presName="hierRoot2" presStyleCnt="0">
        <dgm:presLayoutVars>
          <dgm:hierBranch val="init"/>
        </dgm:presLayoutVars>
      </dgm:prSet>
      <dgm:spPr/>
    </dgm:pt>
    <dgm:pt modelId="{A5E1C94A-EB25-469D-A53B-F04999BD381B}" type="pres">
      <dgm:prSet presAssocID="{9D265DC3-48BE-437C-9C41-F7870337AB8D}" presName="rootComposite2" presStyleCnt="0"/>
      <dgm:spPr/>
    </dgm:pt>
    <dgm:pt modelId="{92096201-A219-4940-B958-9FF74F11282B}" type="pres">
      <dgm:prSet presAssocID="{9D265DC3-48BE-437C-9C41-F7870337AB8D}" presName="rootText2" presStyleLbl="alignAcc1" presStyleIdx="0" presStyleCnt="0">
        <dgm:presLayoutVars>
          <dgm:chPref val="3"/>
        </dgm:presLayoutVars>
      </dgm:prSet>
      <dgm:spPr/>
    </dgm:pt>
    <dgm:pt modelId="{D901CEC6-A54F-42FA-B67D-70DC8DAB7A7D}" type="pres">
      <dgm:prSet presAssocID="{9D265DC3-48BE-437C-9C41-F7870337AB8D}" presName="topArc2" presStyleLbl="parChTrans1D1" presStyleIdx="14" presStyleCnt="20"/>
      <dgm:spPr/>
    </dgm:pt>
    <dgm:pt modelId="{E626D8C7-97A6-437B-8C8F-6981527AA2FD}" type="pres">
      <dgm:prSet presAssocID="{9D265DC3-48BE-437C-9C41-F7870337AB8D}" presName="bottomArc2" presStyleLbl="parChTrans1D1" presStyleIdx="15" presStyleCnt="20"/>
      <dgm:spPr/>
    </dgm:pt>
    <dgm:pt modelId="{5870FA7E-D861-4579-9D31-87CDAC0E2FEA}" type="pres">
      <dgm:prSet presAssocID="{9D265DC3-48BE-437C-9C41-F7870337AB8D}" presName="topConnNode2" presStyleLbl="node3" presStyleIdx="0" presStyleCnt="0"/>
      <dgm:spPr/>
    </dgm:pt>
    <dgm:pt modelId="{A21191E5-91B4-4ADF-A859-F8B464A60E4C}" type="pres">
      <dgm:prSet presAssocID="{9D265DC3-48BE-437C-9C41-F7870337AB8D}" presName="hierChild4" presStyleCnt="0"/>
      <dgm:spPr/>
    </dgm:pt>
    <dgm:pt modelId="{6AC1DD71-0286-449C-8752-09638602B79C}" type="pres">
      <dgm:prSet presAssocID="{0E554C0A-4A60-45FA-B537-8F4B599B8D14}" presName="Name28" presStyleLbl="parChTrans1D4" presStyleIdx="3" presStyleCnt="5"/>
      <dgm:spPr/>
    </dgm:pt>
    <dgm:pt modelId="{28B4C736-8536-4538-B3C3-7F7FFB7D793D}" type="pres">
      <dgm:prSet presAssocID="{1BEF78E4-41C2-41A3-9CDC-E9583FCBCEAE}" presName="hierRoot2" presStyleCnt="0">
        <dgm:presLayoutVars>
          <dgm:hierBranch val="init"/>
        </dgm:presLayoutVars>
      </dgm:prSet>
      <dgm:spPr/>
    </dgm:pt>
    <dgm:pt modelId="{3F610958-EC91-4B4F-9832-28C4F47E8EAB}" type="pres">
      <dgm:prSet presAssocID="{1BEF78E4-41C2-41A3-9CDC-E9583FCBCEAE}" presName="rootComposite2" presStyleCnt="0"/>
      <dgm:spPr/>
    </dgm:pt>
    <dgm:pt modelId="{6EEB4031-9F98-4BAB-9866-639B6CF55E3F}" type="pres">
      <dgm:prSet presAssocID="{1BEF78E4-41C2-41A3-9CDC-E9583FCBCEAE}" presName="rootText2" presStyleLbl="alignAcc1" presStyleIdx="0" presStyleCnt="0">
        <dgm:presLayoutVars>
          <dgm:chPref val="3"/>
        </dgm:presLayoutVars>
      </dgm:prSet>
      <dgm:spPr/>
    </dgm:pt>
    <dgm:pt modelId="{346A7A55-B7C4-4128-A4A6-94CB726C0B98}" type="pres">
      <dgm:prSet presAssocID="{1BEF78E4-41C2-41A3-9CDC-E9583FCBCEAE}" presName="topArc2" presStyleLbl="parChTrans1D1" presStyleIdx="16" presStyleCnt="20"/>
      <dgm:spPr/>
    </dgm:pt>
    <dgm:pt modelId="{C7E0302A-82BA-4221-A62D-8412D6FF6F65}" type="pres">
      <dgm:prSet presAssocID="{1BEF78E4-41C2-41A3-9CDC-E9583FCBCEAE}" presName="bottomArc2" presStyleLbl="parChTrans1D1" presStyleIdx="17" presStyleCnt="20"/>
      <dgm:spPr/>
    </dgm:pt>
    <dgm:pt modelId="{C965AB7B-C267-4A21-8712-A220B5944FD7}" type="pres">
      <dgm:prSet presAssocID="{1BEF78E4-41C2-41A3-9CDC-E9583FCBCEAE}" presName="topConnNode2" presStyleLbl="node4" presStyleIdx="0" presStyleCnt="0"/>
      <dgm:spPr/>
    </dgm:pt>
    <dgm:pt modelId="{ABBF32E4-D17C-406C-9B53-DE801093F427}" type="pres">
      <dgm:prSet presAssocID="{1BEF78E4-41C2-41A3-9CDC-E9583FCBCEAE}" presName="hierChild4" presStyleCnt="0"/>
      <dgm:spPr/>
    </dgm:pt>
    <dgm:pt modelId="{F11E74BC-DE64-413D-89C0-77226A4E39EB}" type="pres">
      <dgm:prSet presAssocID="{1BEF78E4-41C2-41A3-9CDC-E9583FCBCEAE}" presName="hierChild5" presStyleCnt="0"/>
      <dgm:spPr/>
    </dgm:pt>
    <dgm:pt modelId="{534FD17E-B04C-4090-ABFA-CDBE4B0DB8B3}" type="pres">
      <dgm:prSet presAssocID="{6BA36357-774D-4D13-BA4A-C8869C55CCD8}" presName="Name28" presStyleLbl="parChTrans1D4" presStyleIdx="4" presStyleCnt="5"/>
      <dgm:spPr/>
    </dgm:pt>
    <dgm:pt modelId="{63A38836-9897-4143-8856-BBE42844D762}" type="pres">
      <dgm:prSet presAssocID="{B4B09EC2-8B25-4D81-9101-304B3E7E0E43}" presName="hierRoot2" presStyleCnt="0">
        <dgm:presLayoutVars>
          <dgm:hierBranch val="init"/>
        </dgm:presLayoutVars>
      </dgm:prSet>
      <dgm:spPr/>
    </dgm:pt>
    <dgm:pt modelId="{F88156BA-2003-4D3B-9CC1-F9362C10C726}" type="pres">
      <dgm:prSet presAssocID="{B4B09EC2-8B25-4D81-9101-304B3E7E0E43}" presName="rootComposite2" presStyleCnt="0"/>
      <dgm:spPr/>
    </dgm:pt>
    <dgm:pt modelId="{CDEE9BB3-E125-4338-A1C0-269036A92E48}" type="pres">
      <dgm:prSet presAssocID="{B4B09EC2-8B25-4D81-9101-304B3E7E0E43}" presName="rootText2" presStyleLbl="alignAcc1" presStyleIdx="0" presStyleCnt="0">
        <dgm:presLayoutVars>
          <dgm:chPref val="3"/>
        </dgm:presLayoutVars>
      </dgm:prSet>
      <dgm:spPr/>
    </dgm:pt>
    <dgm:pt modelId="{ECCAB334-3D3C-42A4-93B0-AFA92939C12F}" type="pres">
      <dgm:prSet presAssocID="{B4B09EC2-8B25-4D81-9101-304B3E7E0E43}" presName="topArc2" presStyleLbl="parChTrans1D1" presStyleIdx="18" presStyleCnt="20"/>
      <dgm:spPr/>
    </dgm:pt>
    <dgm:pt modelId="{A8088C66-E09B-4C82-9AB3-A6FC7008BD12}" type="pres">
      <dgm:prSet presAssocID="{B4B09EC2-8B25-4D81-9101-304B3E7E0E43}" presName="bottomArc2" presStyleLbl="parChTrans1D1" presStyleIdx="19" presStyleCnt="20"/>
      <dgm:spPr/>
    </dgm:pt>
    <dgm:pt modelId="{566965E7-A61D-4B85-95C9-FBA877F35A51}" type="pres">
      <dgm:prSet presAssocID="{B4B09EC2-8B25-4D81-9101-304B3E7E0E43}" presName="topConnNode2" presStyleLbl="node4" presStyleIdx="0" presStyleCnt="0"/>
      <dgm:spPr/>
    </dgm:pt>
    <dgm:pt modelId="{156929FF-88D9-42CF-8142-00DF2B0447DF}" type="pres">
      <dgm:prSet presAssocID="{B4B09EC2-8B25-4D81-9101-304B3E7E0E43}" presName="hierChild4" presStyleCnt="0"/>
      <dgm:spPr/>
    </dgm:pt>
    <dgm:pt modelId="{FE287179-F382-4A38-A99F-9112B3AD7D3E}" type="pres">
      <dgm:prSet presAssocID="{B4B09EC2-8B25-4D81-9101-304B3E7E0E43}" presName="hierChild5" presStyleCnt="0"/>
      <dgm:spPr/>
    </dgm:pt>
    <dgm:pt modelId="{BA7532D8-423D-446B-92C0-B45938DCB331}" type="pres">
      <dgm:prSet presAssocID="{9D265DC3-48BE-437C-9C41-F7870337AB8D}" presName="hierChild5" presStyleCnt="0"/>
      <dgm:spPr/>
    </dgm:pt>
    <dgm:pt modelId="{D57A882E-75F4-476C-AE33-855FE4124A11}" type="pres">
      <dgm:prSet presAssocID="{B1FD72F1-55A7-4C0F-9BD9-C70F39B9568D}" presName="hierChild5" presStyleCnt="0"/>
      <dgm:spPr/>
    </dgm:pt>
    <dgm:pt modelId="{EB667D47-91F0-4DD2-95A1-24313BA4EE5E}" type="pres">
      <dgm:prSet presAssocID="{2B524651-7FEA-4ECA-AD2A-B5685BB0D2F4}" presName="hierChild3" presStyleCnt="0"/>
      <dgm:spPr/>
    </dgm:pt>
  </dgm:ptLst>
  <dgm:cxnLst>
    <dgm:cxn modelId="{B6BA9803-9D77-4611-BC95-A682CBF0905C}" type="presOf" srcId="{3487B990-A912-45A0-899B-C17E892FBCD7}" destId="{AB40DBCB-B650-40F1-A091-332D63F8C4A3}" srcOrd="0" destOrd="0" presId="urn:microsoft.com/office/officeart/2008/layout/HalfCircleOrganizationChart"/>
    <dgm:cxn modelId="{6D9A7F08-A741-4D6B-9E2B-30CDAF4F2781}" type="presOf" srcId="{D75609E2-52A7-4186-B8C4-CA0E22E6EE6D}" destId="{F7B5B0B8-0174-4A86-8DE9-9C38FA076665}" srcOrd="0" destOrd="0" presId="urn:microsoft.com/office/officeart/2008/layout/HalfCircleOrganizationChart"/>
    <dgm:cxn modelId="{53D48C15-B42C-4C2A-BD51-4E52A1FCEF60}" type="presOf" srcId="{CC034B40-BB2F-4F4D-A657-C3F4642CE796}" destId="{103C0B59-4BEF-4277-B88E-AE0A4E129547}" srcOrd="1" destOrd="0" presId="urn:microsoft.com/office/officeart/2008/layout/HalfCircleOrganizationChart"/>
    <dgm:cxn modelId="{0CB92C1D-7E3B-4B12-B8AD-65B27C62E3F3}" srcId="{D75609E2-52A7-4186-B8C4-CA0E22E6EE6D}" destId="{2B524651-7FEA-4ECA-AD2A-B5685BB0D2F4}" srcOrd="0" destOrd="0" parTransId="{736F8240-8ED4-47B0-9BAD-354FE4E6F212}" sibTransId="{E0B9810E-7CDC-4CB6-BCBF-0CB23744E4D2}"/>
    <dgm:cxn modelId="{DF0B5823-F7DE-44B0-8982-89CEEDE9F04F}" type="presOf" srcId="{9D265DC3-48BE-437C-9C41-F7870337AB8D}" destId="{92096201-A219-4940-B958-9FF74F11282B}" srcOrd="0" destOrd="0" presId="urn:microsoft.com/office/officeart/2008/layout/HalfCircleOrganizationChart"/>
    <dgm:cxn modelId="{710A2924-37DF-499B-B79D-7D47D53BF013}" type="presOf" srcId="{E1B2E5C4-F6D9-41C9-9D91-8EA9451162F2}" destId="{92F4C185-C1DF-486D-BD62-F389867DFE60}" srcOrd="0" destOrd="0" presId="urn:microsoft.com/office/officeart/2008/layout/HalfCircleOrganizationChart"/>
    <dgm:cxn modelId="{870A6927-5EC0-49BC-832A-2F1F19749CFB}" type="presOf" srcId="{CC034B40-BB2F-4F4D-A657-C3F4642CE796}" destId="{AFE77134-6103-4929-B1F0-148D60A34E5A}" srcOrd="0" destOrd="0" presId="urn:microsoft.com/office/officeart/2008/layout/HalfCircleOrganizationChart"/>
    <dgm:cxn modelId="{C6C75E2A-14D3-4C39-A7C3-992A2F1619CC}" type="presOf" srcId="{2B524651-7FEA-4ECA-AD2A-B5685BB0D2F4}" destId="{17C5D96B-8F8B-429B-8113-78C8A2F57F73}" srcOrd="0" destOrd="0" presId="urn:microsoft.com/office/officeart/2008/layout/HalfCircleOrganizationChart"/>
    <dgm:cxn modelId="{A499E338-41CF-483E-A339-4D5E231FDA6D}" type="presOf" srcId="{1BEF78E4-41C2-41A3-9CDC-E9583FCBCEAE}" destId="{C965AB7B-C267-4A21-8712-A220B5944FD7}" srcOrd="1" destOrd="0" presId="urn:microsoft.com/office/officeart/2008/layout/HalfCircleOrganizationChart"/>
    <dgm:cxn modelId="{A3394E3D-C942-48CB-BAD8-3501A5A47372}" type="presOf" srcId="{1BEF78E4-41C2-41A3-9CDC-E9583FCBCEAE}" destId="{6EEB4031-9F98-4BAB-9866-639B6CF55E3F}" srcOrd="0" destOrd="0" presId="urn:microsoft.com/office/officeart/2008/layout/HalfCircleOrganizationChart"/>
    <dgm:cxn modelId="{D4F5265C-DBCF-4E71-82A4-132C5AE1ED27}" type="presOf" srcId="{F4894064-6D6B-4A5D-8D6F-AC7BD33B7394}" destId="{8FA969AC-E21A-44C5-9634-8C4D4CA46B4B}" srcOrd="0" destOrd="0" presId="urn:microsoft.com/office/officeart/2008/layout/HalfCircleOrganizationChart"/>
    <dgm:cxn modelId="{8EB7125D-DFDE-4B84-9273-F3E3AD63CB50}" type="presOf" srcId="{6BA36357-774D-4D13-BA4A-C8869C55CCD8}" destId="{534FD17E-B04C-4090-ABFA-CDBE4B0DB8B3}" srcOrd="0" destOrd="0" presId="urn:microsoft.com/office/officeart/2008/layout/HalfCircleOrganizationChart"/>
    <dgm:cxn modelId="{6FAB2666-1364-4A5C-BD23-3814C01D70CB}" type="presOf" srcId="{2FF5A22C-E6A6-4795-8865-8484BC2933AC}" destId="{20C185DB-3F72-4CA6-8BF7-B4D3429A560F}" srcOrd="0" destOrd="0" presId="urn:microsoft.com/office/officeart/2008/layout/HalfCircleOrganizationChart"/>
    <dgm:cxn modelId="{C9412F46-07EC-4C68-BE76-1C1E819A9A7F}" type="presOf" srcId="{9D265DC3-48BE-437C-9C41-F7870337AB8D}" destId="{5870FA7E-D861-4579-9D31-87CDAC0E2FEA}" srcOrd="1" destOrd="0" presId="urn:microsoft.com/office/officeart/2008/layout/HalfCircleOrganizationChart"/>
    <dgm:cxn modelId="{35BF2C47-A5A1-47D1-95E9-233820AB3414}" type="presOf" srcId="{2B524651-7FEA-4ECA-AD2A-B5685BB0D2F4}" destId="{781E6344-C558-4D2B-9247-53EA4307A015}" srcOrd="1" destOrd="0" presId="urn:microsoft.com/office/officeart/2008/layout/HalfCircleOrganizationChart"/>
    <dgm:cxn modelId="{064D7249-4FC7-4F0B-811A-B8929D663627}" srcId="{9D265DC3-48BE-437C-9C41-F7870337AB8D}" destId="{B4B09EC2-8B25-4D81-9101-304B3E7E0E43}" srcOrd="1" destOrd="0" parTransId="{6BA36357-774D-4D13-BA4A-C8869C55CCD8}" sibTransId="{78374F3A-1098-47A4-B043-097BBA31ACC9}"/>
    <dgm:cxn modelId="{F964FC6F-7E6D-4292-850D-0507DA88E8E1}" srcId="{2B524651-7FEA-4ECA-AD2A-B5685BB0D2F4}" destId="{B1FD72F1-55A7-4C0F-9BD9-C70F39B9568D}" srcOrd="0" destOrd="0" parTransId="{9003B537-4972-45A3-BC4F-2B328D279F9D}" sibTransId="{BA853757-C0F9-47FA-A349-BE34298A70A1}"/>
    <dgm:cxn modelId="{6084C453-355C-417B-8A42-CC46F7B4CE97}" srcId="{B1FD72F1-55A7-4C0F-9BD9-C70F39B9568D}" destId="{B1D85034-E11C-4C39-8B66-C2EC73151E57}" srcOrd="1" destOrd="0" parTransId="{51ABADF9-0FF0-4A6B-9B8F-21077420E25E}" sibTransId="{BA2ABD5D-75D3-4077-8393-76B68B5C7F82}"/>
    <dgm:cxn modelId="{3373AC75-00C4-4C0C-A2C4-2A54A9FF21E2}" type="presOf" srcId="{51ABADF9-0FF0-4A6B-9B8F-21077420E25E}" destId="{BD5D5931-1F33-4B8D-87CE-9B4E1BE2C875}" srcOrd="0" destOrd="0" presId="urn:microsoft.com/office/officeart/2008/layout/HalfCircleOrganizationChart"/>
    <dgm:cxn modelId="{9590DB58-6F73-4AB2-BA10-174049C45B78}" srcId="{9D265DC3-48BE-437C-9C41-F7870337AB8D}" destId="{1BEF78E4-41C2-41A3-9CDC-E9583FCBCEAE}" srcOrd="0" destOrd="0" parTransId="{0E554C0A-4A60-45FA-B537-8F4B599B8D14}" sibTransId="{C10250AF-5D70-4315-B853-C961343DC4A8}"/>
    <dgm:cxn modelId="{41ED747A-E4CA-4842-9771-D8FD63D83298}" type="presOf" srcId="{B1D85034-E11C-4C39-8B66-C2EC73151E57}" destId="{0AC3BA84-847D-40F6-8F2F-65ADEE827CD2}" srcOrd="1" destOrd="0" presId="urn:microsoft.com/office/officeart/2008/layout/HalfCircleOrganizationChart"/>
    <dgm:cxn modelId="{203CFE5A-D745-4966-BFC4-5A704E6CA04A}" type="presOf" srcId="{B4B09EC2-8B25-4D81-9101-304B3E7E0E43}" destId="{CDEE9BB3-E125-4338-A1C0-269036A92E48}" srcOrd="0" destOrd="0" presId="urn:microsoft.com/office/officeart/2008/layout/HalfCircleOrganizationChart"/>
    <dgm:cxn modelId="{85A8547D-481B-429D-A4FF-A42F39C36AE4}" type="presOf" srcId="{F227C59A-DCE4-4601-AE2F-D52EFCFCDC41}" destId="{BC474888-764A-437B-B076-40AEB1543F09}" srcOrd="1" destOrd="0" presId="urn:microsoft.com/office/officeart/2008/layout/HalfCircleOrganizationChart"/>
    <dgm:cxn modelId="{4AC96B7E-58B7-4185-9AC3-260E00495D65}" type="presOf" srcId="{B1FD72F1-55A7-4C0F-9BD9-C70F39B9568D}" destId="{1951671E-7EFC-49FC-A9BF-6A9E1B45CFBC}" srcOrd="1" destOrd="0" presId="urn:microsoft.com/office/officeart/2008/layout/HalfCircleOrganizationChart"/>
    <dgm:cxn modelId="{A85DB389-72BD-431A-AA54-1DBAE2A30F9E}" type="presOf" srcId="{0E554C0A-4A60-45FA-B537-8F4B599B8D14}" destId="{6AC1DD71-0286-449C-8752-09638602B79C}" srcOrd="0" destOrd="0" presId="urn:microsoft.com/office/officeart/2008/layout/HalfCircleOrganizationChart"/>
    <dgm:cxn modelId="{83D6D98D-F009-4739-B50F-D5A7776B1025}" srcId="{B1FD72F1-55A7-4C0F-9BD9-C70F39B9568D}" destId="{E1B2E5C4-F6D9-41C9-9D91-8EA9451162F2}" srcOrd="0" destOrd="0" parTransId="{2FF5A22C-E6A6-4795-8865-8484BC2933AC}" sibTransId="{755C9399-6A11-4E0F-B382-9F55F0665247}"/>
    <dgm:cxn modelId="{2E319193-FDD6-4C63-B6C1-8E280DF99859}" type="presOf" srcId="{B4B09EC2-8B25-4D81-9101-304B3E7E0E43}" destId="{566965E7-A61D-4B85-95C9-FBA877F35A51}" srcOrd="1" destOrd="0" presId="urn:microsoft.com/office/officeart/2008/layout/HalfCircleOrganizationChart"/>
    <dgm:cxn modelId="{FEFDB898-1F1D-4813-9839-B13C5AF73F2C}" type="presOf" srcId="{9003B537-4972-45A3-BC4F-2B328D279F9D}" destId="{39D01323-F86D-4CB8-8B3B-38E81E078C48}" srcOrd="0" destOrd="0" presId="urn:microsoft.com/office/officeart/2008/layout/HalfCircleOrganizationChart"/>
    <dgm:cxn modelId="{A317649E-AE16-4437-A593-9B37A54788F5}" srcId="{B1D85034-E11C-4C39-8B66-C2EC73151E57}" destId="{CC034B40-BB2F-4F4D-A657-C3F4642CE796}" srcOrd="0" destOrd="0" parTransId="{F4894064-6D6B-4A5D-8D6F-AC7BD33B7394}" sibTransId="{A582437E-80FE-4A7F-AD5A-083D8CA715A7}"/>
    <dgm:cxn modelId="{370047A2-42F9-4B4C-B8FD-7A942EBF913A}" type="presOf" srcId="{FED6408C-73E0-41E5-B9D9-19D3EC4EFF94}" destId="{35CC1D83-C1C6-4F17-BF01-A62E429CF4E3}" srcOrd="0" destOrd="0" presId="urn:microsoft.com/office/officeart/2008/layout/HalfCircleOrganizationChart"/>
    <dgm:cxn modelId="{744F97A3-7705-4EDE-83AB-DD272142A8B4}" type="presOf" srcId="{B1FD72F1-55A7-4C0F-9BD9-C70F39B9568D}" destId="{FF5C0C26-DD09-4EC8-BEF4-6B419B9B0B03}" srcOrd="0" destOrd="0" presId="urn:microsoft.com/office/officeart/2008/layout/HalfCircleOrganizationChart"/>
    <dgm:cxn modelId="{D2A79CB4-BD63-4FE1-B7AB-A1DD59397659}" type="presOf" srcId="{57E2B15F-928D-426A-A154-69DC6C7B7F99}" destId="{534C1A57-4E26-47D5-A254-D5F5B91ABA7A}" srcOrd="0" destOrd="0" presId="urn:microsoft.com/office/officeart/2008/layout/HalfCircleOrganizationChart"/>
    <dgm:cxn modelId="{6189E0B5-0A41-4A4D-BABC-595F34764241}" type="presOf" srcId="{E1B2E5C4-F6D9-41C9-9D91-8EA9451162F2}" destId="{904BDBDC-A476-40FE-B020-64E9AD8B2F19}" srcOrd="1" destOrd="0" presId="urn:microsoft.com/office/officeart/2008/layout/HalfCircleOrganizationChart"/>
    <dgm:cxn modelId="{659EBBD2-6608-4F3A-BD2D-9220EE70C0F5}" srcId="{E1B2E5C4-F6D9-41C9-9D91-8EA9451162F2}" destId="{3487B990-A912-45A0-899B-C17E892FBCD7}" srcOrd="1" destOrd="0" parTransId="{57E2B15F-928D-426A-A154-69DC6C7B7F99}" sibTransId="{DFDFE63B-80C9-4082-B416-FD6457D95E15}"/>
    <dgm:cxn modelId="{2FBFA2D8-0ECA-4012-A854-80AD0A209EB2}" type="presOf" srcId="{E362B90A-033F-432C-9A77-987811D817C0}" destId="{3754D663-85D7-4F3E-B4AC-24452D80D26E}" srcOrd="0" destOrd="0" presId="urn:microsoft.com/office/officeart/2008/layout/HalfCircleOrganizationChart"/>
    <dgm:cxn modelId="{5F9D11D9-6B0D-4CCF-9EB9-A03094CB18C8}" srcId="{B1FD72F1-55A7-4C0F-9BD9-C70F39B9568D}" destId="{9D265DC3-48BE-437C-9C41-F7870337AB8D}" srcOrd="2" destOrd="0" parTransId="{FED6408C-73E0-41E5-B9D9-19D3EC4EFF94}" sibTransId="{0872C153-F02F-40FE-89A4-E30C72FD49C3}"/>
    <dgm:cxn modelId="{76F751DB-52DA-44BA-A90A-EAA0A347E116}" type="presOf" srcId="{F227C59A-DCE4-4601-AE2F-D52EFCFCDC41}" destId="{AFA53E9E-43D9-45D9-8036-F92E19F6EB71}" srcOrd="0" destOrd="0" presId="urn:microsoft.com/office/officeart/2008/layout/HalfCircleOrganizationChart"/>
    <dgm:cxn modelId="{AA680AE8-06BC-456C-8E0A-0074894CD927}" type="presOf" srcId="{3487B990-A912-45A0-899B-C17E892FBCD7}" destId="{7CCE0991-C47E-4952-92A2-698E70A9576A}" srcOrd="1" destOrd="0" presId="urn:microsoft.com/office/officeart/2008/layout/HalfCircleOrganizationChart"/>
    <dgm:cxn modelId="{112330F7-9D95-46D0-8D19-79232F46FA4D}" type="presOf" srcId="{B1D85034-E11C-4C39-8B66-C2EC73151E57}" destId="{FC8CCD72-ACA7-4AE8-AC92-2FF336C3EBD1}" srcOrd="0" destOrd="0" presId="urn:microsoft.com/office/officeart/2008/layout/HalfCircleOrganizationChart"/>
    <dgm:cxn modelId="{DEEC41FC-274B-443A-980E-A7731CF2D14A}" srcId="{E1B2E5C4-F6D9-41C9-9D91-8EA9451162F2}" destId="{F227C59A-DCE4-4601-AE2F-D52EFCFCDC41}" srcOrd="0" destOrd="0" parTransId="{E362B90A-033F-432C-9A77-987811D817C0}" sibTransId="{4A515553-14D4-4348-841A-BA53E9A7E69D}"/>
    <dgm:cxn modelId="{1552EAD2-35BE-4DA9-856A-35A78D038B00}" type="presParOf" srcId="{F7B5B0B8-0174-4A86-8DE9-9C38FA076665}" destId="{C1338291-C24C-4288-BBE3-027A47FEB222}" srcOrd="0" destOrd="0" presId="urn:microsoft.com/office/officeart/2008/layout/HalfCircleOrganizationChart"/>
    <dgm:cxn modelId="{E70A2E90-E8C3-4EBF-9055-E75AC6822A44}" type="presParOf" srcId="{C1338291-C24C-4288-BBE3-027A47FEB222}" destId="{43466E82-33C9-4253-9F5B-BA767193EFEC}" srcOrd="0" destOrd="0" presId="urn:microsoft.com/office/officeart/2008/layout/HalfCircleOrganizationChart"/>
    <dgm:cxn modelId="{E35C68EC-586F-4E09-8E7D-6C1800F245C8}" type="presParOf" srcId="{43466E82-33C9-4253-9F5B-BA767193EFEC}" destId="{17C5D96B-8F8B-429B-8113-78C8A2F57F73}" srcOrd="0" destOrd="0" presId="urn:microsoft.com/office/officeart/2008/layout/HalfCircleOrganizationChart"/>
    <dgm:cxn modelId="{D35123AB-AFB2-4DD9-A006-849106BC12AA}" type="presParOf" srcId="{43466E82-33C9-4253-9F5B-BA767193EFEC}" destId="{DE98A7CD-1C6A-41B1-B580-9F9461D05E2A}" srcOrd="1" destOrd="0" presId="urn:microsoft.com/office/officeart/2008/layout/HalfCircleOrganizationChart"/>
    <dgm:cxn modelId="{352A7975-4DF5-4204-A70E-5CDA19427BF6}" type="presParOf" srcId="{43466E82-33C9-4253-9F5B-BA767193EFEC}" destId="{94E3B0B6-0123-484C-B0BB-07F4AE408F3E}" srcOrd="2" destOrd="0" presId="urn:microsoft.com/office/officeart/2008/layout/HalfCircleOrganizationChart"/>
    <dgm:cxn modelId="{A194C3A4-81EA-4B79-9279-380B05EB58AD}" type="presParOf" srcId="{43466E82-33C9-4253-9F5B-BA767193EFEC}" destId="{781E6344-C558-4D2B-9247-53EA4307A015}" srcOrd="3" destOrd="0" presId="urn:microsoft.com/office/officeart/2008/layout/HalfCircleOrganizationChart"/>
    <dgm:cxn modelId="{FC972BC0-6B76-449C-A7D4-83C2D8A3E75A}" type="presParOf" srcId="{C1338291-C24C-4288-BBE3-027A47FEB222}" destId="{11D5831E-D1C6-4718-9BAA-908A23C411C9}" srcOrd="1" destOrd="0" presId="urn:microsoft.com/office/officeart/2008/layout/HalfCircleOrganizationChart"/>
    <dgm:cxn modelId="{D66E01C1-723F-43F2-836E-F6C8058E92C0}" type="presParOf" srcId="{11D5831E-D1C6-4718-9BAA-908A23C411C9}" destId="{39D01323-F86D-4CB8-8B3B-38E81E078C48}" srcOrd="0" destOrd="0" presId="urn:microsoft.com/office/officeart/2008/layout/HalfCircleOrganizationChart"/>
    <dgm:cxn modelId="{64230D9B-E3C1-4CED-8065-2CEE5BD7BE8C}" type="presParOf" srcId="{11D5831E-D1C6-4718-9BAA-908A23C411C9}" destId="{48E5C2B7-D555-4A6D-A95C-209923C59070}" srcOrd="1" destOrd="0" presId="urn:microsoft.com/office/officeart/2008/layout/HalfCircleOrganizationChart"/>
    <dgm:cxn modelId="{7331386D-D244-4CAF-9708-A02FD607159B}" type="presParOf" srcId="{48E5C2B7-D555-4A6D-A95C-209923C59070}" destId="{D5FDBE1E-A78F-4CF1-9C3C-352E1A58A54A}" srcOrd="0" destOrd="0" presId="urn:microsoft.com/office/officeart/2008/layout/HalfCircleOrganizationChart"/>
    <dgm:cxn modelId="{442E364B-2071-4A1C-B37B-990C4EE3F142}" type="presParOf" srcId="{D5FDBE1E-A78F-4CF1-9C3C-352E1A58A54A}" destId="{FF5C0C26-DD09-4EC8-BEF4-6B419B9B0B03}" srcOrd="0" destOrd="0" presId="urn:microsoft.com/office/officeart/2008/layout/HalfCircleOrganizationChart"/>
    <dgm:cxn modelId="{9E647099-91D2-4951-9F90-15BC02507A79}" type="presParOf" srcId="{D5FDBE1E-A78F-4CF1-9C3C-352E1A58A54A}" destId="{234984E8-8520-47E8-A8EF-8FD15B2764CE}" srcOrd="1" destOrd="0" presId="urn:microsoft.com/office/officeart/2008/layout/HalfCircleOrganizationChart"/>
    <dgm:cxn modelId="{9C2AFC2C-43E5-4FAD-B686-708B33592C53}" type="presParOf" srcId="{D5FDBE1E-A78F-4CF1-9C3C-352E1A58A54A}" destId="{E4A0EE7F-3567-4EE0-874F-70997AAC8419}" srcOrd="2" destOrd="0" presId="urn:microsoft.com/office/officeart/2008/layout/HalfCircleOrganizationChart"/>
    <dgm:cxn modelId="{D245CB95-D444-4888-BE68-C81D3B979765}" type="presParOf" srcId="{D5FDBE1E-A78F-4CF1-9C3C-352E1A58A54A}" destId="{1951671E-7EFC-49FC-A9BF-6A9E1B45CFBC}" srcOrd="3" destOrd="0" presId="urn:microsoft.com/office/officeart/2008/layout/HalfCircleOrganizationChart"/>
    <dgm:cxn modelId="{F7B8A16E-05B1-4D97-AD63-C216DA014757}" type="presParOf" srcId="{48E5C2B7-D555-4A6D-A95C-209923C59070}" destId="{D5D9C653-76ED-4DD9-9E93-2F8DB69B53B5}" srcOrd="1" destOrd="0" presId="urn:microsoft.com/office/officeart/2008/layout/HalfCircleOrganizationChart"/>
    <dgm:cxn modelId="{6DCA5715-D8B1-4898-A327-98B3D8D9E25D}" type="presParOf" srcId="{D5D9C653-76ED-4DD9-9E93-2F8DB69B53B5}" destId="{20C185DB-3F72-4CA6-8BF7-B4D3429A560F}" srcOrd="0" destOrd="0" presId="urn:microsoft.com/office/officeart/2008/layout/HalfCircleOrganizationChart"/>
    <dgm:cxn modelId="{678AB0B2-72FD-459C-BEF0-E6C6C8E54CDA}" type="presParOf" srcId="{D5D9C653-76ED-4DD9-9E93-2F8DB69B53B5}" destId="{DB14793E-B364-4523-AFAD-0F708293F51B}" srcOrd="1" destOrd="0" presId="urn:microsoft.com/office/officeart/2008/layout/HalfCircleOrganizationChart"/>
    <dgm:cxn modelId="{F83DE46F-1610-42F6-8567-0804C1140D24}" type="presParOf" srcId="{DB14793E-B364-4523-AFAD-0F708293F51B}" destId="{B5719518-6F9A-4F53-8A06-4177C4D1CD54}" srcOrd="0" destOrd="0" presId="urn:microsoft.com/office/officeart/2008/layout/HalfCircleOrganizationChart"/>
    <dgm:cxn modelId="{1769FB8E-3A58-408D-9E4E-9B3D0E5272B8}" type="presParOf" srcId="{B5719518-6F9A-4F53-8A06-4177C4D1CD54}" destId="{92F4C185-C1DF-486D-BD62-F389867DFE60}" srcOrd="0" destOrd="0" presId="urn:microsoft.com/office/officeart/2008/layout/HalfCircleOrganizationChart"/>
    <dgm:cxn modelId="{63FAB3B1-665D-46E5-A041-0C6A5E96D6F7}" type="presParOf" srcId="{B5719518-6F9A-4F53-8A06-4177C4D1CD54}" destId="{ADAF66F7-A575-4A5C-A10C-40EE678A0372}" srcOrd="1" destOrd="0" presId="urn:microsoft.com/office/officeart/2008/layout/HalfCircleOrganizationChart"/>
    <dgm:cxn modelId="{498BE0CC-EAC4-404E-B532-B4D65D8DE1D3}" type="presParOf" srcId="{B5719518-6F9A-4F53-8A06-4177C4D1CD54}" destId="{C05222A6-C97E-4F77-9E5D-1BE012A11A84}" srcOrd="2" destOrd="0" presId="urn:microsoft.com/office/officeart/2008/layout/HalfCircleOrganizationChart"/>
    <dgm:cxn modelId="{342DD0B0-6000-4E51-A85E-AA22727A1D4C}" type="presParOf" srcId="{B5719518-6F9A-4F53-8A06-4177C4D1CD54}" destId="{904BDBDC-A476-40FE-B020-64E9AD8B2F19}" srcOrd="3" destOrd="0" presId="urn:microsoft.com/office/officeart/2008/layout/HalfCircleOrganizationChart"/>
    <dgm:cxn modelId="{F7317112-4135-4BBE-9B10-C929755D4DE0}" type="presParOf" srcId="{DB14793E-B364-4523-AFAD-0F708293F51B}" destId="{0F79F02D-08CD-4431-AA6E-CCCD97D1AF39}" srcOrd="1" destOrd="0" presId="urn:microsoft.com/office/officeart/2008/layout/HalfCircleOrganizationChart"/>
    <dgm:cxn modelId="{9C5FAEE6-6A3E-4C40-AA97-3680393DAA1E}" type="presParOf" srcId="{0F79F02D-08CD-4431-AA6E-CCCD97D1AF39}" destId="{3754D663-85D7-4F3E-B4AC-24452D80D26E}" srcOrd="0" destOrd="0" presId="urn:microsoft.com/office/officeart/2008/layout/HalfCircleOrganizationChart"/>
    <dgm:cxn modelId="{50B6D6E5-5903-4F04-86E6-905ACE0DDB4C}" type="presParOf" srcId="{0F79F02D-08CD-4431-AA6E-CCCD97D1AF39}" destId="{755EC36D-D3F6-4827-AD47-E7F91D1CCE47}" srcOrd="1" destOrd="0" presId="urn:microsoft.com/office/officeart/2008/layout/HalfCircleOrganizationChart"/>
    <dgm:cxn modelId="{0CBD6FA0-A7BF-493F-8B0E-F2ADDFF58645}" type="presParOf" srcId="{755EC36D-D3F6-4827-AD47-E7F91D1CCE47}" destId="{F69023E3-5078-4A4A-8897-AEBD0216F156}" srcOrd="0" destOrd="0" presId="urn:microsoft.com/office/officeart/2008/layout/HalfCircleOrganizationChart"/>
    <dgm:cxn modelId="{81430FE9-F363-454F-A68F-2A40BDCF4A8D}" type="presParOf" srcId="{F69023E3-5078-4A4A-8897-AEBD0216F156}" destId="{AFA53E9E-43D9-45D9-8036-F92E19F6EB71}" srcOrd="0" destOrd="0" presId="urn:microsoft.com/office/officeart/2008/layout/HalfCircleOrganizationChart"/>
    <dgm:cxn modelId="{4F4311FC-8A4B-4114-BB75-0E0E61435C65}" type="presParOf" srcId="{F69023E3-5078-4A4A-8897-AEBD0216F156}" destId="{13F5FD96-669E-4E93-9E48-243FD84E9C69}" srcOrd="1" destOrd="0" presId="urn:microsoft.com/office/officeart/2008/layout/HalfCircleOrganizationChart"/>
    <dgm:cxn modelId="{237C5125-633F-4342-B31A-18E6F8CCB37E}" type="presParOf" srcId="{F69023E3-5078-4A4A-8897-AEBD0216F156}" destId="{ED6D15F1-C900-4C0A-BADE-8031AA4BD69F}" srcOrd="2" destOrd="0" presId="urn:microsoft.com/office/officeart/2008/layout/HalfCircleOrganizationChart"/>
    <dgm:cxn modelId="{8B00E4E2-E9B0-4397-AD5F-31DAD5511093}" type="presParOf" srcId="{F69023E3-5078-4A4A-8897-AEBD0216F156}" destId="{BC474888-764A-437B-B076-40AEB1543F09}" srcOrd="3" destOrd="0" presId="urn:microsoft.com/office/officeart/2008/layout/HalfCircleOrganizationChart"/>
    <dgm:cxn modelId="{9CE1993E-5AAD-44E9-9012-7CAF3C1819D7}" type="presParOf" srcId="{755EC36D-D3F6-4827-AD47-E7F91D1CCE47}" destId="{ADAA5E69-FE1C-474B-B2D1-D83FDC61640B}" srcOrd="1" destOrd="0" presId="urn:microsoft.com/office/officeart/2008/layout/HalfCircleOrganizationChart"/>
    <dgm:cxn modelId="{0E0D4E8B-8F5C-467F-AE3C-B7688D342B2A}" type="presParOf" srcId="{755EC36D-D3F6-4827-AD47-E7F91D1CCE47}" destId="{32A1981A-181C-46CA-A323-13534995DC28}" srcOrd="2" destOrd="0" presId="urn:microsoft.com/office/officeart/2008/layout/HalfCircleOrganizationChart"/>
    <dgm:cxn modelId="{D3BF9DA7-6A5B-474B-B5FB-2C736945DE02}" type="presParOf" srcId="{0F79F02D-08CD-4431-AA6E-CCCD97D1AF39}" destId="{534C1A57-4E26-47D5-A254-D5F5B91ABA7A}" srcOrd="2" destOrd="0" presId="urn:microsoft.com/office/officeart/2008/layout/HalfCircleOrganizationChart"/>
    <dgm:cxn modelId="{446F1710-1416-4337-83D5-366BB9B8545A}" type="presParOf" srcId="{0F79F02D-08CD-4431-AA6E-CCCD97D1AF39}" destId="{9F33575B-DBAC-4310-91B3-4A00815E2631}" srcOrd="3" destOrd="0" presId="urn:microsoft.com/office/officeart/2008/layout/HalfCircleOrganizationChart"/>
    <dgm:cxn modelId="{BE33CA1A-E74A-453E-B36B-F90E9FC5C897}" type="presParOf" srcId="{9F33575B-DBAC-4310-91B3-4A00815E2631}" destId="{4C3E9ABD-52EB-4450-8DE8-6CDDDCE91E69}" srcOrd="0" destOrd="0" presId="urn:microsoft.com/office/officeart/2008/layout/HalfCircleOrganizationChart"/>
    <dgm:cxn modelId="{D3DEF690-858C-4CC6-8C9D-EB05D84FAA71}" type="presParOf" srcId="{4C3E9ABD-52EB-4450-8DE8-6CDDDCE91E69}" destId="{AB40DBCB-B650-40F1-A091-332D63F8C4A3}" srcOrd="0" destOrd="0" presId="urn:microsoft.com/office/officeart/2008/layout/HalfCircleOrganizationChart"/>
    <dgm:cxn modelId="{9529BE78-C068-43A2-A9F7-A5CAF8091E9B}" type="presParOf" srcId="{4C3E9ABD-52EB-4450-8DE8-6CDDDCE91E69}" destId="{384980F0-F4E8-4D4E-8C65-E81F921E52BD}" srcOrd="1" destOrd="0" presId="urn:microsoft.com/office/officeart/2008/layout/HalfCircleOrganizationChart"/>
    <dgm:cxn modelId="{78B6EE63-7D79-40EB-BEDD-CCDBF616A892}" type="presParOf" srcId="{4C3E9ABD-52EB-4450-8DE8-6CDDDCE91E69}" destId="{D1F29346-7580-4C1C-8E11-A60699464C59}" srcOrd="2" destOrd="0" presId="urn:microsoft.com/office/officeart/2008/layout/HalfCircleOrganizationChart"/>
    <dgm:cxn modelId="{1AC5B0F0-A307-4E83-890C-FC741FCA26F7}" type="presParOf" srcId="{4C3E9ABD-52EB-4450-8DE8-6CDDDCE91E69}" destId="{7CCE0991-C47E-4952-92A2-698E70A9576A}" srcOrd="3" destOrd="0" presId="urn:microsoft.com/office/officeart/2008/layout/HalfCircleOrganizationChart"/>
    <dgm:cxn modelId="{B713AB19-38AA-448A-9B7A-AF868AD94952}" type="presParOf" srcId="{9F33575B-DBAC-4310-91B3-4A00815E2631}" destId="{E412E8B9-996E-412C-A588-F76F1C665897}" srcOrd="1" destOrd="0" presId="urn:microsoft.com/office/officeart/2008/layout/HalfCircleOrganizationChart"/>
    <dgm:cxn modelId="{8575B605-A5DE-4DA9-AFD6-E4FB60EA9BAA}" type="presParOf" srcId="{9F33575B-DBAC-4310-91B3-4A00815E2631}" destId="{77C550E7-CAE5-4960-A601-81C8DE8147F6}" srcOrd="2" destOrd="0" presId="urn:microsoft.com/office/officeart/2008/layout/HalfCircleOrganizationChart"/>
    <dgm:cxn modelId="{A91E924D-04FF-4B58-BFAC-476E16DAF9A8}" type="presParOf" srcId="{DB14793E-B364-4523-AFAD-0F708293F51B}" destId="{D2B95492-A26E-4AE8-AC73-CE03A952E9E7}" srcOrd="2" destOrd="0" presId="urn:microsoft.com/office/officeart/2008/layout/HalfCircleOrganizationChart"/>
    <dgm:cxn modelId="{8811C075-C596-44A2-AF48-9D88F3FFFD82}" type="presParOf" srcId="{D5D9C653-76ED-4DD9-9E93-2F8DB69B53B5}" destId="{BD5D5931-1F33-4B8D-87CE-9B4E1BE2C875}" srcOrd="2" destOrd="0" presId="urn:microsoft.com/office/officeart/2008/layout/HalfCircleOrganizationChart"/>
    <dgm:cxn modelId="{5DFE0186-F188-4935-B2CE-CF27AFF01BFC}" type="presParOf" srcId="{D5D9C653-76ED-4DD9-9E93-2F8DB69B53B5}" destId="{21CB82D1-BB2A-49FE-9D0B-91A0AA1E120D}" srcOrd="3" destOrd="0" presId="urn:microsoft.com/office/officeart/2008/layout/HalfCircleOrganizationChart"/>
    <dgm:cxn modelId="{8FE86561-CA1A-452E-BD15-E07EC9D36B25}" type="presParOf" srcId="{21CB82D1-BB2A-49FE-9D0B-91A0AA1E120D}" destId="{49065056-456F-4C38-A86D-C09BF3708228}" srcOrd="0" destOrd="0" presId="urn:microsoft.com/office/officeart/2008/layout/HalfCircleOrganizationChart"/>
    <dgm:cxn modelId="{5D189A98-69F0-46D2-BA94-C212F62F75E7}" type="presParOf" srcId="{49065056-456F-4C38-A86D-C09BF3708228}" destId="{FC8CCD72-ACA7-4AE8-AC92-2FF336C3EBD1}" srcOrd="0" destOrd="0" presId="urn:microsoft.com/office/officeart/2008/layout/HalfCircleOrganizationChart"/>
    <dgm:cxn modelId="{1EBD3BEE-65DE-4B87-97A8-897294BEEEAE}" type="presParOf" srcId="{49065056-456F-4C38-A86D-C09BF3708228}" destId="{6B49C98B-82DA-4521-B1CB-90865BA81E9E}" srcOrd="1" destOrd="0" presId="urn:microsoft.com/office/officeart/2008/layout/HalfCircleOrganizationChart"/>
    <dgm:cxn modelId="{CB86B5EE-B9B6-4D00-BF8B-C2899D9723FD}" type="presParOf" srcId="{49065056-456F-4C38-A86D-C09BF3708228}" destId="{FE892461-BD48-45AD-BAC6-C4113BED2934}" srcOrd="2" destOrd="0" presId="urn:microsoft.com/office/officeart/2008/layout/HalfCircleOrganizationChart"/>
    <dgm:cxn modelId="{0010B3E5-B604-49BD-AC54-760775563F1B}" type="presParOf" srcId="{49065056-456F-4C38-A86D-C09BF3708228}" destId="{0AC3BA84-847D-40F6-8F2F-65ADEE827CD2}" srcOrd="3" destOrd="0" presId="urn:microsoft.com/office/officeart/2008/layout/HalfCircleOrganizationChart"/>
    <dgm:cxn modelId="{FCC0C3C0-7AF1-43EC-AED7-94334AC690C4}" type="presParOf" srcId="{21CB82D1-BB2A-49FE-9D0B-91A0AA1E120D}" destId="{8B746D80-270F-42F4-B322-2EC131940979}" srcOrd="1" destOrd="0" presId="urn:microsoft.com/office/officeart/2008/layout/HalfCircleOrganizationChart"/>
    <dgm:cxn modelId="{21CC184C-43E7-4E5D-BD71-8915B731D533}" type="presParOf" srcId="{8B746D80-270F-42F4-B322-2EC131940979}" destId="{8FA969AC-E21A-44C5-9634-8C4D4CA46B4B}" srcOrd="0" destOrd="0" presId="urn:microsoft.com/office/officeart/2008/layout/HalfCircleOrganizationChart"/>
    <dgm:cxn modelId="{AA31F912-E500-4D01-BCE4-E60D68B46547}" type="presParOf" srcId="{8B746D80-270F-42F4-B322-2EC131940979}" destId="{00A4B601-5A29-44F3-A0F2-D2559C5F10CA}" srcOrd="1" destOrd="0" presId="urn:microsoft.com/office/officeart/2008/layout/HalfCircleOrganizationChart"/>
    <dgm:cxn modelId="{6BE2876D-5742-484D-842A-D59CFEF5C2C7}" type="presParOf" srcId="{00A4B601-5A29-44F3-A0F2-D2559C5F10CA}" destId="{90066C1B-602D-4BA7-BC31-6978A173C0D2}" srcOrd="0" destOrd="0" presId="urn:microsoft.com/office/officeart/2008/layout/HalfCircleOrganizationChart"/>
    <dgm:cxn modelId="{2BC0099D-AA1E-434C-BB6F-1EDD32133911}" type="presParOf" srcId="{90066C1B-602D-4BA7-BC31-6978A173C0D2}" destId="{AFE77134-6103-4929-B1F0-148D60A34E5A}" srcOrd="0" destOrd="0" presId="urn:microsoft.com/office/officeart/2008/layout/HalfCircleOrganizationChart"/>
    <dgm:cxn modelId="{608EE7D4-B094-442E-A004-886DA00667E3}" type="presParOf" srcId="{90066C1B-602D-4BA7-BC31-6978A173C0D2}" destId="{321A0D2C-396D-4821-901D-B6659CF6DD9F}" srcOrd="1" destOrd="0" presId="urn:microsoft.com/office/officeart/2008/layout/HalfCircleOrganizationChart"/>
    <dgm:cxn modelId="{36660CB3-9187-4C76-A953-9E5BB8A2B5DE}" type="presParOf" srcId="{90066C1B-602D-4BA7-BC31-6978A173C0D2}" destId="{CDBCDAD0-7010-4897-899C-2473F112FEE6}" srcOrd="2" destOrd="0" presId="urn:microsoft.com/office/officeart/2008/layout/HalfCircleOrganizationChart"/>
    <dgm:cxn modelId="{5F5A5184-D5CE-4035-A16B-605DFBB86BF6}" type="presParOf" srcId="{90066C1B-602D-4BA7-BC31-6978A173C0D2}" destId="{103C0B59-4BEF-4277-B88E-AE0A4E129547}" srcOrd="3" destOrd="0" presId="urn:microsoft.com/office/officeart/2008/layout/HalfCircleOrganizationChart"/>
    <dgm:cxn modelId="{13370B00-77A4-4921-B71D-A7C11F49AB3D}" type="presParOf" srcId="{00A4B601-5A29-44F3-A0F2-D2559C5F10CA}" destId="{78BA7AF8-5FBD-40A2-842F-0D06069B96F1}" srcOrd="1" destOrd="0" presId="urn:microsoft.com/office/officeart/2008/layout/HalfCircleOrganizationChart"/>
    <dgm:cxn modelId="{0C74BEDF-EA45-4F6F-B316-F0FF757530A3}" type="presParOf" srcId="{00A4B601-5A29-44F3-A0F2-D2559C5F10CA}" destId="{8A1C426A-63B6-4CB3-ABD3-081DD4B0EE6E}" srcOrd="2" destOrd="0" presId="urn:microsoft.com/office/officeart/2008/layout/HalfCircleOrganizationChart"/>
    <dgm:cxn modelId="{966F00D7-E2EF-414F-BAFB-03B6A63ADFE3}" type="presParOf" srcId="{21CB82D1-BB2A-49FE-9D0B-91A0AA1E120D}" destId="{328520B2-5CEE-400B-BAE1-FC57C3328491}" srcOrd="2" destOrd="0" presId="urn:microsoft.com/office/officeart/2008/layout/HalfCircleOrganizationChart"/>
    <dgm:cxn modelId="{161BA453-4735-4177-B940-BFC9AB9CC247}" type="presParOf" srcId="{D5D9C653-76ED-4DD9-9E93-2F8DB69B53B5}" destId="{35CC1D83-C1C6-4F17-BF01-A62E429CF4E3}" srcOrd="4" destOrd="0" presId="urn:microsoft.com/office/officeart/2008/layout/HalfCircleOrganizationChart"/>
    <dgm:cxn modelId="{ADA60526-93C3-4B51-BEC5-75ADBCCC6424}" type="presParOf" srcId="{D5D9C653-76ED-4DD9-9E93-2F8DB69B53B5}" destId="{E6E581FE-54CB-42A6-AEBF-C9E4443EDAF6}" srcOrd="5" destOrd="0" presId="urn:microsoft.com/office/officeart/2008/layout/HalfCircleOrganizationChart"/>
    <dgm:cxn modelId="{D071246A-067C-41B8-B8E4-EF6067227B25}" type="presParOf" srcId="{E6E581FE-54CB-42A6-AEBF-C9E4443EDAF6}" destId="{A5E1C94A-EB25-469D-A53B-F04999BD381B}" srcOrd="0" destOrd="0" presId="urn:microsoft.com/office/officeart/2008/layout/HalfCircleOrganizationChart"/>
    <dgm:cxn modelId="{80361619-726F-484E-9E05-17433B30A33E}" type="presParOf" srcId="{A5E1C94A-EB25-469D-A53B-F04999BD381B}" destId="{92096201-A219-4940-B958-9FF74F11282B}" srcOrd="0" destOrd="0" presId="urn:microsoft.com/office/officeart/2008/layout/HalfCircleOrganizationChart"/>
    <dgm:cxn modelId="{F5C4AF3E-5B89-4ED7-9AD4-0C2CEC06E4E7}" type="presParOf" srcId="{A5E1C94A-EB25-469D-A53B-F04999BD381B}" destId="{D901CEC6-A54F-42FA-B67D-70DC8DAB7A7D}" srcOrd="1" destOrd="0" presId="urn:microsoft.com/office/officeart/2008/layout/HalfCircleOrganizationChart"/>
    <dgm:cxn modelId="{069C1DD3-EBEE-431E-8ECE-FD9B05845D23}" type="presParOf" srcId="{A5E1C94A-EB25-469D-A53B-F04999BD381B}" destId="{E626D8C7-97A6-437B-8C8F-6981527AA2FD}" srcOrd="2" destOrd="0" presId="urn:microsoft.com/office/officeart/2008/layout/HalfCircleOrganizationChart"/>
    <dgm:cxn modelId="{BAB6A6A0-D17E-46C6-82B8-88369980E84B}" type="presParOf" srcId="{A5E1C94A-EB25-469D-A53B-F04999BD381B}" destId="{5870FA7E-D861-4579-9D31-87CDAC0E2FEA}" srcOrd="3" destOrd="0" presId="urn:microsoft.com/office/officeart/2008/layout/HalfCircleOrganizationChart"/>
    <dgm:cxn modelId="{E855A514-F4D8-4B0D-BD61-CC69B11A1025}" type="presParOf" srcId="{E6E581FE-54CB-42A6-AEBF-C9E4443EDAF6}" destId="{A21191E5-91B4-4ADF-A859-F8B464A60E4C}" srcOrd="1" destOrd="0" presId="urn:microsoft.com/office/officeart/2008/layout/HalfCircleOrganizationChart"/>
    <dgm:cxn modelId="{CCF8C8E2-3D36-4C3F-B87E-792C90A29951}" type="presParOf" srcId="{A21191E5-91B4-4ADF-A859-F8B464A60E4C}" destId="{6AC1DD71-0286-449C-8752-09638602B79C}" srcOrd="0" destOrd="0" presId="urn:microsoft.com/office/officeart/2008/layout/HalfCircleOrganizationChart"/>
    <dgm:cxn modelId="{A5B55F6E-7FB0-4C8F-B880-A1E511E6256C}" type="presParOf" srcId="{A21191E5-91B4-4ADF-A859-F8B464A60E4C}" destId="{28B4C736-8536-4538-B3C3-7F7FFB7D793D}" srcOrd="1" destOrd="0" presId="urn:microsoft.com/office/officeart/2008/layout/HalfCircleOrganizationChart"/>
    <dgm:cxn modelId="{9F9D520C-3826-4540-AE7F-C83D97F71964}" type="presParOf" srcId="{28B4C736-8536-4538-B3C3-7F7FFB7D793D}" destId="{3F610958-EC91-4B4F-9832-28C4F47E8EAB}" srcOrd="0" destOrd="0" presId="urn:microsoft.com/office/officeart/2008/layout/HalfCircleOrganizationChart"/>
    <dgm:cxn modelId="{22333BB9-37A3-4994-A1EA-BDE1CA819747}" type="presParOf" srcId="{3F610958-EC91-4B4F-9832-28C4F47E8EAB}" destId="{6EEB4031-9F98-4BAB-9866-639B6CF55E3F}" srcOrd="0" destOrd="0" presId="urn:microsoft.com/office/officeart/2008/layout/HalfCircleOrganizationChart"/>
    <dgm:cxn modelId="{BA31A64E-B0B2-427A-88E6-D56F9B49C5FF}" type="presParOf" srcId="{3F610958-EC91-4B4F-9832-28C4F47E8EAB}" destId="{346A7A55-B7C4-4128-A4A6-94CB726C0B98}" srcOrd="1" destOrd="0" presId="urn:microsoft.com/office/officeart/2008/layout/HalfCircleOrganizationChart"/>
    <dgm:cxn modelId="{F9A14902-49D5-4E80-A842-90AC9115A979}" type="presParOf" srcId="{3F610958-EC91-4B4F-9832-28C4F47E8EAB}" destId="{C7E0302A-82BA-4221-A62D-8412D6FF6F65}" srcOrd="2" destOrd="0" presId="urn:microsoft.com/office/officeart/2008/layout/HalfCircleOrganizationChart"/>
    <dgm:cxn modelId="{F5550B7E-1755-4484-BB82-35357E6F6E9E}" type="presParOf" srcId="{3F610958-EC91-4B4F-9832-28C4F47E8EAB}" destId="{C965AB7B-C267-4A21-8712-A220B5944FD7}" srcOrd="3" destOrd="0" presId="urn:microsoft.com/office/officeart/2008/layout/HalfCircleOrganizationChart"/>
    <dgm:cxn modelId="{FF09C65A-88FE-4E73-AC51-4FC72DB0D7BE}" type="presParOf" srcId="{28B4C736-8536-4538-B3C3-7F7FFB7D793D}" destId="{ABBF32E4-D17C-406C-9B53-DE801093F427}" srcOrd="1" destOrd="0" presId="urn:microsoft.com/office/officeart/2008/layout/HalfCircleOrganizationChart"/>
    <dgm:cxn modelId="{69D4AD43-3615-4104-83F2-F5E2F8576601}" type="presParOf" srcId="{28B4C736-8536-4538-B3C3-7F7FFB7D793D}" destId="{F11E74BC-DE64-413D-89C0-77226A4E39EB}" srcOrd="2" destOrd="0" presId="urn:microsoft.com/office/officeart/2008/layout/HalfCircleOrganizationChart"/>
    <dgm:cxn modelId="{C81E7589-E582-4ED0-B9E0-55DAEB98D0EA}" type="presParOf" srcId="{A21191E5-91B4-4ADF-A859-F8B464A60E4C}" destId="{534FD17E-B04C-4090-ABFA-CDBE4B0DB8B3}" srcOrd="2" destOrd="0" presId="urn:microsoft.com/office/officeart/2008/layout/HalfCircleOrganizationChart"/>
    <dgm:cxn modelId="{92C901CD-CA92-4115-B570-9ADD837B1413}" type="presParOf" srcId="{A21191E5-91B4-4ADF-A859-F8B464A60E4C}" destId="{63A38836-9897-4143-8856-BBE42844D762}" srcOrd="3" destOrd="0" presId="urn:microsoft.com/office/officeart/2008/layout/HalfCircleOrganizationChart"/>
    <dgm:cxn modelId="{DDAA1F78-A968-4B69-8A7E-D3B6E638CEB0}" type="presParOf" srcId="{63A38836-9897-4143-8856-BBE42844D762}" destId="{F88156BA-2003-4D3B-9CC1-F9362C10C726}" srcOrd="0" destOrd="0" presId="urn:microsoft.com/office/officeart/2008/layout/HalfCircleOrganizationChart"/>
    <dgm:cxn modelId="{1F49D040-33AE-478E-9084-D887072B8A71}" type="presParOf" srcId="{F88156BA-2003-4D3B-9CC1-F9362C10C726}" destId="{CDEE9BB3-E125-4338-A1C0-269036A92E48}" srcOrd="0" destOrd="0" presId="urn:microsoft.com/office/officeart/2008/layout/HalfCircleOrganizationChart"/>
    <dgm:cxn modelId="{B10F4B4A-1C81-4D65-A5C1-04CBE875E62B}" type="presParOf" srcId="{F88156BA-2003-4D3B-9CC1-F9362C10C726}" destId="{ECCAB334-3D3C-42A4-93B0-AFA92939C12F}" srcOrd="1" destOrd="0" presId="urn:microsoft.com/office/officeart/2008/layout/HalfCircleOrganizationChart"/>
    <dgm:cxn modelId="{F7FBA9C0-B0CA-43D8-92DE-437D66C798AD}" type="presParOf" srcId="{F88156BA-2003-4D3B-9CC1-F9362C10C726}" destId="{A8088C66-E09B-4C82-9AB3-A6FC7008BD12}" srcOrd="2" destOrd="0" presId="urn:microsoft.com/office/officeart/2008/layout/HalfCircleOrganizationChart"/>
    <dgm:cxn modelId="{65D226A0-ED54-4A9C-B918-7F7B8B07D989}" type="presParOf" srcId="{F88156BA-2003-4D3B-9CC1-F9362C10C726}" destId="{566965E7-A61D-4B85-95C9-FBA877F35A51}" srcOrd="3" destOrd="0" presId="urn:microsoft.com/office/officeart/2008/layout/HalfCircleOrganizationChart"/>
    <dgm:cxn modelId="{A1D22C7D-AD61-4239-91A1-DD21FBC286EE}" type="presParOf" srcId="{63A38836-9897-4143-8856-BBE42844D762}" destId="{156929FF-88D9-42CF-8142-00DF2B0447DF}" srcOrd="1" destOrd="0" presId="urn:microsoft.com/office/officeart/2008/layout/HalfCircleOrganizationChart"/>
    <dgm:cxn modelId="{A3B02AC2-E471-43F8-946E-B313D6799ED6}" type="presParOf" srcId="{63A38836-9897-4143-8856-BBE42844D762}" destId="{FE287179-F382-4A38-A99F-9112B3AD7D3E}" srcOrd="2" destOrd="0" presId="urn:microsoft.com/office/officeart/2008/layout/HalfCircleOrganizationChart"/>
    <dgm:cxn modelId="{776848B2-CF2A-4F22-B9B9-84DB717714D7}" type="presParOf" srcId="{E6E581FE-54CB-42A6-AEBF-C9E4443EDAF6}" destId="{BA7532D8-423D-446B-92C0-B45938DCB331}" srcOrd="2" destOrd="0" presId="urn:microsoft.com/office/officeart/2008/layout/HalfCircleOrganizationChart"/>
    <dgm:cxn modelId="{1E1645DD-96CD-4199-8915-EB2616E0B115}" type="presParOf" srcId="{48E5C2B7-D555-4A6D-A95C-209923C59070}" destId="{D57A882E-75F4-476C-AE33-855FE4124A11}" srcOrd="2" destOrd="0" presId="urn:microsoft.com/office/officeart/2008/layout/HalfCircleOrganizationChart"/>
    <dgm:cxn modelId="{E716E31F-D8AA-4815-A2A3-8FB910E37428}" type="presParOf" srcId="{C1338291-C24C-4288-BBE3-027A47FEB222}" destId="{EB667D47-91F0-4DD2-95A1-24313BA4EE5E}" srcOrd="2" destOrd="0" presId="urn:microsoft.com/office/officeart/2008/layout/HalfCircleOrganizationChart"/>
  </dgm:cxnLst>
  <dgm:bg/>
  <dgm:whole>
    <a:ln w="28575">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44BA0F-57D7-41B4-A11E-CE4F47D88E39}">
      <dsp:nvSpPr>
        <dsp:cNvPr id="0" name=""/>
        <dsp:cNvSpPr/>
      </dsp:nvSpPr>
      <dsp:spPr>
        <a:xfrm>
          <a:off x="4079" y="805217"/>
          <a:ext cx="2176200"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Genesis</a:t>
          </a:r>
          <a:endParaRPr lang="en-IN" sz="1900" kern="1200" dirty="0"/>
        </a:p>
      </dsp:txBody>
      <dsp:txXfrm>
        <a:off x="17319" y="818457"/>
        <a:ext cx="2149720" cy="425564"/>
      </dsp:txXfrm>
    </dsp:sp>
    <dsp:sp modelId="{287E9B64-3BF7-4611-850B-F0F656D30800}">
      <dsp:nvSpPr>
        <dsp:cNvPr id="0" name=""/>
        <dsp:cNvSpPr/>
      </dsp:nvSpPr>
      <dsp:spPr>
        <a:xfrm>
          <a:off x="2255620" y="937817"/>
          <a:ext cx="159722" cy="18684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255620" y="975186"/>
        <a:ext cx="111805" cy="112106"/>
      </dsp:txXfrm>
    </dsp:sp>
    <dsp:sp modelId="{DC9EFA12-5A56-4EC2-B72C-96D4475CAEDB}">
      <dsp:nvSpPr>
        <dsp:cNvPr id="0" name=""/>
        <dsp:cNvSpPr/>
      </dsp:nvSpPr>
      <dsp:spPr>
        <a:xfrm>
          <a:off x="2481642" y="805217"/>
          <a:ext cx="753406"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2005</a:t>
          </a:r>
          <a:endParaRPr lang="en-IN" sz="1900" kern="1200" dirty="0"/>
        </a:p>
      </dsp:txBody>
      <dsp:txXfrm>
        <a:off x="2494882" y="818457"/>
        <a:ext cx="726926" cy="425564"/>
      </dsp:txXfrm>
    </dsp:sp>
    <dsp:sp modelId="{C513F099-AC78-4F6E-B674-5994BE45ACD8}">
      <dsp:nvSpPr>
        <dsp:cNvPr id="0" name=""/>
        <dsp:cNvSpPr/>
      </dsp:nvSpPr>
      <dsp:spPr>
        <a:xfrm>
          <a:off x="3310390" y="937817"/>
          <a:ext cx="159722" cy="18684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3310390" y="975186"/>
        <a:ext cx="111805" cy="112106"/>
      </dsp:txXfrm>
    </dsp:sp>
    <dsp:sp modelId="{B517F1B0-5FCE-4245-8FF4-1AD50DF569E2}">
      <dsp:nvSpPr>
        <dsp:cNvPr id="0" name=""/>
        <dsp:cNvSpPr/>
      </dsp:nvSpPr>
      <dsp:spPr>
        <a:xfrm>
          <a:off x="3536412" y="805217"/>
          <a:ext cx="753406"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2007</a:t>
          </a:r>
          <a:endParaRPr lang="en-IN" sz="1900" kern="1200" dirty="0"/>
        </a:p>
      </dsp:txBody>
      <dsp:txXfrm>
        <a:off x="3549652" y="818457"/>
        <a:ext cx="726926" cy="425564"/>
      </dsp:txXfrm>
    </dsp:sp>
    <dsp:sp modelId="{C67782AB-CCB0-42A1-B3F7-0452E82D022B}">
      <dsp:nvSpPr>
        <dsp:cNvPr id="0" name=""/>
        <dsp:cNvSpPr/>
      </dsp:nvSpPr>
      <dsp:spPr>
        <a:xfrm>
          <a:off x="4365159" y="937817"/>
          <a:ext cx="159722" cy="18684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4365159" y="975186"/>
        <a:ext cx="111805" cy="112106"/>
      </dsp:txXfrm>
    </dsp:sp>
    <dsp:sp modelId="{2AA77962-7C1D-4DA9-94E6-44B8C83E2F62}">
      <dsp:nvSpPr>
        <dsp:cNvPr id="0" name=""/>
        <dsp:cNvSpPr/>
      </dsp:nvSpPr>
      <dsp:spPr>
        <a:xfrm>
          <a:off x="4591181" y="805217"/>
          <a:ext cx="753406"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2012</a:t>
          </a:r>
          <a:endParaRPr lang="en-IN" sz="1900" kern="1200" dirty="0"/>
        </a:p>
      </dsp:txBody>
      <dsp:txXfrm>
        <a:off x="4604421" y="818457"/>
        <a:ext cx="726926" cy="425564"/>
      </dsp:txXfrm>
    </dsp:sp>
    <dsp:sp modelId="{52BCE3DA-FEBE-423E-B62C-14BA6D39B9A0}">
      <dsp:nvSpPr>
        <dsp:cNvPr id="0" name=""/>
        <dsp:cNvSpPr/>
      </dsp:nvSpPr>
      <dsp:spPr>
        <a:xfrm>
          <a:off x="5419929" y="937817"/>
          <a:ext cx="159722" cy="18684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5419929" y="975186"/>
        <a:ext cx="111805" cy="112106"/>
      </dsp:txXfrm>
    </dsp:sp>
    <dsp:sp modelId="{D145C48B-21AC-4FBB-B1EE-1FBD45990453}">
      <dsp:nvSpPr>
        <dsp:cNvPr id="0" name=""/>
        <dsp:cNvSpPr/>
      </dsp:nvSpPr>
      <dsp:spPr>
        <a:xfrm>
          <a:off x="5645951" y="805217"/>
          <a:ext cx="753406"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2014</a:t>
          </a:r>
          <a:endParaRPr lang="en-IN" sz="1900" kern="1200" dirty="0"/>
        </a:p>
      </dsp:txBody>
      <dsp:txXfrm>
        <a:off x="5659191" y="818457"/>
        <a:ext cx="726926" cy="425564"/>
      </dsp:txXfrm>
    </dsp:sp>
    <dsp:sp modelId="{708777F1-420B-4625-89D3-9B5EAE902990}">
      <dsp:nvSpPr>
        <dsp:cNvPr id="0" name=""/>
        <dsp:cNvSpPr/>
      </dsp:nvSpPr>
      <dsp:spPr>
        <a:xfrm>
          <a:off x="6474698" y="937817"/>
          <a:ext cx="159722" cy="18684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6474698" y="975186"/>
        <a:ext cx="111805" cy="112106"/>
      </dsp:txXfrm>
    </dsp:sp>
    <dsp:sp modelId="{E8AB634A-65DA-4721-B125-ABE73E2C537E}">
      <dsp:nvSpPr>
        <dsp:cNvPr id="0" name=""/>
        <dsp:cNvSpPr/>
      </dsp:nvSpPr>
      <dsp:spPr>
        <a:xfrm>
          <a:off x="6700720" y="805217"/>
          <a:ext cx="753406"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2017</a:t>
          </a:r>
          <a:endParaRPr lang="en-IN" sz="1900" kern="1200" dirty="0"/>
        </a:p>
      </dsp:txBody>
      <dsp:txXfrm>
        <a:off x="6713960" y="818457"/>
        <a:ext cx="726926" cy="425564"/>
      </dsp:txXfrm>
    </dsp:sp>
    <dsp:sp modelId="{57ABA9E6-43B3-4DAD-9C06-8D798D6D6ABB}">
      <dsp:nvSpPr>
        <dsp:cNvPr id="0" name=""/>
        <dsp:cNvSpPr/>
      </dsp:nvSpPr>
      <dsp:spPr>
        <a:xfrm>
          <a:off x="7529468" y="937817"/>
          <a:ext cx="159722" cy="18684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7529468" y="975186"/>
        <a:ext cx="111805" cy="112106"/>
      </dsp:txXfrm>
    </dsp:sp>
    <dsp:sp modelId="{91CA2A69-2529-4308-BB2D-CAD04C420DE3}">
      <dsp:nvSpPr>
        <dsp:cNvPr id="0" name=""/>
        <dsp:cNvSpPr/>
      </dsp:nvSpPr>
      <dsp:spPr>
        <a:xfrm>
          <a:off x="7755490" y="805217"/>
          <a:ext cx="753406" cy="452044"/>
        </a:xfrm>
        <a:prstGeom prst="roundRect">
          <a:avLst>
            <a:gd name="adj" fmla="val 10000"/>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2023</a:t>
          </a:r>
          <a:endParaRPr lang="en-IN" sz="1900" kern="1200" dirty="0"/>
        </a:p>
      </dsp:txBody>
      <dsp:txXfrm>
        <a:off x="7768730" y="818457"/>
        <a:ext cx="726926" cy="4255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1C7AF8-4338-4E55-B84C-09D691D07C49}">
      <dsp:nvSpPr>
        <dsp:cNvPr id="0" name=""/>
        <dsp:cNvSpPr/>
      </dsp:nvSpPr>
      <dsp:spPr>
        <a:xfrm>
          <a:off x="1631562" y="0"/>
          <a:ext cx="1579542" cy="1053028"/>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DG MO, Chairman</a:t>
          </a:r>
        </a:p>
        <a:p>
          <a:pPr marL="0" lvl="0" indent="0" algn="ctr" defTabSz="711200">
            <a:lnSpc>
              <a:spcPct val="90000"/>
            </a:lnSpc>
            <a:spcBef>
              <a:spcPct val="0"/>
            </a:spcBef>
            <a:spcAft>
              <a:spcPct val="35000"/>
            </a:spcAft>
            <a:buNone/>
          </a:pPr>
          <a:r>
            <a:rPr lang="en-US" sz="1600" b="1" kern="1200" dirty="0"/>
            <a:t>Cyber Security Forum</a:t>
          </a:r>
          <a:endParaRPr lang="en-IN" sz="1600" b="1" kern="1200" dirty="0"/>
        </a:p>
      </dsp:txBody>
      <dsp:txXfrm>
        <a:off x="1662404" y="30842"/>
        <a:ext cx="1517858" cy="991344"/>
      </dsp:txXfrm>
    </dsp:sp>
    <dsp:sp modelId="{41EF38C3-5F47-4BA2-895A-9F2355918972}">
      <dsp:nvSpPr>
        <dsp:cNvPr id="0" name=""/>
        <dsp:cNvSpPr/>
      </dsp:nvSpPr>
      <dsp:spPr>
        <a:xfrm>
          <a:off x="2375614" y="1053028"/>
          <a:ext cx="91440" cy="421211"/>
        </a:xfrm>
        <a:custGeom>
          <a:avLst/>
          <a:gdLst/>
          <a:ahLst/>
          <a:cxnLst/>
          <a:rect l="0" t="0" r="0" b="0"/>
          <a:pathLst>
            <a:path>
              <a:moveTo>
                <a:pt x="45720" y="0"/>
              </a:moveTo>
              <a:lnTo>
                <a:pt x="45720" y="421211"/>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EC4D36-AEBA-4FD3-B432-E4988804DF1F}">
      <dsp:nvSpPr>
        <dsp:cNvPr id="0" name=""/>
        <dsp:cNvSpPr/>
      </dsp:nvSpPr>
      <dsp:spPr>
        <a:xfrm>
          <a:off x="1631562" y="1474239"/>
          <a:ext cx="1579542" cy="1053028"/>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ADG MO (IW), CISO</a:t>
          </a:r>
          <a:endParaRPr lang="en-IN" sz="2000" b="1" kern="1200" dirty="0"/>
        </a:p>
      </dsp:txBody>
      <dsp:txXfrm>
        <a:off x="1662404" y="1505081"/>
        <a:ext cx="1517858" cy="991344"/>
      </dsp:txXfrm>
    </dsp:sp>
    <dsp:sp modelId="{1163D71E-71DE-4267-8CC4-2E54372F9E15}">
      <dsp:nvSpPr>
        <dsp:cNvPr id="0" name=""/>
        <dsp:cNvSpPr/>
      </dsp:nvSpPr>
      <dsp:spPr>
        <a:xfrm>
          <a:off x="1394631" y="2527267"/>
          <a:ext cx="1026702" cy="421211"/>
        </a:xfrm>
        <a:custGeom>
          <a:avLst/>
          <a:gdLst/>
          <a:ahLst/>
          <a:cxnLst/>
          <a:rect l="0" t="0" r="0" b="0"/>
          <a:pathLst>
            <a:path>
              <a:moveTo>
                <a:pt x="1026702" y="0"/>
              </a:moveTo>
              <a:lnTo>
                <a:pt x="1026702" y="210605"/>
              </a:lnTo>
              <a:lnTo>
                <a:pt x="0" y="210605"/>
              </a:lnTo>
              <a:lnTo>
                <a:pt x="0" y="421211"/>
              </a:lnTo>
            </a:path>
          </a:pathLst>
        </a:custGeom>
        <a:no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47ECC5-B96B-4478-98FC-E61780AC70E3}">
      <dsp:nvSpPr>
        <dsp:cNvPr id="0" name=""/>
        <dsp:cNvSpPr/>
      </dsp:nvSpPr>
      <dsp:spPr>
        <a:xfrm>
          <a:off x="604860" y="2948478"/>
          <a:ext cx="1579542" cy="1053028"/>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MO-12(Nodal for Ops and Policy)</a:t>
          </a:r>
          <a:endParaRPr lang="en-IN" sz="1900" b="1" kern="1200" dirty="0"/>
        </a:p>
      </dsp:txBody>
      <dsp:txXfrm>
        <a:off x="635702" y="2979320"/>
        <a:ext cx="1517858" cy="991344"/>
      </dsp:txXfrm>
    </dsp:sp>
    <dsp:sp modelId="{A52EFC9B-6D0F-42EE-A732-90D3C9ED1F83}">
      <dsp:nvSpPr>
        <dsp:cNvPr id="0" name=""/>
        <dsp:cNvSpPr/>
      </dsp:nvSpPr>
      <dsp:spPr>
        <a:xfrm>
          <a:off x="2421334" y="2527267"/>
          <a:ext cx="1026702" cy="421211"/>
        </a:xfrm>
        <a:custGeom>
          <a:avLst/>
          <a:gdLst/>
          <a:ahLst/>
          <a:cxnLst/>
          <a:rect l="0" t="0" r="0" b="0"/>
          <a:pathLst>
            <a:path>
              <a:moveTo>
                <a:pt x="0" y="0"/>
              </a:moveTo>
              <a:lnTo>
                <a:pt x="0" y="210605"/>
              </a:lnTo>
              <a:lnTo>
                <a:pt x="1026702" y="210605"/>
              </a:lnTo>
              <a:lnTo>
                <a:pt x="1026702" y="421211"/>
              </a:lnTo>
            </a:path>
          </a:pathLst>
        </a:custGeom>
        <a:no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5D3F14-C639-46E9-98CA-5DC0FF59C12F}">
      <dsp:nvSpPr>
        <dsp:cNvPr id="0" name=""/>
        <dsp:cNvSpPr/>
      </dsp:nvSpPr>
      <dsp:spPr>
        <a:xfrm>
          <a:off x="2658265" y="2948478"/>
          <a:ext cx="1579542" cy="1053028"/>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ACG (EXEC FN)</a:t>
          </a:r>
        </a:p>
      </dsp:txBody>
      <dsp:txXfrm>
        <a:off x="2689107" y="2979320"/>
        <a:ext cx="1517858" cy="991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CCD44-0CDB-41DB-9024-B38738296A77}">
      <dsp:nvSpPr>
        <dsp:cNvPr id="0" name=""/>
        <dsp:cNvSpPr/>
      </dsp:nvSpPr>
      <dsp:spPr>
        <a:xfrm>
          <a:off x="1769891" y="0"/>
          <a:ext cx="1302885" cy="86859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COMD HQ/ MGGS Ops</a:t>
          </a:r>
          <a:endParaRPr lang="en-IN" sz="1600" b="1" kern="1200" dirty="0"/>
        </a:p>
      </dsp:txBody>
      <dsp:txXfrm>
        <a:off x="1795331" y="25440"/>
        <a:ext cx="1252005" cy="817710"/>
      </dsp:txXfrm>
    </dsp:sp>
    <dsp:sp modelId="{DCA8C638-372A-4698-A01B-4F45C99C0598}">
      <dsp:nvSpPr>
        <dsp:cNvPr id="0" name=""/>
        <dsp:cNvSpPr/>
      </dsp:nvSpPr>
      <dsp:spPr>
        <a:xfrm>
          <a:off x="2375613" y="868590"/>
          <a:ext cx="91440" cy="347436"/>
        </a:xfrm>
        <a:custGeom>
          <a:avLst/>
          <a:gdLst/>
          <a:ahLst/>
          <a:cxnLst/>
          <a:rect l="0" t="0" r="0" b="0"/>
          <a:pathLst>
            <a:path>
              <a:moveTo>
                <a:pt x="45720" y="0"/>
              </a:moveTo>
              <a:lnTo>
                <a:pt x="45720" y="34743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86F532-DB5A-4CCA-8F25-643B90076934}">
      <dsp:nvSpPr>
        <dsp:cNvPr id="0" name=""/>
        <dsp:cNvSpPr/>
      </dsp:nvSpPr>
      <dsp:spPr>
        <a:xfrm>
          <a:off x="1769891" y="1216026"/>
          <a:ext cx="1302885" cy="86859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BGS (IW)</a:t>
          </a:r>
          <a:endParaRPr lang="en-IN" sz="1600" b="1" kern="1200" dirty="0"/>
        </a:p>
      </dsp:txBody>
      <dsp:txXfrm>
        <a:off x="1795331" y="1241466"/>
        <a:ext cx="1252005" cy="817710"/>
      </dsp:txXfrm>
    </dsp:sp>
    <dsp:sp modelId="{C373DE2D-B5C1-4C26-9CA5-8999CBD7A71C}">
      <dsp:nvSpPr>
        <dsp:cNvPr id="0" name=""/>
        <dsp:cNvSpPr/>
      </dsp:nvSpPr>
      <dsp:spPr>
        <a:xfrm>
          <a:off x="1574458" y="2084617"/>
          <a:ext cx="846875" cy="347436"/>
        </a:xfrm>
        <a:custGeom>
          <a:avLst/>
          <a:gdLst/>
          <a:ahLst/>
          <a:cxnLst/>
          <a:rect l="0" t="0" r="0" b="0"/>
          <a:pathLst>
            <a:path>
              <a:moveTo>
                <a:pt x="846875" y="0"/>
              </a:moveTo>
              <a:lnTo>
                <a:pt x="846875" y="173718"/>
              </a:lnTo>
              <a:lnTo>
                <a:pt x="0" y="173718"/>
              </a:lnTo>
              <a:lnTo>
                <a:pt x="0" y="34743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B4BC4D-B127-4CAE-B3F5-69746E9C7CB4}">
      <dsp:nvSpPr>
        <dsp:cNvPr id="0" name=""/>
        <dsp:cNvSpPr/>
      </dsp:nvSpPr>
      <dsp:spPr>
        <a:xfrm>
          <a:off x="923015" y="2432053"/>
          <a:ext cx="1302885" cy="86859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Command Cyber Ops and </a:t>
          </a:r>
          <a:r>
            <a:rPr lang="en-US" sz="1400" b="1" kern="1200" dirty="0" err="1">
              <a:latin typeface="Arial" panose="020B0604020202020204" pitchFamily="34" charset="0"/>
              <a:cs typeface="Arial" panose="020B0604020202020204" pitchFamily="34" charset="0"/>
            </a:rPr>
            <a:t>Sp</a:t>
          </a:r>
          <a:r>
            <a:rPr lang="en-US" sz="1400" b="1" kern="1200" dirty="0">
              <a:latin typeface="Arial" panose="020B0604020202020204" pitchFamily="34" charset="0"/>
              <a:cs typeface="Arial" panose="020B0604020202020204" pitchFamily="34" charset="0"/>
            </a:rPr>
            <a:t> </a:t>
          </a:r>
          <a:r>
            <a:rPr lang="en-US" sz="1400" b="1" kern="1200" dirty="0" err="1">
              <a:latin typeface="Arial" panose="020B0604020202020204" pitchFamily="34" charset="0"/>
              <a:cs typeface="Arial" panose="020B0604020202020204" pitchFamily="34" charset="0"/>
            </a:rPr>
            <a:t>Wg</a:t>
          </a:r>
          <a:r>
            <a:rPr lang="en-US" sz="1400" b="1" kern="1200" dirty="0">
              <a:latin typeface="Arial" panose="020B0604020202020204" pitchFamily="34" charset="0"/>
              <a:cs typeface="Arial" panose="020B0604020202020204" pitchFamily="34" charset="0"/>
            </a:rPr>
            <a:t> (CCOSW</a:t>
          </a:r>
          <a:r>
            <a:rPr lang="en-US" sz="1300" kern="1200" dirty="0"/>
            <a:t>)</a:t>
          </a:r>
          <a:endParaRPr lang="en-IN" sz="1300" kern="1200" dirty="0"/>
        </a:p>
      </dsp:txBody>
      <dsp:txXfrm>
        <a:off x="948455" y="2457493"/>
        <a:ext cx="1252005" cy="817710"/>
      </dsp:txXfrm>
    </dsp:sp>
    <dsp:sp modelId="{725FD392-267B-4A07-BD3A-65DF239B36DE}">
      <dsp:nvSpPr>
        <dsp:cNvPr id="0" name=""/>
        <dsp:cNvSpPr/>
      </dsp:nvSpPr>
      <dsp:spPr>
        <a:xfrm>
          <a:off x="2421334" y="2084617"/>
          <a:ext cx="846875" cy="347436"/>
        </a:xfrm>
        <a:custGeom>
          <a:avLst/>
          <a:gdLst/>
          <a:ahLst/>
          <a:cxnLst/>
          <a:rect l="0" t="0" r="0" b="0"/>
          <a:pathLst>
            <a:path>
              <a:moveTo>
                <a:pt x="0" y="0"/>
              </a:moveTo>
              <a:lnTo>
                <a:pt x="0" y="173718"/>
              </a:lnTo>
              <a:lnTo>
                <a:pt x="846875" y="173718"/>
              </a:lnTo>
              <a:lnTo>
                <a:pt x="846875" y="34743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7BF0D4-A835-4F82-A0A5-0E33D99AE933}">
      <dsp:nvSpPr>
        <dsp:cNvPr id="0" name=""/>
        <dsp:cNvSpPr/>
      </dsp:nvSpPr>
      <dsp:spPr>
        <a:xfrm>
          <a:off x="2616766" y="2432053"/>
          <a:ext cx="1302885" cy="86859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Col GS (IW)</a:t>
          </a:r>
          <a:endParaRPr lang="en-IN" sz="2000" b="1" kern="1200" dirty="0"/>
        </a:p>
      </dsp:txBody>
      <dsp:txXfrm>
        <a:off x="2642206" y="2457493"/>
        <a:ext cx="1252005" cy="8177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4FD17E-B04C-4090-ABFA-CDBE4B0DB8B3}">
      <dsp:nvSpPr>
        <dsp:cNvPr id="0" name=""/>
        <dsp:cNvSpPr/>
      </dsp:nvSpPr>
      <dsp:spPr>
        <a:xfrm>
          <a:off x="5859847" y="2990846"/>
          <a:ext cx="716051" cy="1572199"/>
        </a:xfrm>
        <a:custGeom>
          <a:avLst/>
          <a:gdLst/>
          <a:ahLst/>
          <a:cxnLst/>
          <a:rect l="0" t="0" r="0" b="0"/>
          <a:pathLst>
            <a:path>
              <a:moveTo>
                <a:pt x="0" y="0"/>
              </a:moveTo>
              <a:lnTo>
                <a:pt x="0" y="1572199"/>
              </a:lnTo>
              <a:lnTo>
                <a:pt x="716051" y="1572199"/>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C1DD71-0286-449C-8752-09638602B79C}">
      <dsp:nvSpPr>
        <dsp:cNvPr id="0" name=""/>
        <dsp:cNvSpPr/>
      </dsp:nvSpPr>
      <dsp:spPr>
        <a:xfrm>
          <a:off x="5859847" y="2990846"/>
          <a:ext cx="716051" cy="466989"/>
        </a:xfrm>
        <a:custGeom>
          <a:avLst/>
          <a:gdLst/>
          <a:ahLst/>
          <a:cxnLst/>
          <a:rect l="0" t="0" r="0" b="0"/>
          <a:pathLst>
            <a:path>
              <a:moveTo>
                <a:pt x="0" y="0"/>
              </a:moveTo>
              <a:lnTo>
                <a:pt x="0" y="466989"/>
              </a:lnTo>
              <a:lnTo>
                <a:pt x="716051" y="466989"/>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CC1D83-C1C6-4F17-BF01-A62E429CF4E3}">
      <dsp:nvSpPr>
        <dsp:cNvPr id="0" name=""/>
        <dsp:cNvSpPr/>
      </dsp:nvSpPr>
      <dsp:spPr>
        <a:xfrm>
          <a:off x="3976321" y="1885636"/>
          <a:ext cx="1883525" cy="326892"/>
        </a:xfrm>
        <a:custGeom>
          <a:avLst/>
          <a:gdLst/>
          <a:ahLst/>
          <a:cxnLst/>
          <a:rect l="0" t="0" r="0" b="0"/>
          <a:pathLst>
            <a:path>
              <a:moveTo>
                <a:pt x="0" y="0"/>
              </a:moveTo>
              <a:lnTo>
                <a:pt x="0" y="163446"/>
              </a:lnTo>
              <a:lnTo>
                <a:pt x="1883525" y="163446"/>
              </a:lnTo>
              <a:lnTo>
                <a:pt x="1883525" y="326892"/>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A969AC-E21A-44C5-9634-8C4D4CA46B4B}">
      <dsp:nvSpPr>
        <dsp:cNvPr id="0" name=""/>
        <dsp:cNvSpPr/>
      </dsp:nvSpPr>
      <dsp:spPr>
        <a:xfrm>
          <a:off x="3976321" y="2990846"/>
          <a:ext cx="716051" cy="466989"/>
        </a:xfrm>
        <a:custGeom>
          <a:avLst/>
          <a:gdLst/>
          <a:ahLst/>
          <a:cxnLst/>
          <a:rect l="0" t="0" r="0" b="0"/>
          <a:pathLst>
            <a:path>
              <a:moveTo>
                <a:pt x="0" y="0"/>
              </a:moveTo>
              <a:lnTo>
                <a:pt x="0" y="466989"/>
              </a:lnTo>
              <a:lnTo>
                <a:pt x="716051" y="466989"/>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5D5931-1F33-4B8D-87CE-9B4E1BE2C875}">
      <dsp:nvSpPr>
        <dsp:cNvPr id="0" name=""/>
        <dsp:cNvSpPr/>
      </dsp:nvSpPr>
      <dsp:spPr>
        <a:xfrm>
          <a:off x="3930601" y="1885636"/>
          <a:ext cx="91440" cy="326892"/>
        </a:xfrm>
        <a:custGeom>
          <a:avLst/>
          <a:gdLst/>
          <a:ahLst/>
          <a:cxnLst/>
          <a:rect l="0" t="0" r="0" b="0"/>
          <a:pathLst>
            <a:path>
              <a:moveTo>
                <a:pt x="45720" y="0"/>
              </a:moveTo>
              <a:lnTo>
                <a:pt x="45720" y="326892"/>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4C1A57-4E26-47D5-A254-D5F5B91ABA7A}">
      <dsp:nvSpPr>
        <dsp:cNvPr id="0" name=""/>
        <dsp:cNvSpPr/>
      </dsp:nvSpPr>
      <dsp:spPr>
        <a:xfrm>
          <a:off x="2092795" y="2990846"/>
          <a:ext cx="716051" cy="1572199"/>
        </a:xfrm>
        <a:custGeom>
          <a:avLst/>
          <a:gdLst/>
          <a:ahLst/>
          <a:cxnLst/>
          <a:rect l="0" t="0" r="0" b="0"/>
          <a:pathLst>
            <a:path>
              <a:moveTo>
                <a:pt x="0" y="0"/>
              </a:moveTo>
              <a:lnTo>
                <a:pt x="0" y="1572199"/>
              </a:lnTo>
              <a:lnTo>
                <a:pt x="716051" y="1572199"/>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54D663-85D7-4F3E-B4AC-24452D80D26E}">
      <dsp:nvSpPr>
        <dsp:cNvPr id="0" name=""/>
        <dsp:cNvSpPr/>
      </dsp:nvSpPr>
      <dsp:spPr>
        <a:xfrm>
          <a:off x="2092795" y="2990846"/>
          <a:ext cx="716051" cy="466989"/>
        </a:xfrm>
        <a:custGeom>
          <a:avLst/>
          <a:gdLst/>
          <a:ahLst/>
          <a:cxnLst/>
          <a:rect l="0" t="0" r="0" b="0"/>
          <a:pathLst>
            <a:path>
              <a:moveTo>
                <a:pt x="0" y="0"/>
              </a:moveTo>
              <a:lnTo>
                <a:pt x="0" y="466989"/>
              </a:lnTo>
              <a:lnTo>
                <a:pt x="716051" y="466989"/>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C185DB-3F72-4CA6-8BF7-B4D3429A560F}">
      <dsp:nvSpPr>
        <dsp:cNvPr id="0" name=""/>
        <dsp:cNvSpPr/>
      </dsp:nvSpPr>
      <dsp:spPr>
        <a:xfrm>
          <a:off x="2092795" y="1885636"/>
          <a:ext cx="1883525" cy="326892"/>
        </a:xfrm>
        <a:custGeom>
          <a:avLst/>
          <a:gdLst/>
          <a:ahLst/>
          <a:cxnLst/>
          <a:rect l="0" t="0" r="0" b="0"/>
          <a:pathLst>
            <a:path>
              <a:moveTo>
                <a:pt x="1883525" y="0"/>
              </a:moveTo>
              <a:lnTo>
                <a:pt x="1883525" y="163446"/>
              </a:lnTo>
              <a:lnTo>
                <a:pt x="0" y="163446"/>
              </a:lnTo>
              <a:lnTo>
                <a:pt x="0" y="326892"/>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D01323-F86D-4CB8-8B3B-38E81E078C48}">
      <dsp:nvSpPr>
        <dsp:cNvPr id="0" name=""/>
        <dsp:cNvSpPr/>
      </dsp:nvSpPr>
      <dsp:spPr>
        <a:xfrm>
          <a:off x="3930601" y="780427"/>
          <a:ext cx="91440" cy="326892"/>
        </a:xfrm>
        <a:custGeom>
          <a:avLst/>
          <a:gdLst/>
          <a:ahLst/>
          <a:cxnLst/>
          <a:rect l="0" t="0" r="0" b="0"/>
          <a:pathLst>
            <a:path>
              <a:moveTo>
                <a:pt x="45720" y="0"/>
              </a:moveTo>
              <a:lnTo>
                <a:pt x="45720" y="326892"/>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98A7CD-1C6A-41B1-B580-9F9461D05E2A}">
      <dsp:nvSpPr>
        <dsp:cNvPr id="0" name=""/>
        <dsp:cNvSpPr/>
      </dsp:nvSpPr>
      <dsp:spPr>
        <a:xfrm>
          <a:off x="3587163" y="2110"/>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E3B0B6-0123-484C-B0BB-07F4AE408F3E}">
      <dsp:nvSpPr>
        <dsp:cNvPr id="0" name=""/>
        <dsp:cNvSpPr/>
      </dsp:nvSpPr>
      <dsp:spPr>
        <a:xfrm>
          <a:off x="3587163" y="2110"/>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C5D96B-8F8B-429B-8113-78C8A2F57F73}">
      <dsp:nvSpPr>
        <dsp:cNvPr id="0" name=""/>
        <dsp:cNvSpPr/>
      </dsp:nvSpPr>
      <dsp:spPr>
        <a:xfrm>
          <a:off x="3198005" y="142207"/>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COMMANDER/</a:t>
          </a:r>
        </a:p>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HEAD</a:t>
          </a:r>
          <a:endParaRPr lang="en-IN" sz="1400" b="1" kern="1200" dirty="0">
            <a:latin typeface="Arial" panose="020B0604020202020204" pitchFamily="34" charset="0"/>
            <a:cs typeface="Arial" panose="020B0604020202020204" pitchFamily="34" charset="0"/>
          </a:endParaRPr>
        </a:p>
      </dsp:txBody>
      <dsp:txXfrm>
        <a:off x="3198005" y="142207"/>
        <a:ext cx="1556632" cy="498122"/>
      </dsp:txXfrm>
    </dsp:sp>
    <dsp:sp modelId="{234984E8-8520-47E8-A8EF-8FD15B2764CE}">
      <dsp:nvSpPr>
        <dsp:cNvPr id="0" name=""/>
        <dsp:cNvSpPr/>
      </dsp:nvSpPr>
      <dsp:spPr>
        <a:xfrm>
          <a:off x="3587163" y="1107320"/>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A0EE7F-3567-4EE0-874F-70997AAC8419}">
      <dsp:nvSpPr>
        <dsp:cNvPr id="0" name=""/>
        <dsp:cNvSpPr/>
      </dsp:nvSpPr>
      <dsp:spPr>
        <a:xfrm>
          <a:off x="3587163" y="1107320"/>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5C0C26-DD09-4EC8-BEF4-6B419B9B0B03}">
      <dsp:nvSpPr>
        <dsp:cNvPr id="0" name=""/>
        <dsp:cNvSpPr/>
      </dsp:nvSpPr>
      <dsp:spPr>
        <a:xfrm>
          <a:off x="3198005" y="1247417"/>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Chief information security officer (CISO</a:t>
          </a:r>
          <a:r>
            <a:rPr lang="en-US" sz="1600" b="1" kern="1200" dirty="0">
              <a:latin typeface="Arial" panose="020B0604020202020204" pitchFamily="34" charset="0"/>
              <a:cs typeface="Arial" panose="020B0604020202020204" pitchFamily="34" charset="0"/>
            </a:rPr>
            <a:t>)</a:t>
          </a:r>
          <a:endParaRPr lang="en-IN" sz="1600" b="1" kern="1200" dirty="0">
            <a:latin typeface="Arial" panose="020B0604020202020204" pitchFamily="34" charset="0"/>
            <a:cs typeface="Arial" panose="020B0604020202020204" pitchFamily="34" charset="0"/>
          </a:endParaRPr>
        </a:p>
      </dsp:txBody>
      <dsp:txXfrm>
        <a:off x="3198005" y="1247417"/>
        <a:ext cx="1556632" cy="498122"/>
      </dsp:txXfrm>
    </dsp:sp>
    <dsp:sp modelId="{ADAF66F7-A575-4A5C-A10C-40EE678A0372}">
      <dsp:nvSpPr>
        <dsp:cNvPr id="0" name=""/>
        <dsp:cNvSpPr/>
      </dsp:nvSpPr>
      <dsp:spPr>
        <a:xfrm>
          <a:off x="1703637" y="2212529"/>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5222A6-C97E-4F77-9E5D-1BE012A11A84}">
      <dsp:nvSpPr>
        <dsp:cNvPr id="0" name=""/>
        <dsp:cNvSpPr/>
      </dsp:nvSpPr>
      <dsp:spPr>
        <a:xfrm>
          <a:off x="1703637" y="2212529"/>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F4C185-C1DF-486D-BD62-F389867DFE60}">
      <dsp:nvSpPr>
        <dsp:cNvPr id="0" name=""/>
        <dsp:cNvSpPr/>
      </dsp:nvSpPr>
      <dsp:spPr>
        <a:xfrm>
          <a:off x="1314479" y="2352626"/>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Cyber security officer</a:t>
          </a:r>
          <a:endParaRPr lang="en-IN" sz="1600" b="1" kern="1200" dirty="0">
            <a:latin typeface="Arial" panose="020B0604020202020204" pitchFamily="34" charset="0"/>
            <a:cs typeface="Arial" panose="020B0604020202020204" pitchFamily="34" charset="0"/>
          </a:endParaRPr>
        </a:p>
      </dsp:txBody>
      <dsp:txXfrm>
        <a:off x="1314479" y="2352626"/>
        <a:ext cx="1556632" cy="498122"/>
      </dsp:txXfrm>
    </dsp:sp>
    <dsp:sp modelId="{13F5FD96-669E-4E93-9E48-243FD84E9C69}">
      <dsp:nvSpPr>
        <dsp:cNvPr id="0" name=""/>
        <dsp:cNvSpPr/>
      </dsp:nvSpPr>
      <dsp:spPr>
        <a:xfrm>
          <a:off x="2715449" y="3317739"/>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6D15F1-C900-4C0A-BADE-8031AA4BD69F}">
      <dsp:nvSpPr>
        <dsp:cNvPr id="0" name=""/>
        <dsp:cNvSpPr/>
      </dsp:nvSpPr>
      <dsp:spPr>
        <a:xfrm>
          <a:off x="2715449" y="3317739"/>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A53E9E-43D9-45D9-8036-F92E19F6EB71}">
      <dsp:nvSpPr>
        <dsp:cNvPr id="0" name=""/>
        <dsp:cNvSpPr/>
      </dsp:nvSpPr>
      <dsp:spPr>
        <a:xfrm>
          <a:off x="2326290" y="3457836"/>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latin typeface="Arial" panose="020B0604020202020204" pitchFamily="34" charset="0"/>
              <a:cs typeface="Arial" panose="020B0604020202020204" pitchFamily="34" charset="0"/>
            </a:rPr>
            <a:t>Cyber security operations</a:t>
          </a:r>
          <a:endParaRPr lang="en-IN" sz="1600" b="1" kern="1200" dirty="0">
            <a:latin typeface="Arial" panose="020B0604020202020204" pitchFamily="34" charset="0"/>
            <a:cs typeface="Arial" panose="020B0604020202020204" pitchFamily="34" charset="0"/>
          </a:endParaRPr>
        </a:p>
      </dsp:txBody>
      <dsp:txXfrm>
        <a:off x="2326290" y="3457836"/>
        <a:ext cx="1556632" cy="498122"/>
      </dsp:txXfrm>
    </dsp:sp>
    <dsp:sp modelId="{384980F0-F4E8-4D4E-8C65-E81F921E52BD}">
      <dsp:nvSpPr>
        <dsp:cNvPr id="0" name=""/>
        <dsp:cNvSpPr/>
      </dsp:nvSpPr>
      <dsp:spPr>
        <a:xfrm>
          <a:off x="2715449" y="4422948"/>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F29346-7580-4C1C-8E11-A60699464C59}">
      <dsp:nvSpPr>
        <dsp:cNvPr id="0" name=""/>
        <dsp:cNvSpPr/>
      </dsp:nvSpPr>
      <dsp:spPr>
        <a:xfrm>
          <a:off x="2715449" y="4422948"/>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40DBCB-B650-40F1-A091-332D63F8C4A3}">
      <dsp:nvSpPr>
        <dsp:cNvPr id="0" name=""/>
        <dsp:cNvSpPr/>
      </dsp:nvSpPr>
      <dsp:spPr>
        <a:xfrm>
          <a:off x="2326290" y="4563045"/>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Incident response</a:t>
          </a:r>
          <a:endParaRPr lang="en-IN" sz="1600" b="1" kern="1200" dirty="0">
            <a:latin typeface="Arial" panose="020B0604020202020204" pitchFamily="34" charset="0"/>
            <a:cs typeface="Arial" panose="020B0604020202020204" pitchFamily="34" charset="0"/>
          </a:endParaRPr>
        </a:p>
      </dsp:txBody>
      <dsp:txXfrm>
        <a:off x="2326290" y="4563045"/>
        <a:ext cx="1556632" cy="498122"/>
      </dsp:txXfrm>
    </dsp:sp>
    <dsp:sp modelId="{6B49C98B-82DA-4521-B1CB-90865BA81E9E}">
      <dsp:nvSpPr>
        <dsp:cNvPr id="0" name=""/>
        <dsp:cNvSpPr/>
      </dsp:nvSpPr>
      <dsp:spPr>
        <a:xfrm>
          <a:off x="3587163" y="2212529"/>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892461-BD48-45AD-BAC6-C4113BED2934}">
      <dsp:nvSpPr>
        <dsp:cNvPr id="0" name=""/>
        <dsp:cNvSpPr/>
      </dsp:nvSpPr>
      <dsp:spPr>
        <a:xfrm>
          <a:off x="3587163" y="2212529"/>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8CCD72-ACA7-4AE8-AC92-2FF336C3EBD1}">
      <dsp:nvSpPr>
        <dsp:cNvPr id="0" name=""/>
        <dsp:cNvSpPr/>
      </dsp:nvSpPr>
      <dsp:spPr>
        <a:xfrm>
          <a:off x="3198005" y="2352626"/>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IT Officer (ITO)</a:t>
          </a:r>
        </a:p>
      </dsp:txBody>
      <dsp:txXfrm>
        <a:off x="3198005" y="2352626"/>
        <a:ext cx="1556632" cy="498122"/>
      </dsp:txXfrm>
    </dsp:sp>
    <dsp:sp modelId="{321A0D2C-396D-4821-901D-B6659CF6DD9F}">
      <dsp:nvSpPr>
        <dsp:cNvPr id="0" name=""/>
        <dsp:cNvSpPr/>
      </dsp:nvSpPr>
      <dsp:spPr>
        <a:xfrm>
          <a:off x="4598974" y="3317739"/>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BCDAD0-7010-4897-899C-2473F112FEE6}">
      <dsp:nvSpPr>
        <dsp:cNvPr id="0" name=""/>
        <dsp:cNvSpPr/>
      </dsp:nvSpPr>
      <dsp:spPr>
        <a:xfrm>
          <a:off x="4598974" y="3317739"/>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E77134-6103-4929-B1F0-148D60A34E5A}">
      <dsp:nvSpPr>
        <dsp:cNvPr id="0" name=""/>
        <dsp:cNvSpPr/>
      </dsp:nvSpPr>
      <dsp:spPr>
        <a:xfrm>
          <a:off x="4209816" y="3457836"/>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Provisioning of IT assets</a:t>
          </a:r>
          <a:endParaRPr lang="en-IN" sz="1600" b="1" kern="1200" dirty="0">
            <a:latin typeface="Arial" panose="020B0604020202020204" pitchFamily="34" charset="0"/>
            <a:cs typeface="Arial" panose="020B0604020202020204" pitchFamily="34" charset="0"/>
          </a:endParaRPr>
        </a:p>
      </dsp:txBody>
      <dsp:txXfrm>
        <a:off x="4209816" y="3457836"/>
        <a:ext cx="1556632" cy="498122"/>
      </dsp:txXfrm>
    </dsp:sp>
    <dsp:sp modelId="{D901CEC6-A54F-42FA-B67D-70DC8DAB7A7D}">
      <dsp:nvSpPr>
        <dsp:cNvPr id="0" name=""/>
        <dsp:cNvSpPr/>
      </dsp:nvSpPr>
      <dsp:spPr>
        <a:xfrm>
          <a:off x="5470689" y="2212529"/>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26D8C7-97A6-437B-8C8F-6981527AA2FD}">
      <dsp:nvSpPr>
        <dsp:cNvPr id="0" name=""/>
        <dsp:cNvSpPr/>
      </dsp:nvSpPr>
      <dsp:spPr>
        <a:xfrm>
          <a:off x="5470689" y="2212529"/>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096201-A219-4940-B958-9FF74F11282B}">
      <dsp:nvSpPr>
        <dsp:cNvPr id="0" name=""/>
        <dsp:cNvSpPr/>
      </dsp:nvSpPr>
      <dsp:spPr>
        <a:xfrm>
          <a:off x="5081531" y="2352626"/>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Network administrator</a:t>
          </a:r>
          <a:endParaRPr lang="en-IN" sz="1600" b="1" kern="1200" dirty="0">
            <a:latin typeface="Arial" panose="020B0604020202020204" pitchFamily="34" charset="0"/>
            <a:cs typeface="Arial" panose="020B0604020202020204" pitchFamily="34" charset="0"/>
          </a:endParaRPr>
        </a:p>
      </dsp:txBody>
      <dsp:txXfrm>
        <a:off x="5081531" y="2352626"/>
        <a:ext cx="1556632" cy="498122"/>
      </dsp:txXfrm>
    </dsp:sp>
    <dsp:sp modelId="{346A7A55-B7C4-4128-A4A6-94CB726C0B98}">
      <dsp:nvSpPr>
        <dsp:cNvPr id="0" name=""/>
        <dsp:cNvSpPr/>
      </dsp:nvSpPr>
      <dsp:spPr>
        <a:xfrm>
          <a:off x="6482500" y="3317739"/>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E0302A-82BA-4221-A62D-8412D6FF6F65}">
      <dsp:nvSpPr>
        <dsp:cNvPr id="0" name=""/>
        <dsp:cNvSpPr/>
      </dsp:nvSpPr>
      <dsp:spPr>
        <a:xfrm>
          <a:off x="6482500" y="3317739"/>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EB4031-9F98-4BAB-9866-639B6CF55E3F}">
      <dsp:nvSpPr>
        <dsp:cNvPr id="0" name=""/>
        <dsp:cNvSpPr/>
      </dsp:nvSpPr>
      <dsp:spPr>
        <a:xfrm>
          <a:off x="6093342" y="3457836"/>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ADN</a:t>
          </a:r>
          <a:endParaRPr lang="en-IN" sz="1600" b="1" kern="1200" dirty="0">
            <a:latin typeface="Arial" panose="020B0604020202020204" pitchFamily="34" charset="0"/>
            <a:cs typeface="Arial" panose="020B0604020202020204" pitchFamily="34" charset="0"/>
          </a:endParaRPr>
        </a:p>
      </dsp:txBody>
      <dsp:txXfrm>
        <a:off x="6093342" y="3457836"/>
        <a:ext cx="1556632" cy="498122"/>
      </dsp:txXfrm>
    </dsp:sp>
    <dsp:sp modelId="{ECCAB334-3D3C-42A4-93B0-AFA92939C12F}">
      <dsp:nvSpPr>
        <dsp:cNvPr id="0" name=""/>
        <dsp:cNvSpPr/>
      </dsp:nvSpPr>
      <dsp:spPr>
        <a:xfrm>
          <a:off x="6482500" y="4422948"/>
          <a:ext cx="778316" cy="778316"/>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088C66-E09B-4C82-9AB3-A6FC7008BD12}">
      <dsp:nvSpPr>
        <dsp:cNvPr id="0" name=""/>
        <dsp:cNvSpPr/>
      </dsp:nvSpPr>
      <dsp:spPr>
        <a:xfrm>
          <a:off x="6482500" y="4422948"/>
          <a:ext cx="778316" cy="778316"/>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EE9BB3-E125-4338-A1C0-269036A92E48}">
      <dsp:nvSpPr>
        <dsp:cNvPr id="0" name=""/>
        <dsp:cNvSpPr/>
      </dsp:nvSpPr>
      <dsp:spPr>
        <a:xfrm>
          <a:off x="6093342" y="4563045"/>
          <a:ext cx="1556632" cy="498122"/>
        </a:xfrm>
        <a:prstGeom prst="rect">
          <a:avLst/>
        </a:prstGeom>
        <a:noFill/>
        <a:ln w="6350" cap="flat" cmpd="sng" algn="ctr">
          <a:noFill/>
          <a:prstDash val="solid"/>
          <a:miter lim="800000"/>
        </a:ln>
        <a:effectLst/>
        <a:sp3d/>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Local network administration</a:t>
          </a:r>
          <a:endParaRPr lang="en-IN" sz="1600" b="1" kern="1200" dirty="0">
            <a:latin typeface="Arial" panose="020B0604020202020204" pitchFamily="34" charset="0"/>
            <a:cs typeface="Arial" panose="020B0604020202020204" pitchFamily="34" charset="0"/>
          </a:endParaRPr>
        </a:p>
      </dsp:txBody>
      <dsp:txXfrm>
        <a:off x="6093342" y="4563045"/>
        <a:ext cx="1556632" cy="49812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F2060-D067-44AE-8A58-D0D443F6B6E8}" type="datetimeFigureOut">
              <a:rPr lang="en-IN" smtClean="0"/>
              <a:t>04-09-2026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AE50BE-1867-4BF4-BD92-9D2DFFA345E4}" type="slidenum">
              <a:rPr lang="en-IN" smtClean="0"/>
              <a:t>‹#›</a:t>
            </a:fld>
            <a:endParaRPr lang="en-IN"/>
          </a:p>
        </p:txBody>
      </p:sp>
    </p:spTree>
    <p:extLst>
      <p:ext uri="{BB962C8B-B14F-4D97-AF65-F5344CB8AC3E}">
        <p14:creationId xmlns:p14="http://schemas.microsoft.com/office/powerpoint/2010/main" val="28877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DFB73F-0789-4D0C-A041-2A11B43F3DE9}"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76296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AE50BE-1867-4BF4-BD92-9D2DFFA345E4}" type="slidenum">
              <a:rPr lang="en-IN" smtClean="0"/>
              <a:t>37</a:t>
            </a:fld>
            <a:endParaRPr lang="en-IN"/>
          </a:p>
        </p:txBody>
      </p:sp>
    </p:spTree>
    <p:extLst>
      <p:ext uri="{BB962C8B-B14F-4D97-AF65-F5344CB8AC3E}">
        <p14:creationId xmlns:p14="http://schemas.microsoft.com/office/powerpoint/2010/main" val="2864449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BA08-3A51-A83C-8324-CD7C16CF2CD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D3827C7D-24C2-960C-B1D0-F25534CC3E2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8034CA-DFAD-818E-136D-1A0AD4EF9D00}"/>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5" name="Footer Placeholder 4">
            <a:extLst>
              <a:ext uri="{FF2B5EF4-FFF2-40B4-BE49-F238E27FC236}">
                <a16:creationId xmlns:a16="http://schemas.microsoft.com/office/drawing/2014/main" id="{2D26E406-3527-1464-FA93-589698194E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DE8A70-264E-4F0E-2814-92C1D4F6D144}"/>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2984684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BE554-0587-F51B-0BF1-CA99CD1987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A992DC-2C70-F9A5-E341-8440CAF7BD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03B77B-5D30-07B2-5484-4891E9C1D9FB}"/>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5" name="Footer Placeholder 4">
            <a:extLst>
              <a:ext uri="{FF2B5EF4-FFF2-40B4-BE49-F238E27FC236}">
                <a16:creationId xmlns:a16="http://schemas.microsoft.com/office/drawing/2014/main" id="{CBBFD7D9-F3D4-1DA6-CE34-B570006A4D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77EF1F-D436-35DE-25BA-3C740178A66D}"/>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8898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EA82-8283-DFAB-ADC5-C2575BABCDAB}"/>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D5E34A-B912-85A5-5441-6047B24F2169}"/>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B8A0C7-BE93-577D-264D-F006A720EF1B}"/>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5" name="Footer Placeholder 4">
            <a:extLst>
              <a:ext uri="{FF2B5EF4-FFF2-40B4-BE49-F238E27FC236}">
                <a16:creationId xmlns:a16="http://schemas.microsoft.com/office/drawing/2014/main" id="{C16EBDAE-7814-5E1B-0515-569EFAC0F3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C3ABBF-11AE-E7F3-5517-9B6682D6351B}"/>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3687596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1120-AA60-C06E-E8FA-623BFBB43F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53E4A1-980F-B17C-E4CD-60C4C677441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2D82A5B-8EBD-96E6-1161-3DCB656318B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A750A1-6585-C688-A397-CDE8822DB3C2}"/>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6" name="Footer Placeholder 5">
            <a:extLst>
              <a:ext uri="{FF2B5EF4-FFF2-40B4-BE49-F238E27FC236}">
                <a16:creationId xmlns:a16="http://schemas.microsoft.com/office/drawing/2014/main" id="{07A7E086-C051-DDC0-D983-B98603FE23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01B3AC-4CCE-6EBE-B997-77BEE5DAE762}"/>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1704206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7952-1AD8-E7BC-4F15-C0D1B132CBFF}"/>
              </a:ext>
            </a:extLst>
          </p:cNvPr>
          <p:cNvSpPr>
            <a:spLocks noGrp="1"/>
          </p:cNvSpPr>
          <p:nvPr>
            <p:ph type="title"/>
          </p:nvPr>
        </p:nvSpPr>
        <p:spPr>
          <a:xfrm>
            <a:off x="629841" y="365128"/>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27E859-EBEA-56C5-C4E3-8069CE29E73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E5511EB-AB31-21B8-698C-FF6B8161057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E4BAA2-6250-7699-6054-754F22F2A956}"/>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7181D2B-E33D-7CF5-6DB6-419671D4ECB2}"/>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F0EC7B-A63B-DBD2-4902-1C2DF7FCE083}"/>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8" name="Footer Placeholder 7">
            <a:extLst>
              <a:ext uri="{FF2B5EF4-FFF2-40B4-BE49-F238E27FC236}">
                <a16:creationId xmlns:a16="http://schemas.microsoft.com/office/drawing/2014/main" id="{3799B5E5-9E83-EFE9-6A18-47CEDCEFCA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5CE312-F568-3C09-EA80-2B092A5757F8}"/>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3843125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64AC-C862-76A4-AD89-C8DB266801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03D22A7-2035-6494-FD66-157D3DBBB22E}"/>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4" name="Footer Placeholder 3">
            <a:extLst>
              <a:ext uri="{FF2B5EF4-FFF2-40B4-BE49-F238E27FC236}">
                <a16:creationId xmlns:a16="http://schemas.microsoft.com/office/drawing/2014/main" id="{C382BF05-0F7A-9713-6321-53044AC6AF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134652-3F08-1151-4FE8-52E354C07DD2}"/>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2708784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DAE0DA-0300-75B9-46F2-631EA758F086}"/>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3" name="Footer Placeholder 2">
            <a:extLst>
              <a:ext uri="{FF2B5EF4-FFF2-40B4-BE49-F238E27FC236}">
                <a16:creationId xmlns:a16="http://schemas.microsoft.com/office/drawing/2014/main" id="{48484CE7-D696-056B-0425-792D52DC69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9E4364-7665-0C8B-E14F-30D0F633C663}"/>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1592978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821A9-8D69-782B-C260-336FF091FEF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51E213-48BE-8BCA-8F1B-285DE5201C18}"/>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921CC2-E52F-E204-B5CE-E29863582CA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E0C901F-34CF-5A5B-91B2-20E715ABA6D5}"/>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6" name="Footer Placeholder 5">
            <a:extLst>
              <a:ext uri="{FF2B5EF4-FFF2-40B4-BE49-F238E27FC236}">
                <a16:creationId xmlns:a16="http://schemas.microsoft.com/office/drawing/2014/main" id="{9FF5A512-C432-C68B-BD0F-CF1FA4DB94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FDA257-BEAD-A363-87F9-6A5A87D45A1F}"/>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3294201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A857-2B4F-C11A-8C90-F080A7C8266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D0CD44-321D-879B-C09E-BBC2D2E695D3}"/>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B080B4DD-7985-6BEF-1DCB-5A9B2C5B5C3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8DD765F-FBD5-7B4E-8C8A-4E585F985BA7}"/>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6" name="Footer Placeholder 5">
            <a:extLst>
              <a:ext uri="{FF2B5EF4-FFF2-40B4-BE49-F238E27FC236}">
                <a16:creationId xmlns:a16="http://schemas.microsoft.com/office/drawing/2014/main" id="{D16E5049-BB14-B8B9-F984-B32476A498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42BE62-5133-2790-87E4-141F23ADCE63}"/>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191740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E1223-69AC-32EB-803A-9802912633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274C1B-65E7-EDC5-28B2-7E542F3CDC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8C2E2E-68AA-0E68-FEEF-38E2ECEADCDD}"/>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5" name="Footer Placeholder 4">
            <a:extLst>
              <a:ext uri="{FF2B5EF4-FFF2-40B4-BE49-F238E27FC236}">
                <a16:creationId xmlns:a16="http://schemas.microsoft.com/office/drawing/2014/main" id="{4442FD83-3A9C-C05F-8E76-E55A05EE49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62E489-5BDB-6E82-A9E2-4237874D9156}"/>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3384787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265D02-2ED8-43F4-B742-890472282E91}"/>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A3B85E-F929-DE74-8837-BC5AA245BCC8}"/>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C2A36B-CBBA-7CB0-A08F-85320551C3FE}"/>
              </a:ext>
            </a:extLst>
          </p:cNvPr>
          <p:cNvSpPr>
            <a:spLocks noGrp="1"/>
          </p:cNvSpPr>
          <p:nvPr>
            <p:ph type="dt" sz="half" idx="10"/>
          </p:nvPr>
        </p:nvSpPr>
        <p:spPr/>
        <p:txBody>
          <a:bodyPr/>
          <a:lstStyle/>
          <a:p>
            <a:fld id="{82FADC84-81D1-407C-B6DD-3F3E064D48CE}" type="datetimeFigureOut">
              <a:rPr lang="en-IN" smtClean="0"/>
              <a:t>04-09-2026</a:t>
            </a:fld>
            <a:endParaRPr lang="en-IN"/>
          </a:p>
        </p:txBody>
      </p:sp>
      <p:sp>
        <p:nvSpPr>
          <p:cNvPr id="5" name="Footer Placeholder 4">
            <a:extLst>
              <a:ext uri="{FF2B5EF4-FFF2-40B4-BE49-F238E27FC236}">
                <a16:creationId xmlns:a16="http://schemas.microsoft.com/office/drawing/2014/main" id="{06787732-1F6C-9FFB-B6DE-491091D142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8B27DF-F995-2C25-F4B1-262DF1793556}"/>
              </a:ext>
            </a:extLst>
          </p:cNvPr>
          <p:cNvSpPr>
            <a:spLocks noGrp="1"/>
          </p:cNvSpPr>
          <p:nvPr>
            <p:ph type="sldNum" sz="quarter" idx="12"/>
          </p:nvPr>
        </p:nvSpPr>
        <p:spPr/>
        <p:txBody>
          <a:bodyPr/>
          <a:lstStyle/>
          <a:p>
            <a:fld id="{1000C3AC-A226-4C1B-BAED-160FA4A839D7}" type="slidenum">
              <a:rPr lang="en-IN" smtClean="0"/>
              <a:t>‹#›</a:t>
            </a:fld>
            <a:endParaRPr lang="en-IN"/>
          </a:p>
        </p:txBody>
      </p:sp>
    </p:spTree>
    <p:extLst>
      <p:ext uri="{BB962C8B-B14F-4D97-AF65-F5344CB8AC3E}">
        <p14:creationId xmlns:p14="http://schemas.microsoft.com/office/powerpoint/2010/main" val="2346087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816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4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5AF2B8-2812-CAB2-5160-19B1685AD246}"/>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BA28D4-C198-30ED-6DCA-633770E3E28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992FCE-2CB4-258A-CC09-B29010DFAB8D}"/>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ADC84-81D1-407C-B6DD-3F3E064D48CE}" type="datetimeFigureOut">
              <a:rPr lang="en-IN" smtClean="0"/>
              <a:t>04-09-2026</a:t>
            </a:fld>
            <a:endParaRPr lang="en-IN"/>
          </a:p>
        </p:txBody>
      </p:sp>
      <p:sp>
        <p:nvSpPr>
          <p:cNvPr id="5" name="Footer Placeholder 4">
            <a:extLst>
              <a:ext uri="{FF2B5EF4-FFF2-40B4-BE49-F238E27FC236}">
                <a16:creationId xmlns:a16="http://schemas.microsoft.com/office/drawing/2014/main" id="{8C7BA793-537B-E020-BEF6-E8B2BEB5F85F}"/>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EF1A2D-3C98-C6DC-EDBA-88055560490E}"/>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000C3AC-A226-4C1B-BAED-160FA4A839D7}" type="slidenum">
              <a:rPr lang="en-IN" smtClean="0"/>
              <a:t>‹#›</a:t>
            </a:fld>
            <a:endParaRPr lang="en-IN"/>
          </a:p>
        </p:txBody>
      </p:sp>
    </p:spTree>
    <p:extLst>
      <p:ext uri="{BB962C8B-B14F-4D97-AF65-F5344CB8AC3E}">
        <p14:creationId xmlns:p14="http://schemas.microsoft.com/office/powerpoint/2010/main" val="2813451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image" Target="../media/image4.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4.pn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C3162C-08DF-4C69-A2DE-1AA085110AAD}"/>
              </a:ext>
            </a:extLst>
          </p:cNvPr>
          <p:cNvSpPr/>
          <p:nvPr/>
        </p:nvSpPr>
        <p:spPr>
          <a:xfrm>
            <a:off x="0" y="0"/>
            <a:ext cx="9165771"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DB721C8-54CE-AF2B-7C03-B6AB69B7018C}"/>
              </a:ext>
            </a:extLst>
          </p:cNvPr>
          <p:cNvSpPr txBox="1"/>
          <p:nvPr/>
        </p:nvSpPr>
        <p:spPr>
          <a:xfrm>
            <a:off x="88446" y="5146197"/>
            <a:ext cx="9165772" cy="523220"/>
          </a:xfrm>
          <a:prstGeom prst="rect">
            <a:avLst/>
          </a:prstGeom>
          <a:noFill/>
        </p:spPr>
        <p:txBody>
          <a:bodyPr wrap="square" rtlCol="0">
            <a:spAutoFit/>
          </a:bodyPr>
          <a:lstStyle/>
          <a:p>
            <a:pPr algn="ctr"/>
            <a:r>
              <a:rPr lang="en-IN" sz="2800" b="1" u="sng" dirty="0">
                <a:solidFill>
                  <a:srgbClr val="FF0000"/>
                </a:solidFill>
                <a:latin typeface="Arial" pitchFamily="34" charset="0"/>
                <a:cs typeface="Arial" pitchFamily="34" charset="0"/>
              </a:rPr>
              <a:t>INTRO TO CYBER SECURITY </a:t>
            </a:r>
          </a:p>
        </p:txBody>
      </p:sp>
      <p:sp>
        <p:nvSpPr>
          <p:cNvPr id="5" name="WordArt 4">
            <a:extLst>
              <a:ext uri="{FF2B5EF4-FFF2-40B4-BE49-F238E27FC236}">
                <a16:creationId xmlns:a16="http://schemas.microsoft.com/office/drawing/2014/main" id="{21662B49-9CF8-401C-912F-17D538BE02DF}"/>
              </a:ext>
            </a:extLst>
          </p:cNvPr>
          <p:cNvSpPr>
            <a:spLocks noChangeArrowheads="1" noChangeShapeType="1" noTextEdit="1"/>
          </p:cNvSpPr>
          <p:nvPr/>
        </p:nvSpPr>
        <p:spPr bwMode="auto">
          <a:xfrm>
            <a:off x="405063" y="533400"/>
            <a:ext cx="8333874" cy="6324600"/>
          </a:xfrm>
          <a:prstGeom prst="rect">
            <a:avLst/>
          </a:prstGeom>
          <a:ln>
            <a:noFill/>
          </a:ln>
        </p:spPr>
        <p:txBody>
          <a:bodyPr spcFirstLastPara="1" wrap="none" fromWordArt="1">
            <a:prstTxWarp prst="textArchUp">
              <a:avLst>
                <a:gd name="adj" fmla="val 10800004"/>
              </a:avLst>
            </a:prstTxWarp>
          </a:bodyPr>
          <a:lstStyle/>
          <a:p>
            <a:pPr algn="ctr"/>
            <a:r>
              <a:rPr lang="en-US" sz="3600" b="1" u="sng" kern="10" dirty="0">
                <a:ln w="9525">
                  <a:noFill/>
                  <a:round/>
                  <a:headEnd/>
                  <a:tailEnd/>
                </a:ln>
                <a:latin typeface="Arial Black" panose="020B0A04020102020204" pitchFamily="34" charset="0"/>
                <a:cs typeface="Arial" panose="020B0604020202020204" pitchFamily="34" charset="0"/>
              </a:rPr>
              <a:t>THE GARHWAL RIFLE REGIMENTAL CENTRE (GRRC)</a:t>
            </a:r>
          </a:p>
        </p:txBody>
      </p:sp>
      <p:sp>
        <p:nvSpPr>
          <p:cNvPr id="7" name="TextBox 6">
            <a:extLst>
              <a:ext uri="{FF2B5EF4-FFF2-40B4-BE49-F238E27FC236}">
                <a16:creationId xmlns:a16="http://schemas.microsoft.com/office/drawing/2014/main" id="{2E41CE33-8DE8-477C-9E27-D1942CC3AAB9}"/>
              </a:ext>
            </a:extLst>
          </p:cNvPr>
          <p:cNvSpPr txBox="1"/>
          <p:nvPr/>
        </p:nvSpPr>
        <p:spPr>
          <a:xfrm>
            <a:off x="88446" y="3668659"/>
            <a:ext cx="9077325" cy="1152110"/>
          </a:xfrm>
          <a:prstGeom prst="rect">
            <a:avLst/>
          </a:prstGeom>
          <a:noFill/>
        </p:spPr>
        <p:txBody>
          <a:bodyPr wrap="square">
            <a:spAutoFit/>
          </a:bodyPr>
          <a:lstStyle/>
          <a:p>
            <a:pPr algn="ctr">
              <a:lnSpc>
                <a:spcPct val="140000"/>
              </a:lnSpc>
              <a:spcBef>
                <a:spcPct val="20000"/>
              </a:spcBef>
            </a:pPr>
            <a:r>
              <a:rPr lang="en-US" sz="2400" b="1" u="sng" dirty="0">
                <a:solidFill>
                  <a:schemeClr val="tx1"/>
                </a:solidFill>
                <a:latin typeface="Arial Black" panose="020B0A04020102020204" pitchFamily="34" charset="0"/>
                <a:cs typeface="Arial" panose="020B0604020202020204" pitchFamily="34" charset="0"/>
              </a:rPr>
              <a:t>WELCOME</a:t>
            </a:r>
          </a:p>
          <a:p>
            <a:pPr algn="ctr">
              <a:lnSpc>
                <a:spcPct val="140000"/>
              </a:lnSpc>
              <a:spcBef>
                <a:spcPct val="20000"/>
              </a:spcBef>
            </a:pPr>
            <a:r>
              <a:rPr lang="en-US" sz="2400" b="1" u="sng" dirty="0">
                <a:solidFill>
                  <a:srgbClr val="0000FF"/>
                </a:solidFill>
                <a:latin typeface="Arial Black" panose="020B0A04020102020204" pitchFamily="34" charset="0"/>
                <a:cs typeface="Arial" panose="020B0604020202020204" pitchFamily="34" charset="0"/>
              </a:rPr>
              <a:t>INFORMATION TECHNOLOGY &amp; CYBER AWARENESS</a:t>
            </a:r>
          </a:p>
        </p:txBody>
      </p:sp>
      <p:pic>
        <p:nvPicPr>
          <p:cNvPr id="9" name="Picture 8">
            <a:extLst>
              <a:ext uri="{FF2B5EF4-FFF2-40B4-BE49-F238E27FC236}">
                <a16:creationId xmlns:a16="http://schemas.microsoft.com/office/drawing/2014/main" id="{D65F66A6-9565-4E08-9BC5-F1B28E335A1F}"/>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270" b="100000" l="0" r="97251"/>
                    </a14:imgEffect>
                  </a14:imgLayer>
                </a14:imgProps>
              </a:ext>
              <a:ext uri="{28A0092B-C50C-407E-A947-70E740481C1C}">
                <a14:useLocalDpi xmlns:a14="http://schemas.microsoft.com/office/drawing/2010/main" val="0"/>
              </a:ext>
            </a:extLst>
          </a:blip>
          <a:stretch>
            <a:fillRect/>
          </a:stretch>
        </p:blipFill>
        <p:spPr>
          <a:xfrm>
            <a:off x="3926192" y="806126"/>
            <a:ext cx="1427632" cy="2862533"/>
          </a:xfrm>
          <a:prstGeom prst="rect">
            <a:avLst/>
          </a:prstGeom>
          <a:effectLst>
            <a:glow rad="63500">
              <a:srgbClr val="FFC000">
                <a:alpha val="81000"/>
              </a:srgbClr>
            </a:glow>
          </a:effectLst>
        </p:spPr>
      </p:pic>
      <p:pic>
        <p:nvPicPr>
          <p:cNvPr id="8" name="Picture 7">
            <a:extLst>
              <a:ext uri="{FF2B5EF4-FFF2-40B4-BE49-F238E27FC236}">
                <a16:creationId xmlns:a16="http://schemas.microsoft.com/office/drawing/2014/main" id="{B8FA08A3-2F9B-47CC-BCC3-3B90CA3CD8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697" y="247847"/>
            <a:ext cx="729749" cy="932130"/>
          </a:xfrm>
          <a:prstGeom prst="rect">
            <a:avLst/>
          </a:prstGeom>
          <a:effectLst>
            <a:glow rad="101600">
              <a:srgbClr val="FFFF00">
                <a:alpha val="60000"/>
              </a:srgbClr>
            </a:glow>
          </a:effectLst>
        </p:spPr>
      </p:pic>
      <p:pic>
        <p:nvPicPr>
          <p:cNvPr id="10" name="Picture 9">
            <a:extLst>
              <a:ext uri="{FF2B5EF4-FFF2-40B4-BE49-F238E27FC236}">
                <a16:creationId xmlns:a16="http://schemas.microsoft.com/office/drawing/2014/main" id="{88F1CE2C-87DA-49AA-9D2A-F4C5B07032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2605" y="163431"/>
            <a:ext cx="729749" cy="932130"/>
          </a:xfrm>
          <a:prstGeom prst="rect">
            <a:avLst/>
          </a:prstGeom>
          <a:effectLst>
            <a:glow rad="101600">
              <a:srgbClr val="FFFF00">
                <a:alpha val="60000"/>
              </a:srgbClr>
            </a:glow>
          </a:effectLst>
        </p:spPr>
      </p:pic>
    </p:spTree>
    <p:extLst>
      <p:ext uri="{BB962C8B-B14F-4D97-AF65-F5344CB8AC3E}">
        <p14:creationId xmlns:p14="http://schemas.microsoft.com/office/powerpoint/2010/main" val="116427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B923502C-8389-4FF6-BA8B-3F8CEAC507A5}"/>
              </a:ext>
            </a:extLst>
          </p:cNvPr>
          <p:cNvSpPr txBox="1">
            <a:spLocks noChangeArrowheads="1"/>
          </p:cNvSpPr>
          <p:nvPr/>
        </p:nvSpPr>
        <p:spPr bwMode="auto">
          <a:xfrm>
            <a:off x="0" y="1154796"/>
            <a:ext cx="9144000"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45791" dir="3378596" algn="ctr" rotWithShape="0">
                    <a:srgbClr val="FF5050"/>
                  </a:outerShdw>
                </a:effectLst>
              </a14:hiddenEffects>
            </a:ext>
          </a:extLst>
        </p:spPr>
        <p:txBody>
          <a:bodyPr wrap="square">
            <a:spAutoFit/>
          </a:bodyPr>
          <a:lstStyle>
            <a:lvl1pPr marL="565150" indent="-565150">
              <a:defRPr sz="2400">
                <a:solidFill>
                  <a:schemeClr val="tx1"/>
                </a:solidFill>
                <a:latin typeface="Times New Roman" panose="02020603050405020304" pitchFamily="18" charset="0"/>
              </a:defRPr>
            </a:lvl1pPr>
            <a:lvl2pPr marL="1339850" indent="-581025">
              <a:defRPr sz="2400">
                <a:solidFill>
                  <a:schemeClr val="tx1"/>
                </a:solidFill>
                <a:latin typeface="Times New Roman" panose="02020603050405020304" pitchFamily="18" charset="0"/>
              </a:defRPr>
            </a:lvl2pPr>
            <a:lvl3pPr marL="1530350">
              <a:defRPr sz="2400">
                <a:solidFill>
                  <a:schemeClr val="tx1"/>
                </a:solidFill>
                <a:latin typeface="Times New Roman" panose="02020603050405020304" pitchFamily="18" charset="0"/>
              </a:defRPr>
            </a:lvl3pPr>
            <a:lvl4pPr marL="1720850">
              <a:defRPr sz="2400">
                <a:solidFill>
                  <a:schemeClr val="tx1"/>
                </a:solidFill>
                <a:latin typeface="Times New Roman" panose="02020603050405020304" pitchFamily="18" charset="0"/>
              </a:defRPr>
            </a:lvl4pPr>
            <a:lvl5pPr marL="1911350">
              <a:defRPr sz="2400">
                <a:solidFill>
                  <a:schemeClr val="tx1"/>
                </a:solidFill>
                <a:latin typeface="Times New Roman" panose="02020603050405020304" pitchFamily="18" charset="0"/>
              </a:defRPr>
            </a:lvl5pPr>
            <a:lvl6pPr marL="2368550" fontAlgn="base">
              <a:spcBef>
                <a:spcPct val="0"/>
              </a:spcBef>
              <a:spcAft>
                <a:spcPct val="0"/>
              </a:spcAft>
              <a:defRPr sz="2400">
                <a:solidFill>
                  <a:schemeClr val="tx1"/>
                </a:solidFill>
                <a:latin typeface="Times New Roman" panose="02020603050405020304" pitchFamily="18" charset="0"/>
              </a:defRPr>
            </a:lvl6pPr>
            <a:lvl7pPr marL="2825750" fontAlgn="base">
              <a:spcBef>
                <a:spcPct val="0"/>
              </a:spcBef>
              <a:spcAft>
                <a:spcPct val="0"/>
              </a:spcAft>
              <a:defRPr sz="2400">
                <a:solidFill>
                  <a:schemeClr val="tx1"/>
                </a:solidFill>
                <a:latin typeface="Times New Roman" panose="02020603050405020304" pitchFamily="18" charset="0"/>
              </a:defRPr>
            </a:lvl7pPr>
            <a:lvl8pPr marL="3282950" fontAlgn="base">
              <a:spcBef>
                <a:spcPct val="0"/>
              </a:spcBef>
              <a:spcAft>
                <a:spcPct val="0"/>
              </a:spcAft>
              <a:defRPr sz="2400">
                <a:solidFill>
                  <a:schemeClr val="tx1"/>
                </a:solidFill>
                <a:latin typeface="Times New Roman" panose="02020603050405020304" pitchFamily="18" charset="0"/>
              </a:defRPr>
            </a:lvl8pPr>
            <a:lvl9pPr marL="3740150" fontAlgn="base">
              <a:spcBef>
                <a:spcPct val="0"/>
              </a:spcBef>
              <a:spcAft>
                <a:spcPct val="0"/>
              </a:spcAft>
              <a:defRPr sz="2400">
                <a:solidFill>
                  <a:schemeClr val="tx1"/>
                </a:solidFill>
                <a:latin typeface="Times New Roman" panose="02020603050405020304" pitchFamily="18" charset="0"/>
              </a:defRPr>
            </a:lvl9pPr>
          </a:lstStyle>
          <a:p>
            <a:pPr marL="565150" marR="0" lvl="0" indent="-565150" algn="l" defTabSz="457200" rtl="0" eaLnBrk="0" fontAlgn="auto" latinLnBrk="0" hangingPunct="0">
              <a:lnSpc>
                <a:spcPct val="150000"/>
              </a:lnSpc>
              <a:spcBef>
                <a:spcPct val="50000"/>
              </a:spcBef>
              <a:spcAft>
                <a:spcPts val="0"/>
              </a:spcAft>
              <a:buClrTx/>
              <a:buSzPct val="110000"/>
              <a:buFont typeface="Webdings" panose="05030102010509060703" pitchFamily="18" charset="2"/>
              <a:buChar char="Ï"/>
              <a:tabLst/>
              <a:defRPr/>
            </a:pPr>
            <a:r>
              <a:rPr kumimoji="0" lang="en-GB" altLang="en-US" b="1"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Cyber Security is a type of security which related to the Internet System.</a:t>
            </a:r>
          </a:p>
          <a:p>
            <a:pPr marL="565150" marR="0" lvl="0" indent="-565150" algn="l" defTabSz="457200" rtl="0" eaLnBrk="0" fontAlgn="auto" latinLnBrk="0" hangingPunct="0">
              <a:lnSpc>
                <a:spcPct val="150000"/>
              </a:lnSpc>
              <a:spcBef>
                <a:spcPct val="50000"/>
              </a:spcBef>
              <a:spcAft>
                <a:spcPts val="0"/>
              </a:spcAft>
              <a:buClrTx/>
              <a:buSzPct val="110000"/>
              <a:buFont typeface="Webdings" panose="05030102010509060703" pitchFamily="18" charset="2"/>
              <a:buChar char="Ï"/>
              <a:tabLst/>
              <a:defRPr/>
            </a:pPr>
            <a:r>
              <a:rPr kumimoji="0" lang="en-GB"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Cyber Security is the combination of two words </a:t>
            </a:r>
          </a:p>
          <a:p>
            <a:pPr marL="1339850" marR="0" lvl="1" indent="-581025" algn="l" defTabSz="457200" rtl="0" eaLnBrk="0" fontAlgn="auto" latinLnBrk="0" hangingPunct="0">
              <a:lnSpc>
                <a:spcPct val="150000"/>
              </a:lnSpc>
              <a:spcBef>
                <a:spcPct val="50000"/>
              </a:spcBef>
              <a:spcAft>
                <a:spcPts val="0"/>
              </a:spcAft>
              <a:buClrTx/>
              <a:buSzPct val="110000"/>
              <a:buFont typeface="Webdings" panose="05030102010509060703" pitchFamily="18" charset="2"/>
              <a:buChar char="Ï"/>
              <a:tabLst/>
              <a:defRPr/>
            </a:pPr>
            <a:r>
              <a:rPr kumimoji="0" lang="en-GB" altLang="en-US" b="1" i="0" u="none" strike="noStrike" kern="1200" cap="none" spc="0" normalizeH="0" baseline="0" noProof="0" dirty="0">
                <a:ln>
                  <a:noFill/>
                </a:ln>
                <a:solidFill>
                  <a:srgbClr val="0070C0"/>
                </a:solidFill>
                <a:effectLst/>
                <a:uLnTx/>
                <a:uFillTx/>
                <a:latin typeface="Arial" panose="020B0604020202020204" pitchFamily="34" charset="0"/>
                <a:cs typeface="Arial" panose="020B0604020202020204" pitchFamily="34" charset="0"/>
              </a:rPr>
              <a:t>Cyber</a:t>
            </a:r>
          </a:p>
          <a:p>
            <a:pPr marL="1339850" marR="0" lvl="1" indent="-581025" algn="l" defTabSz="457200" rtl="0" eaLnBrk="0" fontAlgn="auto" latinLnBrk="0" hangingPunct="0">
              <a:lnSpc>
                <a:spcPct val="150000"/>
              </a:lnSpc>
              <a:spcBef>
                <a:spcPct val="50000"/>
              </a:spcBef>
              <a:spcAft>
                <a:spcPts val="0"/>
              </a:spcAft>
              <a:buClrTx/>
              <a:buSzPct val="110000"/>
              <a:buFont typeface="Webdings" panose="05030102010509060703" pitchFamily="18" charset="2"/>
              <a:buChar char="Ï"/>
              <a:tabLst/>
              <a:defRPr/>
            </a:pPr>
            <a:r>
              <a:rPr kumimoji="0" lang="en-GB" altLang="en-US" b="1"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Security</a:t>
            </a:r>
          </a:p>
        </p:txBody>
      </p:sp>
      <p:pic>
        <p:nvPicPr>
          <p:cNvPr id="11" name="Picture 8" descr="The Disadvantages of Social Media- MGT Design">
            <a:extLst>
              <a:ext uri="{FF2B5EF4-FFF2-40B4-BE49-F238E27FC236}">
                <a16:creationId xmlns:a16="http://schemas.microsoft.com/office/drawing/2014/main" id="{5D005D0A-E277-48B8-8C2F-2B7EEFE8BEFC}"/>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510250" y="2995048"/>
            <a:ext cx="3110348" cy="2274204"/>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1B085D7A-1181-81AA-9B9A-C3000B99D164}"/>
              </a:ext>
            </a:extLst>
          </p:cNvPr>
          <p:cNvGrpSpPr/>
          <p:nvPr/>
        </p:nvGrpSpPr>
        <p:grpSpPr>
          <a:xfrm>
            <a:off x="-10160" y="6354"/>
            <a:ext cx="9144000" cy="938525"/>
            <a:chOff x="0" y="39305"/>
            <a:chExt cx="9144000" cy="1091874"/>
          </a:xfrm>
          <a:solidFill>
            <a:srgbClr val="C00000"/>
          </a:solidFill>
        </p:grpSpPr>
        <p:sp>
          <p:nvSpPr>
            <p:cNvPr id="3" name="Rounded Rectangle 13">
              <a:extLst>
                <a:ext uri="{FF2B5EF4-FFF2-40B4-BE49-F238E27FC236}">
                  <a16:creationId xmlns:a16="http://schemas.microsoft.com/office/drawing/2014/main" id="{68C00ADD-CCCB-8DCC-0DC9-3EF83E7EE43F}"/>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WHAT IS CYBER SECURITY</a:t>
              </a:r>
            </a:p>
          </p:txBody>
        </p:sp>
        <p:pic>
          <p:nvPicPr>
            <p:cNvPr id="4" name="Picture 3">
              <a:extLst>
                <a:ext uri="{FF2B5EF4-FFF2-40B4-BE49-F238E27FC236}">
                  <a16:creationId xmlns:a16="http://schemas.microsoft.com/office/drawing/2014/main" id="{2BADEDD0-49F9-2C20-12BB-0AD9EFACD00E}"/>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6" name="Picture 5">
              <a:extLst>
                <a:ext uri="{FF2B5EF4-FFF2-40B4-BE49-F238E27FC236}">
                  <a16:creationId xmlns:a16="http://schemas.microsoft.com/office/drawing/2014/main" id="{A26367DB-2158-2F6B-C39E-9A0A0B626F32}"/>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55448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1000" tmFilter="0, 0; .2, .5; .8, .5; 1, 0"/>
                                        <p:tgtEl>
                                          <p:spTgt spid="11"/>
                                        </p:tgtEl>
                                      </p:cBhvr>
                                    </p:animEffect>
                                    <p:animScale>
                                      <p:cBhvr>
                                        <p:cTn id="7" dur="50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070AC-66BA-0C7A-7BA4-010FD0B8D3F1}"/>
              </a:ext>
            </a:extLst>
          </p:cNvPr>
          <p:cNvSpPr txBox="1"/>
          <p:nvPr/>
        </p:nvSpPr>
        <p:spPr>
          <a:xfrm>
            <a:off x="219868" y="1021154"/>
            <a:ext cx="8704263" cy="4921284"/>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A cyber security policy is a set of guidelines, rules, and procedures established by an organization to protect its information assets, systems, and networks from cyber threats. It refers to the practice of protecting computer systems, networks, data and devices from unauthorized access, attacks, damage or theft.</a:t>
            </a:r>
          </a:p>
          <a:p>
            <a:pPr marL="342900" indent="-342900" algn="just">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It involves a set of techniques technologies and processes designed to safeguard sensitive information and ensure the integrity, confidentiality and availability of data.</a:t>
            </a:r>
            <a:endParaRPr lang="en-IN" sz="2000" b="1"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2208C515-1201-2174-9DBC-0087F1F7165F}"/>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6D1E3915-3D95-2A15-558C-278EAE96F05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INTRODUCTION TO CYBER SECURITY</a:t>
              </a:r>
            </a:p>
          </p:txBody>
        </p:sp>
        <p:pic>
          <p:nvPicPr>
            <p:cNvPr id="9" name="Picture 8">
              <a:extLst>
                <a:ext uri="{FF2B5EF4-FFF2-40B4-BE49-F238E27FC236}">
                  <a16:creationId xmlns:a16="http://schemas.microsoft.com/office/drawing/2014/main" id="{695DEED7-191C-310C-D592-BDE9628FE7C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EC0646B6-7594-46C3-3D4F-3668709E403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82601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025B3-7C4B-BA98-2126-2DEF6E2AD1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0C4979-980F-7C1B-1FCF-0AE79B1F8113}"/>
              </a:ext>
            </a:extLst>
          </p:cNvPr>
          <p:cNvSpPr txBox="1"/>
          <p:nvPr/>
        </p:nvSpPr>
        <p:spPr>
          <a:xfrm>
            <a:off x="219868" y="1021154"/>
            <a:ext cx="8704263" cy="5536837"/>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In cybersecurity CIA stands for Confidentiality, Integrity and availability. It is a security model that forms the foundation of information security policies and practices.</a:t>
            </a:r>
          </a:p>
          <a:p>
            <a:pPr marL="342900" indent="-342900" algn="just">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The CIA triad is a model that guides organizations in designing secure systems by focusing on three core principles ensuring that data is kept confidential, remains accurate and unaltered and is accessible to authorized users when needed.</a:t>
            </a:r>
          </a:p>
          <a:p>
            <a:pPr marL="342900" indent="-342900" algn="just">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It is the foundation of cybersecurity. Every security measure should aim to protect one or more of these principles.</a:t>
            </a:r>
            <a:endParaRPr lang="en-IN"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6E23FE9D-78F2-C4CA-73B1-C00778015F1C}"/>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B02A2C86-0A17-2226-0377-1F6CBFBFA37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INTRO TO CIA</a:t>
              </a:r>
            </a:p>
          </p:txBody>
        </p:sp>
        <p:pic>
          <p:nvPicPr>
            <p:cNvPr id="9" name="Picture 8">
              <a:extLst>
                <a:ext uri="{FF2B5EF4-FFF2-40B4-BE49-F238E27FC236}">
                  <a16:creationId xmlns:a16="http://schemas.microsoft.com/office/drawing/2014/main" id="{9A35EC2A-C603-A3B4-E964-FE3029AE070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8A3E3937-F378-92F8-841E-A3B22AEA59C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5576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23580-5B47-F8E0-B4E3-0CA31E51F2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BE7751B-98F0-C734-B94E-7B8BAAC6B630}"/>
              </a:ext>
            </a:extLst>
          </p:cNvPr>
          <p:cNvSpPr txBox="1"/>
          <p:nvPr/>
        </p:nvSpPr>
        <p:spPr>
          <a:xfrm>
            <a:off x="6508" y="939874"/>
            <a:ext cx="9144000" cy="5552226"/>
          </a:xfrm>
          <a:prstGeom prst="rect">
            <a:avLst/>
          </a:prstGeom>
          <a:noFill/>
        </p:spPr>
        <p:txBody>
          <a:bodyPr wrap="square" rtlCol="0">
            <a:spAutoFit/>
          </a:bodyPr>
          <a:lstStyle/>
          <a:p>
            <a:pPr marL="285750" indent="-285750" algn="just">
              <a:lnSpc>
                <a:spcPct val="180000"/>
              </a:lnSpc>
              <a:buFont typeface="Wingdings" panose="05000000000000000000" pitchFamily="2" charset="2"/>
              <a:buChar char="Ø"/>
            </a:pPr>
            <a:r>
              <a:rPr lang="en-US" sz="2000" b="1" u="sng" dirty="0">
                <a:solidFill>
                  <a:srgbClr val="FF0000"/>
                </a:solidFill>
                <a:latin typeface="Arial" panose="020B0604020202020204" pitchFamily="34" charset="0"/>
                <a:cs typeface="Arial" panose="020B0604020202020204" pitchFamily="34" charset="0"/>
              </a:rPr>
              <a:t>CONFIDENTIALITY </a:t>
            </a:r>
          </a:p>
          <a:p>
            <a:pPr marL="742950" lvl="1" indent="-285750" algn="just">
              <a:lnSpc>
                <a:spcPct val="18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Meaning : Ensuring that information is accessible only to authorized users.</a:t>
            </a:r>
          </a:p>
          <a:p>
            <a:pPr marL="742950" lvl="1" indent="-285750" algn="just">
              <a:lnSpc>
                <a:spcPct val="18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Goal	: Prevent unauthorized access or disclosure of data.</a:t>
            </a:r>
          </a:p>
          <a:p>
            <a:pPr marL="742950" lvl="1" indent="-285750" algn="just">
              <a:lnSpc>
                <a:spcPct val="18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Example : Password, encryption or access control.</a:t>
            </a:r>
          </a:p>
          <a:p>
            <a:pPr marL="342900" lvl="1" indent="-342900" algn="just">
              <a:lnSpc>
                <a:spcPct val="180000"/>
              </a:lnSpc>
              <a:buFont typeface="Wingdings" panose="05000000000000000000" pitchFamily="2" charset="2"/>
              <a:buChar char="Ø"/>
            </a:pPr>
            <a:r>
              <a:rPr lang="en-US" sz="2000" b="1" u="sng" dirty="0">
                <a:latin typeface="Arial" panose="020B0604020202020204" pitchFamily="34" charset="0"/>
                <a:cs typeface="Arial" panose="020B0604020202020204" pitchFamily="34" charset="0"/>
              </a:rPr>
              <a:t>INTEGRITY</a:t>
            </a:r>
          </a:p>
          <a:p>
            <a:pPr marL="800100" lvl="2" indent="-342900" algn="just">
              <a:lnSpc>
                <a:spcPct val="18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Meaning  : Ensuring that data is accurate and unaltered.</a:t>
            </a:r>
          </a:p>
          <a:p>
            <a:pPr marL="800100" lvl="2" indent="-342900" algn="just">
              <a:lnSpc>
                <a:spcPct val="18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Goal 	  : Prevent unauthorized modification of information.</a:t>
            </a:r>
          </a:p>
          <a:p>
            <a:pPr marL="800100" lvl="2" indent="-342900" algn="just">
              <a:lnSpc>
                <a:spcPct val="18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Example : Checksums and hash functions, Digital signatures &amp; 		     Audit logs.</a:t>
            </a:r>
            <a:endParaRPr lang="en-IN" sz="2000" b="1"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2EB3B415-6DA6-28E8-1E6F-1EEB6E454217}"/>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AA4E21C5-02FE-D374-17A0-A2A275388E7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INTRO TO CIA</a:t>
              </a:r>
            </a:p>
          </p:txBody>
        </p:sp>
        <p:pic>
          <p:nvPicPr>
            <p:cNvPr id="9" name="Picture 8">
              <a:extLst>
                <a:ext uri="{FF2B5EF4-FFF2-40B4-BE49-F238E27FC236}">
                  <a16:creationId xmlns:a16="http://schemas.microsoft.com/office/drawing/2014/main" id="{4E358CCD-DDFF-E853-F6D0-19191782D8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5D5A5AF5-3630-9312-9396-793748EEC0B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989147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CFC94-0A10-F312-703C-635B147C28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520A94-0DA4-684E-AA5A-BE30C28A9F09}"/>
              </a:ext>
            </a:extLst>
          </p:cNvPr>
          <p:cNvSpPr txBox="1"/>
          <p:nvPr/>
        </p:nvSpPr>
        <p:spPr>
          <a:xfrm>
            <a:off x="16668" y="960194"/>
            <a:ext cx="9144000" cy="3690177"/>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lang="en-US" sz="2000" b="1" u="sng" dirty="0">
                <a:solidFill>
                  <a:srgbClr val="FF0000"/>
                </a:solidFill>
                <a:latin typeface="Arial" panose="020B0604020202020204" pitchFamily="34" charset="0"/>
                <a:cs typeface="Arial" panose="020B0604020202020204" pitchFamily="34" charset="0"/>
              </a:rPr>
              <a:t>AVAILABILITY</a:t>
            </a:r>
          </a:p>
          <a:p>
            <a:pPr marL="742950" lvl="1" indent="-285750" algn="just">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Meaning : Ensuring that systems and data are accessible when 		     needed.</a:t>
            </a:r>
          </a:p>
          <a:p>
            <a:pPr marL="742950" lvl="1" indent="-285750" algn="just">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Goal	: Prevent downtime, denial of service or failures.</a:t>
            </a:r>
          </a:p>
          <a:p>
            <a:pPr marL="742950" lvl="1" indent="-285750" algn="just">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Example : Backup systems, redundant networks or DDoS 			   protection.</a:t>
            </a:r>
          </a:p>
        </p:txBody>
      </p:sp>
      <p:grpSp>
        <p:nvGrpSpPr>
          <p:cNvPr id="3" name="Group 2">
            <a:extLst>
              <a:ext uri="{FF2B5EF4-FFF2-40B4-BE49-F238E27FC236}">
                <a16:creationId xmlns:a16="http://schemas.microsoft.com/office/drawing/2014/main" id="{97EA19F1-95C8-591A-7114-78C9C25CD7FF}"/>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B864B069-2E50-4A32-E65F-47658C0652E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INTRO TO CIA</a:t>
              </a:r>
            </a:p>
          </p:txBody>
        </p:sp>
        <p:pic>
          <p:nvPicPr>
            <p:cNvPr id="9" name="Picture 8">
              <a:extLst>
                <a:ext uri="{FF2B5EF4-FFF2-40B4-BE49-F238E27FC236}">
                  <a16:creationId xmlns:a16="http://schemas.microsoft.com/office/drawing/2014/main" id="{11368949-5D22-7C65-28AE-4AB2FCDBF11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D35EA07E-11A5-BD92-31AE-725057ECBE6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312319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070AC-66BA-0C7A-7BA4-010FD0B8D3F1}"/>
              </a:ext>
            </a:extLst>
          </p:cNvPr>
          <p:cNvSpPr txBox="1"/>
          <p:nvPr/>
        </p:nvSpPr>
        <p:spPr>
          <a:xfrm>
            <a:off x="219868" y="1021154"/>
            <a:ext cx="8704263" cy="557530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IN" sz="2000" b="1" u="sng" dirty="0">
                <a:solidFill>
                  <a:srgbClr val="FF0000"/>
                </a:solidFill>
                <a:latin typeface="Arial" panose="020B0604020202020204" pitchFamily="34" charset="0"/>
                <a:cs typeface="Arial" panose="020B0604020202020204" pitchFamily="34" charset="0"/>
              </a:rPr>
              <a:t>Network security</a:t>
            </a:r>
            <a:r>
              <a:rPr lang="en-IN" sz="2000" b="1" dirty="0">
                <a:solidFill>
                  <a:srgbClr val="FF0000"/>
                </a:solidFill>
                <a:latin typeface="Arial" panose="020B0604020202020204" pitchFamily="34" charset="0"/>
                <a:cs typeface="Arial" panose="020B0604020202020204" pitchFamily="34" charset="0"/>
              </a:rPr>
              <a:t> : </a:t>
            </a:r>
            <a:r>
              <a:rPr lang="en-US" sz="2000" b="1" dirty="0">
                <a:solidFill>
                  <a:srgbClr val="FF0000"/>
                </a:solidFill>
                <a:latin typeface="Arial" panose="020B0604020202020204" pitchFamily="34" charset="0"/>
                <a:cs typeface="Arial" panose="020B0604020202020204" pitchFamily="34" charset="0"/>
              </a:rPr>
              <a:t>This involves securing the organization's network infrastructure from unauthorized access, misuse, or disruption. It includes measures such as firewalls, intrusion detection systems (IDS), intrusion prevention systems (IPS), and virtual private networks (VPNs).</a:t>
            </a:r>
          </a:p>
          <a:p>
            <a:pPr marL="342900" indent="-342900" algn="just">
              <a:lnSpc>
                <a:spcPct val="150000"/>
              </a:lnSpc>
              <a:buFont typeface="Wingdings" panose="05000000000000000000" pitchFamily="2" charset="2"/>
              <a:buChar char="§"/>
            </a:pPr>
            <a:endParaRPr lang="en-US" sz="2000" b="1" u="sng" dirty="0">
              <a:solidFill>
                <a:srgbClr val="002060"/>
              </a:solidFill>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
            </a:pPr>
            <a:r>
              <a:rPr lang="en-US" sz="2000" b="1" u="sng" dirty="0">
                <a:solidFill>
                  <a:schemeClr val="tx1">
                    <a:lumMod val="95000"/>
                    <a:lumOff val="5000"/>
                  </a:schemeClr>
                </a:solidFill>
                <a:latin typeface="Arial" panose="020B0604020202020204" pitchFamily="34" charset="0"/>
                <a:cs typeface="Arial" panose="020B0604020202020204" pitchFamily="34" charset="0"/>
              </a:rPr>
              <a:t>Data security</a:t>
            </a:r>
            <a:r>
              <a:rPr lang="en-US" sz="2000" b="1" dirty="0">
                <a:solidFill>
                  <a:schemeClr val="tx1">
                    <a:lumMod val="95000"/>
                    <a:lumOff val="5000"/>
                  </a:schemeClr>
                </a:solidFill>
                <a:latin typeface="Arial" panose="020B0604020202020204" pitchFamily="34" charset="0"/>
                <a:cs typeface="Arial" panose="020B0604020202020204" pitchFamily="34" charset="0"/>
              </a:rPr>
              <a:t> : Data security focuses on protecting data from unauthorized access, disclosure, alteration, or destruction. Techniques such as encryption, access controls, data masking, and tokenization are used to safeguard sensitive information. Many softwares are available which keep the sensitive information secure in encrypted form.</a:t>
            </a:r>
          </a:p>
        </p:txBody>
      </p:sp>
      <p:grpSp>
        <p:nvGrpSpPr>
          <p:cNvPr id="3" name="Group 2">
            <a:extLst>
              <a:ext uri="{FF2B5EF4-FFF2-40B4-BE49-F238E27FC236}">
                <a16:creationId xmlns:a16="http://schemas.microsoft.com/office/drawing/2014/main" id="{4D7B21AB-BA85-E8E5-31C1-A4531201CA79}"/>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4417AE7F-7981-8359-1669-51E65BAA077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KEY COMPONENTS OF CS</a:t>
              </a:r>
            </a:p>
          </p:txBody>
        </p:sp>
        <p:pic>
          <p:nvPicPr>
            <p:cNvPr id="9" name="Picture 8">
              <a:extLst>
                <a:ext uri="{FF2B5EF4-FFF2-40B4-BE49-F238E27FC236}">
                  <a16:creationId xmlns:a16="http://schemas.microsoft.com/office/drawing/2014/main" id="{0BBB97B6-34F2-93E4-39FF-787D95772B9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F6E8AC51-E4C5-E603-EF21-9CED86E8703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127003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B7884-5D6F-863E-6913-79D5101927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DA3B50-694D-4300-B046-5A1888EF0BE5}"/>
              </a:ext>
            </a:extLst>
          </p:cNvPr>
          <p:cNvSpPr txBox="1"/>
          <p:nvPr/>
        </p:nvSpPr>
        <p:spPr>
          <a:xfrm>
            <a:off x="219868" y="1021154"/>
            <a:ext cx="8704263" cy="6036974"/>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en-IN" sz="2000" b="1" u="sng" dirty="0">
                <a:solidFill>
                  <a:srgbClr val="0070C0"/>
                </a:solidFill>
                <a:latin typeface="Arial" panose="020B0604020202020204" pitchFamily="34" charset="0"/>
                <a:cs typeface="Arial" panose="020B0604020202020204" pitchFamily="34" charset="0"/>
              </a:rPr>
              <a:t>Endpoint security</a:t>
            </a:r>
            <a:r>
              <a:rPr lang="en-IN" sz="2000" b="1" dirty="0">
                <a:solidFill>
                  <a:srgbClr val="0070C0"/>
                </a:solidFill>
                <a:latin typeface="Arial" panose="020B0604020202020204" pitchFamily="34" charset="0"/>
                <a:cs typeface="Arial" panose="020B0604020202020204" pitchFamily="34" charset="0"/>
              </a:rPr>
              <a:t> : </a:t>
            </a:r>
            <a:r>
              <a:rPr lang="en-US" sz="2000" b="1" dirty="0">
                <a:solidFill>
                  <a:srgbClr val="0070C0"/>
                </a:solidFill>
                <a:latin typeface="Arial" panose="020B0604020202020204" pitchFamily="34" charset="0"/>
                <a:cs typeface="Arial" panose="020B0604020202020204" pitchFamily="34" charset="0"/>
              </a:rPr>
              <a:t>Endpoint devices such as computers, laptops, smartphones, and tablets are often targeted by cyber attackers. Endpoint security solutions protect these devices from malware, ransomware, and other cyber threats. These endpoint serve as entry points to a network and the weakest link in an organization security framework.</a:t>
            </a:r>
          </a:p>
          <a:p>
            <a:pPr marL="457200" indent="-457200">
              <a:lnSpc>
                <a:spcPct val="150000"/>
              </a:lnSpc>
              <a:buFont typeface="Wingdings" panose="05000000000000000000" pitchFamily="2" charset="2"/>
              <a:buChar char="§"/>
            </a:pPr>
            <a:r>
              <a:rPr lang="en-US" sz="2000" b="1" dirty="0">
                <a:solidFill>
                  <a:srgbClr val="FF0000"/>
                </a:solidFill>
                <a:latin typeface="Arial" panose="020B0604020202020204" pitchFamily="34" charset="0"/>
                <a:cs typeface="Arial" panose="020B0604020202020204" pitchFamily="34" charset="0"/>
              </a:rPr>
              <a:t> </a:t>
            </a:r>
            <a:r>
              <a:rPr lang="en-US" sz="2000" b="1" u="sng" dirty="0">
                <a:solidFill>
                  <a:srgbClr val="FF0000"/>
                </a:solidFill>
                <a:latin typeface="Arial" panose="020B0604020202020204" pitchFamily="34" charset="0"/>
                <a:cs typeface="Arial" panose="020B0604020202020204" pitchFamily="34" charset="0"/>
              </a:rPr>
              <a:t>Application security</a:t>
            </a:r>
            <a:r>
              <a:rPr lang="en-US" sz="2000" b="1" dirty="0">
                <a:solidFill>
                  <a:srgbClr val="FF0000"/>
                </a:solidFill>
                <a:latin typeface="Arial" panose="020B0604020202020204" pitchFamily="34" charset="0"/>
                <a:cs typeface="Arial" panose="020B0604020202020204" pitchFamily="34" charset="0"/>
              </a:rPr>
              <a:t> : Application security involves securing software applications and preventing security vulnerabilities that could be exploited by attackers. This includes secure coding practices, regular software updates, input validation, security testing and vulnerability assessments. These practices aim to safeguard the application itself as well as the data.</a:t>
            </a:r>
          </a:p>
          <a:p>
            <a:pPr marL="457200" indent="-457200">
              <a:lnSpc>
                <a:spcPct val="150000"/>
              </a:lnSpc>
              <a:buFont typeface="Wingdings" panose="05000000000000000000" pitchFamily="2" charset="2"/>
              <a:buChar char="§"/>
            </a:pPr>
            <a:endParaRPr lang="en-IN"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32AE6B2D-5C4A-BC0B-029B-7FBD55E5CA3B}"/>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8980006C-EF6E-715C-31DE-026D382D414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KEY COMPONENTS OF CS</a:t>
              </a:r>
            </a:p>
          </p:txBody>
        </p:sp>
        <p:pic>
          <p:nvPicPr>
            <p:cNvPr id="9" name="Picture 8">
              <a:extLst>
                <a:ext uri="{FF2B5EF4-FFF2-40B4-BE49-F238E27FC236}">
                  <a16:creationId xmlns:a16="http://schemas.microsoft.com/office/drawing/2014/main" id="{2C5004AF-DE8A-CF1B-713D-6011FC14C2C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0B012FCA-8C12-3326-89A2-05432C31E00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558786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070AC-66BA-0C7A-7BA4-010FD0B8D3F1}"/>
              </a:ext>
            </a:extLst>
          </p:cNvPr>
          <p:cNvSpPr txBox="1"/>
          <p:nvPr/>
        </p:nvSpPr>
        <p:spPr>
          <a:xfrm>
            <a:off x="219868" y="1021154"/>
            <a:ext cx="8704263" cy="60369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IN" sz="2000" b="1" dirty="0">
                <a:solidFill>
                  <a:schemeClr val="tx1">
                    <a:lumMod val="95000"/>
                    <a:lumOff val="5000"/>
                  </a:schemeClr>
                </a:solidFill>
                <a:latin typeface="Arial" panose="020B0604020202020204" pitchFamily="34" charset="0"/>
                <a:cs typeface="Arial" panose="020B0604020202020204" pitchFamily="34" charset="0"/>
              </a:rPr>
              <a:t> </a:t>
            </a:r>
            <a:r>
              <a:rPr lang="en-IN" sz="2000" b="1" u="sng" dirty="0">
                <a:solidFill>
                  <a:schemeClr val="tx1">
                    <a:lumMod val="95000"/>
                    <a:lumOff val="5000"/>
                  </a:schemeClr>
                </a:solidFill>
                <a:latin typeface="Arial" panose="020B0604020202020204" pitchFamily="34" charset="0"/>
                <a:cs typeface="Arial" panose="020B0604020202020204" pitchFamily="34" charset="0"/>
              </a:rPr>
              <a:t>Identity and access management</a:t>
            </a:r>
            <a:r>
              <a:rPr lang="en-IN" sz="2000" b="1" dirty="0">
                <a:solidFill>
                  <a:schemeClr val="tx1">
                    <a:lumMod val="95000"/>
                    <a:lumOff val="5000"/>
                  </a:schemeClr>
                </a:solidFill>
                <a:latin typeface="Arial" panose="020B0604020202020204" pitchFamily="34" charset="0"/>
                <a:cs typeface="Arial" panose="020B0604020202020204" pitchFamily="34" charset="0"/>
              </a:rPr>
              <a:t> : </a:t>
            </a:r>
            <a:r>
              <a:rPr lang="en-US" sz="2000" b="1" dirty="0">
                <a:solidFill>
                  <a:schemeClr val="tx1">
                    <a:lumMod val="95000"/>
                    <a:lumOff val="5000"/>
                  </a:schemeClr>
                </a:solidFill>
                <a:latin typeface="Arial" panose="020B0604020202020204" pitchFamily="34" charset="0"/>
                <a:cs typeface="Arial" panose="020B0604020202020204" pitchFamily="34" charset="0"/>
              </a:rPr>
              <a:t>IAM solutions manage user identities and their access to systems and resources. It includes authentication mechanisms such as passwords, multi-factor authentication (MFA), and biometric authentication to ensure only authorized users can access sensitive information.</a:t>
            </a:r>
            <a:r>
              <a:rPr lang="en-IN" sz="2000" b="1" dirty="0">
                <a:solidFill>
                  <a:schemeClr val="tx1">
                    <a:lumMod val="95000"/>
                    <a:lumOff val="5000"/>
                  </a:schemeClr>
                </a:solidFill>
                <a:latin typeface="Arial" panose="020B0604020202020204" pitchFamily="34" charset="0"/>
                <a:cs typeface="Arial" panose="020B0604020202020204" pitchFamily="34" charset="0"/>
              </a:rPr>
              <a:t>  </a:t>
            </a:r>
          </a:p>
          <a:p>
            <a:pPr marL="342900" indent="-342900">
              <a:lnSpc>
                <a:spcPct val="150000"/>
              </a:lnSpc>
              <a:buFont typeface="Wingdings" panose="05000000000000000000" pitchFamily="2" charset="2"/>
              <a:buChar char="§"/>
            </a:pPr>
            <a:endParaRPr lang="en-IN" sz="2000" b="1" dirty="0">
              <a:solidFill>
                <a:srgbClr val="FF0000"/>
              </a:solidFill>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IN" sz="2000" b="1" dirty="0">
                <a:solidFill>
                  <a:srgbClr val="0070C0"/>
                </a:solidFill>
                <a:latin typeface="Arial" panose="020B0604020202020204" pitchFamily="34" charset="0"/>
                <a:cs typeface="Arial" panose="020B0604020202020204" pitchFamily="34" charset="0"/>
              </a:rPr>
              <a:t> </a:t>
            </a:r>
            <a:r>
              <a:rPr lang="en-IN" sz="2000" b="1" u="sng" dirty="0">
                <a:solidFill>
                  <a:srgbClr val="0070C0"/>
                </a:solidFill>
                <a:latin typeface="Arial" panose="020B0604020202020204" pitchFamily="34" charset="0"/>
                <a:cs typeface="Arial" panose="020B0604020202020204" pitchFamily="34" charset="0"/>
              </a:rPr>
              <a:t>Security operations</a:t>
            </a:r>
            <a:r>
              <a:rPr lang="en-IN" sz="2000" b="1" dirty="0">
                <a:solidFill>
                  <a:srgbClr val="0070C0"/>
                </a:solidFill>
                <a:latin typeface="Arial" panose="020B0604020202020204" pitchFamily="34" charset="0"/>
                <a:cs typeface="Arial" panose="020B0604020202020204" pitchFamily="34" charset="0"/>
              </a:rPr>
              <a:t> : </a:t>
            </a:r>
            <a:r>
              <a:rPr lang="en-US" sz="2000" b="1" dirty="0">
                <a:solidFill>
                  <a:srgbClr val="0070C0"/>
                </a:solidFill>
                <a:latin typeface="Arial" panose="020B0604020202020204" pitchFamily="34" charset="0"/>
                <a:cs typeface="Arial" panose="020B0604020202020204" pitchFamily="34" charset="0"/>
              </a:rPr>
              <a:t>Security operations involve monitoring, detecting, and responding to security incidents in real-time. This includes security information and event management (SIEM), threat intelligence, and incident response procedures to mitigate the impact of security breaches.</a:t>
            </a:r>
            <a:endParaRPr lang="en-IN" sz="2000" b="1" dirty="0">
              <a:solidFill>
                <a:srgbClr val="0070C0"/>
              </a:solidFill>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endParaRPr lang="en-IN" sz="2000" b="1" dirty="0">
              <a:solidFill>
                <a:srgbClr val="0070C0"/>
              </a:solidFill>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
            </a:pPr>
            <a:endParaRPr lang="en-IN" sz="2000" b="1"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8500209F-1D21-7C62-3F47-9A907CA1040D}"/>
              </a:ext>
            </a:extLst>
          </p:cNvPr>
          <p:cNvGrpSpPr/>
          <p:nvPr/>
        </p:nvGrpSpPr>
        <p:grpSpPr>
          <a:xfrm>
            <a:off x="-10160" y="6354"/>
            <a:ext cx="9144000" cy="938525"/>
            <a:chOff x="0" y="39305"/>
            <a:chExt cx="9144000" cy="1091874"/>
          </a:xfrm>
          <a:solidFill>
            <a:srgbClr val="C00000"/>
          </a:solidFill>
        </p:grpSpPr>
        <p:sp>
          <p:nvSpPr>
            <p:cNvPr id="5" name="Rounded Rectangle 13">
              <a:extLst>
                <a:ext uri="{FF2B5EF4-FFF2-40B4-BE49-F238E27FC236}">
                  <a16:creationId xmlns:a16="http://schemas.microsoft.com/office/drawing/2014/main" id="{7BA61681-1CFA-530B-D7C9-597A0929002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KEY COMPONENTS OF CS</a:t>
              </a:r>
            </a:p>
          </p:txBody>
        </p:sp>
        <p:pic>
          <p:nvPicPr>
            <p:cNvPr id="6" name="Picture 5">
              <a:extLst>
                <a:ext uri="{FF2B5EF4-FFF2-40B4-BE49-F238E27FC236}">
                  <a16:creationId xmlns:a16="http://schemas.microsoft.com/office/drawing/2014/main" id="{FF0C31F0-BD9D-4026-41CE-21C07BF1D0C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7" name="Picture 6">
              <a:extLst>
                <a:ext uri="{FF2B5EF4-FFF2-40B4-BE49-F238E27FC236}">
                  <a16:creationId xmlns:a16="http://schemas.microsoft.com/office/drawing/2014/main" id="{A050C1D7-360B-526B-3D1E-EF1205EDCC4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256486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A070AC-66BA-0C7A-7BA4-010FD0B8D3F1}"/>
              </a:ext>
            </a:extLst>
          </p:cNvPr>
          <p:cNvSpPr txBox="1"/>
          <p:nvPr/>
        </p:nvSpPr>
        <p:spPr>
          <a:xfrm>
            <a:off x="219868" y="1041474"/>
            <a:ext cx="8704263" cy="5252143"/>
          </a:xfrm>
          <a:prstGeom prst="rect">
            <a:avLst/>
          </a:prstGeom>
          <a:noFill/>
        </p:spPr>
        <p:txBody>
          <a:bodyPr wrap="square" rtlCol="0">
            <a:spAutoFit/>
          </a:bodyPr>
          <a:lstStyle/>
          <a:p>
            <a:pPr algn="just">
              <a:lnSpc>
                <a:spcPct val="170000"/>
              </a:lnSpc>
            </a:pPr>
            <a:r>
              <a:rPr lang="en-IN" sz="2000" b="1" dirty="0">
                <a:solidFill>
                  <a:srgbClr val="FF0000"/>
                </a:solidFill>
                <a:latin typeface="Arial" panose="020B0604020202020204" pitchFamily="34" charset="0"/>
                <a:cs typeface="Arial" panose="020B0604020202020204" pitchFamily="34" charset="0"/>
              </a:rPr>
              <a:t>7. </a:t>
            </a:r>
            <a:r>
              <a:rPr lang="en-IN" sz="2000" b="1" u="sng" dirty="0">
                <a:solidFill>
                  <a:srgbClr val="FF0000"/>
                </a:solidFill>
                <a:latin typeface="Arial" panose="020B0604020202020204" pitchFamily="34" charset="0"/>
                <a:cs typeface="Arial" panose="020B0604020202020204" pitchFamily="34" charset="0"/>
              </a:rPr>
              <a:t>Risk management</a:t>
            </a:r>
            <a:r>
              <a:rPr lang="en-IN" sz="2000" b="1" dirty="0">
                <a:solidFill>
                  <a:srgbClr val="FF0000"/>
                </a:solidFill>
                <a:latin typeface="Arial" panose="020B0604020202020204" pitchFamily="34" charset="0"/>
                <a:cs typeface="Arial" panose="020B0604020202020204" pitchFamily="34" charset="0"/>
              </a:rPr>
              <a:t> : </a:t>
            </a:r>
            <a:r>
              <a:rPr lang="en-US" sz="2000" b="1" dirty="0">
                <a:solidFill>
                  <a:srgbClr val="FF0000"/>
                </a:solidFill>
                <a:latin typeface="Arial" panose="020B0604020202020204" pitchFamily="34" charset="0"/>
                <a:cs typeface="Arial" panose="020B0604020202020204" pitchFamily="34" charset="0"/>
              </a:rPr>
              <a:t>Cybersecurity risk management involves identifying, assessing, and prioritizing cybersecurity risks to the organization. It includes implementing controls and mitigation strategies to reduce the likelihood and impact of potential threats.</a:t>
            </a:r>
          </a:p>
          <a:p>
            <a:pPr algn="just">
              <a:lnSpc>
                <a:spcPct val="170000"/>
              </a:lnSpc>
            </a:pPr>
            <a:endParaRPr lang="en-US" sz="2000" b="1" dirty="0">
              <a:solidFill>
                <a:srgbClr val="FF0000"/>
              </a:solidFill>
              <a:latin typeface="Arial" panose="020B0604020202020204" pitchFamily="34" charset="0"/>
              <a:cs typeface="Arial" panose="020B0604020202020204" pitchFamily="34" charset="0"/>
            </a:endParaRPr>
          </a:p>
          <a:p>
            <a:pPr algn="just">
              <a:lnSpc>
                <a:spcPct val="170000"/>
              </a:lnSpc>
            </a:pPr>
            <a:r>
              <a:rPr lang="en-US" sz="2000" b="1" dirty="0">
                <a:latin typeface="Arial" panose="020B0604020202020204" pitchFamily="34" charset="0"/>
                <a:cs typeface="Arial" panose="020B0604020202020204" pitchFamily="34" charset="0"/>
              </a:rPr>
              <a:t>8. </a:t>
            </a:r>
            <a:r>
              <a:rPr lang="en-US" sz="2000" b="1" u="sng" dirty="0">
                <a:latin typeface="Arial" panose="020B0604020202020204" pitchFamily="34" charset="0"/>
                <a:cs typeface="Arial" panose="020B0604020202020204" pitchFamily="34" charset="0"/>
              </a:rPr>
              <a:t>Security awareness training</a:t>
            </a:r>
            <a:r>
              <a:rPr lang="en-US" sz="2000" b="1" dirty="0">
                <a:latin typeface="Arial" panose="020B0604020202020204" pitchFamily="34" charset="0"/>
                <a:cs typeface="Arial" panose="020B0604020202020204" pitchFamily="34" charset="0"/>
              </a:rPr>
              <a:t> : Educating employees about cybersecurity best practices and raising awareness about potential threats is crucial for maintaining a secure environment. Training programs help employees recognize phishing attempts, social engineering tactics, and other common cyber threats. </a:t>
            </a:r>
            <a:endParaRPr lang="en-IN" sz="2000" b="1"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D7C5A336-FCEC-949B-ACE1-056BB89EB23C}"/>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73D3E147-4E48-BD3C-5F5A-18FD753713E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3200" b="1" u="sng" dirty="0">
                  <a:solidFill>
                    <a:schemeClr val="bg1"/>
                  </a:solidFill>
                  <a:latin typeface="Arial" panose="020B0604020202020204" pitchFamily="34" charset="0"/>
                  <a:cs typeface="Arial" panose="020B0604020202020204" pitchFamily="34" charset="0"/>
                </a:rPr>
                <a:t>KEY COMPONENTS OF CS</a:t>
              </a:r>
            </a:p>
          </p:txBody>
        </p:sp>
        <p:pic>
          <p:nvPicPr>
            <p:cNvPr id="9" name="Picture 8">
              <a:extLst>
                <a:ext uri="{FF2B5EF4-FFF2-40B4-BE49-F238E27FC236}">
                  <a16:creationId xmlns:a16="http://schemas.microsoft.com/office/drawing/2014/main" id="{9CA7862A-6D75-4F49-6749-AC9745BB26E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5BA09BB8-5B2E-C6B0-7454-7B605BEF87E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699147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4242ED-28CD-CA13-ADC7-ADB957D2DBBA}"/>
              </a:ext>
            </a:extLst>
          </p:cNvPr>
          <p:cNvSpPr txBox="1"/>
          <p:nvPr/>
        </p:nvSpPr>
        <p:spPr>
          <a:xfrm>
            <a:off x="0" y="851028"/>
            <a:ext cx="8777916" cy="5663025"/>
          </a:xfrm>
          <a:prstGeom prst="rect">
            <a:avLst/>
          </a:prstGeom>
          <a:noFill/>
        </p:spPr>
        <p:txBody>
          <a:bodyPr wrap="square" rtlCol="0">
            <a:spAutoFit/>
          </a:bodyPr>
          <a:lstStyle/>
          <a:p>
            <a:pPr>
              <a:lnSpc>
                <a:spcPct val="180000"/>
              </a:lnSpc>
            </a:pPr>
            <a:r>
              <a:rPr lang="en-US" sz="2400" b="1" u="sng" dirty="0">
                <a:solidFill>
                  <a:srgbClr val="FF0000"/>
                </a:solidFill>
                <a:latin typeface="Arial" panose="020B0604020202020204" pitchFamily="34" charset="0"/>
                <a:cs typeface="Arial" panose="020B0604020202020204" pitchFamily="34" charset="0"/>
              </a:rPr>
              <a:t>DO’s</a:t>
            </a:r>
          </a:p>
          <a:p>
            <a:pPr marL="457200" indent="-457200">
              <a:lnSpc>
                <a:spcPct val="180000"/>
              </a:lnSpc>
              <a:buAutoNum type="alphaLcParenBoth"/>
            </a:pPr>
            <a:r>
              <a:rPr lang="en-US" sz="2000" b="1" u="sng" dirty="0">
                <a:latin typeface="Arial" panose="020B0604020202020204" pitchFamily="34" charset="0"/>
                <a:cs typeface="Arial" panose="020B0604020202020204" pitchFamily="34" charset="0"/>
              </a:rPr>
              <a:t>Use Strong, Unique Passwords</a:t>
            </a:r>
            <a:r>
              <a:rPr lang="en-US" sz="2000" b="1" dirty="0">
                <a:latin typeface="Arial" panose="020B0604020202020204" pitchFamily="34" charset="0"/>
                <a:cs typeface="Arial" panose="020B0604020202020204" pitchFamily="34" charset="0"/>
              </a:rPr>
              <a:t> : Use complex passwords or passphrases for all your accounts, and avoid using the same password across multiple accounts.</a:t>
            </a:r>
          </a:p>
          <a:p>
            <a:pPr marL="457200" indent="-457200">
              <a:lnSpc>
                <a:spcPct val="180000"/>
              </a:lnSpc>
              <a:buAutoNum type="alphaLcParenBoth"/>
            </a:pPr>
            <a:r>
              <a:rPr lang="en-US" sz="2000" b="1" u="sng" dirty="0">
                <a:solidFill>
                  <a:srgbClr val="0070C0"/>
                </a:solidFill>
                <a:latin typeface="Arial" panose="020B0604020202020204" pitchFamily="34" charset="0"/>
                <a:cs typeface="Arial" panose="020B0604020202020204" pitchFamily="34" charset="0"/>
              </a:rPr>
              <a:t>Enable Two-Factor Authentication (2FA)</a:t>
            </a:r>
            <a:r>
              <a:rPr lang="en-US" sz="2000" b="1" dirty="0">
                <a:solidFill>
                  <a:srgbClr val="0070C0"/>
                </a:solidFill>
                <a:latin typeface="Arial" panose="020B0604020202020204" pitchFamily="34" charset="0"/>
                <a:cs typeface="Arial" panose="020B0604020202020204" pitchFamily="34" charset="0"/>
              </a:rPr>
              <a:t> : Whenever possible, enable 2FA for an additional layer of security, which requires a second form of verification, such as a code sent to your phone.</a:t>
            </a:r>
          </a:p>
          <a:p>
            <a:pPr marL="457200" indent="-457200">
              <a:lnSpc>
                <a:spcPct val="180000"/>
              </a:lnSpc>
              <a:buAutoNum type="alphaLcParenBoth"/>
            </a:pPr>
            <a:r>
              <a:rPr lang="en-US" sz="2000" b="1" u="sng" dirty="0">
                <a:solidFill>
                  <a:srgbClr val="FF0000"/>
                </a:solidFill>
                <a:latin typeface="Arial" panose="020B0604020202020204" pitchFamily="34" charset="0"/>
                <a:cs typeface="Arial" panose="020B0604020202020204" pitchFamily="34" charset="0"/>
              </a:rPr>
              <a:t>Keep Software Updated</a:t>
            </a:r>
            <a:r>
              <a:rPr lang="en-US" sz="2000" b="1" dirty="0">
                <a:solidFill>
                  <a:srgbClr val="FF0000"/>
                </a:solidFill>
                <a:latin typeface="Arial" panose="020B0604020202020204" pitchFamily="34" charset="0"/>
                <a:cs typeface="Arial" panose="020B0604020202020204" pitchFamily="34" charset="0"/>
              </a:rPr>
              <a:t> : Regularly update your operating system, software applications, and antivirus programs to patch security vulnerabilities and protect against known threats.</a:t>
            </a:r>
          </a:p>
        </p:txBody>
      </p:sp>
      <p:grpSp>
        <p:nvGrpSpPr>
          <p:cNvPr id="11" name="Group 10">
            <a:extLst>
              <a:ext uri="{FF2B5EF4-FFF2-40B4-BE49-F238E27FC236}">
                <a16:creationId xmlns:a16="http://schemas.microsoft.com/office/drawing/2014/main" id="{0EDE8C79-82A3-DAC1-5D3D-DD795BC6549C}"/>
              </a:ext>
            </a:extLst>
          </p:cNvPr>
          <p:cNvGrpSpPr/>
          <p:nvPr/>
        </p:nvGrpSpPr>
        <p:grpSpPr>
          <a:xfrm>
            <a:off x="-10160" y="6354"/>
            <a:ext cx="9144000" cy="938525"/>
            <a:chOff x="0" y="39305"/>
            <a:chExt cx="9144000" cy="1091874"/>
          </a:xfrm>
          <a:solidFill>
            <a:srgbClr val="C00000"/>
          </a:solidFill>
        </p:grpSpPr>
        <p:sp>
          <p:nvSpPr>
            <p:cNvPr id="12" name="Rounded Rectangle 13">
              <a:extLst>
                <a:ext uri="{FF2B5EF4-FFF2-40B4-BE49-F238E27FC236}">
                  <a16:creationId xmlns:a16="http://schemas.microsoft.com/office/drawing/2014/main" id="{7AF28E6D-4000-1DEB-7B1F-74B96652D8B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r>
                <a:rPr lang="en-US" sz="2800" b="1" u="sng" dirty="0">
                  <a:solidFill>
                    <a:schemeClr val="bg1"/>
                  </a:solidFill>
                  <a:latin typeface="Arial" panose="020B0604020202020204" pitchFamily="34" charset="0"/>
                  <a:cs typeface="Arial" panose="020B0604020202020204" pitchFamily="34" charset="0"/>
                </a:rPr>
                <a:t> </a:t>
              </a:r>
            </a:p>
          </p:txBody>
        </p:sp>
        <p:pic>
          <p:nvPicPr>
            <p:cNvPr id="13" name="Picture 12">
              <a:extLst>
                <a:ext uri="{FF2B5EF4-FFF2-40B4-BE49-F238E27FC236}">
                  <a16:creationId xmlns:a16="http://schemas.microsoft.com/office/drawing/2014/main" id="{B5F6C6D1-559E-B9A2-AE57-E0FFEFD1130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4" name="Picture 13">
              <a:extLst>
                <a:ext uri="{FF2B5EF4-FFF2-40B4-BE49-F238E27FC236}">
                  <a16:creationId xmlns:a16="http://schemas.microsoft.com/office/drawing/2014/main" id="{4DE24271-6949-0BAB-4CDF-A507FB9E6C6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001805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81EC-D864-C2AB-C368-B2FA923549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3A62A6-372A-E323-2C61-CF6130E1494F}"/>
              </a:ext>
            </a:extLst>
          </p:cNvPr>
          <p:cNvSpPr txBox="1"/>
          <p:nvPr/>
        </p:nvSpPr>
        <p:spPr>
          <a:xfrm>
            <a:off x="0" y="851028"/>
            <a:ext cx="8777916" cy="5582619"/>
          </a:xfrm>
          <a:prstGeom prst="rect">
            <a:avLst/>
          </a:prstGeom>
          <a:noFill/>
        </p:spPr>
        <p:txBody>
          <a:bodyPr wrap="square" rtlCol="0">
            <a:spAutoFit/>
          </a:bodyPr>
          <a:lstStyle/>
          <a:p>
            <a:pPr marL="355600" indent="-355600">
              <a:lnSpc>
                <a:spcPct val="150000"/>
              </a:lnSpc>
            </a:pPr>
            <a:r>
              <a:rPr lang="en-US" sz="2000" b="1" dirty="0">
                <a:solidFill>
                  <a:srgbClr val="FF0000"/>
                </a:solidFill>
                <a:latin typeface="Arial" panose="020B0604020202020204" pitchFamily="34" charset="0"/>
                <a:cs typeface="Arial" panose="020B0604020202020204" pitchFamily="34" charset="0"/>
              </a:rPr>
              <a:t>(d) </a:t>
            </a:r>
            <a:r>
              <a:rPr lang="en-US" sz="2000" b="1" u="sng" dirty="0">
                <a:solidFill>
                  <a:srgbClr val="FF0000"/>
                </a:solidFill>
                <a:latin typeface="Arial" panose="020B0604020202020204" pitchFamily="34" charset="0"/>
                <a:cs typeface="Arial" panose="020B0604020202020204" pitchFamily="34" charset="0"/>
              </a:rPr>
              <a:t>Use Secure Connections</a:t>
            </a:r>
            <a:r>
              <a:rPr lang="en-US" sz="2000" b="1" dirty="0">
                <a:solidFill>
                  <a:srgbClr val="FF0000"/>
                </a:solidFill>
                <a:latin typeface="Arial" panose="020B0604020202020204" pitchFamily="34" charset="0"/>
                <a:cs typeface="Arial" panose="020B0604020202020204" pitchFamily="34" charset="0"/>
              </a:rPr>
              <a:t> : When accessing sensitive information  online, use secure connections such as HTTPS websites and   secure Wi-Fi networks to prevent eavesdropping and man-in- the-middle attacks.</a:t>
            </a:r>
          </a:p>
          <a:p>
            <a:pPr marL="355600" indent="-355600">
              <a:lnSpc>
                <a:spcPct val="150000"/>
              </a:lnSpc>
            </a:pPr>
            <a:r>
              <a:rPr lang="en-US" sz="2000" b="1" dirty="0">
                <a:latin typeface="Arial" panose="020B0604020202020204" pitchFamily="34" charset="0"/>
                <a:cs typeface="Arial" panose="020B0604020202020204" pitchFamily="34" charset="0"/>
              </a:rPr>
              <a:t>(e) </a:t>
            </a:r>
            <a:r>
              <a:rPr lang="en-US" sz="2000" b="1" u="sng" dirty="0">
                <a:latin typeface="Arial" panose="020B0604020202020204" pitchFamily="34" charset="0"/>
                <a:cs typeface="Arial" panose="020B0604020202020204" pitchFamily="34" charset="0"/>
              </a:rPr>
              <a:t>Be Cautious of Suspicious Emails</a:t>
            </a:r>
            <a:r>
              <a:rPr lang="en-US" sz="2000" b="1" dirty="0">
                <a:latin typeface="Arial" panose="020B0604020202020204" pitchFamily="34" charset="0"/>
                <a:cs typeface="Arial" panose="020B0604020202020204" pitchFamily="34" charset="0"/>
              </a:rPr>
              <a:t> : Be wary of unsolicited emails,                 especially those with attachments or links from unknown senders. Avoid clicking on suspicious links or downloading attachments from unfamiliar sources. </a:t>
            </a:r>
            <a:endParaRPr lang="en-US" sz="2000" b="1" u="sng" dirty="0">
              <a:latin typeface="Arial" panose="020B0604020202020204" pitchFamily="34" charset="0"/>
              <a:cs typeface="Arial" panose="020B0604020202020204" pitchFamily="34" charset="0"/>
            </a:endParaRPr>
          </a:p>
          <a:p>
            <a:pPr marL="342900" indent="-342900">
              <a:lnSpc>
                <a:spcPct val="150000"/>
              </a:lnSpc>
              <a:buAutoNum type="alphaLcParenBoth" startAt="6"/>
            </a:pPr>
            <a:r>
              <a:rPr lang="en-US" sz="2000" b="1" u="sng" dirty="0">
                <a:solidFill>
                  <a:srgbClr val="0070C0"/>
                </a:solidFill>
                <a:latin typeface="Arial" panose="020B0604020202020204" pitchFamily="34" charset="0"/>
                <a:cs typeface="Arial" panose="020B0604020202020204" pitchFamily="34" charset="0"/>
              </a:rPr>
              <a:t>Educate Yourself</a:t>
            </a:r>
            <a:r>
              <a:rPr lang="en-US" sz="2000" b="1" dirty="0">
                <a:solidFill>
                  <a:srgbClr val="0070C0"/>
                </a:solidFill>
                <a:latin typeface="Arial" panose="020B0604020202020204" pitchFamily="34" charset="0"/>
                <a:cs typeface="Arial" panose="020B0604020202020204" pitchFamily="34" charset="0"/>
              </a:rPr>
              <a:t> : Stay informed about the latest cybersecurity threats and best practices. Take advantage of online resources, training programs, and cybersecurity awareness materials to enhance your knowledge. </a:t>
            </a:r>
            <a:endParaRPr lang="en-IN" b="1" u="sng" dirty="0"/>
          </a:p>
        </p:txBody>
      </p:sp>
      <p:grpSp>
        <p:nvGrpSpPr>
          <p:cNvPr id="11" name="Group 10">
            <a:extLst>
              <a:ext uri="{FF2B5EF4-FFF2-40B4-BE49-F238E27FC236}">
                <a16:creationId xmlns:a16="http://schemas.microsoft.com/office/drawing/2014/main" id="{E82461A6-6933-8D0B-825E-F02CBC16AA17}"/>
              </a:ext>
            </a:extLst>
          </p:cNvPr>
          <p:cNvGrpSpPr/>
          <p:nvPr/>
        </p:nvGrpSpPr>
        <p:grpSpPr>
          <a:xfrm>
            <a:off x="-10160" y="6354"/>
            <a:ext cx="9144000" cy="938525"/>
            <a:chOff x="0" y="39305"/>
            <a:chExt cx="9144000" cy="1091874"/>
          </a:xfrm>
          <a:solidFill>
            <a:srgbClr val="C00000"/>
          </a:solidFill>
        </p:grpSpPr>
        <p:sp>
          <p:nvSpPr>
            <p:cNvPr id="12" name="Rounded Rectangle 13">
              <a:extLst>
                <a:ext uri="{FF2B5EF4-FFF2-40B4-BE49-F238E27FC236}">
                  <a16:creationId xmlns:a16="http://schemas.microsoft.com/office/drawing/2014/main" id="{76B18595-5B81-73F9-56D1-7BC8F53208A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r>
                <a:rPr lang="en-US" sz="2800" b="1" u="sng" dirty="0">
                  <a:solidFill>
                    <a:schemeClr val="bg1"/>
                  </a:solidFill>
                  <a:latin typeface="Arial" panose="020B0604020202020204" pitchFamily="34" charset="0"/>
                  <a:cs typeface="Arial" panose="020B0604020202020204" pitchFamily="34" charset="0"/>
                </a:rPr>
                <a:t> </a:t>
              </a:r>
            </a:p>
          </p:txBody>
        </p:sp>
        <p:pic>
          <p:nvPicPr>
            <p:cNvPr id="13" name="Picture 12">
              <a:extLst>
                <a:ext uri="{FF2B5EF4-FFF2-40B4-BE49-F238E27FC236}">
                  <a16:creationId xmlns:a16="http://schemas.microsoft.com/office/drawing/2014/main" id="{127B0ED8-377E-173A-74FB-CFC966E8E74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4" name="Picture 13">
              <a:extLst>
                <a:ext uri="{FF2B5EF4-FFF2-40B4-BE49-F238E27FC236}">
                  <a16:creationId xmlns:a16="http://schemas.microsoft.com/office/drawing/2014/main" id="{40E0A350-E1CF-F28B-CF57-82D475357B2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825131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4242ED-28CD-CA13-ADC7-ADB957D2DBBA}"/>
              </a:ext>
            </a:extLst>
          </p:cNvPr>
          <p:cNvSpPr txBox="1"/>
          <p:nvPr/>
        </p:nvSpPr>
        <p:spPr>
          <a:xfrm>
            <a:off x="0" y="899085"/>
            <a:ext cx="9042400" cy="4436151"/>
          </a:xfrm>
          <a:prstGeom prst="rect">
            <a:avLst/>
          </a:prstGeom>
          <a:noFill/>
        </p:spPr>
        <p:txBody>
          <a:bodyPr wrap="square" rtlCol="0">
            <a:spAutoFit/>
          </a:bodyPr>
          <a:lstStyle/>
          <a:p>
            <a:pPr marL="355600" indent="-355600">
              <a:lnSpc>
                <a:spcPct val="200000"/>
              </a:lnSpc>
            </a:pPr>
            <a:r>
              <a:rPr lang="en-US" sz="2000" b="1" dirty="0">
                <a:solidFill>
                  <a:srgbClr val="FF0000"/>
                </a:solidFill>
                <a:latin typeface="Arial" panose="020B0604020202020204" pitchFamily="34" charset="0"/>
                <a:cs typeface="Arial" panose="020B0604020202020204" pitchFamily="34" charset="0"/>
              </a:rPr>
              <a:t>(g) </a:t>
            </a:r>
            <a:r>
              <a:rPr lang="en-US" sz="2000" b="1" u="sng" dirty="0">
                <a:solidFill>
                  <a:srgbClr val="FF0000"/>
                </a:solidFill>
                <a:latin typeface="Arial" panose="020B0604020202020204" pitchFamily="34" charset="0"/>
                <a:cs typeface="Arial" panose="020B0604020202020204" pitchFamily="34" charset="0"/>
              </a:rPr>
              <a:t>Secure Your Devices</a:t>
            </a:r>
            <a:r>
              <a:rPr lang="en-US" sz="2000" b="1" dirty="0">
                <a:solidFill>
                  <a:srgbClr val="FF0000"/>
                </a:solidFill>
                <a:latin typeface="Arial" panose="020B0604020202020204" pitchFamily="34" charset="0"/>
                <a:cs typeface="Arial" panose="020B0604020202020204" pitchFamily="34" charset="0"/>
              </a:rPr>
              <a:t> : Use firewalls, antivirus software, and other security tools to protect your devices from malware, ransomware, and other cyber threats. Additionally, consider using encryption to protect sensitive data stored on your devices.</a:t>
            </a:r>
          </a:p>
          <a:p>
            <a:pPr marL="355600" indent="-355600">
              <a:lnSpc>
                <a:spcPct val="200000"/>
              </a:lnSpc>
            </a:pPr>
            <a:r>
              <a:rPr lang="en-US" sz="2000" b="1" dirty="0">
                <a:solidFill>
                  <a:schemeClr val="tx1">
                    <a:lumMod val="95000"/>
                    <a:lumOff val="5000"/>
                  </a:schemeClr>
                </a:solidFill>
                <a:latin typeface="Arial" panose="020B0604020202020204" pitchFamily="34" charset="0"/>
                <a:cs typeface="Arial" panose="020B0604020202020204" pitchFamily="34" charset="0"/>
              </a:rPr>
              <a:t>(h) </a:t>
            </a:r>
            <a:r>
              <a:rPr lang="en-US" sz="2000" b="1" u="sng" dirty="0">
                <a:solidFill>
                  <a:schemeClr val="tx1">
                    <a:lumMod val="95000"/>
                    <a:lumOff val="5000"/>
                  </a:schemeClr>
                </a:solidFill>
                <a:latin typeface="Arial" panose="020B0604020202020204" pitchFamily="34" charset="0"/>
                <a:cs typeface="Arial" panose="020B0604020202020204" pitchFamily="34" charset="0"/>
              </a:rPr>
              <a:t>Back Up Data Regularly</a:t>
            </a:r>
            <a:r>
              <a:rPr lang="en-US" sz="2000" b="1" dirty="0">
                <a:solidFill>
                  <a:schemeClr val="tx1">
                    <a:lumMod val="95000"/>
                    <a:lumOff val="5000"/>
                  </a:schemeClr>
                </a:solidFill>
                <a:latin typeface="Arial" panose="020B0604020202020204" pitchFamily="34" charset="0"/>
                <a:cs typeface="Arial" panose="020B0604020202020204" pitchFamily="34" charset="0"/>
              </a:rPr>
              <a:t> : Regularly back up important data to an external hard drive, cloud storage, or other secure locations to protect against data loss due to cyberattacks or hardware failures.</a:t>
            </a:r>
            <a:endParaRPr lang="en-IN" sz="2000" b="1" u="sng" dirty="0">
              <a:solidFill>
                <a:schemeClr val="tx1">
                  <a:lumMod val="95000"/>
                  <a:lumOff val="5000"/>
                </a:schemeClr>
              </a:solidFill>
            </a:endParaRPr>
          </a:p>
        </p:txBody>
      </p:sp>
      <p:grpSp>
        <p:nvGrpSpPr>
          <p:cNvPr id="11" name="Group 10">
            <a:extLst>
              <a:ext uri="{FF2B5EF4-FFF2-40B4-BE49-F238E27FC236}">
                <a16:creationId xmlns:a16="http://schemas.microsoft.com/office/drawing/2014/main" id="{C5B1BE03-751B-9139-5277-6146632E2BD3}"/>
              </a:ext>
            </a:extLst>
          </p:cNvPr>
          <p:cNvGrpSpPr/>
          <p:nvPr/>
        </p:nvGrpSpPr>
        <p:grpSpPr>
          <a:xfrm>
            <a:off x="-10160" y="6354"/>
            <a:ext cx="9144000" cy="938525"/>
            <a:chOff x="0" y="39305"/>
            <a:chExt cx="9144000" cy="1091874"/>
          </a:xfrm>
          <a:solidFill>
            <a:srgbClr val="C00000"/>
          </a:solidFill>
        </p:grpSpPr>
        <p:sp>
          <p:nvSpPr>
            <p:cNvPr id="12" name="Rounded Rectangle 13">
              <a:extLst>
                <a:ext uri="{FF2B5EF4-FFF2-40B4-BE49-F238E27FC236}">
                  <a16:creationId xmlns:a16="http://schemas.microsoft.com/office/drawing/2014/main" id="{AE14BD50-E250-5409-DBBE-C98EACB27EB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r>
                <a:rPr lang="en-US" sz="2800" b="1" u="sng" dirty="0">
                  <a:solidFill>
                    <a:schemeClr val="bg1"/>
                  </a:solidFill>
                  <a:latin typeface="Arial" panose="020B0604020202020204" pitchFamily="34" charset="0"/>
                  <a:cs typeface="Arial" panose="020B0604020202020204" pitchFamily="34" charset="0"/>
                </a:rPr>
                <a:t> </a:t>
              </a:r>
            </a:p>
          </p:txBody>
        </p:sp>
        <p:pic>
          <p:nvPicPr>
            <p:cNvPr id="13" name="Picture 12">
              <a:extLst>
                <a:ext uri="{FF2B5EF4-FFF2-40B4-BE49-F238E27FC236}">
                  <a16:creationId xmlns:a16="http://schemas.microsoft.com/office/drawing/2014/main" id="{9F4E4AE4-1DB4-FB5D-D4FA-6F554C21CA5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4" name="Picture 13">
              <a:extLst>
                <a:ext uri="{FF2B5EF4-FFF2-40B4-BE49-F238E27FC236}">
                  <a16:creationId xmlns:a16="http://schemas.microsoft.com/office/drawing/2014/main" id="{15ECDBA0-96AA-FFB8-FF0E-F040782D7A0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902649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4242ED-28CD-CA13-ADC7-ADB957D2DBBA}"/>
              </a:ext>
            </a:extLst>
          </p:cNvPr>
          <p:cNvSpPr txBox="1"/>
          <p:nvPr/>
        </p:nvSpPr>
        <p:spPr>
          <a:xfrm>
            <a:off x="0" y="899085"/>
            <a:ext cx="9042400" cy="5550302"/>
          </a:xfrm>
          <a:prstGeom prst="rect">
            <a:avLst/>
          </a:prstGeom>
          <a:noFill/>
        </p:spPr>
        <p:txBody>
          <a:bodyPr wrap="square" rtlCol="0">
            <a:spAutoFit/>
          </a:bodyPr>
          <a:lstStyle/>
          <a:p>
            <a:pPr>
              <a:lnSpc>
                <a:spcPct val="160000"/>
              </a:lnSpc>
            </a:pPr>
            <a:r>
              <a:rPr lang="en-US" sz="2400" b="1" u="sng" dirty="0">
                <a:solidFill>
                  <a:srgbClr val="FF0000"/>
                </a:solidFill>
                <a:latin typeface="Arial" panose="020B0604020202020204" pitchFamily="34" charset="0"/>
                <a:cs typeface="Arial" panose="020B0604020202020204" pitchFamily="34" charset="0"/>
              </a:rPr>
              <a:t>DON’Ts</a:t>
            </a:r>
          </a:p>
          <a:p>
            <a:pPr marL="355600" indent="-355600">
              <a:lnSpc>
                <a:spcPct val="160000"/>
              </a:lnSpc>
            </a:pPr>
            <a:r>
              <a:rPr lang="en-US" b="1" dirty="0">
                <a:latin typeface="Arial" panose="020B0604020202020204" pitchFamily="34" charset="0"/>
                <a:cs typeface="Arial" panose="020B0604020202020204" pitchFamily="34" charset="0"/>
              </a:rPr>
              <a:t>(a</a:t>
            </a:r>
            <a:r>
              <a:rPr lang="en-US" sz="2000" b="1" dirty="0">
                <a:latin typeface="Arial" panose="020B0604020202020204" pitchFamily="34" charset="0"/>
                <a:cs typeface="Arial" panose="020B0604020202020204" pitchFamily="34" charset="0"/>
              </a:rPr>
              <a:t>) </a:t>
            </a:r>
            <a:r>
              <a:rPr lang="en-US" sz="2000" b="1" u="sng" dirty="0">
                <a:latin typeface="Arial" panose="020B0604020202020204" pitchFamily="34" charset="0"/>
                <a:cs typeface="Arial" panose="020B0604020202020204" pitchFamily="34" charset="0"/>
              </a:rPr>
              <a:t>Don't Share Personal Information</a:t>
            </a:r>
            <a:r>
              <a:rPr lang="en-US" sz="2000" b="1" dirty="0">
                <a:latin typeface="Arial" panose="020B0604020202020204" pitchFamily="34" charset="0"/>
                <a:cs typeface="Arial" panose="020B0604020202020204" pitchFamily="34" charset="0"/>
              </a:rPr>
              <a:t> : Avoid sharing sensitive personal information such as passwords, financial details, or social security numbers over email or other insecure channels.</a:t>
            </a:r>
          </a:p>
          <a:p>
            <a:pPr marL="355600" indent="-355600">
              <a:lnSpc>
                <a:spcPct val="160000"/>
              </a:lnSpc>
            </a:pPr>
            <a:r>
              <a:rPr lang="en-US" sz="2000" b="1" dirty="0">
                <a:solidFill>
                  <a:srgbClr val="0070C0"/>
                </a:solidFill>
                <a:latin typeface="Arial" panose="020B0604020202020204" pitchFamily="34" charset="0"/>
                <a:cs typeface="Arial" panose="020B0604020202020204" pitchFamily="34" charset="0"/>
              </a:rPr>
              <a:t>(b) </a:t>
            </a:r>
            <a:r>
              <a:rPr lang="en-US" sz="2000" b="1" u="sng" dirty="0">
                <a:solidFill>
                  <a:srgbClr val="0070C0"/>
                </a:solidFill>
                <a:latin typeface="Arial" panose="020B0604020202020204" pitchFamily="34" charset="0"/>
                <a:cs typeface="Arial" panose="020B0604020202020204" pitchFamily="34" charset="0"/>
              </a:rPr>
              <a:t>Don't Click on Suspicious Links</a:t>
            </a:r>
            <a:r>
              <a:rPr lang="en-US" sz="2000" b="1" dirty="0">
                <a:solidFill>
                  <a:srgbClr val="0070C0"/>
                </a:solidFill>
                <a:latin typeface="Arial" panose="020B0604020202020204" pitchFamily="34" charset="0"/>
                <a:cs typeface="Arial" panose="020B0604020202020204" pitchFamily="34" charset="0"/>
              </a:rPr>
              <a:t> : Avoid clicking on links in emails, messages, or social media posts from unknown or untrusted sources. These links may lead to phishing websites or malware downloads.</a:t>
            </a:r>
          </a:p>
          <a:p>
            <a:pPr marL="355600" indent="-355600">
              <a:lnSpc>
                <a:spcPct val="160000"/>
              </a:lnSpc>
            </a:pPr>
            <a:r>
              <a:rPr lang="en-US" sz="2000" b="1" dirty="0">
                <a:solidFill>
                  <a:srgbClr val="FF0000"/>
                </a:solidFill>
                <a:latin typeface="Arial" panose="020B0604020202020204" pitchFamily="34" charset="0"/>
                <a:cs typeface="Arial" panose="020B0604020202020204" pitchFamily="34" charset="0"/>
              </a:rPr>
              <a:t>(c) </a:t>
            </a:r>
            <a:r>
              <a:rPr lang="en-US" sz="2000" b="1" u="sng" dirty="0">
                <a:solidFill>
                  <a:srgbClr val="FF0000"/>
                </a:solidFill>
                <a:latin typeface="Arial" panose="020B0604020202020204" pitchFamily="34" charset="0"/>
                <a:cs typeface="Arial" panose="020B0604020202020204" pitchFamily="34" charset="0"/>
              </a:rPr>
              <a:t>Don't Use Public Wi-Fi for Sensitive Activities </a:t>
            </a:r>
            <a:r>
              <a:rPr lang="en-US" sz="2000" b="1" dirty="0">
                <a:solidFill>
                  <a:srgbClr val="FF0000"/>
                </a:solidFill>
                <a:latin typeface="Arial" panose="020B0604020202020204" pitchFamily="34" charset="0"/>
                <a:cs typeface="Arial" panose="020B0604020202020204" pitchFamily="34" charset="0"/>
              </a:rPr>
              <a:t>: Avoid accessing sensitive information or conducting financial transactions over public Wi-Fi networks, as they may be insecure and susceptible to interception.   </a:t>
            </a:r>
            <a:endParaRPr lang="en-IN" b="1" u="sng" dirty="0"/>
          </a:p>
        </p:txBody>
      </p:sp>
      <p:grpSp>
        <p:nvGrpSpPr>
          <p:cNvPr id="11" name="Group 10">
            <a:extLst>
              <a:ext uri="{FF2B5EF4-FFF2-40B4-BE49-F238E27FC236}">
                <a16:creationId xmlns:a16="http://schemas.microsoft.com/office/drawing/2014/main" id="{2DEEF41D-6C4C-1420-E7DD-2BA33E96100D}"/>
              </a:ext>
            </a:extLst>
          </p:cNvPr>
          <p:cNvGrpSpPr/>
          <p:nvPr/>
        </p:nvGrpSpPr>
        <p:grpSpPr>
          <a:xfrm>
            <a:off x="-10160" y="6354"/>
            <a:ext cx="9144000" cy="938525"/>
            <a:chOff x="0" y="39305"/>
            <a:chExt cx="9144000" cy="1091874"/>
          </a:xfrm>
          <a:solidFill>
            <a:srgbClr val="C00000"/>
          </a:solidFill>
        </p:grpSpPr>
        <p:sp>
          <p:nvSpPr>
            <p:cNvPr id="12" name="Rounded Rectangle 13">
              <a:extLst>
                <a:ext uri="{FF2B5EF4-FFF2-40B4-BE49-F238E27FC236}">
                  <a16:creationId xmlns:a16="http://schemas.microsoft.com/office/drawing/2014/main" id="{597D2368-FF23-A844-527B-ACBA81CA36D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r>
                <a:rPr lang="en-US" sz="2800" b="1" u="sng" dirty="0">
                  <a:solidFill>
                    <a:schemeClr val="bg1"/>
                  </a:solidFill>
                  <a:latin typeface="Arial" panose="020B0604020202020204" pitchFamily="34" charset="0"/>
                  <a:cs typeface="Arial" panose="020B0604020202020204" pitchFamily="34" charset="0"/>
                </a:rPr>
                <a:t> </a:t>
              </a:r>
            </a:p>
          </p:txBody>
        </p:sp>
        <p:pic>
          <p:nvPicPr>
            <p:cNvPr id="13" name="Picture 12">
              <a:extLst>
                <a:ext uri="{FF2B5EF4-FFF2-40B4-BE49-F238E27FC236}">
                  <a16:creationId xmlns:a16="http://schemas.microsoft.com/office/drawing/2014/main" id="{C282A43C-9CAE-7FC6-3D70-9A06D226739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4" name="Picture 13">
              <a:extLst>
                <a:ext uri="{FF2B5EF4-FFF2-40B4-BE49-F238E27FC236}">
                  <a16:creationId xmlns:a16="http://schemas.microsoft.com/office/drawing/2014/main" id="{9D5465FE-9C4F-D469-A732-B2910C2DDE0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83297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2B557-EB62-4F2D-DB2B-BA8044D102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1EAF78-039C-2951-1122-4F5274447A09}"/>
              </a:ext>
            </a:extLst>
          </p:cNvPr>
          <p:cNvSpPr txBox="1"/>
          <p:nvPr/>
        </p:nvSpPr>
        <p:spPr>
          <a:xfrm>
            <a:off x="0" y="899085"/>
            <a:ext cx="9042400" cy="7392793"/>
          </a:xfrm>
          <a:prstGeom prst="rect">
            <a:avLst/>
          </a:prstGeom>
          <a:noFill/>
        </p:spPr>
        <p:txBody>
          <a:bodyPr wrap="square" rtlCol="0">
            <a:spAutoFit/>
          </a:bodyPr>
          <a:lstStyle/>
          <a:p>
            <a:pPr marL="182563" indent="-182563">
              <a:lnSpc>
                <a:spcPct val="200000"/>
              </a:lnSpc>
            </a:pPr>
            <a:r>
              <a:rPr lang="en-US" sz="2000" b="1" dirty="0">
                <a:solidFill>
                  <a:srgbClr val="FF0000"/>
                </a:solidFill>
                <a:latin typeface="Arial" panose="020B0604020202020204" pitchFamily="34" charset="0"/>
                <a:cs typeface="Arial" panose="020B0604020202020204" pitchFamily="34" charset="0"/>
              </a:rPr>
              <a:t>(d) </a:t>
            </a:r>
            <a:r>
              <a:rPr lang="en-US" sz="2000" b="1" u="sng" dirty="0">
                <a:solidFill>
                  <a:srgbClr val="FF0000"/>
                </a:solidFill>
                <a:latin typeface="Arial" panose="020B0604020202020204" pitchFamily="34" charset="0"/>
                <a:cs typeface="Arial" panose="020B0604020202020204" pitchFamily="34" charset="0"/>
              </a:rPr>
              <a:t>Don't Ignore Security Warnings</a:t>
            </a:r>
            <a:r>
              <a:rPr lang="en-US" sz="2000" b="1" dirty="0">
                <a:solidFill>
                  <a:srgbClr val="FF0000"/>
                </a:solidFill>
                <a:latin typeface="Arial" panose="020B0604020202020204" pitchFamily="34" charset="0"/>
                <a:cs typeface="Arial" panose="020B0604020202020204" pitchFamily="34" charset="0"/>
              </a:rPr>
              <a:t> : Take security warnings seriously and act promptly to address any potential security threats or vulnerabilities on your devices or networks. </a:t>
            </a:r>
          </a:p>
          <a:p>
            <a:pPr>
              <a:lnSpc>
                <a:spcPct val="200000"/>
              </a:lnSpc>
            </a:pPr>
            <a:r>
              <a:rPr lang="en-IN" sz="2000" b="1" dirty="0">
                <a:solidFill>
                  <a:schemeClr val="tx1">
                    <a:lumMod val="95000"/>
                    <a:lumOff val="5000"/>
                  </a:schemeClr>
                </a:solidFill>
                <a:latin typeface="Arial" panose="020B0604020202020204" pitchFamily="34" charset="0"/>
                <a:cs typeface="Arial" panose="020B0604020202020204" pitchFamily="34" charset="0"/>
              </a:rPr>
              <a:t>(e) </a:t>
            </a:r>
            <a:r>
              <a:rPr lang="en-US" sz="2000" b="1" u="sng" dirty="0">
                <a:solidFill>
                  <a:schemeClr val="tx1">
                    <a:lumMod val="95000"/>
                    <a:lumOff val="5000"/>
                  </a:schemeClr>
                </a:solidFill>
                <a:latin typeface="Arial" panose="020B0604020202020204" pitchFamily="34" charset="0"/>
                <a:cs typeface="Arial" panose="020B0604020202020204" pitchFamily="34" charset="0"/>
              </a:rPr>
              <a:t>Don't Install Unauthorized Software</a:t>
            </a:r>
            <a:r>
              <a:rPr lang="en-US" sz="2000" b="1" dirty="0">
                <a:solidFill>
                  <a:schemeClr val="tx1">
                    <a:lumMod val="95000"/>
                    <a:lumOff val="5000"/>
                  </a:schemeClr>
                </a:solidFill>
                <a:latin typeface="Arial" panose="020B0604020202020204" pitchFamily="34" charset="0"/>
                <a:cs typeface="Arial" panose="020B0604020202020204" pitchFamily="34" charset="0"/>
              </a:rPr>
              <a:t> : Avoid downloading and installing software from untrusted sources, as it may contain malware or other malicious code that can compromise your system's security.</a:t>
            </a:r>
          </a:p>
          <a:p>
            <a:pPr>
              <a:lnSpc>
                <a:spcPct val="200000"/>
              </a:lnSpc>
            </a:pPr>
            <a:r>
              <a:rPr lang="en-US" sz="2000" b="1" dirty="0">
                <a:solidFill>
                  <a:srgbClr val="0070C0"/>
                </a:solidFill>
                <a:latin typeface="Arial" panose="020B0604020202020204" pitchFamily="34" charset="0"/>
                <a:cs typeface="Arial" panose="020B0604020202020204" pitchFamily="34" charset="0"/>
              </a:rPr>
              <a:t>(f) </a:t>
            </a:r>
            <a:r>
              <a:rPr lang="en-US" sz="2000" b="1" u="sng" dirty="0">
                <a:solidFill>
                  <a:srgbClr val="0070C0"/>
                </a:solidFill>
                <a:latin typeface="Arial" panose="020B0604020202020204" pitchFamily="34" charset="0"/>
                <a:cs typeface="Arial" panose="020B0604020202020204" pitchFamily="34" charset="0"/>
              </a:rPr>
              <a:t>Don't Leave Devices Unattended</a:t>
            </a:r>
            <a:r>
              <a:rPr lang="en-US" sz="2000" b="1" dirty="0">
                <a:solidFill>
                  <a:srgbClr val="0070C0"/>
                </a:solidFill>
                <a:latin typeface="Arial" panose="020B0604020202020204" pitchFamily="34" charset="0"/>
                <a:cs typeface="Arial" panose="020B0604020202020204" pitchFamily="34" charset="0"/>
              </a:rPr>
              <a:t> : Always lock your devices when they are not in use and avoid leaving them unattended in public places, as they may.</a:t>
            </a:r>
          </a:p>
          <a:p>
            <a:pPr marL="182563" indent="-182563">
              <a:lnSpc>
                <a:spcPct val="200000"/>
              </a:lnSpc>
            </a:pPr>
            <a:endParaRPr lang="en-US" sz="2000" b="1" dirty="0">
              <a:solidFill>
                <a:schemeClr val="tx1">
                  <a:lumMod val="95000"/>
                  <a:lumOff val="5000"/>
                </a:schemeClr>
              </a:solidFill>
              <a:latin typeface="Arial" panose="020B0604020202020204" pitchFamily="34" charset="0"/>
              <a:cs typeface="Arial" panose="020B0604020202020204" pitchFamily="34" charset="0"/>
            </a:endParaRPr>
          </a:p>
          <a:p>
            <a:pPr marL="342900" indent="-342900">
              <a:lnSpc>
                <a:spcPct val="200000"/>
              </a:lnSpc>
              <a:buAutoNum type="alphaLcParenBoth" startAt="6"/>
            </a:pPr>
            <a:endParaRPr lang="en-US" sz="2000" b="1" dirty="0">
              <a:solidFill>
                <a:srgbClr val="FF0000"/>
              </a:solidFill>
              <a:latin typeface="Arial" panose="020B0604020202020204" pitchFamily="34" charset="0"/>
              <a:cs typeface="Arial" panose="020B0604020202020204" pitchFamily="34" charset="0"/>
            </a:endParaRPr>
          </a:p>
          <a:p>
            <a:pPr>
              <a:lnSpc>
                <a:spcPct val="200000"/>
              </a:lnSpc>
            </a:pPr>
            <a:endParaRPr lang="en-IN" sz="2000" b="1" u="sng" dirty="0"/>
          </a:p>
        </p:txBody>
      </p:sp>
      <p:grpSp>
        <p:nvGrpSpPr>
          <p:cNvPr id="11" name="Group 10">
            <a:extLst>
              <a:ext uri="{FF2B5EF4-FFF2-40B4-BE49-F238E27FC236}">
                <a16:creationId xmlns:a16="http://schemas.microsoft.com/office/drawing/2014/main" id="{DDE871F9-77EB-B697-E50B-80169ABED11C}"/>
              </a:ext>
            </a:extLst>
          </p:cNvPr>
          <p:cNvGrpSpPr/>
          <p:nvPr/>
        </p:nvGrpSpPr>
        <p:grpSpPr>
          <a:xfrm>
            <a:off x="-10160" y="6354"/>
            <a:ext cx="9144000" cy="938525"/>
            <a:chOff x="0" y="39305"/>
            <a:chExt cx="9144000" cy="1091874"/>
          </a:xfrm>
          <a:solidFill>
            <a:srgbClr val="C00000"/>
          </a:solidFill>
        </p:grpSpPr>
        <p:sp>
          <p:nvSpPr>
            <p:cNvPr id="12" name="Rounded Rectangle 13">
              <a:extLst>
                <a:ext uri="{FF2B5EF4-FFF2-40B4-BE49-F238E27FC236}">
                  <a16:creationId xmlns:a16="http://schemas.microsoft.com/office/drawing/2014/main" id="{EBC9A5C1-1151-64CF-ACC1-724B5F96C13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r>
                <a:rPr lang="en-US" sz="2800" b="1" u="sng" dirty="0">
                  <a:solidFill>
                    <a:schemeClr val="bg1"/>
                  </a:solidFill>
                  <a:latin typeface="Arial" panose="020B0604020202020204" pitchFamily="34" charset="0"/>
                  <a:cs typeface="Arial" panose="020B0604020202020204" pitchFamily="34" charset="0"/>
                </a:rPr>
                <a:t> </a:t>
              </a:r>
            </a:p>
          </p:txBody>
        </p:sp>
        <p:pic>
          <p:nvPicPr>
            <p:cNvPr id="13" name="Picture 12">
              <a:extLst>
                <a:ext uri="{FF2B5EF4-FFF2-40B4-BE49-F238E27FC236}">
                  <a16:creationId xmlns:a16="http://schemas.microsoft.com/office/drawing/2014/main" id="{1FB74289-3572-2D84-621F-4070F830474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4" name="Picture 13">
              <a:extLst>
                <a:ext uri="{FF2B5EF4-FFF2-40B4-BE49-F238E27FC236}">
                  <a16:creationId xmlns:a16="http://schemas.microsoft.com/office/drawing/2014/main" id="{86285F23-303C-CC77-1A95-7545D32D91F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76372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D98EF16-9D66-CEF9-B7CD-0EFE4D7E0003}"/>
              </a:ext>
            </a:extLst>
          </p:cNvPr>
          <p:cNvGrpSpPr/>
          <p:nvPr/>
        </p:nvGrpSpPr>
        <p:grpSpPr>
          <a:xfrm>
            <a:off x="0" y="-3806"/>
            <a:ext cx="9144000" cy="938526"/>
            <a:chOff x="0" y="39305"/>
            <a:chExt cx="9144000" cy="1091874"/>
          </a:xfrm>
          <a:solidFill>
            <a:srgbClr val="C00000"/>
          </a:solidFill>
        </p:grpSpPr>
        <p:sp>
          <p:nvSpPr>
            <p:cNvPr id="5" name="Rounded Rectangle 13">
              <a:extLst>
                <a:ext uri="{FF2B5EF4-FFF2-40B4-BE49-F238E27FC236}">
                  <a16:creationId xmlns:a16="http://schemas.microsoft.com/office/drawing/2014/main" id="{F3785069-587B-0C92-DFB9-B91015BE145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p>
          </p:txBody>
        </p:sp>
        <p:pic>
          <p:nvPicPr>
            <p:cNvPr id="6" name="Picture 5">
              <a:extLst>
                <a:ext uri="{FF2B5EF4-FFF2-40B4-BE49-F238E27FC236}">
                  <a16:creationId xmlns:a16="http://schemas.microsoft.com/office/drawing/2014/main" id="{B5033A38-9C77-559D-165B-01F4379B283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26053" y="119413"/>
              <a:ext cx="495307" cy="914400"/>
            </a:xfrm>
            <a:prstGeom prst="rect">
              <a:avLst/>
            </a:prstGeom>
            <a:grpFill/>
          </p:spPr>
        </p:pic>
        <p:pic>
          <p:nvPicPr>
            <p:cNvPr id="7" name="Picture 6">
              <a:extLst>
                <a:ext uri="{FF2B5EF4-FFF2-40B4-BE49-F238E27FC236}">
                  <a16:creationId xmlns:a16="http://schemas.microsoft.com/office/drawing/2014/main" id="{74ED0BAE-B283-B1C7-AC06-DCE038843D7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grpSp>
      <p:sp>
        <p:nvSpPr>
          <p:cNvPr id="2" name="TextBox 1">
            <a:extLst>
              <a:ext uri="{FF2B5EF4-FFF2-40B4-BE49-F238E27FC236}">
                <a16:creationId xmlns:a16="http://schemas.microsoft.com/office/drawing/2014/main" id="{A8EAF563-13E9-AF2C-6098-66D0B5F9E440}"/>
              </a:ext>
            </a:extLst>
          </p:cNvPr>
          <p:cNvSpPr txBox="1"/>
          <p:nvPr/>
        </p:nvSpPr>
        <p:spPr>
          <a:xfrm>
            <a:off x="121920" y="873759"/>
            <a:ext cx="8808396" cy="3690177"/>
          </a:xfrm>
          <a:prstGeom prst="rect">
            <a:avLst/>
          </a:prstGeom>
          <a:noFill/>
        </p:spPr>
        <p:txBody>
          <a:bodyPr wrap="square" rtlCol="0">
            <a:spAutoFit/>
          </a:bodyPr>
          <a:lstStyle/>
          <a:p>
            <a:pPr>
              <a:lnSpc>
                <a:spcPct val="200000"/>
              </a:lnSpc>
            </a:pPr>
            <a:r>
              <a:rPr lang="en-US" sz="2000" b="1" dirty="0">
                <a:solidFill>
                  <a:srgbClr val="FF0000"/>
                </a:solidFill>
                <a:latin typeface="Arial" panose="020B0604020202020204" pitchFamily="34" charset="0"/>
                <a:cs typeface="Arial" panose="020B0604020202020204" pitchFamily="34" charset="0"/>
              </a:rPr>
              <a:t>(g) </a:t>
            </a:r>
            <a:r>
              <a:rPr lang="en-US" sz="2000" b="1" u="sng" dirty="0">
                <a:solidFill>
                  <a:srgbClr val="FF0000"/>
                </a:solidFill>
                <a:latin typeface="Arial" panose="020B0604020202020204" pitchFamily="34" charset="0"/>
                <a:cs typeface="Arial" panose="020B0604020202020204" pitchFamily="34" charset="0"/>
              </a:rPr>
              <a:t>Don't Use Default Settings</a:t>
            </a:r>
            <a:r>
              <a:rPr lang="en-US" sz="2000" b="1" dirty="0">
                <a:solidFill>
                  <a:srgbClr val="FF0000"/>
                </a:solidFill>
                <a:latin typeface="Arial" panose="020B0604020202020204" pitchFamily="34" charset="0"/>
                <a:cs typeface="Arial" panose="020B0604020202020204" pitchFamily="34" charset="0"/>
              </a:rPr>
              <a:t> : Change default passwords and settings on your devices and accounts to enhance security and reduce the risk of unauthorized access.</a:t>
            </a:r>
          </a:p>
          <a:p>
            <a:pPr>
              <a:lnSpc>
                <a:spcPct val="200000"/>
              </a:lnSpc>
            </a:pPr>
            <a:r>
              <a:rPr lang="en-US" sz="2000" b="1" dirty="0">
                <a:solidFill>
                  <a:schemeClr val="tx1">
                    <a:lumMod val="95000"/>
                    <a:lumOff val="5000"/>
                  </a:schemeClr>
                </a:solidFill>
                <a:latin typeface="Arial" panose="020B0604020202020204" pitchFamily="34" charset="0"/>
                <a:cs typeface="Arial" panose="020B0604020202020204" pitchFamily="34" charset="0"/>
              </a:rPr>
              <a:t>(h) </a:t>
            </a:r>
            <a:r>
              <a:rPr lang="en-US" sz="2000" b="1" u="sng" dirty="0">
                <a:solidFill>
                  <a:schemeClr val="tx1">
                    <a:lumMod val="95000"/>
                    <a:lumOff val="5000"/>
                  </a:schemeClr>
                </a:solidFill>
                <a:latin typeface="Arial" panose="020B0604020202020204" pitchFamily="34" charset="0"/>
                <a:cs typeface="Arial" panose="020B0604020202020204" pitchFamily="34" charset="0"/>
              </a:rPr>
              <a:t>Don't Forget to Log Out</a:t>
            </a:r>
            <a:r>
              <a:rPr lang="en-US" sz="2000" b="1" dirty="0">
                <a:solidFill>
                  <a:schemeClr val="tx1">
                    <a:lumMod val="95000"/>
                    <a:lumOff val="5000"/>
                  </a:schemeClr>
                </a:solidFill>
                <a:latin typeface="Arial" panose="020B0604020202020204" pitchFamily="34" charset="0"/>
                <a:cs typeface="Arial" panose="020B0604020202020204" pitchFamily="34" charset="0"/>
              </a:rPr>
              <a:t> : Always log out of your accounts and applications when you're finished using them, especially on shared or public devices, to prevent unauthorized access.  </a:t>
            </a:r>
            <a:endParaRPr lang="en-IN" sz="2000" b="1" dirty="0">
              <a:solidFill>
                <a:schemeClr val="tx1">
                  <a:lumMod val="95000"/>
                  <a:lumOff val="5000"/>
                </a:schemeClr>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010E74C-8413-8F8A-405D-5B48FF41D03A}"/>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D371BD00-D10E-D8C1-1F9E-FB1FC6AF413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a:t>
              </a:r>
              <a:r>
                <a:rPr lang="en-IN" sz="2800" b="1" u="sng" dirty="0">
                  <a:solidFill>
                    <a:schemeClr val="bg1"/>
                  </a:solidFill>
                  <a:latin typeface="Arial" panose="020B0604020202020204" pitchFamily="34" charset="0"/>
                  <a:cs typeface="Arial" panose="020B0604020202020204" pitchFamily="34" charset="0"/>
                </a:rPr>
                <a:t>O’S &amp; DON’TS</a:t>
              </a:r>
              <a:r>
                <a:rPr lang="en-US" sz="2800" b="1" u="sng" dirty="0">
                  <a:solidFill>
                    <a:schemeClr val="bg1"/>
                  </a:solidFill>
                  <a:latin typeface="Arial" panose="020B0604020202020204" pitchFamily="34" charset="0"/>
                  <a:cs typeface="Arial" panose="020B0604020202020204" pitchFamily="34" charset="0"/>
                </a:rPr>
                <a:t> </a:t>
              </a:r>
            </a:p>
          </p:txBody>
        </p:sp>
        <p:pic>
          <p:nvPicPr>
            <p:cNvPr id="9" name="Picture 8">
              <a:extLst>
                <a:ext uri="{FF2B5EF4-FFF2-40B4-BE49-F238E27FC236}">
                  <a16:creationId xmlns:a16="http://schemas.microsoft.com/office/drawing/2014/main" id="{C891A5FB-5684-7DF8-57BB-F28D70BF3BD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D5B558B5-7910-5A0A-3822-FB0715371DA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650220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26053" y="883919"/>
            <a:ext cx="8351520" cy="5148332"/>
          </a:xfrm>
          <a:prstGeom prst="rect">
            <a:avLst/>
          </a:prstGeom>
          <a:noFill/>
        </p:spPr>
        <p:txBody>
          <a:bodyPr wrap="square" rtlCol="0">
            <a:spAutoFit/>
          </a:bodyPr>
          <a:lstStyle/>
          <a:p>
            <a:pPr>
              <a:lnSpc>
                <a:spcPct val="200000"/>
              </a:lnSpc>
            </a:pPr>
            <a:r>
              <a:rPr lang="en-US" sz="2400" b="1" dirty="0">
                <a:latin typeface="Arial" panose="020B0604020202020204" pitchFamily="34" charset="0"/>
                <a:cs typeface="Arial" panose="020B0604020202020204" pitchFamily="34" charset="0"/>
              </a:rPr>
              <a:t>1. To ensure confidentiality, Integrity &amp; avbl of IA’s Info       Sys &amp; commn networks. </a:t>
            </a:r>
          </a:p>
          <a:p>
            <a:pPr>
              <a:lnSpc>
                <a:spcPct val="200000"/>
              </a:lnSpc>
            </a:pPr>
            <a:r>
              <a:rPr lang="en-US" sz="2400" b="1" dirty="0">
                <a:solidFill>
                  <a:srgbClr val="0070C0"/>
                </a:solidFill>
                <a:latin typeface="Arial" panose="020B0604020202020204" pitchFamily="34" charset="0"/>
                <a:cs typeface="Arial" panose="020B0604020202020204" pitchFamily="34" charset="0"/>
              </a:rPr>
              <a:t>2. A CS policy is a set of guidelines, rules, and procedures to protect its information assets, systems, and networks from cyber threats. </a:t>
            </a:r>
          </a:p>
          <a:p>
            <a:pPr>
              <a:lnSpc>
                <a:spcPct val="200000"/>
              </a:lnSpc>
            </a:pPr>
            <a:r>
              <a:rPr lang="en-US" sz="2400" b="1" dirty="0">
                <a:solidFill>
                  <a:srgbClr val="FF0000"/>
                </a:solidFill>
                <a:latin typeface="Arial" panose="020B0604020202020204" pitchFamily="34" charset="0"/>
                <a:cs typeface="Arial" panose="020B0604020202020204" pitchFamily="34" charset="0"/>
              </a:rPr>
              <a:t>3. Framework for managing cyber security risks and outlines.</a:t>
            </a:r>
          </a:p>
        </p:txBody>
      </p:sp>
      <p:grpSp>
        <p:nvGrpSpPr>
          <p:cNvPr id="3" name="Group 2">
            <a:extLst>
              <a:ext uri="{FF2B5EF4-FFF2-40B4-BE49-F238E27FC236}">
                <a16:creationId xmlns:a16="http://schemas.microsoft.com/office/drawing/2014/main" id="{DC76D02B-CEA9-E000-3ED0-17367EC3543A}"/>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2D397643-C959-023E-880C-765635C5258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TO ACQUAINT THE CLASS ABOUT </a:t>
              </a:r>
            </a:p>
            <a:p>
              <a:pPr algn="ctr"/>
              <a:r>
                <a:rPr lang="en-US" sz="2800" b="1" u="sng" dirty="0">
                  <a:solidFill>
                    <a:schemeClr val="bg1"/>
                  </a:solidFill>
                  <a:latin typeface="Arial" panose="020B0604020202020204" pitchFamily="34" charset="0"/>
                  <a:cs typeface="Arial" panose="020B0604020202020204" pitchFamily="34" charset="0"/>
                </a:rPr>
                <a:t>THE ACSP 2023</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F261B6CA-DFFF-5C8E-B795-6C656D6404B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A0319391-23AD-813D-C9B2-768D4F98C34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073873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26052" y="1003577"/>
            <a:ext cx="8351520" cy="3901837"/>
          </a:xfrm>
          <a:prstGeom prst="rect">
            <a:avLst/>
          </a:prstGeom>
          <a:noFill/>
        </p:spPr>
        <p:txBody>
          <a:bodyPr wrap="square" rtlCol="0">
            <a:spAutoFit/>
          </a:bodyPr>
          <a:lstStyle/>
          <a:p>
            <a:pPr algn="just">
              <a:lnSpc>
                <a:spcPct val="150000"/>
              </a:lnSpc>
            </a:pPr>
            <a:r>
              <a:rPr lang="en-US" sz="2400" b="1" dirty="0">
                <a:latin typeface="Arial" panose="020B0604020202020204" pitchFamily="34" charset="0"/>
                <a:cs typeface="Arial" panose="020B0604020202020204" pitchFamily="34" charset="0"/>
              </a:rPr>
              <a:t>4. 	A cyber security policy is needed to ensure that organizations can effectively mitigate cyber risks, comply with legal and regulatory requirements, protect sensitive information, maintain business continuity, and preserve trust and reputation in an increasingly interconnected and digital world. </a:t>
            </a:r>
          </a:p>
          <a:p>
            <a:pPr>
              <a:lnSpc>
                <a:spcPct val="150000"/>
              </a:lnSpc>
            </a:pPr>
            <a:endParaRPr lang="en-IN" sz="2400" b="1" u="sng" dirty="0">
              <a:solidFill>
                <a:srgbClr val="FF0000"/>
              </a:solidFill>
              <a:latin typeface="Arial" panose="020B0604020202020204" pitchFamily="34" charset="0"/>
              <a:cs typeface="Arial" panose="020B0604020202020204" pitchFamily="34" charset="0"/>
            </a:endParaRPr>
          </a:p>
        </p:txBody>
      </p:sp>
      <p:graphicFrame>
        <p:nvGraphicFramePr>
          <p:cNvPr id="3" name="Diagram 2">
            <a:extLst>
              <a:ext uri="{FF2B5EF4-FFF2-40B4-BE49-F238E27FC236}">
                <a16:creationId xmlns:a16="http://schemas.microsoft.com/office/drawing/2014/main" id="{A883E719-F1CC-5D40-7488-DD6A2F6729D4}"/>
              </a:ext>
            </a:extLst>
          </p:cNvPr>
          <p:cNvGraphicFramePr/>
          <p:nvPr>
            <p:extLst>
              <p:ext uri="{D42A27DB-BD31-4B8C-83A1-F6EECF244321}">
                <p14:modId xmlns:p14="http://schemas.microsoft.com/office/powerpoint/2010/main" val="3688803577"/>
              </p:ext>
            </p:extLst>
          </p:nvPr>
        </p:nvGraphicFramePr>
        <p:xfrm>
          <a:off x="315511" y="4396180"/>
          <a:ext cx="8512977" cy="2062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a:extLst>
              <a:ext uri="{FF2B5EF4-FFF2-40B4-BE49-F238E27FC236}">
                <a16:creationId xmlns:a16="http://schemas.microsoft.com/office/drawing/2014/main" id="{AF78EFCD-2AAF-1854-B813-77FD3F53D12A}"/>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65ABACF4-C652-A434-B719-29F1AC6BA81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TO ACQUAINT THE CLASS ABOUT </a:t>
              </a:r>
            </a:p>
            <a:p>
              <a:pPr algn="ctr"/>
              <a:r>
                <a:rPr lang="en-US" sz="2800" b="1" u="sng" dirty="0">
                  <a:solidFill>
                    <a:schemeClr val="bg1"/>
                  </a:solidFill>
                  <a:latin typeface="Arial" panose="020B0604020202020204" pitchFamily="34" charset="0"/>
                  <a:cs typeface="Arial" panose="020B0604020202020204" pitchFamily="34" charset="0"/>
                </a:rPr>
                <a:t>THE ACSP 2023</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54B8A83F-8573-07DF-5E64-77242BA40F73}"/>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AF647415-8DDE-F150-A116-7A9E0BD25222}"/>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90458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D98EF16-9D66-CEF9-B7CD-0EFE4D7E0003}"/>
              </a:ext>
            </a:extLst>
          </p:cNvPr>
          <p:cNvGrpSpPr/>
          <p:nvPr/>
        </p:nvGrpSpPr>
        <p:grpSpPr>
          <a:xfrm>
            <a:off x="-10160" y="6354"/>
            <a:ext cx="9144000" cy="938525"/>
            <a:chOff x="0" y="39305"/>
            <a:chExt cx="9144000" cy="1091874"/>
          </a:xfrm>
          <a:solidFill>
            <a:srgbClr val="C00000"/>
          </a:solidFill>
        </p:grpSpPr>
        <p:sp>
          <p:nvSpPr>
            <p:cNvPr id="5" name="Rounded Rectangle 13">
              <a:extLst>
                <a:ext uri="{FF2B5EF4-FFF2-40B4-BE49-F238E27FC236}">
                  <a16:creationId xmlns:a16="http://schemas.microsoft.com/office/drawing/2014/main" id="{F3785069-587B-0C92-DFB9-B91015BE145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TO ACQUAINT THE CLASS ABOUT </a:t>
              </a:r>
            </a:p>
            <a:p>
              <a:pPr algn="ctr"/>
              <a:r>
                <a:rPr lang="en-US" sz="2800" b="1" u="sng" dirty="0">
                  <a:solidFill>
                    <a:schemeClr val="bg1"/>
                  </a:solidFill>
                  <a:latin typeface="Arial" panose="020B0604020202020204" pitchFamily="34" charset="0"/>
                  <a:cs typeface="Arial" panose="020B0604020202020204" pitchFamily="34" charset="0"/>
                </a:rPr>
                <a:t>THE ACSP 2023</a:t>
              </a:r>
              <a:endParaRPr lang="en-IN" sz="2800" b="1" u="sng"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4ED0BAE-B283-B1C7-AC06-DCE038843D7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3" name="Picture 2">
              <a:extLst>
                <a:ext uri="{FF2B5EF4-FFF2-40B4-BE49-F238E27FC236}">
                  <a16:creationId xmlns:a16="http://schemas.microsoft.com/office/drawing/2014/main" id="{1B86CC11-EBEC-EF93-27F7-02439BBDC4D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
        <p:nvSpPr>
          <p:cNvPr id="2" name="TextBox 1">
            <a:extLst>
              <a:ext uri="{FF2B5EF4-FFF2-40B4-BE49-F238E27FC236}">
                <a16:creationId xmlns:a16="http://schemas.microsoft.com/office/drawing/2014/main" id="{A8EAF563-13E9-AF2C-6098-66D0B5F9E440}"/>
              </a:ext>
            </a:extLst>
          </p:cNvPr>
          <p:cNvSpPr txBox="1"/>
          <p:nvPr/>
        </p:nvSpPr>
        <p:spPr>
          <a:xfrm>
            <a:off x="209708" y="975359"/>
            <a:ext cx="8704263" cy="5575309"/>
          </a:xfrm>
          <a:prstGeom prst="rect">
            <a:avLst/>
          </a:prstGeom>
          <a:noFill/>
        </p:spPr>
        <p:txBody>
          <a:bodyPr wrap="square" rtlCol="0">
            <a:spAutoFit/>
          </a:bodyPr>
          <a:lstStyle/>
          <a:p>
            <a:pPr marL="457200" indent="-457200">
              <a:lnSpc>
                <a:spcPct val="150000"/>
              </a:lnSpc>
              <a:buAutoNum type="arabicPeriod"/>
            </a:pPr>
            <a:r>
              <a:rPr lang="en-US" sz="2000" b="1" u="sng" dirty="0">
                <a:solidFill>
                  <a:srgbClr val="FF0000"/>
                </a:solidFill>
                <a:latin typeface="Arial" panose="020B0604020202020204" pitchFamily="34" charset="0"/>
                <a:cs typeface="Arial" panose="020B0604020202020204" pitchFamily="34" charset="0"/>
              </a:rPr>
              <a:t>Audit</a:t>
            </a:r>
            <a:r>
              <a:rPr lang="en-US" sz="2000" b="1" dirty="0">
                <a:solidFill>
                  <a:srgbClr val="FF0000"/>
                </a:solidFill>
                <a:latin typeface="Arial" panose="020B0604020202020204" pitchFamily="34" charset="0"/>
                <a:cs typeface="Arial" panose="020B0604020202020204" pitchFamily="34" charset="0"/>
              </a:rPr>
              <a:t>: Audit means checking and reviewing something carefully to make sure it is correct, honest, and follows the rules. An IT audit checks systems, software, and processes to ensure security, efficiency, and compliance with policies.</a:t>
            </a:r>
          </a:p>
          <a:p>
            <a:pPr marL="457200" indent="-457200">
              <a:lnSpc>
                <a:spcPct val="150000"/>
              </a:lnSpc>
              <a:buAutoNum type="arabicPeriod"/>
            </a:pPr>
            <a:r>
              <a:rPr lang="en-US" sz="2000" b="1" u="sng" dirty="0">
                <a:latin typeface="Arial" panose="020B0604020202020204" pitchFamily="34" charset="0"/>
                <a:cs typeface="Arial" panose="020B0604020202020204" pitchFamily="34" charset="0"/>
              </a:rPr>
              <a:t>Authentication</a:t>
            </a:r>
            <a:r>
              <a:rPr lang="en-US" sz="2000" b="1" dirty="0">
                <a:latin typeface="Arial" panose="020B0604020202020204" pitchFamily="34" charset="0"/>
                <a:cs typeface="Arial" panose="020B0604020202020204" pitchFamily="34" charset="0"/>
              </a:rPr>
              <a:t>: Verifying the identity of a user, process, or device, often as a prerequisite to allowing access to resources in an information system.</a:t>
            </a:r>
          </a:p>
          <a:p>
            <a:pPr marL="457200" indent="-457200">
              <a:lnSpc>
                <a:spcPct val="150000"/>
              </a:lnSpc>
              <a:buAutoNum type="arabicPeriod"/>
            </a:pPr>
            <a:r>
              <a:rPr lang="en-US" sz="2000" b="1" u="sng" dirty="0">
                <a:solidFill>
                  <a:srgbClr val="0070C0"/>
                </a:solidFill>
                <a:latin typeface="Arial" panose="020B0604020202020204" pitchFamily="34" charset="0"/>
                <a:cs typeface="Arial" panose="020B0604020202020204" pitchFamily="34" charset="0"/>
              </a:rPr>
              <a:t>Cyber attack</a:t>
            </a:r>
            <a:r>
              <a:rPr lang="en-US" sz="2000" b="1" dirty="0">
                <a:solidFill>
                  <a:srgbClr val="0070C0"/>
                </a:solidFill>
                <a:latin typeface="Arial" panose="020B0604020202020204" pitchFamily="34" charset="0"/>
                <a:cs typeface="Arial" panose="020B0604020202020204" pitchFamily="34" charset="0"/>
              </a:rPr>
              <a:t>:	 An attack, via cyberspace, targeting an enterprise's use of cyberspace for the purpose of disrupting, disabling, destroying, or maliciously controlling a computing environment/infrastructure; or destroying the integrity of the data or stealing controlled information.</a:t>
            </a:r>
            <a:endParaRPr lang="en-IN" sz="2000" b="1" u="sng"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4809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5444504"/>
          </a:xfrm>
          <a:prstGeom prst="rect">
            <a:avLst/>
          </a:prstGeom>
          <a:noFill/>
        </p:spPr>
        <p:txBody>
          <a:bodyPr wrap="square" rtlCol="0">
            <a:spAutoFit/>
          </a:bodyPr>
          <a:lstStyle/>
          <a:p>
            <a:pPr>
              <a:lnSpc>
                <a:spcPct val="160000"/>
              </a:lnSpc>
            </a:pPr>
            <a:r>
              <a:rPr lang="en-US" sz="2000" b="1" dirty="0">
                <a:solidFill>
                  <a:srgbClr val="FF0000"/>
                </a:solidFill>
                <a:latin typeface="Arial" panose="020B0604020202020204" pitchFamily="34" charset="0"/>
                <a:cs typeface="Arial" panose="020B0604020202020204" pitchFamily="34" charset="0"/>
              </a:rPr>
              <a:t>4. </a:t>
            </a:r>
            <a:r>
              <a:rPr lang="en-US" sz="2000" b="1" u="sng" dirty="0">
                <a:solidFill>
                  <a:srgbClr val="FF0000"/>
                </a:solidFill>
                <a:latin typeface="Arial" panose="020B0604020202020204" pitchFamily="34" charset="0"/>
                <a:cs typeface="Arial" panose="020B0604020202020204" pitchFamily="34" charset="0"/>
              </a:rPr>
              <a:t>DHCP</a:t>
            </a:r>
            <a:r>
              <a:rPr lang="en-US" sz="2000" b="1" dirty="0">
                <a:solidFill>
                  <a:srgbClr val="FF0000"/>
                </a:solidFill>
                <a:latin typeface="Arial" panose="020B0604020202020204" pitchFamily="34" charset="0"/>
                <a:cs typeface="Arial" panose="020B0604020202020204" pitchFamily="34" charset="0"/>
              </a:rPr>
              <a:t> : 	The Dynamic Host Configuration Protocol is a standardized network protocol that is used by network devices to configure the IP settings of another device, such as a computer, laptop or tablet. Without DHCP, you would have to manually set an IP address for every device. DHCP saves time and avoids mistakes.</a:t>
            </a:r>
          </a:p>
          <a:p>
            <a:pPr>
              <a:lnSpc>
                <a:spcPct val="160000"/>
              </a:lnSpc>
            </a:pPr>
            <a:endParaRPr lang="en-US" sz="2000" b="1" dirty="0">
              <a:solidFill>
                <a:srgbClr val="FF0000"/>
              </a:solidFill>
              <a:latin typeface="Arial" panose="020B0604020202020204" pitchFamily="34" charset="0"/>
              <a:cs typeface="Arial" panose="020B0604020202020204" pitchFamily="34" charset="0"/>
            </a:endParaRPr>
          </a:p>
          <a:p>
            <a:pPr>
              <a:lnSpc>
                <a:spcPct val="160000"/>
              </a:lnSpc>
            </a:pPr>
            <a:r>
              <a:rPr lang="en-US" sz="2000" b="1" dirty="0">
                <a:latin typeface="Arial" panose="020B0604020202020204" pitchFamily="34" charset="0"/>
                <a:cs typeface="Arial" panose="020B0604020202020204" pitchFamily="34" charset="0"/>
              </a:rPr>
              <a:t>5. </a:t>
            </a:r>
            <a:r>
              <a:rPr lang="en-US" sz="2000" b="1" u="sng" dirty="0">
                <a:latin typeface="Arial" panose="020B0604020202020204" pitchFamily="34" charset="0"/>
                <a:cs typeface="Arial" panose="020B0604020202020204" pitchFamily="34" charset="0"/>
              </a:rPr>
              <a:t>DLP</a:t>
            </a:r>
            <a:r>
              <a:rPr lang="en-US" sz="2000" b="1" dirty="0">
                <a:latin typeface="Arial" panose="020B0604020202020204" pitchFamily="34" charset="0"/>
                <a:cs typeface="Arial" panose="020B0604020202020204" pitchFamily="34" charset="0"/>
              </a:rPr>
              <a:t> : 	Data loss prevention refers to a set of tools and processes used to ensure that sensitive information is not lost, misused or accessed by unauthorized individuals. It can block the sharing and transfer of sensitive data outside the organization &amp; monitor the movement of data within or even outside the organization.</a:t>
            </a:r>
          </a:p>
        </p:txBody>
      </p:sp>
      <p:grpSp>
        <p:nvGrpSpPr>
          <p:cNvPr id="3" name="Group 2">
            <a:extLst>
              <a:ext uri="{FF2B5EF4-FFF2-40B4-BE49-F238E27FC236}">
                <a16:creationId xmlns:a16="http://schemas.microsoft.com/office/drawing/2014/main" id="{F0AA96D3-59DA-1948-9463-18BAB671F4B2}"/>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56EF44AE-61B9-6E51-5ED2-1B53CE789AA4}"/>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TO ACQUAINT THE CLASS ABOUT </a:t>
              </a:r>
            </a:p>
            <a:p>
              <a:pPr algn="ctr"/>
              <a:r>
                <a:rPr lang="en-US" sz="2800" b="1" u="sng" dirty="0">
                  <a:solidFill>
                    <a:schemeClr val="bg1"/>
                  </a:solidFill>
                  <a:latin typeface="Arial" panose="020B0604020202020204" pitchFamily="34" charset="0"/>
                  <a:cs typeface="Arial" panose="020B0604020202020204" pitchFamily="34" charset="0"/>
                </a:rPr>
                <a:t>THE ACSP 2023</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33034AC-366E-8677-53CF-16CBBA3D23B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C7475436-5B11-7E06-CDF9-CB515A781D3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225257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EC1E5-93EA-0F31-133E-65D1706297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13FC0B-09B4-025D-5DEF-BF8E4F5C73A3}"/>
              </a:ext>
            </a:extLst>
          </p:cNvPr>
          <p:cNvSpPr txBox="1"/>
          <p:nvPr/>
        </p:nvSpPr>
        <p:spPr>
          <a:xfrm>
            <a:off x="235366" y="1021154"/>
            <a:ext cx="8842852" cy="6036974"/>
          </a:xfrm>
          <a:prstGeom prst="rect">
            <a:avLst/>
          </a:prstGeom>
          <a:noFill/>
        </p:spPr>
        <p:txBody>
          <a:bodyPr wrap="square" rtlCol="0">
            <a:spAutoFit/>
          </a:bodyPr>
          <a:lstStyle/>
          <a:p>
            <a:pPr>
              <a:lnSpc>
                <a:spcPct val="150000"/>
              </a:lnSpc>
            </a:pPr>
            <a:r>
              <a:rPr lang="en-US" sz="2000" b="1" dirty="0">
                <a:solidFill>
                  <a:srgbClr val="0070C0"/>
                </a:solidFill>
                <a:latin typeface="Arial" panose="020B0604020202020204" pitchFamily="34" charset="0"/>
                <a:cs typeface="Arial" panose="020B0604020202020204" pitchFamily="34" charset="0"/>
              </a:rPr>
              <a:t>6. </a:t>
            </a:r>
            <a:r>
              <a:rPr lang="en-US" sz="2000" b="1" u="sng" dirty="0">
                <a:solidFill>
                  <a:srgbClr val="0070C0"/>
                </a:solidFill>
                <a:latin typeface="Arial" panose="020B0604020202020204" pitchFamily="34" charset="0"/>
                <a:cs typeface="Arial" panose="020B0604020202020204" pitchFamily="34" charset="0"/>
              </a:rPr>
              <a:t>SSL</a:t>
            </a:r>
            <a:r>
              <a:rPr lang="en-US" sz="2000" b="1" dirty="0">
                <a:solidFill>
                  <a:srgbClr val="0070C0"/>
                </a:solidFill>
                <a:latin typeface="Arial" panose="020B0604020202020204" pitchFamily="34" charset="0"/>
                <a:cs typeface="Arial" panose="020B0604020202020204" pitchFamily="34" charset="0"/>
              </a:rPr>
              <a:t> :</a:t>
            </a:r>
            <a:r>
              <a:rPr lang="en-US" sz="2000" dirty="0">
                <a:solidFill>
                  <a:srgbClr val="0070C0"/>
                </a:solidFill>
              </a:rPr>
              <a:t> 	</a:t>
            </a:r>
            <a:r>
              <a:rPr lang="en-US" sz="2000" b="1" dirty="0">
                <a:solidFill>
                  <a:srgbClr val="0070C0"/>
                </a:solidFill>
                <a:latin typeface="Arial" panose="020B0604020202020204" pitchFamily="34" charset="0"/>
                <a:cs typeface="Arial" panose="020B0604020202020204" pitchFamily="34" charset="0"/>
              </a:rPr>
              <a:t>Secure sockets layer is a security protocol used to establish an encrypted link between a web server and web browser. This ensures that all data passed between the server and browser remains private and secure. SSL is essential for protecting sensitive information such as login credentials, payment details and personal information during online transactions.</a:t>
            </a:r>
          </a:p>
          <a:p>
            <a:pPr>
              <a:lnSpc>
                <a:spcPct val="150000"/>
              </a:lnSpc>
            </a:pPr>
            <a:endParaRPr lang="en-US" sz="2000" b="1" dirty="0">
              <a:solidFill>
                <a:srgbClr val="0070C0"/>
              </a:solidFill>
              <a:latin typeface="Arial" panose="020B0604020202020204" pitchFamily="34" charset="0"/>
              <a:cs typeface="Arial" panose="020B0604020202020204" pitchFamily="34" charset="0"/>
            </a:endParaRPr>
          </a:p>
          <a:p>
            <a:pPr>
              <a:lnSpc>
                <a:spcPct val="150000"/>
              </a:lnSpc>
            </a:pPr>
            <a:r>
              <a:rPr lang="en-US" sz="2000" b="1" dirty="0">
                <a:solidFill>
                  <a:srgbClr val="FF0000"/>
                </a:solidFill>
                <a:latin typeface="Arial" panose="020B0604020202020204" pitchFamily="34" charset="0"/>
                <a:cs typeface="Arial" panose="020B0604020202020204" pitchFamily="34" charset="0"/>
              </a:rPr>
              <a:t>7.</a:t>
            </a:r>
            <a:r>
              <a:rPr lang="en-US" sz="2000" dirty="0">
                <a:solidFill>
                  <a:srgbClr val="FF0000"/>
                </a:solidFill>
              </a:rPr>
              <a:t> </a:t>
            </a:r>
            <a:r>
              <a:rPr lang="en-US" sz="2000" b="1" u="sng" dirty="0">
                <a:solidFill>
                  <a:srgbClr val="FF0000"/>
                </a:solidFill>
                <a:latin typeface="Arial" panose="020B0604020202020204" pitchFamily="34" charset="0"/>
                <a:cs typeface="Arial" panose="020B0604020202020204" pitchFamily="34" charset="0"/>
              </a:rPr>
              <a:t>SNMP</a:t>
            </a:r>
            <a:r>
              <a:rPr lang="en-US" sz="2000" dirty="0">
                <a:solidFill>
                  <a:srgbClr val="FF0000"/>
                </a:solidFill>
              </a:rPr>
              <a:t> :	 </a:t>
            </a:r>
            <a:r>
              <a:rPr lang="en-US" sz="2000" b="1" dirty="0">
                <a:solidFill>
                  <a:srgbClr val="FF0000"/>
                </a:solidFill>
                <a:latin typeface="Arial" panose="020B0604020202020204" pitchFamily="34" charset="0"/>
                <a:cs typeface="Arial" panose="020B0604020202020204" pitchFamily="34" charset="0"/>
              </a:rPr>
              <a:t>Simple network management protocol is a standard protocol used for managing and monitoring devices on a network. It enables network administrators to collect, organize and modify information about networked devices such as routers, switches, servers, printers and other connected hardware.</a:t>
            </a:r>
          </a:p>
          <a:p>
            <a:pPr>
              <a:lnSpc>
                <a:spcPct val="150000"/>
              </a:lnSpc>
            </a:pPr>
            <a:endParaRPr lang="en-IN" sz="2000" b="1" u="sng"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746CEDF-1EC8-7566-F06D-942BBAAEF5C3}"/>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36AFF799-D029-7A49-8759-B7A0B14C973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TO ACQUAINT THE CLASS ABOUT </a:t>
              </a:r>
            </a:p>
            <a:p>
              <a:pPr algn="ctr"/>
              <a:r>
                <a:rPr lang="en-US" sz="2800" b="1" u="sng" dirty="0">
                  <a:solidFill>
                    <a:schemeClr val="bg1"/>
                  </a:solidFill>
                  <a:latin typeface="Arial" panose="020B0604020202020204" pitchFamily="34" charset="0"/>
                  <a:cs typeface="Arial" panose="020B0604020202020204" pitchFamily="34" charset="0"/>
                </a:rPr>
                <a:t>THE ACSP 2023</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4C902F6-C9DC-2B0A-C68B-B1BD4F82EF2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0893A5E5-BDF2-7E65-9440-8D759DEEB0E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048818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26053" y="972958"/>
            <a:ext cx="8842852" cy="5552226"/>
          </a:xfrm>
          <a:prstGeom prst="rect">
            <a:avLst/>
          </a:prstGeom>
          <a:noFill/>
        </p:spPr>
        <p:txBody>
          <a:bodyPr wrap="square" rtlCol="0">
            <a:spAutoFit/>
          </a:bodyPr>
          <a:lstStyle/>
          <a:p>
            <a:pPr>
              <a:lnSpc>
                <a:spcPct val="180000"/>
              </a:lnSpc>
            </a:pPr>
            <a:r>
              <a:rPr lang="en-US" sz="2000" b="1" dirty="0">
                <a:latin typeface="Arial" panose="020B0604020202020204" pitchFamily="34" charset="0"/>
                <a:cs typeface="Arial" panose="020B0604020202020204" pitchFamily="34" charset="0"/>
              </a:rPr>
              <a:t>8. </a:t>
            </a:r>
            <a:r>
              <a:rPr lang="en-US" sz="2000" b="1" u="sng" dirty="0">
                <a:latin typeface="Arial" panose="020B0604020202020204" pitchFamily="34" charset="0"/>
                <a:cs typeface="Arial" panose="020B0604020202020204" pitchFamily="34" charset="0"/>
              </a:rPr>
              <a:t>SSH</a:t>
            </a:r>
            <a:r>
              <a:rPr lang="en-US" sz="2000" b="1" dirty="0">
                <a:latin typeface="Arial" panose="020B0604020202020204" pitchFamily="34" charset="0"/>
                <a:cs typeface="Arial" panose="020B0604020202020204" pitchFamily="34" charset="0"/>
              </a:rPr>
              <a:t> :	 Secure shell is a network protocol used for secure communication between two systems, typically a client and a server over an unsecured network. It provides a secure way to perform tasks such as logging into remote machines, executing commands and transferring files securely.</a:t>
            </a:r>
          </a:p>
          <a:p>
            <a:pPr>
              <a:lnSpc>
                <a:spcPct val="180000"/>
              </a:lnSpc>
            </a:pPr>
            <a:r>
              <a:rPr lang="en-US" sz="2000" b="1" dirty="0">
                <a:solidFill>
                  <a:srgbClr val="0070C0"/>
                </a:solidFill>
                <a:latin typeface="Arial" panose="020B0604020202020204" pitchFamily="34" charset="0"/>
                <a:cs typeface="Arial" panose="020B0604020202020204" pitchFamily="34" charset="0"/>
              </a:rPr>
              <a:t>9. </a:t>
            </a:r>
            <a:r>
              <a:rPr lang="en-US" sz="2000" b="1" u="sng" dirty="0">
                <a:solidFill>
                  <a:srgbClr val="0070C0"/>
                </a:solidFill>
                <a:latin typeface="Arial" panose="020B0604020202020204" pitchFamily="34" charset="0"/>
                <a:cs typeface="Arial" panose="020B0604020202020204" pitchFamily="34" charset="0"/>
              </a:rPr>
              <a:t>CCOSW</a:t>
            </a:r>
            <a:r>
              <a:rPr lang="en-US" sz="2000" b="1" dirty="0">
                <a:solidFill>
                  <a:srgbClr val="0070C0"/>
                </a:solidFill>
                <a:latin typeface="Arial" panose="020B0604020202020204" pitchFamily="34" charset="0"/>
                <a:cs typeface="Arial" panose="020B0604020202020204" pitchFamily="34" charset="0"/>
              </a:rPr>
              <a:t>:	</a:t>
            </a:r>
            <a:r>
              <a:rPr lang="en-US" sz="2000" dirty="0">
                <a:solidFill>
                  <a:srgbClr val="0070C0"/>
                </a:solidFill>
              </a:rPr>
              <a:t> </a:t>
            </a:r>
            <a:r>
              <a:rPr lang="en-US" sz="2000" b="1" dirty="0">
                <a:solidFill>
                  <a:srgbClr val="0070C0"/>
                </a:solidFill>
                <a:latin typeface="Arial" panose="020B0604020202020204" pitchFamily="34" charset="0"/>
                <a:cs typeface="Arial" panose="020B0604020202020204" pitchFamily="34" charset="0"/>
              </a:rPr>
              <a:t>The (command cyber operations and support wing) are specialized units being established to enhance the cybersecurity capabilities. These wings are designed to protect army’s </a:t>
            </a:r>
            <a:r>
              <a:rPr lang="en-US" sz="2000" b="1" dirty="0" err="1">
                <a:solidFill>
                  <a:srgbClr val="0070C0"/>
                </a:solidFill>
                <a:latin typeface="Arial" panose="020B0604020202020204" pitchFamily="34" charset="0"/>
                <a:cs typeface="Arial" panose="020B0604020202020204" pitchFamily="34" charset="0"/>
              </a:rPr>
              <a:t>comn</a:t>
            </a:r>
            <a:r>
              <a:rPr lang="en-US" sz="2000" b="1" dirty="0">
                <a:solidFill>
                  <a:srgbClr val="0070C0"/>
                </a:solidFill>
                <a:latin typeface="Arial" panose="020B0604020202020204" pitchFamily="34" charset="0"/>
                <a:cs typeface="Arial" panose="020B0604020202020204" pitchFamily="34" charset="0"/>
              </a:rPr>
              <a:t> system and safeguarding the network and enhancing the cybersecurity posture.</a:t>
            </a:r>
            <a:endParaRPr lang="en-IN" sz="2000" b="1" u="sng"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AE9FEE0-F92F-AB69-8D87-6B64BF191C5F}"/>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04785E5F-6FE5-1E6C-3A1D-3AF9EA9330F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TO ACQUAINT THE CLASS ABOUT </a:t>
              </a:r>
            </a:p>
            <a:p>
              <a:pPr algn="ctr"/>
              <a:r>
                <a:rPr lang="en-US" sz="2800" b="1" u="sng" dirty="0">
                  <a:solidFill>
                    <a:schemeClr val="bg1"/>
                  </a:solidFill>
                  <a:latin typeface="Arial" panose="020B0604020202020204" pitchFamily="34" charset="0"/>
                  <a:cs typeface="Arial" panose="020B0604020202020204" pitchFamily="34" charset="0"/>
                </a:rPr>
                <a:t>THE ACSP 2023</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FD6F50A-F768-749C-D594-EFBA34DE9A6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572EAFB6-3B46-3BB7-9563-B687A43871E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501373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150574" y="1029889"/>
            <a:ext cx="8842852" cy="4921284"/>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Dependence on foreign technology rather than using indigenous resources. This may result in supply chain poisoning or side channel attacks.</a:t>
            </a:r>
          </a:p>
          <a:p>
            <a:pPr marL="342900" indent="-342900">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Lack of adequate knowledge and awareness on cyber security aspects.</a:t>
            </a:r>
          </a:p>
          <a:p>
            <a:pPr marL="342900" indent="-342900">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Reliance on third party vendors for configuration of hardware and software.</a:t>
            </a:r>
          </a:p>
          <a:p>
            <a:pPr marL="342900"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Inadequate focus on cyber hygiene and policy compliance.</a:t>
            </a:r>
          </a:p>
        </p:txBody>
      </p:sp>
      <p:grpSp>
        <p:nvGrpSpPr>
          <p:cNvPr id="3" name="Group 2">
            <a:extLst>
              <a:ext uri="{FF2B5EF4-FFF2-40B4-BE49-F238E27FC236}">
                <a16:creationId xmlns:a16="http://schemas.microsoft.com/office/drawing/2014/main" id="{880A0840-A95E-6B35-AC5A-393B80EDE24A}"/>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C5909581-FF45-013D-26F9-6567AEF1D5FF}"/>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CHARACTERIZATION</a:t>
              </a:r>
            </a:p>
          </p:txBody>
        </p:sp>
        <p:pic>
          <p:nvPicPr>
            <p:cNvPr id="9" name="Picture 8">
              <a:extLst>
                <a:ext uri="{FF2B5EF4-FFF2-40B4-BE49-F238E27FC236}">
                  <a16:creationId xmlns:a16="http://schemas.microsoft.com/office/drawing/2014/main" id="{436C3C5D-7C75-A781-131C-EF1B6C4EED8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7B197187-D1A2-E074-E80E-8C34A8161EE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914798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CF407-84A5-9829-CF4F-F53C8A3A5F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B14D81-7B17-0583-BD69-30FA93E0B903}"/>
              </a:ext>
            </a:extLst>
          </p:cNvPr>
          <p:cNvSpPr txBox="1"/>
          <p:nvPr/>
        </p:nvSpPr>
        <p:spPr>
          <a:xfrm>
            <a:off x="150574" y="1029889"/>
            <a:ext cx="8842852" cy="3690177"/>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000" b="1" dirty="0">
                <a:solidFill>
                  <a:schemeClr val="tx1">
                    <a:lumMod val="95000"/>
                    <a:lumOff val="5000"/>
                  </a:schemeClr>
                </a:solidFill>
                <a:latin typeface="Arial" panose="020B0604020202020204" pitchFamily="34" charset="0"/>
                <a:cs typeface="Arial" panose="020B0604020202020204" pitchFamily="34" charset="0"/>
              </a:rPr>
              <a:t>Lack of adequate funds for procurement of licensed software and undue delays in procurement.</a:t>
            </a:r>
          </a:p>
          <a:p>
            <a:pPr marL="342900" indent="-342900">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Use of personal assets for exchange of official information and development of military mobile applications on Internet.</a:t>
            </a:r>
          </a:p>
          <a:p>
            <a:pPr marL="342900"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Utilisation of non-vetted/ open source applications for official purposes without proper sanitization.</a:t>
            </a:r>
            <a:endParaRPr lang="en-IN" sz="2000" b="1" u="sng"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84A25398-DF4F-1440-1DA1-C21BF764EAA9}"/>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E8B4B28C-8322-3CF3-69D4-B483A278050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CHARACTERIZATION</a:t>
              </a:r>
            </a:p>
          </p:txBody>
        </p:sp>
        <p:pic>
          <p:nvPicPr>
            <p:cNvPr id="9" name="Picture 8">
              <a:extLst>
                <a:ext uri="{FF2B5EF4-FFF2-40B4-BE49-F238E27FC236}">
                  <a16:creationId xmlns:a16="http://schemas.microsoft.com/office/drawing/2014/main" id="{597FB88B-C918-AA42-5B84-1EB3C6CB287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92D61E78-AC60-D6A4-C110-E18BD8E5C25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883582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BF6C10-89C3-D4B4-FAF7-324EB00CE666}"/>
              </a:ext>
            </a:extLst>
          </p:cNvPr>
          <p:cNvSpPr txBox="1"/>
          <p:nvPr/>
        </p:nvSpPr>
        <p:spPr>
          <a:xfrm>
            <a:off x="40640" y="934720"/>
            <a:ext cx="9022080" cy="5536837"/>
          </a:xfrm>
          <a:prstGeom prst="rect">
            <a:avLst/>
          </a:prstGeom>
          <a:noFill/>
        </p:spPr>
        <p:txBody>
          <a:bodyPr wrap="square" rtlCol="0">
            <a:spAutoFit/>
          </a:bodyPr>
          <a:lstStyle/>
          <a:p>
            <a:pPr marL="342900" indent="-342900">
              <a:lnSpc>
                <a:spcPct val="200000"/>
              </a:lnSpc>
              <a:buFont typeface="+mj-lt"/>
              <a:buAutoNum type="arabicPeriod"/>
            </a:pPr>
            <a:r>
              <a:rPr lang="en-US" sz="2000" b="1" u="sng" dirty="0">
                <a:solidFill>
                  <a:srgbClr val="FF0000"/>
                </a:solidFill>
                <a:latin typeface="Arial" panose="020B0604020202020204" pitchFamily="34" charset="0"/>
                <a:cs typeface="Arial" panose="020B0604020202020204" pitchFamily="34" charset="0"/>
              </a:rPr>
              <a:t>SECURITY CLEARANCE</a:t>
            </a:r>
            <a:r>
              <a:rPr lang="en-US" sz="2000" b="1" dirty="0">
                <a:solidFill>
                  <a:srgbClr val="FF0000"/>
                </a:solidFill>
                <a:latin typeface="Arial" panose="020B0604020202020204" pitchFamily="34" charset="0"/>
                <a:cs typeface="Arial" panose="020B0604020202020204" pitchFamily="34" charset="0"/>
              </a:rPr>
              <a:t> : A SOP based access control mechanism for civilian service providers/vendors/ Regional Engineers be followed. No vendor/ firm would be allowed to visit army establishments/ communication hubs/ office premises housing IT equipment unless security clearance by respective Intelligence branches is issued. Following shall be ensured: -</a:t>
            </a:r>
          </a:p>
          <a:p>
            <a:pPr marL="800100" lvl="1"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Security checks (as laid down by respective intelligence branch) for assets being handled by them. MI Directorate to lay down/ review the instructions on the subject. </a:t>
            </a:r>
          </a:p>
        </p:txBody>
      </p:sp>
      <p:grpSp>
        <p:nvGrpSpPr>
          <p:cNvPr id="8" name="Group 7">
            <a:extLst>
              <a:ext uri="{FF2B5EF4-FFF2-40B4-BE49-F238E27FC236}">
                <a16:creationId xmlns:a16="http://schemas.microsoft.com/office/drawing/2014/main" id="{7AC1B9C6-5882-62E2-C023-53F65C77F67A}"/>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AE81DB8D-7F7E-66DA-4A6A-2D8651078EC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1DF8A84-6956-4B87-28A8-10185DD47EF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F61BF095-22A4-561C-514F-7E14161A094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180849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A0D2F-05FB-1EDD-9632-BE725608ED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66EB3A-76F5-EF40-1C5F-3F30F4419598}"/>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2FEA333-29F1-09AA-EEE0-F28A66194FFF}"/>
              </a:ext>
            </a:extLst>
          </p:cNvPr>
          <p:cNvSpPr txBox="1"/>
          <p:nvPr/>
        </p:nvSpPr>
        <p:spPr>
          <a:xfrm>
            <a:off x="40640" y="934720"/>
            <a:ext cx="9022080" cy="5552226"/>
          </a:xfrm>
          <a:prstGeom prst="rect">
            <a:avLst/>
          </a:prstGeom>
          <a:noFill/>
        </p:spPr>
        <p:txBody>
          <a:bodyPr wrap="square" rtlCol="0">
            <a:spAutoFit/>
          </a:bodyPr>
          <a:lstStyle/>
          <a:p>
            <a:pPr marL="800100" lvl="1" indent="-342900">
              <a:lnSpc>
                <a:spcPct val="18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CISO/ Cyber Security officer to ensure access is provided to only those resources for which clearance has been obtained is provided. A log of activities/ changes carried out on ICT assets will be invariably maintained. </a:t>
            </a:r>
          </a:p>
          <a:p>
            <a:pPr marL="342900" lvl="1" indent="-342900">
              <a:lnSpc>
                <a:spcPct val="180000"/>
              </a:lnSpc>
              <a:buAutoNum type="arabicPeriod" startAt="2"/>
            </a:pPr>
            <a:r>
              <a:rPr lang="en-US" sz="2000" b="1" u="sng" dirty="0">
                <a:solidFill>
                  <a:srgbClr val="FF0000"/>
                </a:solidFill>
                <a:latin typeface="Arial" panose="020B0604020202020204" pitchFamily="34" charset="0"/>
                <a:cs typeface="Arial" panose="020B0604020202020204" pitchFamily="34" charset="0"/>
              </a:rPr>
              <a:t>ACCESS CONTROL</a:t>
            </a:r>
            <a:r>
              <a:rPr lang="en-US" sz="2000" dirty="0">
                <a:solidFill>
                  <a:srgbClr val="FF0000"/>
                </a:solidFill>
                <a:latin typeface="Arial" panose="020B0604020202020204" pitchFamily="34" charset="0"/>
                <a:cs typeface="Arial" panose="020B0604020202020204" pitchFamily="34" charset="0"/>
              </a:rPr>
              <a:t> :  </a:t>
            </a:r>
            <a:r>
              <a:rPr lang="en-US" sz="2000" b="1" dirty="0">
                <a:solidFill>
                  <a:srgbClr val="FF0000"/>
                </a:solidFill>
                <a:latin typeface="Arial" panose="020B0604020202020204" pitchFamily="34" charset="0"/>
                <a:cs typeface="Arial" panose="020B0604020202020204" pitchFamily="34" charset="0"/>
              </a:rPr>
              <a:t>Following aspects shall be ensured to control access 	to Indian Army 	critical IT assets/ office premises housing such assets 	to Vendors/ Third Party Collaboration: -</a:t>
            </a:r>
          </a:p>
          <a:p>
            <a:pPr marL="800100" lvl="2" indent="-342900">
              <a:lnSpc>
                <a:spcPct val="18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 The entry of third party/ Civil representatives to official premises for the purpose of accessing IT assets shall be allowed only after clearance from respective intelligence branches. </a:t>
            </a:r>
          </a:p>
        </p:txBody>
      </p:sp>
      <p:grpSp>
        <p:nvGrpSpPr>
          <p:cNvPr id="8" name="Group 7">
            <a:extLst>
              <a:ext uri="{FF2B5EF4-FFF2-40B4-BE49-F238E27FC236}">
                <a16:creationId xmlns:a16="http://schemas.microsoft.com/office/drawing/2014/main" id="{FADBED58-3BCD-2EED-65A7-BCD451638CC4}"/>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133A280D-6A84-B695-B9B6-F428EE500CC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5FE76F7-03C5-6F97-B267-1A6F1F058A2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D2AEF1F2-8019-2FA8-9C5C-31F39C7D4DB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28233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BF6C10-89C3-D4B4-FAF7-324EB00CE666}"/>
              </a:ext>
            </a:extLst>
          </p:cNvPr>
          <p:cNvSpPr txBox="1"/>
          <p:nvPr/>
        </p:nvSpPr>
        <p:spPr>
          <a:xfrm>
            <a:off x="40640" y="934720"/>
            <a:ext cx="9022080" cy="4305730"/>
          </a:xfrm>
          <a:prstGeom prst="rect">
            <a:avLst/>
          </a:prstGeom>
          <a:noFill/>
        </p:spPr>
        <p:txBody>
          <a:bodyPr wrap="square" rtlCol="0">
            <a:spAutoFit/>
          </a:bodyPr>
          <a:lstStyle/>
          <a:p>
            <a:pPr marL="800100" lvl="1"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Requisition for such clearance should clearly record the reason/ need for access to civilian representative. </a:t>
            </a:r>
          </a:p>
          <a:p>
            <a:pPr marL="800100" lvl="1"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All such entries will be recorded and will be allowed under supervision of the asset owner/ Cyber Security Officer. </a:t>
            </a:r>
          </a:p>
          <a:p>
            <a:pPr marL="800100" lvl="1"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The use of any external storage device by third party/ civil rep/ vendors will be prohibited, unless permitted by CISO.</a:t>
            </a:r>
          </a:p>
          <a:p>
            <a:pPr>
              <a:lnSpc>
                <a:spcPct val="200000"/>
              </a:lnSpc>
            </a:pPr>
            <a:endParaRPr lang="en-US" sz="2000" b="1" dirty="0">
              <a:solidFill>
                <a:srgbClr val="002060"/>
              </a:solidFill>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C23EE421-A3FF-C144-FB43-D1F7FC0D1E2B}"/>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01A5324E-BDDD-4FD8-A2FE-816CF9F7633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476918C-4CD4-A3CB-4EA6-B549A65BBD2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926220A9-F630-FB7D-E4C9-64A46459BE2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795386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83D61-F3C7-D12B-A512-5CC47BD86A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D9BE08-CD14-6DF0-DBBF-EC02E3FFF5F4}"/>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91C4A8B-37CA-0D8B-643F-C2479F3A2672}"/>
              </a:ext>
            </a:extLst>
          </p:cNvPr>
          <p:cNvSpPr txBox="1"/>
          <p:nvPr/>
        </p:nvSpPr>
        <p:spPr>
          <a:xfrm>
            <a:off x="40640" y="934720"/>
            <a:ext cx="9022080" cy="5775364"/>
          </a:xfrm>
          <a:prstGeom prst="rect">
            <a:avLst/>
          </a:prstGeom>
          <a:noFill/>
        </p:spPr>
        <p:txBody>
          <a:bodyPr wrap="square" rtlCol="0">
            <a:spAutoFit/>
          </a:bodyPr>
          <a:lstStyle/>
          <a:p>
            <a:pPr>
              <a:lnSpc>
                <a:spcPct val="170000"/>
              </a:lnSpc>
            </a:pPr>
            <a:r>
              <a:rPr lang="en-US" sz="2000" b="1" dirty="0">
                <a:solidFill>
                  <a:srgbClr val="FF0000"/>
                </a:solidFill>
                <a:latin typeface="Arial" panose="020B0604020202020204" pitchFamily="34" charset="0"/>
                <a:cs typeface="Arial" panose="020B0604020202020204" pitchFamily="34" charset="0"/>
              </a:rPr>
              <a:t>3. </a:t>
            </a:r>
            <a:r>
              <a:rPr lang="en-US" sz="2000" b="1" u="sng" dirty="0">
                <a:solidFill>
                  <a:srgbClr val="FF0000"/>
                </a:solidFill>
                <a:latin typeface="Arial" panose="020B0604020202020204" pitchFamily="34" charset="0"/>
                <a:cs typeface="Arial" panose="020B0604020202020204" pitchFamily="34" charset="0"/>
              </a:rPr>
              <a:t>NON-DISCLOSURE AGREEMENT (NDA)</a:t>
            </a:r>
            <a:r>
              <a:rPr lang="en-US" sz="2000" b="1" dirty="0">
                <a:solidFill>
                  <a:srgbClr val="FF0000"/>
                </a:solidFill>
                <a:latin typeface="Arial" panose="020B0604020202020204" pitchFamily="34" charset="0"/>
                <a:cs typeface="Arial" panose="020B0604020202020204" pitchFamily="34" charset="0"/>
              </a:rPr>
              <a:t> : NDA will be signed between the owner of the assets and the visiting/ resident Engineer stating official Indian Army data will not be shared with any </a:t>
            </a:r>
            <a:r>
              <a:rPr lang="en-US" sz="2000" b="1" dirty="0" err="1">
                <a:solidFill>
                  <a:srgbClr val="FF0000"/>
                </a:solidFill>
                <a:latin typeface="Arial" panose="020B0604020202020204" pitchFamily="34" charset="0"/>
                <a:cs typeface="Arial" panose="020B0604020202020204" pitchFamily="34" charset="0"/>
              </a:rPr>
              <a:t>unauthorised</a:t>
            </a:r>
            <a:r>
              <a:rPr lang="en-US" sz="2000" b="1" dirty="0">
                <a:solidFill>
                  <a:srgbClr val="FF0000"/>
                </a:solidFill>
                <a:latin typeface="Arial" panose="020B0604020202020204" pitchFamily="34" charset="0"/>
                <a:cs typeface="Arial" panose="020B0604020202020204" pitchFamily="34" charset="0"/>
              </a:rPr>
              <a:t> individual. Format for NDA will be promulgated by DG Signals/ respective Directorate. </a:t>
            </a:r>
          </a:p>
          <a:p>
            <a:pPr marL="742950" lvl="1" indent="-28575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No data/ logs shall be shared/ handed over to the third party, unless permitted by CISO. System logs of changes/ </a:t>
            </a:r>
            <a:r>
              <a:rPr lang="en-US" sz="2000" b="1" dirty="0" err="1">
                <a:latin typeface="Arial" panose="020B0604020202020204" pitchFamily="34" charset="0"/>
                <a:cs typeface="Arial" panose="020B0604020202020204" pitchFamily="34" charset="0"/>
              </a:rPr>
              <a:t>updation</a:t>
            </a:r>
            <a:r>
              <a:rPr lang="en-US" sz="2000" b="1" dirty="0">
                <a:latin typeface="Arial" panose="020B0604020202020204" pitchFamily="34" charset="0"/>
                <a:cs typeface="Arial" panose="020B0604020202020204" pitchFamily="34" charset="0"/>
              </a:rPr>
              <a:t> carried out during such events are to be recorded and perused/ verified by the owner/ custodian of these assets.</a:t>
            </a:r>
          </a:p>
          <a:p>
            <a:pPr marL="742950" lvl="1" indent="-28575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Any update/ patches handed over by the vendor shall be deployed only after sanitisation of the CD/DVD/Blue Ray disk.  </a:t>
            </a:r>
          </a:p>
        </p:txBody>
      </p:sp>
      <p:grpSp>
        <p:nvGrpSpPr>
          <p:cNvPr id="8" name="Group 7">
            <a:extLst>
              <a:ext uri="{FF2B5EF4-FFF2-40B4-BE49-F238E27FC236}">
                <a16:creationId xmlns:a16="http://schemas.microsoft.com/office/drawing/2014/main" id="{2ABE2BA9-0FF1-3229-DE95-CDB98B5B4809}"/>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DD677BBD-F7DC-4592-BCD3-45D568CEC60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3EC905C4-984D-6FEA-CD63-ECC3D874BAB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8609AC84-C94F-2177-8136-3DBFE97351C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454752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BF6C10-89C3-D4B4-FAF7-324EB00CE666}"/>
              </a:ext>
            </a:extLst>
          </p:cNvPr>
          <p:cNvSpPr txBox="1"/>
          <p:nvPr/>
        </p:nvSpPr>
        <p:spPr>
          <a:xfrm>
            <a:off x="40640" y="934720"/>
            <a:ext cx="9022080" cy="5575309"/>
          </a:xfrm>
          <a:prstGeom prst="rect">
            <a:avLst/>
          </a:prstGeom>
          <a:noFill/>
        </p:spPr>
        <p:txBody>
          <a:bodyPr wrap="square" rtlCol="0">
            <a:spAutoFit/>
          </a:bodyPr>
          <a:lstStyle/>
          <a:p>
            <a:pPr marL="800100" lvl="1"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NDA with vendors will be undertaken with requisite focus on protection of information against accidental, malicious or unauthorized access to information/ system or its modifications or release. </a:t>
            </a:r>
          </a:p>
          <a:p>
            <a:pPr marL="800100" lvl="1" indent="-342900">
              <a:lnSpc>
                <a:spcPct val="15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Visit to Data Centres/ Signal Centres/ Communication Hubs should be controlled as per policy in vogue, and the same will be duly recorded.</a:t>
            </a:r>
          </a:p>
          <a:p>
            <a:pPr marL="800100" lvl="1"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Internet connections should not be provided to the vendor until inescapable and if required should be provided under supervision. </a:t>
            </a:r>
          </a:p>
          <a:p>
            <a:pPr marL="800100" lvl="1"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Station level SOPs for streamlining access to vendors/ contractors, will be promulgated by formation Intelligence Branch. </a:t>
            </a:r>
          </a:p>
        </p:txBody>
      </p:sp>
      <p:grpSp>
        <p:nvGrpSpPr>
          <p:cNvPr id="8" name="Group 7">
            <a:extLst>
              <a:ext uri="{FF2B5EF4-FFF2-40B4-BE49-F238E27FC236}">
                <a16:creationId xmlns:a16="http://schemas.microsoft.com/office/drawing/2014/main" id="{261F3728-24B1-93D6-D389-501E01F97EB7}"/>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C7D67DE8-C152-03CA-72C2-6B71B5A2E65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D1ED7F8-6842-2C78-F2F2-2077337BD77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A37917D8-A5EB-A461-EAD8-01120DC0E34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945268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E0F32-81EB-4382-F9CD-2655E6ED47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CDE3C0-0765-131D-CE74-DD4F94D72F6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4F7BB1D-BE9A-D305-B046-9EECFE2DA233}"/>
              </a:ext>
            </a:extLst>
          </p:cNvPr>
          <p:cNvSpPr txBox="1"/>
          <p:nvPr/>
        </p:nvSpPr>
        <p:spPr>
          <a:xfrm>
            <a:off x="40640" y="934720"/>
            <a:ext cx="9022080" cy="5552226"/>
          </a:xfrm>
          <a:prstGeom prst="rect">
            <a:avLst/>
          </a:prstGeom>
          <a:noFill/>
        </p:spPr>
        <p:txBody>
          <a:bodyPr wrap="square" rtlCol="0">
            <a:spAutoFit/>
          </a:bodyPr>
          <a:lstStyle/>
          <a:p>
            <a:pPr marL="104775" lvl="1">
              <a:lnSpc>
                <a:spcPct val="180000"/>
              </a:lnSpc>
            </a:pPr>
            <a:r>
              <a:rPr lang="en-US" sz="2000" b="1" dirty="0">
                <a:solidFill>
                  <a:srgbClr val="FF0000"/>
                </a:solidFill>
                <a:latin typeface="Arial" panose="020B0604020202020204" pitchFamily="34" charset="0"/>
                <a:cs typeface="Arial" panose="020B0604020202020204" pitchFamily="34" charset="0"/>
              </a:rPr>
              <a:t>4. </a:t>
            </a:r>
            <a:r>
              <a:rPr lang="en-US" sz="2000" b="1" u="sng" dirty="0">
                <a:solidFill>
                  <a:srgbClr val="FF0000"/>
                </a:solidFill>
                <a:latin typeface="Arial" panose="020B0604020202020204" pitchFamily="34" charset="0"/>
                <a:cs typeface="Arial" panose="020B0604020202020204" pitchFamily="34" charset="0"/>
              </a:rPr>
              <a:t>ACCOUNTABILITY</a:t>
            </a:r>
            <a:r>
              <a:rPr lang="en-US" sz="2000" b="1" dirty="0">
                <a:solidFill>
                  <a:srgbClr val="FF0000"/>
                </a:solidFill>
                <a:latin typeface="Arial" panose="020B0604020202020204" pitchFamily="34" charset="0"/>
                <a:cs typeface="Arial" panose="020B0604020202020204" pitchFamily="34" charset="0"/>
              </a:rPr>
              <a:t> : In cases, wherein access to vendors to Indian Army IT assets/ information is authorized, following norms shall be ensured: - </a:t>
            </a:r>
          </a:p>
          <a:p>
            <a:pPr marL="847725" lvl="2" indent="-285750">
              <a:lnSpc>
                <a:spcPct val="18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Sign a Non-Disclosure Agreement. </a:t>
            </a:r>
            <a:endParaRPr lang="en-US" sz="2000" b="1" dirty="0">
              <a:latin typeface="Arial" panose="020B0604020202020204" pitchFamily="34" charset="0"/>
              <a:cs typeface="Arial" panose="020B0604020202020204" pitchFamily="34" charset="0"/>
            </a:endParaRPr>
          </a:p>
          <a:p>
            <a:pPr marL="847725" lvl="2" indent="-285750">
              <a:lnSpc>
                <a:spcPct val="18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Bound not to engage in any illegal activity which can affect the CIA triad or privacy of system &amp; information. </a:t>
            </a:r>
          </a:p>
          <a:p>
            <a:pPr marL="847725" lvl="2" indent="-285750">
              <a:lnSpc>
                <a:spcPct val="18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Should not download, attach, change, distribute, install any software or inappropriate content unless authorized.</a:t>
            </a:r>
          </a:p>
          <a:p>
            <a:pPr marL="803275" lvl="1" indent="-265113">
              <a:lnSpc>
                <a:spcPct val="18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Sanitize the data at Unit/ Formation/ Establishment </a:t>
            </a:r>
            <a:r>
              <a:rPr lang="en-US" sz="2000" b="1" dirty="0" err="1">
                <a:latin typeface="Arial" panose="020B0604020202020204" pitchFamily="34" charset="0"/>
                <a:cs typeface="Arial" panose="020B0604020202020204" pitchFamily="34" charset="0"/>
              </a:rPr>
              <a:t>Sanitisation</a:t>
            </a:r>
            <a:r>
              <a:rPr lang="en-US" sz="2000" b="1" dirty="0">
                <a:latin typeface="Arial" panose="020B0604020202020204" pitchFamily="34" charset="0"/>
                <a:cs typeface="Arial" panose="020B0604020202020204" pitchFamily="34" charset="0"/>
              </a:rPr>
              <a:t> Box before handing over.</a:t>
            </a:r>
          </a:p>
        </p:txBody>
      </p:sp>
      <p:grpSp>
        <p:nvGrpSpPr>
          <p:cNvPr id="8" name="Group 7">
            <a:extLst>
              <a:ext uri="{FF2B5EF4-FFF2-40B4-BE49-F238E27FC236}">
                <a16:creationId xmlns:a16="http://schemas.microsoft.com/office/drawing/2014/main" id="{F58A9FA0-BEEC-AA1F-9311-322EA4ED5658}"/>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874C6529-98C3-F6B9-E3D3-9A193E4BC28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FB8384F-635E-2EAF-1171-C557DCC4654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57B16E4D-E13D-1E41-98BE-155EAB28526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93607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BF6C10-89C3-D4B4-FAF7-324EB00CE666}"/>
              </a:ext>
            </a:extLst>
          </p:cNvPr>
          <p:cNvSpPr txBox="1"/>
          <p:nvPr/>
        </p:nvSpPr>
        <p:spPr>
          <a:xfrm>
            <a:off x="0" y="934720"/>
            <a:ext cx="8924132" cy="5552226"/>
          </a:xfrm>
          <a:prstGeom prst="rect">
            <a:avLst/>
          </a:prstGeom>
          <a:noFill/>
        </p:spPr>
        <p:txBody>
          <a:bodyPr wrap="square" rtlCol="0">
            <a:spAutoFit/>
          </a:bodyPr>
          <a:lstStyle/>
          <a:p>
            <a:pPr marL="800100" lvl="1" indent="-342900">
              <a:lnSpc>
                <a:spcPct val="18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Should not be found with unauthorized portable storage devices, or attempt to deactivate, reverse, disable or by-pass any security controls.</a:t>
            </a:r>
          </a:p>
          <a:p>
            <a:pPr marL="800100" lvl="1" indent="-342900">
              <a:lnSpc>
                <a:spcPct val="18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Remote/ online access shall not be provided to vendors/ firm representatives for any communication/ IT device/ network system, unless specified by CISO.</a:t>
            </a:r>
          </a:p>
          <a:p>
            <a:pPr marL="800100" lvl="1" indent="-342900">
              <a:lnSpc>
                <a:spcPct val="18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Patches/updates will be downloaded on central systems &amp; would be sanitized using antivirus before usage.</a:t>
            </a:r>
          </a:p>
          <a:p>
            <a:pPr marL="800100" lvl="1" indent="-342900">
              <a:lnSpc>
                <a:spcPct val="18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Standalone computer used for downloading should have requisite updated antivirus installed.</a:t>
            </a:r>
          </a:p>
        </p:txBody>
      </p:sp>
      <p:grpSp>
        <p:nvGrpSpPr>
          <p:cNvPr id="8" name="Group 7">
            <a:extLst>
              <a:ext uri="{FF2B5EF4-FFF2-40B4-BE49-F238E27FC236}">
                <a16:creationId xmlns:a16="http://schemas.microsoft.com/office/drawing/2014/main" id="{73E92C44-CEFA-5013-7194-5592DCC6B361}"/>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7AC0EA16-6A60-6FB7-0217-AE063B098C95}"/>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F432DFA-439B-EAAE-7DC9-9E9208B4AAD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83E9E75C-F0B4-EEFC-5AD1-536C2CB52E3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051108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BE47D-F933-66CB-4E95-D50FAAD9B1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884AE5-7CE4-DF57-F299-6B6848720F59}"/>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F494B8B-1DE6-727B-3B77-04C2767FC5B0}"/>
              </a:ext>
            </a:extLst>
          </p:cNvPr>
          <p:cNvSpPr txBox="1"/>
          <p:nvPr/>
        </p:nvSpPr>
        <p:spPr>
          <a:xfrm>
            <a:off x="60960" y="965200"/>
            <a:ext cx="9001760" cy="2459071"/>
          </a:xfrm>
          <a:prstGeom prst="rect">
            <a:avLst/>
          </a:prstGeom>
          <a:noFill/>
        </p:spPr>
        <p:txBody>
          <a:bodyPr wrap="square" rtlCol="0">
            <a:spAutoFit/>
          </a:bodyPr>
          <a:lstStyle/>
          <a:p>
            <a:pPr marL="800100" lvl="1"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Presentations from ADN should not be shared with vendor/foreigner's/ civilian’s laptop or personal asset.</a:t>
            </a:r>
          </a:p>
          <a:p>
            <a:pPr marL="800100" lvl="1"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Presentation by vendor/ foreigners/ civilians will not be uploaded on ADN unless cleared by CISO.</a:t>
            </a:r>
          </a:p>
        </p:txBody>
      </p:sp>
      <p:grpSp>
        <p:nvGrpSpPr>
          <p:cNvPr id="8" name="Group 7">
            <a:extLst>
              <a:ext uri="{FF2B5EF4-FFF2-40B4-BE49-F238E27FC236}">
                <a16:creationId xmlns:a16="http://schemas.microsoft.com/office/drawing/2014/main" id="{106C3537-37F0-CFA9-3540-248E3F4F1BC3}"/>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433C8360-CD4C-0AC0-C120-B93627B1CCF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THREAT PREVENTION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2300364-E5F8-3C58-BE43-30907F0C0B1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9733E3CA-1604-005C-EAC3-17A1E40D18B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20460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BF6C10-89C3-D4B4-FAF7-324EB00CE666}"/>
              </a:ext>
            </a:extLst>
          </p:cNvPr>
          <p:cNvSpPr txBox="1"/>
          <p:nvPr/>
        </p:nvSpPr>
        <p:spPr>
          <a:xfrm>
            <a:off x="-97948" y="953305"/>
            <a:ext cx="9022080" cy="707886"/>
          </a:xfrm>
          <a:prstGeom prst="rect">
            <a:avLst/>
          </a:prstGeom>
          <a:noFill/>
        </p:spPr>
        <p:txBody>
          <a:bodyPr wrap="square" rtlCol="0">
            <a:spAutoFit/>
          </a:bodyPr>
          <a:lstStyle/>
          <a:p>
            <a:pPr lvl="1" algn="ctr"/>
            <a:r>
              <a:rPr lang="en-US" sz="2000" b="1" u="sng" dirty="0">
                <a:solidFill>
                  <a:srgbClr val="FF0000"/>
                </a:solidFill>
                <a:latin typeface="Arial" panose="020B0604020202020204" pitchFamily="34" charset="0"/>
                <a:cs typeface="Arial" panose="020B0604020202020204" pitchFamily="34" charset="0"/>
              </a:rPr>
              <a:t>ORGANISATION AND RESPONIBILITIES</a:t>
            </a:r>
          </a:p>
          <a:p>
            <a:pPr lvl="1" algn="ctr"/>
            <a:r>
              <a:rPr lang="en-US" sz="2000" b="1" u="sng" dirty="0">
                <a:latin typeface="Arial" panose="020B0604020202020204" pitchFamily="34" charset="0"/>
                <a:cs typeface="Arial" panose="020B0604020202020204" pitchFamily="34" charset="0"/>
              </a:rPr>
              <a:t>CYBER SECURITY ORGANIZATION OF THE INDIAN ARMY</a:t>
            </a:r>
          </a:p>
        </p:txBody>
      </p:sp>
      <p:graphicFrame>
        <p:nvGraphicFramePr>
          <p:cNvPr id="13" name="Diagram 12">
            <a:extLst>
              <a:ext uri="{FF2B5EF4-FFF2-40B4-BE49-F238E27FC236}">
                <a16:creationId xmlns:a16="http://schemas.microsoft.com/office/drawing/2014/main" id="{9571FD9E-298E-D7BB-33FD-ADAB3B0A003B}"/>
              </a:ext>
            </a:extLst>
          </p:cNvPr>
          <p:cNvGraphicFramePr/>
          <p:nvPr>
            <p:extLst>
              <p:ext uri="{D42A27DB-BD31-4B8C-83A1-F6EECF244321}">
                <p14:modId xmlns:p14="http://schemas.microsoft.com/office/powerpoint/2010/main" val="294959141"/>
              </p:ext>
            </p:extLst>
          </p:nvPr>
        </p:nvGraphicFramePr>
        <p:xfrm>
          <a:off x="84693" y="2001520"/>
          <a:ext cx="4842668" cy="4003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Diagram 13">
            <a:extLst>
              <a:ext uri="{FF2B5EF4-FFF2-40B4-BE49-F238E27FC236}">
                <a16:creationId xmlns:a16="http://schemas.microsoft.com/office/drawing/2014/main" id="{D346B1EC-7EFF-3B15-1785-AFDC230B98CB}"/>
              </a:ext>
            </a:extLst>
          </p:cNvPr>
          <p:cNvGraphicFramePr/>
          <p:nvPr>
            <p:extLst>
              <p:ext uri="{D42A27DB-BD31-4B8C-83A1-F6EECF244321}">
                <p14:modId xmlns:p14="http://schemas.microsoft.com/office/powerpoint/2010/main" val="109900610"/>
              </p:ext>
            </p:extLst>
          </p:nvPr>
        </p:nvGraphicFramePr>
        <p:xfrm>
          <a:off x="4135259" y="3213370"/>
          <a:ext cx="4842668" cy="330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16" name="Straight Connector 15">
            <a:extLst>
              <a:ext uri="{FF2B5EF4-FFF2-40B4-BE49-F238E27FC236}">
                <a16:creationId xmlns:a16="http://schemas.microsoft.com/office/drawing/2014/main" id="{669BFCEA-F00A-B6AE-9747-17BF2F09D604}"/>
              </a:ext>
            </a:extLst>
          </p:cNvPr>
          <p:cNvCxnSpPr>
            <a:cxnSpLocks/>
          </p:cNvCxnSpPr>
          <p:nvPr/>
        </p:nvCxnSpPr>
        <p:spPr>
          <a:xfrm flipH="1">
            <a:off x="3352800" y="3863556"/>
            <a:ext cx="2528358"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D962E9-9734-BC60-83E4-7D3388A6EC64}"/>
              </a:ext>
            </a:extLst>
          </p:cNvPr>
          <p:cNvCxnSpPr>
            <a:cxnSpLocks/>
          </p:cNvCxnSpPr>
          <p:nvPr/>
        </p:nvCxnSpPr>
        <p:spPr>
          <a:xfrm>
            <a:off x="4312356" y="5904695"/>
            <a:ext cx="70517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791B167-7202-D407-92C5-578F0EFAA2BB}"/>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F78E4D0D-4E07-C3C7-D3C7-DE54FE563D28}"/>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474C30C-6469-1951-BC43-AF88DD9435D6}"/>
                </a:ext>
              </a:extLst>
            </p:cNvPr>
            <p:cNvPicPr>
              <a:picLocks noChangeAspect="1"/>
            </p:cNvPicPr>
            <p:nvPr/>
          </p:nvPicPr>
          <p:blipFill>
            <a:blip r:embed="rId1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4802661E-3B03-9EDC-D0A2-4263347816C9}"/>
                </a:ext>
              </a:extLst>
            </p:cNvPr>
            <p:cNvPicPr>
              <a:picLocks noChangeAspect="1"/>
            </p:cNvPicPr>
            <p:nvPr/>
          </p:nvPicPr>
          <p:blipFill>
            <a:blip r:embed="rId1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294116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55039"/>
            <a:ext cx="8704264" cy="5044394"/>
          </a:xfrm>
          <a:prstGeom prst="rect">
            <a:avLst/>
          </a:prstGeom>
          <a:noFill/>
        </p:spPr>
        <p:txBody>
          <a:bodyPr wrap="square" rtlCol="0">
            <a:spAutoFit/>
          </a:bodyPr>
          <a:lstStyle/>
          <a:p>
            <a:pPr>
              <a:lnSpc>
                <a:spcPct val="200000"/>
              </a:lnSpc>
            </a:pPr>
            <a:r>
              <a:rPr lang="en-US" sz="2400" b="1" u="sng" dirty="0">
                <a:solidFill>
                  <a:srgbClr val="FF0000"/>
                </a:solidFill>
                <a:latin typeface="Arial" panose="020B0604020202020204" pitchFamily="34" charset="0"/>
                <a:cs typeface="Arial" panose="020B0604020202020204" pitchFamily="34" charset="0"/>
              </a:rPr>
              <a:t>CYBER SECURITY FORUM (CSF)</a:t>
            </a:r>
            <a:r>
              <a:rPr lang="en-US" sz="2400" b="1"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 CSF is responsible for formulation and review of policies related to Cyber Security in the Indian Army. The charter of duties of the forum is as under :</a:t>
            </a:r>
          </a:p>
          <a:p>
            <a:pPr marL="742950" lvl="1" indent="-28575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Monitor implementation of Cyber Security Policy.</a:t>
            </a:r>
          </a:p>
          <a:p>
            <a:pPr marL="742950" lvl="1" indent="-28575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Review and recommend changes in Cyber Security Policy.</a:t>
            </a:r>
          </a:p>
          <a:p>
            <a:pPr marL="742950" lvl="1" indent="-285750">
              <a:lnSpc>
                <a:spcPct val="20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Review Cyber Security incidents</a:t>
            </a:r>
            <a:r>
              <a:rPr lang="en-IN" sz="2000" dirty="0"/>
              <a:t>. </a:t>
            </a:r>
            <a:endParaRPr lang="en-US" sz="2000" b="1" dirty="0">
              <a:latin typeface="Arial" panose="020B0604020202020204" pitchFamily="34" charset="0"/>
              <a:cs typeface="Arial" panose="020B0604020202020204" pitchFamily="34" charset="0"/>
            </a:endParaRPr>
          </a:p>
          <a:p>
            <a:pPr marL="742950" lvl="1" indent="-285750">
              <a:lnSpc>
                <a:spcPct val="2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Review vulnerability assessment. </a:t>
            </a:r>
            <a:endParaRPr lang="en-US" sz="2000" b="1" dirty="0">
              <a:latin typeface="Arial" panose="020B0604020202020204" pitchFamily="34" charset="0"/>
              <a:cs typeface="Arial" panose="020B0604020202020204" pitchFamily="34" charset="0"/>
            </a:endParaRPr>
          </a:p>
          <a:p>
            <a:pPr marL="742950" lvl="1" indent="-28575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Recommend major Cyber Security initiatives</a:t>
            </a:r>
            <a:endParaRPr lang="en-IN"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DE086846-5FB3-6ED9-04DD-2D3E2A6D6319}"/>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6CD43780-BA00-69EA-939D-35F4004DB2F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51D02446-1B45-0DEC-EDF5-9F031CB0615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F6273463-0B0F-CE94-23D6-16F673F0DD0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940451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219868" y="1021154"/>
            <a:ext cx="8704264" cy="5581015"/>
          </a:xfrm>
          <a:prstGeom prst="rect">
            <a:avLst/>
          </a:prstGeom>
          <a:noFill/>
        </p:spPr>
        <p:txBody>
          <a:bodyPr wrap="square" rtlCol="0">
            <a:spAutoFit/>
          </a:bodyPr>
          <a:lstStyle/>
          <a:p>
            <a:pPr marL="0" lvl="1">
              <a:lnSpc>
                <a:spcPct val="150000"/>
              </a:lnSpc>
            </a:pPr>
            <a:r>
              <a:rPr lang="en-US" b="1" u="sng" dirty="0">
                <a:solidFill>
                  <a:srgbClr val="FF0000"/>
                </a:solidFill>
                <a:latin typeface="Arial" panose="020B0604020202020204" pitchFamily="34" charset="0"/>
                <a:cs typeface="Arial" panose="020B0604020202020204" pitchFamily="34" charset="0"/>
              </a:rPr>
              <a:t>ADG MO (IW)</a:t>
            </a:r>
            <a:r>
              <a:rPr lang="en-US" b="1" dirty="0">
                <a:solidFill>
                  <a:srgbClr val="FF0000"/>
                </a:solidFill>
                <a:latin typeface="Arial" panose="020B0604020202020204" pitchFamily="34" charset="0"/>
                <a:cs typeface="Arial" panose="020B0604020202020204" pitchFamily="34" charset="0"/>
              </a:rPr>
              <a:t> : ADG MO (IW) is the CISO of the Indian Army. He is the nodal authority and single point of contact for all issues related to Cyber Security in Indian Army. CISO will be responsible for interaction with all national agencies and other services including HQ IDS in the Cyber Security domain. Role and charter of CISO of Indian Army is given as under:</a:t>
            </a:r>
          </a:p>
          <a:p>
            <a:pPr marL="742950" lvl="2"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Advise COAS/ VCOAS on cyber security issues</a:t>
            </a:r>
          </a:p>
          <a:p>
            <a:pPr marL="742950" lvl="2" indent="-285750">
              <a:lnSpc>
                <a:spcPct val="15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Promulgate exec dirns for all cyber security functionaries at AHQ, Comd &amp; lower fmns</a:t>
            </a:r>
          </a:p>
          <a:p>
            <a:pPr marL="742950" lvl="2" indent="-285750">
              <a:lnSpc>
                <a:spcPct val="1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Promulgate Cyber Incident Response plan to deal with Cyber crisis </a:t>
            </a:r>
          </a:p>
          <a:p>
            <a:pPr marL="742950" lvl="2"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Secure approval for emergent/ urgent procurement for info infra</a:t>
            </a:r>
            <a:r>
              <a:rPr lang="en-US" dirty="0">
                <a:latin typeface="Arial" panose="020B0604020202020204" pitchFamily="34" charset="0"/>
                <a:cs typeface="Arial" panose="020B0604020202020204" pitchFamily="34" charset="0"/>
              </a:rPr>
              <a:t> </a:t>
            </a:r>
            <a:endParaRPr lang="en-US" b="1" dirty="0">
              <a:solidFill>
                <a:srgbClr val="FF0000"/>
              </a:solidFill>
              <a:latin typeface="Arial" panose="020B0604020202020204" pitchFamily="34" charset="0"/>
              <a:cs typeface="Arial" panose="020B0604020202020204" pitchFamily="34" charset="0"/>
            </a:endParaRPr>
          </a:p>
          <a:p>
            <a:pPr marL="742950" lvl="2" indent="-285750">
              <a:lnSpc>
                <a:spcPct val="150000"/>
              </a:lnSpc>
              <a:buFont typeface="Arial" panose="020B0604020202020204" pitchFamily="34" charset="0"/>
              <a:buChar char="•"/>
            </a:pPr>
            <a:r>
              <a:rPr lang="en-IN" b="1" dirty="0">
                <a:solidFill>
                  <a:srgbClr val="0070C0"/>
                </a:solidFill>
                <a:latin typeface="Arial" panose="020B0604020202020204" pitchFamily="34" charset="0"/>
                <a:cs typeface="Arial" panose="020B0604020202020204" pitchFamily="34" charset="0"/>
              </a:rPr>
              <a:t>Ensure compliance to national &amp; defence regulation/ policies </a:t>
            </a:r>
            <a:r>
              <a:rPr lang="en-IN" b="1" dirty="0" err="1">
                <a:solidFill>
                  <a:srgbClr val="0070C0"/>
                </a:solidFill>
                <a:latin typeface="Arial" panose="020B0604020202020204" pitchFamily="34" charset="0"/>
                <a:cs typeface="Arial" panose="020B0604020202020204" pitchFamily="34" charset="0"/>
              </a:rPr>
              <a:t>wrt</a:t>
            </a:r>
            <a:r>
              <a:rPr lang="en-IN" b="1" dirty="0">
                <a:solidFill>
                  <a:srgbClr val="0070C0"/>
                </a:solidFill>
                <a:latin typeface="Arial" panose="020B0604020202020204" pitchFamily="34" charset="0"/>
                <a:cs typeface="Arial" panose="020B0604020202020204" pitchFamily="34" charset="0"/>
              </a:rPr>
              <a:t> Cyber security</a:t>
            </a:r>
            <a:endParaRPr lang="en-US" b="1" dirty="0">
              <a:solidFill>
                <a:srgbClr val="0070C0"/>
              </a:solidFill>
              <a:latin typeface="Arial" panose="020B0604020202020204" pitchFamily="34" charset="0"/>
              <a:cs typeface="Arial" panose="020B0604020202020204" pitchFamily="34" charset="0"/>
            </a:endParaRPr>
          </a:p>
          <a:p>
            <a:pPr marL="742950" lvl="2" indent="-285750">
              <a:lnSpc>
                <a:spcPct val="1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Represent IA &amp; interact with Regulatory body &amp; external agencies</a:t>
            </a:r>
          </a:p>
        </p:txBody>
      </p:sp>
      <p:grpSp>
        <p:nvGrpSpPr>
          <p:cNvPr id="3" name="Group 2">
            <a:extLst>
              <a:ext uri="{FF2B5EF4-FFF2-40B4-BE49-F238E27FC236}">
                <a16:creationId xmlns:a16="http://schemas.microsoft.com/office/drawing/2014/main" id="{38E6D5F2-4C55-B682-1E65-12C373508596}"/>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859BD869-E7AB-5275-436F-0740F7C9935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923A7A2-2E23-DFBE-EFEE-73B927A5104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E8A62671-62C9-F76A-E573-23B0A0890B1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30990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219868" y="1021154"/>
            <a:ext cx="8704264" cy="5677965"/>
          </a:xfrm>
          <a:prstGeom prst="rect">
            <a:avLst/>
          </a:prstGeom>
          <a:noFill/>
        </p:spPr>
        <p:txBody>
          <a:bodyPr wrap="square" rtlCol="0">
            <a:spAutoFit/>
          </a:bodyPr>
          <a:lstStyle/>
          <a:p>
            <a:pPr marL="0" lvl="1">
              <a:lnSpc>
                <a:spcPct val="170000"/>
              </a:lnSpc>
            </a:pPr>
            <a:r>
              <a:rPr lang="en-US" b="1" u="sng" dirty="0">
                <a:solidFill>
                  <a:srgbClr val="FF0000"/>
                </a:solidFill>
                <a:latin typeface="Arial" panose="020B0604020202020204" pitchFamily="34" charset="0"/>
                <a:cs typeface="Arial" panose="020B0604020202020204" pitchFamily="34" charset="0"/>
              </a:rPr>
              <a:t>ARMY CYBER GROUP</a:t>
            </a:r>
            <a:r>
              <a:rPr lang="en-US" b="1" dirty="0">
                <a:solidFill>
                  <a:srgbClr val="FF0000"/>
                </a:solidFill>
                <a:latin typeface="Arial" panose="020B0604020202020204" pitchFamily="34" charset="0"/>
                <a:cs typeface="Arial" panose="020B0604020202020204" pitchFamily="34" charset="0"/>
              </a:rPr>
              <a:t> :  Army Cyber Group is the primary agency for executing all cyber functions in the Indian Army on behalf of CISO. It will carry out the task of Cyber Security management of Indian Army and all units/ establishments in its Area of Responsibility, including establishment of credible domain awareness, forensic activities and audit activities. It will interact with Cyber Security organisations of other Services, Government Departments, CERT-India, Defence Research and Development Organisation (DRDO), industry and academia on all Cyber Security issues. Army Cyber Group will execute the following tasks:-</a:t>
            </a:r>
          </a:p>
          <a:p>
            <a:pPr marL="742950" lvl="2" indent="-285750">
              <a:lnSpc>
                <a:spcPct val="170000"/>
              </a:lnSpc>
              <a:buFont typeface="Arial" panose="020B0604020202020204" pitchFamily="34" charset="0"/>
              <a:buChar char="•"/>
            </a:pPr>
            <a:r>
              <a:rPr lang="en-US" b="1" dirty="0">
                <a:latin typeface="Arial" panose="020B0604020202020204" pitchFamily="34" charset="0"/>
                <a:cs typeface="Arial" panose="020B0604020202020204" pitchFamily="34" charset="0"/>
              </a:rPr>
              <a:t>Create CERT facilities &amp; issue reg alerts &amp; adversaries for cyber incident Mgt &amp; disaster rec plan</a:t>
            </a:r>
          </a:p>
          <a:p>
            <a:pPr marL="742950" lvl="2" indent="-285750">
              <a:lnSpc>
                <a:spcPct val="17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Est framework for cyber security audit </a:t>
            </a:r>
          </a:p>
        </p:txBody>
      </p:sp>
      <p:grpSp>
        <p:nvGrpSpPr>
          <p:cNvPr id="3" name="Group 2">
            <a:extLst>
              <a:ext uri="{FF2B5EF4-FFF2-40B4-BE49-F238E27FC236}">
                <a16:creationId xmlns:a16="http://schemas.microsoft.com/office/drawing/2014/main" id="{1077D0D0-EB4D-D3F4-E5A1-7E29F07E495A}"/>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977FC2AF-0767-578B-47AC-C8ADF3A5E424}"/>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E8D6F48-4DDE-720A-AF85-E4D586D889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2AC99A60-56ED-BCF5-7CB0-146B93CA05E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190121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219868" y="961904"/>
            <a:ext cx="8704264" cy="5719514"/>
          </a:xfrm>
          <a:prstGeom prst="rect">
            <a:avLst/>
          </a:prstGeom>
          <a:noFill/>
        </p:spPr>
        <p:txBody>
          <a:bodyPr wrap="square" rtlCol="0">
            <a:spAutoFit/>
          </a:bodyPr>
          <a:lstStyle/>
          <a:p>
            <a:pPr marL="742950" lvl="2" indent="-285750">
              <a:lnSpc>
                <a:spcPct val="1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Conduct external cyber security audits of all Comd HQ, </a:t>
            </a:r>
            <a:r>
              <a:rPr lang="en-US" b="1" dirty="0" err="1">
                <a:solidFill>
                  <a:srgbClr val="FF0000"/>
                </a:solidFill>
                <a:latin typeface="Arial" panose="020B0604020202020204" pitchFamily="34" charset="0"/>
                <a:cs typeface="Arial" panose="020B0604020202020204" pitchFamily="34" charset="0"/>
              </a:rPr>
              <a:t>Dtes</a:t>
            </a:r>
            <a:r>
              <a:rPr lang="en-US" b="1" dirty="0">
                <a:solidFill>
                  <a:srgbClr val="FF0000"/>
                </a:solidFill>
                <a:latin typeface="Arial" panose="020B0604020202020204" pitchFamily="34" charset="0"/>
                <a:cs typeface="Arial" panose="020B0604020202020204" pitchFamily="34" charset="0"/>
              </a:rPr>
              <a:t>/ Br at IHQ of MOD</a:t>
            </a:r>
          </a:p>
          <a:p>
            <a:pPr marL="742950" lvl="2"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Provide state-of-art CERT spy malware analysis &amp; cyber forensic service</a:t>
            </a:r>
            <a:endParaRPr lang="en-US" b="1" dirty="0">
              <a:solidFill>
                <a:srgbClr val="002060"/>
              </a:solidFill>
              <a:latin typeface="Arial" panose="020B0604020202020204" pitchFamily="34" charset="0"/>
              <a:cs typeface="Arial" panose="020B0604020202020204" pitchFamily="34" charset="0"/>
            </a:endParaRPr>
          </a:p>
          <a:p>
            <a:pPr marL="742950" lvl="2" indent="-285750">
              <a:lnSpc>
                <a:spcPct val="15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Coord with CCOSWs &amp; regional forensic labs for cyber defense ops &amp; forensic analysis. </a:t>
            </a:r>
          </a:p>
          <a:p>
            <a:pPr marL="742950" lvl="2" indent="-285750">
              <a:buFont typeface="Arial" panose="020B0604020202020204" pitchFamily="34" charset="0"/>
              <a:buChar char="•"/>
            </a:pPr>
            <a:endParaRPr lang="en-US" b="1" dirty="0">
              <a:solidFill>
                <a:srgbClr val="002060"/>
              </a:solidFill>
              <a:latin typeface="Arial" panose="020B0604020202020204" pitchFamily="34" charset="0"/>
              <a:cs typeface="Arial" panose="020B0604020202020204" pitchFamily="34" charset="0"/>
            </a:endParaRPr>
          </a:p>
          <a:p>
            <a:pPr marL="0" lvl="2"/>
            <a:r>
              <a:rPr lang="en-US" b="1" u="sng" dirty="0">
                <a:solidFill>
                  <a:srgbClr val="FF0000"/>
                </a:solidFill>
                <a:highlight>
                  <a:srgbClr val="FFFF00"/>
                </a:highlight>
                <a:latin typeface="Arial" panose="020B0604020202020204" pitchFamily="34" charset="0"/>
                <a:cs typeface="Arial" panose="020B0604020202020204" pitchFamily="34" charset="0"/>
              </a:rPr>
              <a:t>DG SIGNALS</a:t>
            </a:r>
            <a:r>
              <a:rPr lang="en-US" b="1" dirty="0">
                <a:solidFill>
                  <a:srgbClr val="FF0000"/>
                </a:solidFill>
                <a:latin typeface="Arial" panose="020B0604020202020204" pitchFamily="34" charset="0"/>
                <a:cs typeface="Arial" panose="020B0604020202020204" pitchFamily="34" charset="0"/>
              </a:rPr>
              <a:t>: DG Signals is responsible for the management ADN and will be accountable for the following aspects related to the security of ADN: - </a:t>
            </a:r>
          </a:p>
          <a:p>
            <a:pPr marL="0" lvl="2"/>
            <a:endParaRPr lang="en-US" b="1" dirty="0">
              <a:solidFill>
                <a:srgbClr val="FF0000"/>
              </a:solidFill>
              <a:latin typeface="Arial" panose="020B0604020202020204" pitchFamily="34" charset="0"/>
              <a:cs typeface="Arial" panose="020B0604020202020204" pitchFamily="34" charset="0"/>
            </a:endParaRPr>
          </a:p>
          <a:p>
            <a:pPr marL="742950" lvl="3" indent="-285750">
              <a:lnSpc>
                <a:spcPct val="150000"/>
              </a:lnSpc>
              <a:buFont typeface="Arial" panose="020B0604020202020204" pitchFamily="34" charset="0"/>
              <a:buChar char="•"/>
            </a:pPr>
            <a:r>
              <a:rPr lang="en-US" b="1" dirty="0">
                <a:solidFill>
                  <a:schemeClr val="tx1">
                    <a:lumMod val="85000"/>
                    <a:lumOff val="15000"/>
                  </a:schemeClr>
                </a:solidFill>
                <a:latin typeface="Arial" panose="020B0604020202020204" pitchFamily="34" charset="0"/>
                <a:cs typeface="Arial" panose="020B0604020202020204" pitchFamily="34" charset="0"/>
              </a:rPr>
              <a:t>Est &amp; op Central &amp; Regional NOC &amp; SOCs for mgt &amp; security of ADN </a:t>
            </a:r>
          </a:p>
          <a:p>
            <a:pPr marL="742950" lvl="3" indent="-285750">
              <a:lnSpc>
                <a:spcPct val="15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Bandwidth mgt &amp; IP address mgt on ADN</a:t>
            </a:r>
          </a:p>
          <a:p>
            <a:pPr marL="742950" lvl="3" indent="-285750">
              <a:lnSpc>
                <a:spcPct val="150000"/>
              </a:lnSpc>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Central implementation &amp; administration of security &amp; </a:t>
            </a:r>
            <a:r>
              <a:rPr lang="en-US" b="1" dirty="0" err="1">
                <a:solidFill>
                  <a:srgbClr val="FF0000"/>
                </a:solidFill>
                <a:latin typeface="Arial" panose="020B0604020202020204" pitchFamily="34" charset="0"/>
                <a:cs typeface="Arial" panose="020B0604020202020204" pitchFamily="34" charset="0"/>
              </a:rPr>
              <a:t>updations</a:t>
            </a:r>
            <a:r>
              <a:rPr lang="en-US" b="1" dirty="0">
                <a:solidFill>
                  <a:srgbClr val="FF0000"/>
                </a:solidFill>
                <a:latin typeface="Arial" panose="020B0604020202020204" pitchFamily="34" charset="0"/>
                <a:cs typeface="Arial" panose="020B0604020202020204" pitchFamily="34" charset="0"/>
              </a:rPr>
              <a:t> of software patches</a:t>
            </a:r>
          </a:p>
          <a:p>
            <a:pPr marL="742950" lvl="3" indent="-285750">
              <a:lnSpc>
                <a:spcPct val="150000"/>
              </a:lnSpc>
              <a:buFont typeface="Arial" panose="020B0604020202020204" pitchFamily="34" charset="0"/>
              <a:buChar char="•"/>
            </a:pPr>
            <a:r>
              <a:rPr lang="en-US" b="1" dirty="0">
                <a:solidFill>
                  <a:schemeClr val="tx1">
                    <a:lumMod val="85000"/>
                    <a:lumOff val="15000"/>
                  </a:schemeClr>
                </a:solidFill>
                <a:latin typeface="Arial" panose="020B0604020202020204" pitchFamily="34" charset="0"/>
                <a:cs typeface="Arial" panose="020B0604020202020204" pitchFamily="34" charset="0"/>
              </a:rPr>
              <a:t>Provide real time SOC feed to ACG &amp; CCOSW</a:t>
            </a:r>
          </a:p>
        </p:txBody>
      </p:sp>
      <p:grpSp>
        <p:nvGrpSpPr>
          <p:cNvPr id="3" name="Group 2">
            <a:extLst>
              <a:ext uri="{FF2B5EF4-FFF2-40B4-BE49-F238E27FC236}">
                <a16:creationId xmlns:a16="http://schemas.microsoft.com/office/drawing/2014/main" id="{3B72CEA6-28B1-CE17-94AE-92C8D210E5EB}"/>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8342B3BA-6C7E-AC56-564B-F8A8CF090BC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08A4C934-F2D6-3D17-2680-6C1EB35F429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6C7DB57C-563B-CDC4-1D0D-5B0C9A523AC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192871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93384" y="1021154"/>
            <a:ext cx="9456104" cy="3074624"/>
          </a:xfrm>
          <a:prstGeom prst="rect">
            <a:avLst/>
          </a:prstGeom>
          <a:noFill/>
        </p:spPr>
        <p:txBody>
          <a:bodyPr wrap="square" rtlCol="0">
            <a:spAutoFit/>
          </a:bodyPr>
          <a:lstStyle/>
          <a:p>
            <a:pPr marL="742950" lvl="2" indent="-285750">
              <a:lnSpc>
                <a:spcPct val="20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Est, op &amp; maintain Central Data Centre (CDC) &amp; Regional data centre (RDC).</a:t>
            </a:r>
          </a:p>
          <a:p>
            <a:pPr marL="742950" lvl="2" indent="-28575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Ensure compliance to CCMP &amp; intimate any incident on ADN to CERT Army.</a:t>
            </a:r>
            <a:endParaRPr lang="en-IN" sz="2000" b="1" dirty="0">
              <a:solidFill>
                <a:srgbClr val="FF0000"/>
              </a:solidFill>
              <a:latin typeface="Arial" panose="020B0604020202020204" pitchFamily="34" charset="0"/>
              <a:cs typeface="Arial" panose="020B0604020202020204" pitchFamily="34" charset="0"/>
            </a:endParaRPr>
          </a:p>
          <a:p>
            <a:pPr marL="742950" lvl="2" indent="-28575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Est &amp; mgt of Internet SOC to act as first responder.</a:t>
            </a:r>
          </a:p>
        </p:txBody>
      </p:sp>
      <p:grpSp>
        <p:nvGrpSpPr>
          <p:cNvPr id="3" name="Group 2">
            <a:extLst>
              <a:ext uri="{FF2B5EF4-FFF2-40B4-BE49-F238E27FC236}">
                <a16:creationId xmlns:a16="http://schemas.microsoft.com/office/drawing/2014/main" id="{20132699-1F5E-CCF6-CF39-F0CB482CDC72}"/>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790A37CD-A7B3-DB5C-4E14-FC1CFC9241A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B18EDDF-7E43-0AD3-AFF7-BB3A743B414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D6CC0D0F-98BF-B2ED-5970-23EE53751B6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598404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BF6C10-89C3-D4B4-FAF7-324EB00CE666}"/>
              </a:ext>
            </a:extLst>
          </p:cNvPr>
          <p:cNvSpPr txBox="1"/>
          <p:nvPr/>
        </p:nvSpPr>
        <p:spPr>
          <a:xfrm>
            <a:off x="-97948" y="1031314"/>
            <a:ext cx="9022080" cy="461665"/>
          </a:xfrm>
          <a:prstGeom prst="rect">
            <a:avLst/>
          </a:prstGeom>
          <a:noFill/>
        </p:spPr>
        <p:txBody>
          <a:bodyPr wrap="square" rtlCol="0">
            <a:spAutoFit/>
          </a:bodyPr>
          <a:lstStyle/>
          <a:p>
            <a:pPr lvl="1" algn="ctr"/>
            <a:r>
              <a:rPr lang="en-US" sz="2400" b="1" u="sng" dirty="0">
                <a:solidFill>
                  <a:srgbClr val="FF0000"/>
                </a:solidFill>
                <a:latin typeface="Arial" panose="020B0604020202020204" pitchFamily="34" charset="0"/>
                <a:cs typeface="Arial" panose="020B0604020202020204" pitchFamily="34" charset="0"/>
              </a:rPr>
              <a:t>CYBER SECURITY ORG AT FMN/UNIT/EST LEVEL</a:t>
            </a:r>
            <a:r>
              <a:rPr lang="en-US" sz="2000" b="1" dirty="0">
                <a:latin typeface="Arial" panose="020B0604020202020204" pitchFamily="34" charset="0"/>
                <a:cs typeface="Arial" panose="020B0604020202020204" pitchFamily="34" charset="0"/>
              </a:rPr>
              <a:t> </a:t>
            </a:r>
          </a:p>
        </p:txBody>
      </p:sp>
      <p:graphicFrame>
        <p:nvGraphicFramePr>
          <p:cNvPr id="13" name="Diagram 12">
            <a:extLst>
              <a:ext uri="{FF2B5EF4-FFF2-40B4-BE49-F238E27FC236}">
                <a16:creationId xmlns:a16="http://schemas.microsoft.com/office/drawing/2014/main" id="{9571FD9E-298E-D7BB-33FD-ADAB3B0A003B}"/>
              </a:ext>
            </a:extLst>
          </p:cNvPr>
          <p:cNvGraphicFramePr/>
          <p:nvPr>
            <p:extLst>
              <p:ext uri="{D42A27DB-BD31-4B8C-83A1-F6EECF244321}">
                <p14:modId xmlns:p14="http://schemas.microsoft.com/office/powerpoint/2010/main" val="3268691277"/>
              </p:ext>
            </p:extLst>
          </p:nvPr>
        </p:nvGraphicFramePr>
        <p:xfrm>
          <a:off x="89772" y="1503139"/>
          <a:ext cx="8964455" cy="5203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8" name="Group 7">
            <a:extLst>
              <a:ext uri="{FF2B5EF4-FFF2-40B4-BE49-F238E27FC236}">
                <a16:creationId xmlns:a16="http://schemas.microsoft.com/office/drawing/2014/main" id="{47A31592-235C-4D4B-3BDF-9A2563081303}"/>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0E3739C9-5848-529C-3E3C-1D737864F07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0227C5E7-4564-83E9-AEB6-A5151C4EE2B8}"/>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7E3F19FA-7FAC-7C77-3302-A9B63930F611}"/>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60862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8704264" cy="5279843"/>
          </a:xfrm>
          <a:prstGeom prst="rect">
            <a:avLst/>
          </a:prstGeom>
          <a:noFill/>
        </p:spPr>
        <p:txBody>
          <a:bodyPr wrap="square" rtlCol="0">
            <a:spAutoFit/>
          </a:bodyPr>
          <a:lstStyle/>
          <a:p>
            <a:pPr marL="182563" lvl="2">
              <a:lnSpc>
                <a:spcPct val="170000"/>
              </a:lnSpc>
            </a:pPr>
            <a:r>
              <a:rPr lang="en-US" sz="2400" b="1" u="sng" dirty="0">
                <a:solidFill>
                  <a:srgbClr val="FF0000"/>
                </a:solidFill>
                <a:latin typeface="Arial" panose="020B0604020202020204" pitchFamily="34" charset="0"/>
                <a:cs typeface="Arial" panose="020B0604020202020204" pitchFamily="34" charset="0"/>
              </a:rPr>
              <a:t>COMMANDER/HEAD</a:t>
            </a:r>
            <a:r>
              <a:rPr lang="en-US" sz="2400" b="1" dirty="0">
                <a:solidFill>
                  <a:srgbClr val="FF0000"/>
                </a:solidFill>
                <a:latin typeface="Arial" panose="020B0604020202020204" pitchFamily="34" charset="0"/>
                <a:cs typeface="Arial" panose="020B0604020202020204" pitchFamily="34" charset="0"/>
              </a:rPr>
              <a:t>:- </a:t>
            </a:r>
          </a:p>
          <a:p>
            <a:pPr marL="982663"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Actions by Cdr/ head of Est</a:t>
            </a:r>
            <a:endParaRPr lang="en-US" sz="2000" b="1" dirty="0">
              <a:solidFill>
                <a:srgbClr val="002060"/>
              </a:solidFill>
              <a:latin typeface="Arial" panose="020B0604020202020204" pitchFamily="34" charset="0"/>
              <a:cs typeface="Arial" panose="020B0604020202020204" pitchFamily="34" charset="0"/>
            </a:endParaRPr>
          </a:p>
          <a:p>
            <a:pPr marL="982663" lvl="3" indent="-342900">
              <a:lnSpc>
                <a:spcPct val="15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Ensure implementation of ACSP </a:t>
            </a:r>
            <a:endParaRPr lang="en-US" sz="2000" b="1" dirty="0">
              <a:solidFill>
                <a:srgbClr val="0070C0"/>
              </a:solidFill>
              <a:latin typeface="Arial" panose="020B0604020202020204" pitchFamily="34" charset="0"/>
              <a:cs typeface="Arial" panose="020B0604020202020204" pitchFamily="34" charset="0"/>
            </a:endParaRPr>
          </a:p>
          <a:p>
            <a:pPr marL="982663"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Est a Cyber security org with well defined resp</a:t>
            </a:r>
          </a:p>
          <a:p>
            <a:pPr marL="982663"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Define ownership &amp; resp for protection of all ICT Assets</a:t>
            </a:r>
            <a:endParaRPr lang="en-US" sz="2000" b="1" dirty="0">
              <a:solidFill>
                <a:srgbClr val="002060"/>
              </a:solidFill>
              <a:latin typeface="Arial" panose="020B0604020202020204" pitchFamily="34" charset="0"/>
              <a:cs typeface="Arial" panose="020B0604020202020204" pitchFamily="34" charset="0"/>
            </a:endParaRPr>
          </a:p>
          <a:p>
            <a:pPr marL="982663" lvl="3"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Formulation &amp; implementation of SOPs on info security &amp; info assets in AOR</a:t>
            </a:r>
          </a:p>
          <a:p>
            <a:pPr marL="982663"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Ensure conduct of periodic Internal &amp; external Cyber security audits</a:t>
            </a:r>
          </a:p>
          <a:p>
            <a:pPr marL="982663" lvl="3" indent="-342900">
              <a:lnSpc>
                <a:spcPct val="150000"/>
              </a:lnSpc>
              <a:buFont typeface="Arial" panose="020B0604020202020204" pitchFamily="34" charset="0"/>
              <a:buChar char="•"/>
            </a:pPr>
            <a:r>
              <a:rPr lang="en-US" sz="2000" b="1" dirty="0" err="1">
                <a:latin typeface="Arial" panose="020B0604020202020204" pitchFamily="34" charset="0"/>
                <a:cs typeface="Arial" panose="020B0604020202020204" pitchFamily="34" charset="0"/>
              </a:rPr>
              <a:t>Trg</a:t>
            </a:r>
            <a:r>
              <a:rPr lang="en-US" sz="2000" b="1" dirty="0">
                <a:latin typeface="Arial" panose="020B0604020202020204" pitchFamily="34" charset="0"/>
                <a:cs typeface="Arial" panose="020B0604020202020204" pitchFamily="34" charset="0"/>
              </a:rPr>
              <a:t> &amp; awareness of all cyber security reqmts </a:t>
            </a:r>
            <a:endParaRPr lang="en-US" sz="2000" b="1" dirty="0">
              <a:solidFill>
                <a:srgbClr val="002060"/>
              </a:solidFill>
              <a:latin typeface="Arial" panose="020B0604020202020204" pitchFamily="34" charset="0"/>
              <a:cs typeface="Arial" panose="020B0604020202020204" pitchFamily="34" charset="0"/>
            </a:endParaRPr>
          </a:p>
          <a:p>
            <a:pPr marL="982663" lvl="3"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Practice CCMP as per </a:t>
            </a:r>
            <a:r>
              <a:rPr lang="en-US" sz="2000" b="1" dirty="0" err="1">
                <a:solidFill>
                  <a:srgbClr val="0070C0"/>
                </a:solidFill>
                <a:latin typeface="Arial" panose="020B0604020202020204" pitchFamily="34" charset="0"/>
                <a:cs typeface="Arial" panose="020B0604020202020204" pitchFamily="34" charset="0"/>
              </a:rPr>
              <a:t>instr</a:t>
            </a:r>
            <a:r>
              <a:rPr lang="en-US" sz="2000" b="1" dirty="0">
                <a:solidFill>
                  <a:srgbClr val="0070C0"/>
                </a:solidFill>
                <a:latin typeface="Arial" panose="020B0604020202020204" pitchFamily="34" charset="0"/>
                <a:cs typeface="Arial" panose="020B0604020202020204" pitchFamily="34" charset="0"/>
              </a:rPr>
              <a:t> from DGMO/ MO – 12 </a:t>
            </a:r>
          </a:p>
        </p:txBody>
      </p:sp>
      <p:grpSp>
        <p:nvGrpSpPr>
          <p:cNvPr id="3" name="Group 2">
            <a:extLst>
              <a:ext uri="{FF2B5EF4-FFF2-40B4-BE49-F238E27FC236}">
                <a16:creationId xmlns:a16="http://schemas.microsoft.com/office/drawing/2014/main" id="{2149A656-3D78-E3A7-4202-0BC06A3FE52B}"/>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6508F3ED-BD68-C814-475B-920094CA455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9D57756-C926-E240-22C2-487D7E185B5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14E462AA-3CDB-A5C5-E126-C6D01148816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154019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8704264" cy="5076711"/>
          </a:xfrm>
          <a:prstGeom prst="rect">
            <a:avLst/>
          </a:prstGeom>
          <a:noFill/>
        </p:spPr>
        <p:txBody>
          <a:bodyPr wrap="square" rtlCol="0">
            <a:spAutoFit/>
          </a:bodyPr>
          <a:lstStyle/>
          <a:p>
            <a:pPr marL="182563" lvl="2">
              <a:lnSpc>
                <a:spcPct val="170000"/>
              </a:lnSpc>
            </a:pPr>
            <a:r>
              <a:rPr lang="en-US" sz="2400" b="1" u="sng" dirty="0">
                <a:solidFill>
                  <a:srgbClr val="FF0000"/>
                </a:solidFill>
                <a:latin typeface="Arial" panose="020B0604020202020204" pitchFamily="34" charset="0"/>
                <a:cs typeface="Arial" panose="020B0604020202020204" pitchFamily="34" charset="0"/>
              </a:rPr>
              <a:t>CISO</a:t>
            </a:r>
            <a:r>
              <a:rPr lang="en-US" sz="2400" b="1" dirty="0">
                <a:solidFill>
                  <a:srgbClr val="FF0000"/>
                </a:solidFill>
                <a:latin typeface="Arial" panose="020B0604020202020204" pitchFamily="34" charset="0"/>
                <a:cs typeface="Arial" panose="020B0604020202020204" pitchFamily="34" charset="0"/>
              </a:rPr>
              <a:t> :</a:t>
            </a:r>
          </a:p>
          <a:p>
            <a:pPr marL="525463" lvl="2" indent="-342900">
              <a:lnSpc>
                <a:spcPct val="170000"/>
              </a:lnSpc>
              <a:buFont typeface="Arial" panose="020B0604020202020204" pitchFamily="34" charset="0"/>
              <a:buChar char="•"/>
            </a:pPr>
            <a:r>
              <a:rPr lang="en-US" sz="2400" b="1" u="sng" dirty="0">
                <a:latin typeface="Arial" panose="020B0604020202020204" pitchFamily="34" charset="0"/>
                <a:cs typeface="Arial" panose="020B0604020202020204" pitchFamily="34" charset="0"/>
              </a:rPr>
              <a:t>Chater</a:t>
            </a:r>
          </a:p>
          <a:p>
            <a:pPr marL="982663" lvl="3"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Resp to Cdr/ head of </a:t>
            </a:r>
            <a:r>
              <a:rPr lang="en-US" sz="2000" b="1" dirty="0" err="1">
                <a:solidFill>
                  <a:srgbClr val="0070C0"/>
                </a:solidFill>
                <a:latin typeface="Arial" panose="020B0604020202020204" pitchFamily="34" charset="0"/>
                <a:cs typeface="Arial" panose="020B0604020202020204" pitchFamily="34" charset="0"/>
              </a:rPr>
              <a:t>est</a:t>
            </a:r>
            <a:r>
              <a:rPr lang="en-US" sz="2000" b="1" dirty="0">
                <a:solidFill>
                  <a:srgbClr val="0070C0"/>
                </a:solidFill>
                <a:latin typeface="Arial" panose="020B0604020202020204" pitchFamily="34" charset="0"/>
                <a:cs typeface="Arial" panose="020B0604020202020204" pitchFamily="34" charset="0"/>
              </a:rPr>
              <a:t> for ensuring all aspects of CS</a:t>
            </a:r>
          </a:p>
          <a:p>
            <a:pPr marL="982663"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Advisor to Cdr/ Head of </a:t>
            </a:r>
            <a:r>
              <a:rPr lang="en-US" sz="2000" b="1" dirty="0" err="1">
                <a:solidFill>
                  <a:srgbClr val="FF0000"/>
                </a:solidFill>
                <a:latin typeface="Arial" panose="020B0604020202020204" pitchFamily="34" charset="0"/>
                <a:cs typeface="Arial" panose="020B0604020202020204" pitchFamily="34" charset="0"/>
              </a:rPr>
              <a:t>est</a:t>
            </a:r>
            <a:r>
              <a:rPr lang="en-US" sz="2000" b="1" dirty="0">
                <a:solidFill>
                  <a:srgbClr val="FF0000"/>
                </a:solidFill>
                <a:latin typeface="Arial" panose="020B0604020202020204" pitchFamily="34" charset="0"/>
                <a:cs typeface="Arial" panose="020B0604020202020204" pitchFamily="34" charset="0"/>
              </a:rPr>
              <a:t> </a:t>
            </a:r>
          </a:p>
          <a:p>
            <a:pPr marL="982663"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Single Point of Contact for cyber security issues</a:t>
            </a:r>
          </a:p>
          <a:p>
            <a:pPr marL="982663" lvl="3" indent="-342900">
              <a:lnSpc>
                <a:spcPct val="150000"/>
              </a:lnSpc>
              <a:buFont typeface="Arial" panose="020B0604020202020204" pitchFamily="34" charset="0"/>
              <a:buChar char="•"/>
            </a:pPr>
            <a:r>
              <a:rPr lang="en-US" sz="2000" b="1" dirty="0" err="1">
                <a:solidFill>
                  <a:srgbClr val="0070C0"/>
                </a:solidFill>
                <a:latin typeface="Arial" panose="020B0604020202020204" pitchFamily="34" charset="0"/>
                <a:cs typeface="Arial" panose="020B0604020202020204" pitchFamily="34" charset="0"/>
              </a:rPr>
              <a:t>Dply</a:t>
            </a:r>
            <a:r>
              <a:rPr lang="en-US" sz="2000" b="1" dirty="0">
                <a:solidFill>
                  <a:srgbClr val="0070C0"/>
                </a:solidFill>
                <a:latin typeface="Arial" panose="020B0604020202020204" pitchFamily="34" charset="0"/>
                <a:cs typeface="Arial" panose="020B0604020202020204" pitchFamily="34" charset="0"/>
              </a:rPr>
              <a:t> Cyber security architecture (CSO &amp; ITO)</a:t>
            </a:r>
          </a:p>
          <a:p>
            <a:pPr marL="982663"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Ensure </a:t>
            </a:r>
            <a:r>
              <a:rPr lang="en-US" sz="2000" b="1" dirty="0" err="1">
                <a:solidFill>
                  <a:srgbClr val="FF0000"/>
                </a:solidFill>
                <a:latin typeface="Arial" panose="020B0604020202020204" pitchFamily="34" charset="0"/>
                <a:cs typeface="Arial" panose="020B0604020202020204" pitchFamily="34" charset="0"/>
              </a:rPr>
              <a:t>trg</a:t>
            </a:r>
            <a:r>
              <a:rPr lang="en-US" sz="2000" b="1" dirty="0">
                <a:solidFill>
                  <a:srgbClr val="FF0000"/>
                </a:solidFill>
                <a:latin typeface="Arial" panose="020B0604020202020204" pitchFamily="34" charset="0"/>
                <a:cs typeface="Arial" panose="020B0604020202020204" pitchFamily="34" charset="0"/>
              </a:rPr>
              <a:t> of staff &amp; awareness amongst all </a:t>
            </a:r>
            <a:r>
              <a:rPr lang="en-US" sz="2000" b="1" dirty="0" err="1">
                <a:solidFill>
                  <a:srgbClr val="FF0000"/>
                </a:solidFill>
                <a:latin typeface="Arial" panose="020B0604020202020204" pitchFamily="34" charset="0"/>
                <a:cs typeface="Arial" panose="020B0604020202020204" pitchFamily="34" charset="0"/>
              </a:rPr>
              <a:t>rks</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150000"/>
              </a:lnSpc>
              <a:buFont typeface="Arial" panose="020B0604020202020204" pitchFamily="34" charset="0"/>
              <a:buChar char="•"/>
            </a:pPr>
            <a:r>
              <a:rPr lang="en-US" sz="2400" b="1" dirty="0" err="1"/>
              <a:t>Iden</a:t>
            </a:r>
            <a:r>
              <a:rPr lang="en-US" sz="2400" b="1" dirty="0"/>
              <a:t> &amp;  Audit of CII in AOR &amp; own internal audit </a:t>
            </a:r>
            <a:endParaRPr lang="en-US" sz="2400" b="1" dirty="0">
              <a:latin typeface="Arial" panose="020B0604020202020204" pitchFamily="34" charset="0"/>
              <a:cs typeface="Arial" panose="020B0604020202020204" pitchFamily="34" charset="0"/>
            </a:endParaRPr>
          </a:p>
          <a:p>
            <a:pPr marL="982663" lvl="3"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External audit of org under AOR</a:t>
            </a:r>
          </a:p>
          <a:p>
            <a:pPr marL="982663"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Implementation of CCMP &amp; incident reporting</a:t>
            </a:r>
          </a:p>
        </p:txBody>
      </p:sp>
      <p:grpSp>
        <p:nvGrpSpPr>
          <p:cNvPr id="3" name="Group 2">
            <a:extLst>
              <a:ext uri="{FF2B5EF4-FFF2-40B4-BE49-F238E27FC236}">
                <a16:creationId xmlns:a16="http://schemas.microsoft.com/office/drawing/2014/main" id="{906D42C7-33EE-057D-ECF6-4ED4E203B48C}"/>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209952AF-7615-14F6-150C-4617438D9D5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A4A2337-06A6-F6A1-A2C9-43094BDAAF1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79D4A930-E698-C85F-FF09-9910ED9321F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324728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8704264" cy="4305730"/>
          </a:xfrm>
          <a:prstGeom prst="rect">
            <a:avLst/>
          </a:prstGeom>
          <a:noFill/>
        </p:spPr>
        <p:txBody>
          <a:bodyPr wrap="square" rtlCol="0">
            <a:spAutoFit/>
          </a:bodyPr>
          <a:lstStyle/>
          <a:p>
            <a:pPr marL="525463" lvl="2"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Implement procedures in accordance with laid down policies</a:t>
            </a:r>
          </a:p>
          <a:p>
            <a:pPr marL="525463" lvl="2" indent="-342900">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Report incidents, incl suspected to CISO</a:t>
            </a:r>
          </a:p>
          <a:p>
            <a:pPr marL="525463" lvl="2" indent="-342900">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Monitor investigation of incidents as </a:t>
            </a:r>
            <a:r>
              <a:rPr lang="en-US" sz="2000" b="1" dirty="0" err="1">
                <a:solidFill>
                  <a:srgbClr val="0070C0"/>
                </a:solidFill>
                <a:latin typeface="Arial" panose="020B0604020202020204" pitchFamily="34" charset="0"/>
                <a:cs typeface="Arial" panose="020B0604020202020204" pitchFamily="34" charset="0"/>
              </a:rPr>
              <a:t>dir</a:t>
            </a:r>
            <a:r>
              <a:rPr lang="en-US" sz="2000" b="1" dirty="0">
                <a:solidFill>
                  <a:srgbClr val="0070C0"/>
                </a:solidFill>
                <a:latin typeface="Arial" panose="020B0604020202020204" pitchFamily="34" charset="0"/>
                <a:cs typeface="Arial" panose="020B0604020202020204" pitchFamily="34" charset="0"/>
              </a:rPr>
              <a:t> by CISO</a:t>
            </a:r>
          </a:p>
          <a:p>
            <a:pPr marL="525463" lvl="2"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Liaise with DGMO &amp; ACG to maint up to date knowledge</a:t>
            </a:r>
          </a:p>
          <a:p>
            <a:pPr marL="525463" lvl="2" indent="-342900">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Implementation of ACG advisory </a:t>
            </a:r>
            <a:r>
              <a:rPr lang="en-US" sz="2000" b="1" dirty="0" err="1">
                <a:latin typeface="Arial" panose="020B0604020202020204" pitchFamily="34" charset="0"/>
                <a:cs typeface="Arial" panose="020B0604020202020204" pitchFamily="34" charset="0"/>
              </a:rPr>
              <a:t>wrt</a:t>
            </a:r>
            <a:r>
              <a:rPr lang="en-US" sz="2000" b="1" dirty="0">
                <a:latin typeface="Arial" panose="020B0604020202020204" pitchFamily="34" charset="0"/>
                <a:cs typeface="Arial" panose="020B0604020202020204" pitchFamily="34" charset="0"/>
              </a:rPr>
              <a:t> cyber security</a:t>
            </a:r>
          </a:p>
          <a:p>
            <a:pPr marL="525463" lvl="2" indent="-342900">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Implementation of CCMP &amp; incident reporting </a:t>
            </a:r>
          </a:p>
          <a:p>
            <a:pPr marL="525463" lvl="2" indent="-342900">
              <a:lnSpc>
                <a:spcPct val="200000"/>
              </a:lnSpc>
              <a:buFont typeface="Wingdings" panose="05000000000000000000" pitchFamily="2" charset="2"/>
              <a:buChar char="Ø"/>
            </a:pPr>
            <a:r>
              <a:rPr lang="en-US" sz="2000" b="1" dirty="0" err="1">
                <a:solidFill>
                  <a:srgbClr val="FF0000"/>
                </a:solidFill>
                <a:latin typeface="Arial" panose="020B0604020202020204" pitchFamily="34" charset="0"/>
                <a:cs typeface="Arial" panose="020B0604020202020204" pitchFamily="34" charset="0"/>
              </a:rPr>
              <a:t>Trg</a:t>
            </a:r>
            <a:r>
              <a:rPr lang="en-US" sz="2000" b="1" dirty="0">
                <a:solidFill>
                  <a:srgbClr val="FF0000"/>
                </a:solidFill>
                <a:latin typeface="Arial" panose="020B0604020202020204" pitchFamily="34" charset="0"/>
                <a:cs typeface="Arial" panose="020B0604020202020204" pitchFamily="34" charset="0"/>
              </a:rPr>
              <a:t> of pers to implement cyber security controls</a:t>
            </a:r>
          </a:p>
        </p:txBody>
      </p:sp>
      <p:grpSp>
        <p:nvGrpSpPr>
          <p:cNvPr id="3" name="Group 2">
            <a:extLst>
              <a:ext uri="{FF2B5EF4-FFF2-40B4-BE49-F238E27FC236}">
                <a16:creationId xmlns:a16="http://schemas.microsoft.com/office/drawing/2014/main" id="{AD7AC925-14E8-65C0-E72C-90D3A6C59168}"/>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37FD9FD9-F32F-F067-09BF-4600E5EDEF8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67C5A97-2310-92F4-4088-DCD72DF0C9F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F3914C02-2BD2-2AE8-4198-1AAB1F29FAE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2039077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8704264" cy="5544146"/>
          </a:xfrm>
          <a:prstGeom prst="rect">
            <a:avLst/>
          </a:prstGeom>
          <a:noFill/>
        </p:spPr>
        <p:txBody>
          <a:bodyPr wrap="square" rtlCol="0">
            <a:spAutoFit/>
          </a:bodyPr>
          <a:lstStyle/>
          <a:p>
            <a:pPr marL="182563" lvl="2">
              <a:lnSpc>
                <a:spcPct val="200000"/>
              </a:lnSpc>
            </a:pPr>
            <a:r>
              <a:rPr lang="en-US" sz="2000" b="1" u="sng" dirty="0">
                <a:solidFill>
                  <a:srgbClr val="FF0000"/>
                </a:solidFill>
                <a:latin typeface="Arial" panose="020B0604020202020204" pitchFamily="34" charset="0"/>
                <a:cs typeface="Arial" panose="020B0604020202020204" pitchFamily="34" charset="0"/>
              </a:rPr>
              <a:t>RESPONSIBILITY</a:t>
            </a:r>
            <a:r>
              <a:rPr lang="en-US" sz="2000" b="1" dirty="0">
                <a:solidFill>
                  <a:srgbClr val="FF0000"/>
                </a:solidFill>
                <a:latin typeface="Arial" panose="020B0604020202020204" pitchFamily="34" charset="0"/>
                <a:cs typeface="Arial" panose="020B0604020202020204" pitchFamily="34" charset="0"/>
              </a:rPr>
              <a:t>: </a:t>
            </a:r>
          </a:p>
          <a:p>
            <a:pPr marL="982663" lvl="3"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Annual cyber security assessment of own org </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Access control, Network security</a:t>
            </a:r>
            <a:endParaRPr lang="en-US" sz="2000" b="1" dirty="0">
              <a:solidFill>
                <a:srgbClr val="0070C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Digital Data Handling</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Asset &amp; Peripheral </a:t>
            </a:r>
            <a:r>
              <a:rPr lang="en-IN" sz="2000" b="1" dirty="0" err="1">
                <a:latin typeface="Arial" panose="020B0604020202020204" pitchFamily="34" charset="0"/>
                <a:cs typeface="Arial" panose="020B0604020202020204" pitchFamily="34" charset="0"/>
              </a:rPr>
              <a:t>Mgt</a:t>
            </a:r>
            <a:r>
              <a:rPr lang="en-IN" sz="2000" b="1" dirty="0">
                <a:latin typeface="Arial" panose="020B0604020202020204" pitchFamily="34" charset="0"/>
                <a:cs typeface="Arial" panose="020B0604020202020204" pitchFamily="34" charset="0"/>
              </a:rPr>
              <a:t> </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Internet Security</a:t>
            </a:r>
            <a:endParaRPr lang="en-US" sz="2000" b="1" dirty="0">
              <a:solidFill>
                <a:srgbClr val="0070C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Cyber security Audit &amp; Compliance</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Selection of </a:t>
            </a:r>
            <a:r>
              <a:rPr lang="en-IN" sz="2000" b="1" dirty="0" err="1">
                <a:latin typeface="Arial" panose="020B0604020202020204" pitchFamily="34" charset="0"/>
                <a:cs typeface="Arial" panose="020B0604020202020204" pitchFamily="34" charset="0"/>
              </a:rPr>
              <a:t>Pers</a:t>
            </a:r>
            <a:r>
              <a:rPr lang="en-IN" sz="2000" b="1" dirty="0">
                <a:latin typeface="Arial" panose="020B0604020202020204" pitchFamily="34" charset="0"/>
                <a:cs typeface="Arial" panose="020B0604020202020204" pitchFamily="34" charset="0"/>
              </a:rPr>
              <a:t> &amp; </a:t>
            </a:r>
            <a:r>
              <a:rPr lang="en-IN" sz="2000" b="1" dirty="0" err="1">
                <a:latin typeface="Arial" panose="020B0604020202020204" pitchFamily="34" charset="0"/>
                <a:cs typeface="Arial" panose="020B0604020202020204" pitchFamily="34" charset="0"/>
              </a:rPr>
              <a:t>trg</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Incident </a:t>
            </a:r>
            <a:r>
              <a:rPr lang="en-IN" sz="2000" b="1" dirty="0" err="1">
                <a:solidFill>
                  <a:srgbClr val="0070C0"/>
                </a:solidFill>
                <a:latin typeface="Arial" panose="020B0604020202020204" pitchFamily="34" charset="0"/>
                <a:cs typeface="Arial" panose="020B0604020202020204" pitchFamily="34" charset="0"/>
              </a:rPr>
              <a:t>Mgt</a:t>
            </a:r>
            <a:r>
              <a:rPr lang="en-IN" sz="2000" b="1" dirty="0">
                <a:solidFill>
                  <a:srgbClr val="0070C0"/>
                </a:solidFill>
                <a:latin typeface="Arial" panose="020B0604020202020204" pitchFamily="34" charset="0"/>
                <a:cs typeface="Arial" panose="020B0604020202020204" pitchFamily="34" charset="0"/>
              </a:rPr>
              <a:t>, violations &amp; Forensics</a:t>
            </a:r>
            <a:r>
              <a:rPr lang="en-IN" sz="2000" dirty="0">
                <a:solidFill>
                  <a:srgbClr val="0070C0"/>
                </a:solidFill>
              </a:rPr>
              <a:t> </a:t>
            </a:r>
            <a:endParaRPr lang="en-US"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B9C1A6F5-340E-460F-59F3-B8A9E6E8D48E}"/>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EE634116-61BA-61B4-C635-7E70BAEFDDA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B81F21D-1B51-2B6B-A861-8965A8749A5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1BFD4A80-65B7-4EF7-366B-DD4CF8EA130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990301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8704264" cy="5536837"/>
          </a:xfrm>
          <a:prstGeom prst="rect">
            <a:avLst/>
          </a:prstGeom>
          <a:noFill/>
        </p:spPr>
        <p:txBody>
          <a:bodyPr wrap="square" rtlCol="0">
            <a:spAutoFit/>
          </a:bodyPr>
          <a:lstStyle/>
          <a:p>
            <a:pPr marL="182563" lvl="2">
              <a:lnSpc>
                <a:spcPct val="200000"/>
              </a:lnSpc>
            </a:pPr>
            <a:r>
              <a:rPr lang="en-US" sz="2000" b="1" u="sng" dirty="0">
                <a:solidFill>
                  <a:srgbClr val="FF0000"/>
                </a:solidFill>
                <a:latin typeface="Arial" panose="020B0604020202020204" pitchFamily="34" charset="0"/>
                <a:cs typeface="Arial" panose="020B0604020202020204" pitchFamily="34" charset="0"/>
              </a:rPr>
              <a:t>NETWORK ADMINISTRATOR</a:t>
            </a:r>
            <a:r>
              <a:rPr lang="en-US" sz="2000" b="1" dirty="0">
                <a:solidFill>
                  <a:srgbClr val="FF0000"/>
                </a:solidFill>
                <a:latin typeface="Arial" panose="020B0604020202020204" pitchFamily="34" charset="0"/>
                <a:cs typeface="Arial" panose="020B0604020202020204" pitchFamily="34" charset="0"/>
              </a:rPr>
              <a:t> : </a:t>
            </a:r>
          </a:p>
          <a:p>
            <a:pPr marL="982663" lvl="3"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Resp for network mgt &amp; network security</a:t>
            </a:r>
          </a:p>
          <a:p>
            <a:pPr marL="982663" lvl="3"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Installation &amp; config of firewalls at all levels</a:t>
            </a:r>
          </a:p>
          <a:p>
            <a:pPr marL="982663" lvl="3" indent="-342900">
              <a:lnSpc>
                <a:spcPct val="20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Resolve network related issues </a:t>
            </a:r>
          </a:p>
          <a:p>
            <a:pPr marL="982663" lvl="3"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Approval of pers auth to access servers &amp; CII</a:t>
            </a:r>
          </a:p>
          <a:p>
            <a:pPr marL="982663" lvl="3"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Implementation of DLP tool on network devices</a:t>
            </a:r>
          </a:p>
          <a:p>
            <a:pPr marL="982663" lvl="3"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Collection &amp; Analysis of logs for incident mgt</a:t>
            </a:r>
          </a:p>
          <a:p>
            <a:pPr marL="982663" lvl="3"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Backup of all network devices</a:t>
            </a:r>
            <a:endParaRPr lang="en-US" sz="2000" b="1"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Provide real time SOC feed to CCOSWs</a:t>
            </a:r>
          </a:p>
        </p:txBody>
      </p:sp>
      <p:grpSp>
        <p:nvGrpSpPr>
          <p:cNvPr id="3" name="Group 2">
            <a:extLst>
              <a:ext uri="{FF2B5EF4-FFF2-40B4-BE49-F238E27FC236}">
                <a16:creationId xmlns:a16="http://schemas.microsoft.com/office/drawing/2014/main" id="{2EDFF522-31F5-8BB1-2912-53D2AACF8665}"/>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867DD360-4426-D039-4C8C-2EBEB7FEE80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1F001D78-3E81-52F4-071A-8C0C324B37A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969964CE-A9F2-8B5E-D08B-CC95245F695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208024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1021154"/>
            <a:ext cx="8981440" cy="4305730"/>
          </a:xfrm>
          <a:prstGeom prst="rect">
            <a:avLst/>
          </a:prstGeom>
          <a:noFill/>
        </p:spPr>
        <p:txBody>
          <a:bodyPr wrap="square" rtlCol="0">
            <a:spAutoFit/>
          </a:bodyPr>
          <a:lstStyle/>
          <a:p>
            <a:pPr marL="525463" lvl="2"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Ensure IP &amp; Mac Binding of all assets </a:t>
            </a:r>
          </a:p>
          <a:p>
            <a:pPr marL="525463" lvl="2" indent="-342900">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Updation of all patches/antivirus </a:t>
            </a:r>
          </a:p>
          <a:p>
            <a:pPr marL="525463" lvl="2" indent="-342900">
              <a:lnSpc>
                <a:spcPct val="200000"/>
              </a:lnSpc>
              <a:buFont typeface="Wingdings" panose="05000000000000000000" pitchFamily="2" charset="2"/>
              <a:buChar char="Ø"/>
            </a:pPr>
            <a:r>
              <a:rPr lang="en-US" sz="2000" b="1" dirty="0">
                <a:solidFill>
                  <a:srgbClr val="0070C0"/>
                </a:solidFill>
                <a:latin typeface="Arial" panose="020B0604020202020204" pitchFamily="34" charset="0"/>
                <a:cs typeface="Arial" panose="020B0604020202020204" pitchFamily="34" charset="0"/>
              </a:rPr>
              <a:t>Co-</a:t>
            </a:r>
            <a:r>
              <a:rPr lang="en-US" sz="2000" b="1" dirty="0" err="1">
                <a:solidFill>
                  <a:srgbClr val="0070C0"/>
                </a:solidFill>
                <a:latin typeface="Arial" panose="020B0604020202020204" pitchFamily="34" charset="0"/>
                <a:cs typeface="Arial" panose="020B0604020202020204" pitchFamily="34" charset="0"/>
              </a:rPr>
              <a:t>ord</a:t>
            </a:r>
            <a:r>
              <a:rPr lang="en-US" sz="2000" b="1" dirty="0">
                <a:solidFill>
                  <a:srgbClr val="0070C0"/>
                </a:solidFill>
                <a:latin typeface="Arial" panose="020B0604020202020204" pitchFamily="34" charset="0"/>
                <a:cs typeface="Arial" panose="020B0604020202020204" pitchFamily="34" charset="0"/>
              </a:rPr>
              <a:t> with ACG/ CCOSWs for actions on advisories issued by Cert- Army</a:t>
            </a:r>
          </a:p>
          <a:p>
            <a:pPr marL="525463" lvl="2" indent="-342900">
              <a:lnSpc>
                <a:spcPct val="200000"/>
              </a:lnSpc>
              <a:buFont typeface="Wingdings" panose="05000000000000000000" pitchFamily="2" charset="2"/>
              <a:buChar char="Ø"/>
            </a:pPr>
            <a:r>
              <a:rPr lang="en-US" sz="2000" b="1" dirty="0">
                <a:solidFill>
                  <a:srgbClr val="FF0000"/>
                </a:solidFill>
                <a:latin typeface="Arial" panose="020B0604020202020204" pitchFamily="34" charset="0"/>
                <a:cs typeface="Arial" panose="020B0604020202020204" pitchFamily="34" charset="0"/>
              </a:rPr>
              <a:t>Monitor, analyze respond to suspicious security events incl Air Gap violations</a:t>
            </a:r>
          </a:p>
          <a:p>
            <a:pPr marL="525463" lvl="2" indent="-342900">
              <a:lnSpc>
                <a:spcPct val="200000"/>
              </a:lnSpc>
              <a:buFont typeface="Wingdings" panose="05000000000000000000" pitchFamily="2" charset="2"/>
              <a:buChar char="Ø"/>
            </a:pPr>
            <a:r>
              <a:rPr lang="en-US" sz="2000" b="1" dirty="0">
                <a:latin typeface="Arial" panose="020B0604020202020204" pitchFamily="34" charset="0"/>
                <a:cs typeface="Arial" panose="020B0604020202020204" pitchFamily="34" charset="0"/>
              </a:rPr>
              <a:t>Report adverse cyber incident/ anomaly to CISO &amp; Cert- Army</a:t>
            </a:r>
          </a:p>
        </p:txBody>
      </p:sp>
      <p:grpSp>
        <p:nvGrpSpPr>
          <p:cNvPr id="3" name="Group 2">
            <a:extLst>
              <a:ext uri="{FF2B5EF4-FFF2-40B4-BE49-F238E27FC236}">
                <a16:creationId xmlns:a16="http://schemas.microsoft.com/office/drawing/2014/main" id="{99BA056D-1007-2F2A-172B-B34E6315A4CE}"/>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4A8B1397-D3DF-2CAF-F768-44C1D77392DF}"/>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274CFB1-16D6-7295-DFDB-474A264B26E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75AB59F1-2C6F-63D4-DED9-5F39FBDF5C6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444510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10160" y="934720"/>
            <a:ext cx="9052560" cy="5936946"/>
          </a:xfrm>
          <a:prstGeom prst="rect">
            <a:avLst/>
          </a:prstGeom>
          <a:noFill/>
        </p:spPr>
        <p:txBody>
          <a:bodyPr wrap="square" rtlCol="0">
            <a:spAutoFit/>
          </a:bodyPr>
          <a:lstStyle/>
          <a:p>
            <a:pPr marL="182563" lvl="2">
              <a:lnSpc>
                <a:spcPct val="160000"/>
              </a:lnSpc>
            </a:pPr>
            <a:r>
              <a:rPr lang="en-US" sz="2000" b="1" u="sng" dirty="0">
                <a:solidFill>
                  <a:srgbClr val="FF0000"/>
                </a:solidFill>
                <a:latin typeface="Arial" panose="020B0604020202020204" pitchFamily="34" charset="0"/>
                <a:cs typeface="Arial" panose="020B0604020202020204" pitchFamily="34" charset="0"/>
              </a:rPr>
              <a:t>INDIVIDUAL USER</a:t>
            </a:r>
            <a:r>
              <a:rPr lang="en-US" sz="2000" b="1" dirty="0">
                <a:solidFill>
                  <a:srgbClr val="FF0000"/>
                </a:solidFill>
                <a:latin typeface="Arial" panose="020B0604020202020204" pitchFamily="34" charset="0"/>
                <a:cs typeface="Arial" panose="020B0604020202020204" pitchFamily="34" charset="0"/>
              </a:rPr>
              <a:t> :</a:t>
            </a:r>
          </a:p>
          <a:p>
            <a:pPr marL="982663" lvl="3" indent="-342900">
              <a:lnSpc>
                <a:spcPct val="16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Access/ use/ share info only to extent authorized </a:t>
            </a:r>
          </a:p>
          <a:p>
            <a:pPr marL="982663" lvl="3" indent="-342900">
              <a:lnSpc>
                <a:spcPct val="16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Authorized indls only to monitor eqpt, sys &amp; network traffic at any time</a:t>
            </a:r>
          </a:p>
          <a:p>
            <a:pPr marL="982663" lvl="3" indent="-3429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Ensure Cl/ sensitive info secured at respective work place at the end of day or extd pd of absence </a:t>
            </a:r>
          </a:p>
          <a:p>
            <a:pPr marL="982663" lvl="3" indent="-342900">
              <a:lnSpc>
                <a:spcPct val="16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Sys level &amp; user level pwd to comply with the pwd policy </a:t>
            </a:r>
          </a:p>
          <a:p>
            <a:pPr marL="982663" lvl="3" indent="-342900">
              <a:lnSpc>
                <a:spcPct val="16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All computing device secured with a pwd protected screensaver set to 5 mins or less</a:t>
            </a:r>
          </a:p>
          <a:p>
            <a:pPr marL="982663" lvl="3" indent="-3429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Extreme caution when opening e-mail </a:t>
            </a:r>
            <a:r>
              <a:rPr lang="en-US" sz="2000" b="1" dirty="0" err="1">
                <a:solidFill>
                  <a:srgbClr val="FF0000"/>
                </a:solidFill>
                <a:latin typeface="Arial" panose="020B0604020202020204" pitchFamily="34" charset="0"/>
                <a:cs typeface="Arial" panose="020B0604020202020204" pitchFamily="34" charset="0"/>
              </a:rPr>
              <a:t>att</a:t>
            </a:r>
            <a:r>
              <a:rPr lang="en-US" sz="2000" b="1" dirty="0">
                <a:solidFill>
                  <a:srgbClr val="FF0000"/>
                </a:solidFill>
                <a:latin typeface="Arial" panose="020B0604020202020204" pitchFamily="34" charset="0"/>
                <a:cs typeface="Arial" panose="020B0604020202020204" pitchFamily="34" charset="0"/>
              </a:rPr>
              <a:t> on official Internet IDs </a:t>
            </a:r>
          </a:p>
          <a:p>
            <a:pPr marL="982663" lvl="3" indent="-342900">
              <a:lnSpc>
                <a:spcPct val="16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Promptly report theft, loss of unauthorized disclosure of info to the Cyber security officer/ ITO/ CISO </a:t>
            </a:r>
          </a:p>
        </p:txBody>
      </p:sp>
      <p:grpSp>
        <p:nvGrpSpPr>
          <p:cNvPr id="3" name="Group 2">
            <a:extLst>
              <a:ext uri="{FF2B5EF4-FFF2-40B4-BE49-F238E27FC236}">
                <a16:creationId xmlns:a16="http://schemas.microsoft.com/office/drawing/2014/main" id="{FCC78FBE-D108-3D09-426A-9B15FF62FABC}"/>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B2D0D60F-64E0-A5D7-25CA-F5A6209A3852}"/>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ORGANIZATION</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45E28FF-94FF-8838-1D3F-BD678CDFA44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72D6D234-9D0C-7D00-737A-635B7E40CA6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146546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9062720" cy="5444504"/>
          </a:xfrm>
          <a:prstGeom prst="rect">
            <a:avLst/>
          </a:prstGeom>
          <a:noFill/>
        </p:spPr>
        <p:txBody>
          <a:bodyPr wrap="square" rtlCol="0">
            <a:spAutoFit/>
          </a:bodyPr>
          <a:lstStyle/>
          <a:p>
            <a:pPr marL="182563" lvl="2" indent="-90488">
              <a:lnSpc>
                <a:spcPct val="160000"/>
              </a:lnSpc>
            </a:pPr>
            <a:r>
              <a:rPr lang="en-US" sz="2000" b="1" u="sng" dirty="0">
                <a:solidFill>
                  <a:srgbClr val="FF0000"/>
                </a:solidFill>
                <a:latin typeface="Arial" panose="020B0604020202020204" pitchFamily="34" charset="0"/>
                <a:cs typeface="Arial" panose="020B0604020202020204" pitchFamily="34" charset="0"/>
              </a:rPr>
              <a:t>ARMY DATA NETWORK</a:t>
            </a:r>
            <a:r>
              <a:rPr lang="en-US" sz="2000" b="1" dirty="0">
                <a:solidFill>
                  <a:srgbClr val="FF0000"/>
                </a:solidFill>
                <a:latin typeface="Arial" panose="020B0604020202020204" pitchFamily="34" charset="0"/>
                <a:cs typeface="Arial" panose="020B0604020202020204" pitchFamily="34" charset="0"/>
              </a:rPr>
              <a:t> :</a:t>
            </a:r>
          </a:p>
          <a:p>
            <a:pPr marL="630238" lvl="3" indent="-355600">
              <a:lnSpc>
                <a:spcPct val="16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ADN is the operational network of Indian army.</a:t>
            </a:r>
          </a:p>
          <a:p>
            <a:pPr marL="630238" lvl="3" indent="-355600">
              <a:lnSpc>
                <a:spcPct val="16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The ADN is physically separated and air gapped form civil internet or any other govt network.</a:t>
            </a:r>
          </a:p>
          <a:p>
            <a:pPr marL="630238" lvl="3" indent="-3556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DG Signals is the network administrator of ADN.</a:t>
            </a:r>
          </a:p>
          <a:p>
            <a:pPr marL="630238" lvl="3" indent="-355600">
              <a:lnSpc>
                <a:spcPct val="16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To ensure security of the network, centralized security overlays like Domain Controller, OS Patch Management and Anti-Virus have been implemented through DG Signals.</a:t>
            </a:r>
          </a:p>
          <a:p>
            <a:pPr marL="630238" lvl="3" indent="-355600">
              <a:lnSpc>
                <a:spcPct val="16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SIEM tool has been implemented to obtain logs of all devices on ADN and these logs are </a:t>
            </a:r>
            <a:r>
              <a:rPr lang="en-US" sz="2000" b="1" dirty="0" err="1">
                <a:solidFill>
                  <a:srgbClr val="0070C0"/>
                </a:solidFill>
                <a:latin typeface="Arial" panose="020B0604020202020204" pitchFamily="34" charset="0"/>
                <a:cs typeface="Arial" panose="020B0604020202020204" pitchFamily="34" charset="0"/>
              </a:rPr>
              <a:t>analysed</a:t>
            </a:r>
            <a:r>
              <a:rPr lang="en-US" sz="2000" b="1" dirty="0">
                <a:solidFill>
                  <a:srgbClr val="0070C0"/>
                </a:solidFill>
                <a:latin typeface="Arial" panose="020B0604020202020204" pitchFamily="34" charset="0"/>
                <a:cs typeface="Arial" panose="020B0604020202020204" pitchFamily="34" charset="0"/>
              </a:rPr>
              <a:t> and monitored by AHCC and ACG.</a:t>
            </a:r>
          </a:p>
          <a:p>
            <a:pPr marL="630238" lvl="3" indent="-3556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The ADN network is classified as CONFIDENTIAL.</a:t>
            </a:r>
          </a:p>
        </p:txBody>
      </p:sp>
      <p:grpSp>
        <p:nvGrpSpPr>
          <p:cNvPr id="3" name="Group 2">
            <a:extLst>
              <a:ext uri="{FF2B5EF4-FFF2-40B4-BE49-F238E27FC236}">
                <a16:creationId xmlns:a16="http://schemas.microsoft.com/office/drawing/2014/main" id="{A7C204D3-C959-E470-D7EE-2525E21F728C}"/>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A04F760A-017E-1363-A736-8C6669E8F39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NETWORK SECURITY</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17590E9-0F1F-C537-2761-E9161474E6D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068F4748-866C-8622-8EBE-4E49871F79B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479818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868605"/>
            <a:ext cx="8704264" cy="6036974"/>
          </a:xfrm>
          <a:prstGeom prst="rect">
            <a:avLst/>
          </a:prstGeom>
          <a:noFill/>
        </p:spPr>
        <p:txBody>
          <a:bodyPr wrap="square" rtlCol="0">
            <a:spAutoFit/>
          </a:bodyPr>
          <a:lstStyle/>
          <a:p>
            <a:pPr marL="525463" lvl="2"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DG Signals will ensure that the security controls on ADN are updated regularly to maintain the security classification of the network.</a:t>
            </a:r>
          </a:p>
          <a:p>
            <a:pPr marL="525463" lvl="2"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Processing of data up to security classification CONFIDENTIAL is permitted on ADN. </a:t>
            </a:r>
          </a:p>
          <a:p>
            <a:pPr marL="525463" lvl="2"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Applications hosted on ADN for storage and transmission of data will ensure implementation of suitable software encryption (128/256 AES) as per MO 10 policy </a:t>
            </a:r>
          </a:p>
          <a:p>
            <a:pPr marL="525463" lvl="2"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The management of IP addresses on ADN shall be the responsibility of DG Signals. </a:t>
            </a:r>
          </a:p>
          <a:p>
            <a:pPr marL="525463" lvl="2" indent="-342900">
              <a:lnSpc>
                <a:spcPct val="15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Static IP addressing shall be implemented across ADN including end point devices as well as network devices like L3 switches and routers.</a:t>
            </a:r>
          </a:p>
        </p:txBody>
      </p:sp>
      <p:grpSp>
        <p:nvGrpSpPr>
          <p:cNvPr id="12" name="Group 11">
            <a:extLst>
              <a:ext uri="{FF2B5EF4-FFF2-40B4-BE49-F238E27FC236}">
                <a16:creationId xmlns:a16="http://schemas.microsoft.com/office/drawing/2014/main" id="{046C6820-2AAC-A7C3-87F5-F7365E3AAC99}"/>
              </a:ext>
            </a:extLst>
          </p:cNvPr>
          <p:cNvGrpSpPr/>
          <p:nvPr/>
        </p:nvGrpSpPr>
        <p:grpSpPr>
          <a:xfrm>
            <a:off x="-10160" y="6354"/>
            <a:ext cx="9144000" cy="938525"/>
            <a:chOff x="0" y="39305"/>
            <a:chExt cx="9144000" cy="1091874"/>
          </a:xfrm>
          <a:solidFill>
            <a:srgbClr val="C00000"/>
          </a:solidFill>
        </p:grpSpPr>
        <p:sp>
          <p:nvSpPr>
            <p:cNvPr id="13" name="Rounded Rectangle 13">
              <a:extLst>
                <a:ext uri="{FF2B5EF4-FFF2-40B4-BE49-F238E27FC236}">
                  <a16:creationId xmlns:a16="http://schemas.microsoft.com/office/drawing/2014/main" id="{9DDAC203-9A69-8615-8E4A-D4AD867BE18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NETWORK SECURITY</a:t>
              </a:r>
              <a:endParaRPr lang="en-IN" sz="2800" b="1" u="sng" dirty="0">
                <a:solidFill>
                  <a:schemeClr val="bg1"/>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BF7EA26E-48E1-F1EC-067B-59EC52C52CB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5" name="Picture 14">
              <a:extLst>
                <a:ext uri="{FF2B5EF4-FFF2-40B4-BE49-F238E27FC236}">
                  <a16:creationId xmlns:a16="http://schemas.microsoft.com/office/drawing/2014/main" id="{421A43E4-C075-6951-4595-A4B3D3B3FD1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321970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934720"/>
            <a:ext cx="8981440" cy="5852308"/>
          </a:xfrm>
          <a:prstGeom prst="rect">
            <a:avLst/>
          </a:prstGeom>
          <a:noFill/>
        </p:spPr>
        <p:txBody>
          <a:bodyPr wrap="square" rtlCol="0">
            <a:spAutoFit/>
          </a:bodyPr>
          <a:lstStyle/>
          <a:p>
            <a:pPr marL="182563" lvl="2">
              <a:lnSpc>
                <a:spcPct val="190000"/>
              </a:lnSpc>
            </a:pPr>
            <a:r>
              <a:rPr lang="en-US" sz="2000" b="1" u="sng" dirty="0">
                <a:solidFill>
                  <a:srgbClr val="FF0000"/>
                </a:solidFill>
                <a:latin typeface="Arial" panose="020B0604020202020204" pitchFamily="34" charset="0"/>
                <a:cs typeface="Arial" panose="020B0604020202020204" pitchFamily="34" charset="0"/>
              </a:rPr>
              <a:t>SECURITY CONTROLS OVER ADN</a:t>
            </a:r>
            <a:r>
              <a:rPr lang="en-US" sz="2000" b="1" dirty="0">
                <a:solidFill>
                  <a:srgbClr val="FF0000"/>
                </a:solidFill>
                <a:latin typeface="Arial" panose="020B0604020202020204" pitchFamily="34" charset="0"/>
                <a:cs typeface="Arial" panose="020B0604020202020204" pitchFamily="34" charset="0"/>
              </a:rPr>
              <a:t> : ADN is the Critical Information Infrastructure of the Indian Army. DG Signals has been mandated to manage and secure ADN. Some of the mandatory security controls on the ADN to be implemented are as follows:-</a:t>
            </a:r>
          </a:p>
          <a:p>
            <a:pPr marL="982663" lvl="3" indent="-342900">
              <a:lnSpc>
                <a:spcPct val="19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Active directory domain controller.</a:t>
            </a:r>
          </a:p>
          <a:p>
            <a:pPr marL="982663" lvl="3" indent="-342900">
              <a:lnSpc>
                <a:spcPct val="19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Centralised Identity and Access Management solutions.</a:t>
            </a:r>
            <a:r>
              <a:rPr lang="en-US" sz="2000" dirty="0">
                <a:solidFill>
                  <a:srgbClr val="0070C0"/>
                </a:solidFill>
              </a:rPr>
              <a:t> </a:t>
            </a:r>
            <a:endParaRPr lang="en-US" sz="2000" b="1" dirty="0">
              <a:solidFill>
                <a:srgbClr val="0070C0"/>
              </a:solidFill>
              <a:latin typeface="Arial" panose="020B0604020202020204" pitchFamily="34" charset="0"/>
              <a:cs typeface="Arial" panose="020B0604020202020204" pitchFamily="34" charset="0"/>
            </a:endParaRPr>
          </a:p>
          <a:p>
            <a:pPr marL="982663" lvl="3" indent="-342900">
              <a:lnSpc>
                <a:spcPct val="19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Centralised Patch Management System.</a:t>
            </a:r>
          </a:p>
          <a:p>
            <a:pPr marL="982663" lvl="3" indent="-342900">
              <a:lnSpc>
                <a:spcPct val="19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End point protection software(antivirus/antimalware).</a:t>
            </a:r>
          </a:p>
          <a:p>
            <a:pPr marL="982663" lvl="3" indent="-342900">
              <a:lnSpc>
                <a:spcPct val="19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Centralised log monitoring/ aggregation and analysis using Security.</a:t>
            </a:r>
          </a:p>
        </p:txBody>
      </p:sp>
      <p:grpSp>
        <p:nvGrpSpPr>
          <p:cNvPr id="3" name="Group 2">
            <a:extLst>
              <a:ext uri="{FF2B5EF4-FFF2-40B4-BE49-F238E27FC236}">
                <a16:creationId xmlns:a16="http://schemas.microsoft.com/office/drawing/2014/main" id="{6F257980-63C3-AF9D-1DB8-A6C884BBEA12}"/>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52E07A1C-8530-6FD5-8DD3-0B5188EFF08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NETWORK SECURITY</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3464238-AF83-C32D-FBDF-EBFF0EEEC87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1A8483D5-4E83-532C-1942-B0E09028636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4398952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868605"/>
            <a:ext cx="8842852" cy="4305730"/>
          </a:xfrm>
          <a:prstGeom prst="rect">
            <a:avLst/>
          </a:prstGeom>
          <a:noFill/>
        </p:spPr>
        <p:txBody>
          <a:bodyPr wrap="square" rtlCol="0">
            <a:spAutoFit/>
          </a:bodyPr>
          <a:lstStyle/>
          <a:p>
            <a:pPr marL="525463" lvl="2" indent="-342900">
              <a:lnSpc>
                <a:spcPct val="20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Information and Event Management (SIEM) solution. </a:t>
            </a:r>
            <a:endParaRPr lang="en-US" sz="2000" b="1" dirty="0">
              <a:solidFill>
                <a:srgbClr val="FF0000"/>
              </a:solidFill>
              <a:latin typeface="Arial" panose="020B0604020202020204" pitchFamily="34" charset="0"/>
              <a:cs typeface="Arial" panose="020B0604020202020204" pitchFamily="34" charset="0"/>
            </a:endParaRPr>
          </a:p>
          <a:p>
            <a:pPr marL="525463" lvl="2"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Deployment of Data Loss Prevention solution.</a:t>
            </a:r>
          </a:p>
          <a:p>
            <a:pPr marL="525463" lvl="2"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Access to be strictly restricted to Army entities/ </a:t>
            </a:r>
            <a:r>
              <a:rPr lang="en-US" sz="2000" b="1" dirty="0" err="1">
                <a:solidFill>
                  <a:srgbClr val="0070C0"/>
                </a:solidFill>
                <a:latin typeface="Arial" panose="020B0604020202020204" pitchFamily="34" charset="0"/>
                <a:cs typeface="Arial" panose="020B0604020202020204" pitchFamily="34" charset="0"/>
              </a:rPr>
              <a:t>organisations</a:t>
            </a:r>
            <a:r>
              <a:rPr lang="en-US" sz="2000" b="1" dirty="0">
                <a:solidFill>
                  <a:srgbClr val="0070C0"/>
                </a:solidFill>
                <a:latin typeface="Arial" panose="020B0604020202020204" pitchFamily="34" charset="0"/>
                <a:cs typeface="Arial" panose="020B0604020202020204" pitchFamily="34" charset="0"/>
              </a:rPr>
              <a:t> only. Any exception to be considered on case to case basis by MO Directorate.</a:t>
            </a:r>
          </a:p>
          <a:p>
            <a:pPr marL="525463" lvl="2"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Traceability and visibility of traffic on the ADN through deployment of hardware based firewalls have to be ensured.</a:t>
            </a:r>
          </a:p>
        </p:txBody>
      </p:sp>
      <p:grpSp>
        <p:nvGrpSpPr>
          <p:cNvPr id="3" name="Group 2">
            <a:extLst>
              <a:ext uri="{FF2B5EF4-FFF2-40B4-BE49-F238E27FC236}">
                <a16:creationId xmlns:a16="http://schemas.microsoft.com/office/drawing/2014/main" id="{974B7AB5-1229-9A18-3011-7503955EB984}"/>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A8231C7C-BAA3-E7F3-9127-E260B7D8844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NETWORK SECURITY</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0F87A179-F08E-784E-E132-9E75AB07D7A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2DC288E6-5982-7E8D-7DC6-FDFD393B1A0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3104963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81280" y="868605"/>
            <a:ext cx="8842852" cy="6152390"/>
          </a:xfrm>
          <a:prstGeom prst="rect">
            <a:avLst/>
          </a:prstGeom>
          <a:noFill/>
        </p:spPr>
        <p:txBody>
          <a:bodyPr wrap="square" rtlCol="0">
            <a:spAutoFit/>
          </a:bodyPr>
          <a:lstStyle/>
          <a:p>
            <a:pPr marL="182563" lvl="2">
              <a:lnSpc>
                <a:spcPct val="200000"/>
              </a:lnSpc>
            </a:pPr>
            <a:r>
              <a:rPr lang="en-US" sz="2000" b="1" u="sng" dirty="0">
                <a:solidFill>
                  <a:srgbClr val="FF0000"/>
                </a:solidFill>
                <a:latin typeface="Arial" panose="020B0604020202020204" pitchFamily="34" charset="0"/>
                <a:cs typeface="Arial" panose="020B0604020202020204" pitchFamily="34" charset="0"/>
              </a:rPr>
              <a:t>CLASSIFIED DATA OVER ADN/EXCLUSIVE LAN</a:t>
            </a:r>
            <a:r>
              <a:rPr lang="en-US" sz="2000" b="1" dirty="0">
                <a:solidFill>
                  <a:srgbClr val="FF0000"/>
                </a:solidFill>
                <a:latin typeface="Arial" panose="020B0604020202020204" pitchFamily="34" charset="0"/>
                <a:cs typeface="Arial" panose="020B0604020202020204" pitchFamily="34" charset="0"/>
              </a:rPr>
              <a:t> : Computers on ADN may be used to create/ store documents up to CONFIDENTIAL security classification. Following shall be ensured: -</a:t>
            </a:r>
            <a:endParaRPr lang="en-US" sz="2000" b="1" u="sng" dirty="0">
              <a:solidFill>
                <a:srgbClr val="FF0000"/>
              </a:solidFill>
              <a:latin typeface="Arial" panose="020B0604020202020204" pitchFamily="34" charset="0"/>
              <a:cs typeface="Arial" panose="020B0604020202020204" pitchFamily="34" charset="0"/>
            </a:endParaRPr>
          </a:p>
          <a:p>
            <a:pPr marL="982663" lvl="3"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Classified data shall be handled as per the security classification in accordance with the provisions covered in Digital Data Handling, and CHCD as amended.</a:t>
            </a:r>
          </a:p>
          <a:p>
            <a:pPr marL="982663" lvl="3"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Security classification of Exclusive LANs shall be duly documented while seeking necessary permission to establish the same.</a:t>
            </a:r>
          </a:p>
          <a:p>
            <a:pPr marL="982663" lvl="3" indent="-342900">
              <a:lnSpc>
                <a:spcPct val="200000"/>
              </a:lnSpc>
              <a:buFont typeface="Arial" panose="020B0604020202020204" pitchFamily="34" charset="0"/>
              <a:buChar char="•"/>
            </a:pPr>
            <a:endParaRPr lang="en-US"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82F07D07-6200-30AC-594D-7ABE476D4D4C}"/>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E5FE950C-B780-02AA-E17F-5A54517566D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5854784-265C-FF23-9DCC-50EE5E13C50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1188C26F-7A68-717F-1871-8FB83575684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6995" y="83677"/>
              <a:ext cx="619436" cy="914397"/>
            </a:xfrm>
            <a:prstGeom prst="rect">
              <a:avLst/>
            </a:prstGeom>
            <a:grpFill/>
          </p:spPr>
        </p:pic>
      </p:grpSp>
    </p:spTree>
    <p:extLst>
      <p:ext uri="{BB962C8B-B14F-4D97-AF65-F5344CB8AC3E}">
        <p14:creationId xmlns:p14="http://schemas.microsoft.com/office/powerpoint/2010/main" val="39552965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2BAEF-BA00-50B8-FCEE-6C7C1DC452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AC798F-CF30-A3A3-C5B8-1585001EDC31}"/>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65D14D1-547B-62A0-B190-E44B691B37EC}"/>
              </a:ext>
            </a:extLst>
          </p:cNvPr>
          <p:cNvSpPr txBox="1"/>
          <p:nvPr/>
        </p:nvSpPr>
        <p:spPr>
          <a:xfrm>
            <a:off x="81280" y="1031165"/>
            <a:ext cx="8838876" cy="3690177"/>
          </a:xfrm>
          <a:prstGeom prst="rect">
            <a:avLst/>
          </a:prstGeom>
          <a:noFill/>
        </p:spPr>
        <p:txBody>
          <a:bodyPr wrap="square" rtlCol="0">
            <a:spAutoFit/>
          </a:bodyPr>
          <a:lstStyle/>
          <a:p>
            <a:pPr marL="982663" lvl="3" indent="-4445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The exclusive LANs deployed within the formations/ units/ establishments shall only process/ store UNCLAS/ RESTRICTED data in accordance with the provisions covered in Digital Data Handling, unless they are engineered as Secure LANs, in which case they shall be permitted to handle CONFIDENTIAL Data.  </a:t>
            </a:r>
          </a:p>
        </p:txBody>
      </p:sp>
      <p:grpSp>
        <p:nvGrpSpPr>
          <p:cNvPr id="3" name="Group 2">
            <a:extLst>
              <a:ext uri="{FF2B5EF4-FFF2-40B4-BE49-F238E27FC236}">
                <a16:creationId xmlns:a16="http://schemas.microsoft.com/office/drawing/2014/main" id="{738B158D-4894-2A81-E8A6-38D28AD24B80}"/>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E10294D8-E0FD-63F3-2159-10C98943D78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F8B5A94-0A9A-426B-5834-25890438E6B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F2BEE633-90D6-752D-EC15-E13D0EDCA5C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8905074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0480" y="970205"/>
            <a:ext cx="9062720" cy="5552226"/>
          </a:xfrm>
          <a:prstGeom prst="rect">
            <a:avLst/>
          </a:prstGeom>
          <a:noFill/>
        </p:spPr>
        <p:txBody>
          <a:bodyPr wrap="square" rtlCol="0">
            <a:spAutoFit/>
          </a:bodyPr>
          <a:lstStyle/>
          <a:p>
            <a:pPr marL="182563" lvl="2">
              <a:lnSpc>
                <a:spcPct val="180000"/>
              </a:lnSpc>
            </a:pPr>
            <a:r>
              <a:rPr lang="en-US" sz="2000" b="1" u="sng" dirty="0">
                <a:solidFill>
                  <a:srgbClr val="FF0000"/>
                </a:solidFill>
                <a:latin typeface="Arial" panose="020B0604020202020204" pitchFamily="34" charset="0"/>
                <a:cs typeface="Arial" panose="020B0604020202020204" pitchFamily="34" charset="0"/>
              </a:rPr>
              <a:t>SECURITY GUIDELINES WHILE USING ASIGMA</a:t>
            </a:r>
            <a:r>
              <a:rPr lang="en-US" sz="2000" b="1" dirty="0">
                <a:solidFill>
                  <a:srgbClr val="FF0000"/>
                </a:solidFill>
                <a:latin typeface="Arial" panose="020B0604020202020204" pitchFamily="34" charset="0"/>
                <a:cs typeface="Arial" panose="020B0604020202020204" pitchFamily="34" charset="0"/>
              </a:rPr>
              <a:t> :  ASIGMA has been developed to handle information/ data of security classification up to CONFIDENTIAL only. This implies that TOP SECRET/ SECRET files will not be transmitted using the ASIGMA application. Instructions promulgated vide CHCD on the subject are to be followed.</a:t>
            </a:r>
          </a:p>
          <a:p>
            <a:pPr marL="182563" lvl="2">
              <a:lnSpc>
                <a:spcPct val="180000"/>
              </a:lnSpc>
            </a:pPr>
            <a:r>
              <a:rPr lang="en-US" sz="2000" b="1" u="sng" dirty="0">
                <a:latin typeface="Arial" panose="020B0604020202020204" pitchFamily="34" charset="0"/>
                <a:cs typeface="Arial" panose="020B0604020202020204" pitchFamily="34" charset="0"/>
              </a:rPr>
              <a:t>FILE TRANSFER PROTOCOL (FTP)</a:t>
            </a:r>
            <a:r>
              <a:rPr lang="en-US" sz="2000" b="1" dirty="0">
                <a:latin typeface="Arial" panose="020B0604020202020204" pitchFamily="34" charset="0"/>
                <a:cs typeface="Arial" panose="020B0604020202020204" pitchFamily="34" charset="0"/>
              </a:rPr>
              <a:t> : Use of insecure FTP services within the official Indian Army Networks is not permitted. However, use of Secure FTP (SFTP) services may be configured using whitelisted software/ applications, as updated by DGIS and DG Signals on their website on ADN. </a:t>
            </a:r>
            <a:endParaRPr lang="en-US" sz="20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831821AD-88B8-6906-098D-70E632B1F896}"/>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531CC9BF-013C-CB07-61A6-221B8A9006F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55C118B8-E92E-9692-203E-078824CF998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C6ABB129-CB51-339C-038F-324869D41BC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997621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40316" y="967793"/>
            <a:ext cx="9062720" cy="5536837"/>
          </a:xfrm>
          <a:prstGeom prst="rect">
            <a:avLst/>
          </a:prstGeom>
          <a:noFill/>
        </p:spPr>
        <p:txBody>
          <a:bodyPr wrap="square" rtlCol="0">
            <a:spAutoFit/>
          </a:bodyPr>
          <a:lstStyle/>
          <a:p>
            <a:pPr marL="525463" lvl="2" indent="-342900">
              <a:lnSpc>
                <a:spcPct val="200000"/>
              </a:lnSpc>
              <a:buFont typeface="Arial" panose="020B0604020202020204" pitchFamily="34" charset="0"/>
              <a:buChar char="•"/>
            </a:pPr>
            <a:r>
              <a:rPr lang="en-US" sz="2000" b="1" u="sng" dirty="0">
                <a:solidFill>
                  <a:srgbClr val="FF0000"/>
                </a:solidFill>
                <a:latin typeface="Arial" panose="020B0604020202020204" pitchFamily="34" charset="0"/>
                <a:cs typeface="Arial" panose="020B0604020202020204" pitchFamily="34" charset="0"/>
              </a:rPr>
              <a:t>IP Version 6</a:t>
            </a:r>
            <a:r>
              <a:rPr lang="en-US" sz="2000" b="1" dirty="0">
                <a:solidFill>
                  <a:srgbClr val="FF0000"/>
                </a:solidFill>
                <a:latin typeface="Arial" panose="020B0604020202020204" pitchFamily="34" charset="0"/>
                <a:cs typeface="Arial" panose="020B0604020202020204" pitchFamily="34" charset="0"/>
              </a:rPr>
              <a:t> : Internet protocol version 6 is disabled in Indian army because it is not fully developed and all the network and infrastructure in Indian army is based on IPv4 and due to some security issue it is not used in Indian army. </a:t>
            </a:r>
          </a:p>
          <a:p>
            <a:pPr marL="525463" lvl="2" indent="-342900">
              <a:lnSpc>
                <a:spcPct val="200000"/>
              </a:lnSpc>
              <a:buFont typeface="Arial" panose="020B0604020202020204" pitchFamily="34" charset="0"/>
              <a:buChar char="•"/>
            </a:pPr>
            <a:r>
              <a:rPr lang="en-US" sz="2000" b="1" u="sng" dirty="0">
                <a:latin typeface="Arial" panose="020B0604020202020204" pitchFamily="34" charset="0"/>
                <a:cs typeface="Arial" panose="020B0604020202020204" pitchFamily="34" charset="0"/>
              </a:rPr>
              <a:t>Remote Access</a:t>
            </a:r>
            <a:r>
              <a:rPr lang="en-US" sz="2000" b="1" dirty="0">
                <a:latin typeface="Arial" panose="020B0604020202020204" pitchFamily="34" charset="0"/>
                <a:cs typeface="Arial" panose="020B0604020202020204" pitchFamily="34" charset="0"/>
              </a:rPr>
              <a:t> : Not permitted &amp; should be disabled for all resources of any network in IA. Only permitted over designated secure </a:t>
            </a:r>
            <a:r>
              <a:rPr lang="en-US" sz="2000" b="1" dirty="0" err="1">
                <a:latin typeface="Arial" panose="020B0604020202020204" pitchFamily="34" charset="0"/>
                <a:cs typeface="Arial" panose="020B0604020202020204" pitchFamily="34" charset="0"/>
              </a:rPr>
              <a:t>comn</a:t>
            </a:r>
            <a:r>
              <a:rPr lang="en-US" sz="2000" b="1" dirty="0">
                <a:latin typeface="Arial" panose="020B0604020202020204" pitchFamily="34" charset="0"/>
                <a:cs typeface="Arial" panose="020B0604020202020204" pitchFamily="34" charset="0"/>
              </a:rPr>
              <a:t> channels for certain specified purposes.</a:t>
            </a:r>
          </a:p>
          <a:p>
            <a:pPr marL="525463" lvl="2" indent="-342900">
              <a:lnSpc>
                <a:spcPct val="200000"/>
              </a:lnSpc>
              <a:buFont typeface="Arial" panose="020B0604020202020204" pitchFamily="34" charset="0"/>
              <a:buChar char="•"/>
            </a:pPr>
            <a:r>
              <a:rPr lang="en-US" sz="2000" b="1" u="sng" dirty="0">
                <a:solidFill>
                  <a:srgbClr val="0070C0"/>
                </a:solidFill>
                <a:latin typeface="Arial" panose="020B0604020202020204" pitchFamily="34" charset="0"/>
                <a:cs typeface="Arial" panose="020B0604020202020204" pitchFamily="34" charset="0"/>
              </a:rPr>
              <a:t>Backup</a:t>
            </a:r>
            <a:r>
              <a:rPr lang="en-US" sz="2000" b="1" dirty="0">
                <a:solidFill>
                  <a:srgbClr val="0070C0"/>
                </a:solidFill>
                <a:latin typeface="Arial" panose="020B0604020202020204" pitchFamily="34" charset="0"/>
                <a:cs typeface="Arial" panose="020B0604020202020204" pitchFamily="34" charset="0"/>
              </a:rPr>
              <a:t> : Instrs promulgated vide CHCD to be followed. On ethernet based NAS/ DVDs. Frequency, medium &amp; storage docu as SOPs.</a:t>
            </a:r>
            <a:r>
              <a:rPr lang="en-US" sz="2000" b="1" dirty="0">
                <a:solidFill>
                  <a:srgbClr val="002060"/>
                </a:solidFill>
                <a:latin typeface="Arial" panose="020B0604020202020204" pitchFamily="34" charset="0"/>
                <a:cs typeface="Arial" panose="020B0604020202020204" pitchFamily="34" charset="0"/>
              </a:rPr>
              <a:t> </a:t>
            </a:r>
          </a:p>
        </p:txBody>
      </p:sp>
      <p:grpSp>
        <p:nvGrpSpPr>
          <p:cNvPr id="3" name="Group 2">
            <a:extLst>
              <a:ext uri="{FF2B5EF4-FFF2-40B4-BE49-F238E27FC236}">
                <a16:creationId xmlns:a16="http://schemas.microsoft.com/office/drawing/2014/main" id="{706B70CC-DABF-45D4-FD07-A14F20273C69}"/>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4603BF0E-B42C-71FC-EBBB-328F92AD8972}"/>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2EE3FB3-C3E9-52CC-7C04-6739400ADE7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ADAF8416-4115-3EF5-0C3A-516347ED5EB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1915827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852036"/>
            <a:ext cx="9144000" cy="5775364"/>
          </a:xfrm>
          <a:prstGeom prst="rect">
            <a:avLst/>
          </a:prstGeom>
          <a:noFill/>
        </p:spPr>
        <p:txBody>
          <a:bodyPr wrap="square" rtlCol="0">
            <a:spAutoFit/>
          </a:bodyPr>
          <a:lstStyle/>
          <a:p>
            <a:pPr marL="182563" lvl="2">
              <a:lnSpc>
                <a:spcPct val="170000"/>
              </a:lnSpc>
            </a:pPr>
            <a:r>
              <a:rPr lang="en-US" sz="2000" b="1" u="sng" dirty="0">
                <a:solidFill>
                  <a:srgbClr val="FF0000"/>
                </a:solidFill>
                <a:latin typeface="Arial" panose="020B0604020202020204" pitchFamily="34" charset="0"/>
                <a:cs typeface="Arial" panose="020B0604020202020204" pitchFamily="34" charset="0"/>
              </a:rPr>
              <a:t>INTERNET ACCESS</a:t>
            </a:r>
            <a:r>
              <a:rPr lang="en-US" sz="2000" b="1" dirty="0">
                <a:solidFill>
                  <a:srgbClr val="FF0000"/>
                </a:solidFill>
                <a:latin typeface="Arial" panose="020B0604020202020204" pitchFamily="34" charset="0"/>
                <a:cs typeface="Arial" panose="020B0604020202020204" pitchFamily="34" charset="0"/>
              </a:rPr>
              <a:t> </a:t>
            </a:r>
          </a:p>
          <a:p>
            <a:pPr marL="982663" lvl="3"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MAC ID binding enabled at Modems</a:t>
            </a:r>
          </a:p>
          <a:p>
            <a:pPr marL="982663" lvl="3"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VPN for official Internet computers is prohibited</a:t>
            </a:r>
          </a:p>
          <a:p>
            <a:pPr marL="982663" lvl="3"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Peer-to-Peer data sharing software Prohibited</a:t>
            </a:r>
          </a:p>
          <a:p>
            <a:pPr marL="982663" lvl="3"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No official docu on pers laptops/ smartphones</a:t>
            </a:r>
          </a:p>
          <a:p>
            <a:pPr marL="982663" lvl="3"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Phishing mails/ suspected data breaches – Report to CISO/ ISO &amp; further to CERT. </a:t>
            </a:r>
          </a:p>
          <a:p>
            <a:pPr marL="263525" lvl="3" indent="-80963">
              <a:lnSpc>
                <a:spcPct val="170000"/>
              </a:lnSpc>
            </a:pPr>
            <a:r>
              <a:rPr lang="en-US" sz="2000" b="1" u="sng" dirty="0">
                <a:solidFill>
                  <a:srgbClr val="FF0000"/>
                </a:solidFill>
                <a:latin typeface="Arial" panose="020B0604020202020204" pitchFamily="34" charset="0"/>
                <a:cs typeface="Arial" panose="020B0604020202020204" pitchFamily="34" charset="0"/>
              </a:rPr>
              <a:t>SECURITY ASPECTS</a:t>
            </a:r>
          </a:p>
          <a:p>
            <a:pPr marL="982662" lvl="4" indent="-342900">
              <a:lnSpc>
                <a:spcPct val="17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Maint of air gap</a:t>
            </a:r>
          </a:p>
          <a:p>
            <a:pPr marL="982662" lvl="4"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Use of pen drive – ZERO TOLERANCE.</a:t>
            </a:r>
          </a:p>
          <a:p>
            <a:pPr marL="982662" lvl="4"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Official Mail/Nic mail ID</a:t>
            </a:r>
          </a:p>
        </p:txBody>
      </p:sp>
      <p:grpSp>
        <p:nvGrpSpPr>
          <p:cNvPr id="3" name="Group 2">
            <a:extLst>
              <a:ext uri="{FF2B5EF4-FFF2-40B4-BE49-F238E27FC236}">
                <a16:creationId xmlns:a16="http://schemas.microsoft.com/office/drawing/2014/main" id="{8C16B33A-0F95-4BA8-DA13-B72D5A431890}"/>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238C6AE8-EBAA-A36A-CA4C-91EBBF6A324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5EC2F2D-CD4C-FE89-18A5-E339FFBFECF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8395A2CA-568F-B2E6-654B-8C2CD1457A5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7159156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10160" y="977953"/>
            <a:ext cx="9144000" cy="3690177"/>
          </a:xfrm>
          <a:prstGeom prst="rect">
            <a:avLst/>
          </a:prstGeom>
          <a:noFill/>
        </p:spPr>
        <p:txBody>
          <a:bodyPr wrap="square" rtlCol="0">
            <a:spAutoFit/>
          </a:bodyPr>
          <a:lstStyle/>
          <a:p>
            <a:pPr marL="355600" lvl="3">
              <a:lnSpc>
                <a:spcPct val="200000"/>
              </a:lnSpc>
            </a:pPr>
            <a:r>
              <a:rPr lang="en-US" sz="2000" b="1" u="sng" dirty="0">
                <a:solidFill>
                  <a:srgbClr val="FF0000"/>
                </a:solidFill>
                <a:latin typeface="Arial" panose="020B0604020202020204" pitchFamily="34" charset="0"/>
                <a:cs typeface="Arial" panose="020B0604020202020204" pitchFamily="34" charset="0"/>
              </a:rPr>
              <a:t>Official computer not to be used for</a:t>
            </a:r>
          </a:p>
          <a:p>
            <a:pPr marL="1155700" lvl="4"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Accessing person account on social media</a:t>
            </a:r>
          </a:p>
          <a:p>
            <a:pPr marL="1155700" lvl="4"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Websites pertaining to stock mkt, Betting &amp; other business activities. </a:t>
            </a:r>
          </a:p>
          <a:p>
            <a:pPr marL="1155700" lvl="4" indent="-342900">
              <a:lnSpc>
                <a:spcPct val="200000"/>
              </a:lnSpc>
              <a:buFont typeface="Arial" panose="020B0604020202020204" pitchFamily="34" charset="0"/>
              <a:buChar char="•"/>
            </a:pPr>
            <a:r>
              <a:rPr lang="fr-FR" sz="2000" b="1" dirty="0" err="1">
                <a:solidFill>
                  <a:srgbClr val="FF0000"/>
                </a:solidFill>
                <a:latin typeface="Arial" panose="020B0604020202020204" pitchFamily="34" charset="0"/>
                <a:cs typeface="Arial" panose="020B0604020202020204" pitchFamily="34" charset="0"/>
              </a:rPr>
              <a:t>Adult</a:t>
            </a:r>
            <a:r>
              <a:rPr lang="fr-FR" sz="2000" b="1" dirty="0">
                <a:solidFill>
                  <a:srgbClr val="FF0000"/>
                </a:solidFill>
                <a:latin typeface="Arial" panose="020B0604020202020204" pitchFamily="34" charset="0"/>
                <a:cs typeface="Arial" panose="020B0604020202020204" pitchFamily="34" charset="0"/>
              </a:rPr>
              <a:t> dating sites , </a:t>
            </a:r>
            <a:r>
              <a:rPr lang="fr-FR" sz="2000" b="1" dirty="0" err="1">
                <a:solidFill>
                  <a:srgbClr val="FF0000"/>
                </a:solidFill>
                <a:latin typeface="Arial" panose="020B0604020202020204" pitchFamily="34" charset="0"/>
                <a:cs typeface="Arial" panose="020B0604020202020204" pitchFamily="34" charset="0"/>
              </a:rPr>
              <a:t>Pornographic</a:t>
            </a:r>
            <a:r>
              <a:rPr lang="fr-FR" sz="2000" b="1" dirty="0">
                <a:solidFill>
                  <a:srgbClr val="FF0000"/>
                </a:solidFill>
                <a:latin typeface="Arial" panose="020B0604020202020204" pitchFamily="34" charset="0"/>
                <a:cs typeface="Arial" panose="020B0604020202020204" pitchFamily="34" charset="0"/>
              </a:rPr>
              <a:t> sites, </a:t>
            </a:r>
            <a:r>
              <a:rPr lang="fr-FR" sz="2000" b="1" dirty="0" err="1">
                <a:solidFill>
                  <a:srgbClr val="FF0000"/>
                </a:solidFill>
                <a:latin typeface="Arial" panose="020B0604020202020204" pitchFamily="34" charset="0"/>
                <a:cs typeface="Arial" panose="020B0604020202020204" pitchFamily="34" charset="0"/>
              </a:rPr>
              <a:t>Banned</a:t>
            </a:r>
            <a:r>
              <a:rPr lang="fr-FR" sz="2000" b="1" dirty="0">
                <a:solidFill>
                  <a:srgbClr val="FF0000"/>
                </a:solidFill>
                <a:latin typeface="Arial" panose="020B0604020202020204" pitchFamily="34" charset="0"/>
                <a:cs typeface="Arial" panose="020B0604020202020204" pitchFamily="34" charset="0"/>
              </a:rPr>
              <a:t> </a:t>
            </a:r>
            <a:r>
              <a:rPr lang="fr-FR" sz="2000" b="1" dirty="0" err="1">
                <a:solidFill>
                  <a:srgbClr val="FF0000"/>
                </a:solidFill>
                <a:latin typeface="Arial" panose="020B0604020202020204" pitchFamily="34" charset="0"/>
                <a:cs typeface="Arial" panose="020B0604020202020204" pitchFamily="34" charset="0"/>
              </a:rPr>
              <a:t>websites</a:t>
            </a:r>
            <a:r>
              <a:rPr lang="fr-FR" sz="2000" b="1" dirty="0">
                <a:solidFill>
                  <a:srgbClr val="FF0000"/>
                </a:solidFill>
                <a:latin typeface="Arial" panose="020B0604020202020204" pitchFamily="34" charset="0"/>
                <a:cs typeface="Arial" panose="020B0604020202020204" pitchFamily="34" charset="0"/>
              </a:rPr>
              <a:t> etc. </a:t>
            </a:r>
            <a:endParaRPr lang="en-US" sz="2000" b="1" dirty="0">
              <a:solidFill>
                <a:srgbClr val="FF0000"/>
              </a:solidFill>
              <a:latin typeface="Arial" panose="020B0604020202020204" pitchFamily="34" charset="0"/>
              <a:cs typeface="Arial" panose="020B0604020202020204" pitchFamily="34" charset="0"/>
            </a:endParaRPr>
          </a:p>
          <a:p>
            <a:pPr marL="1155700" lvl="4"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Downloading movies/ music from Peer-to-peer websites.</a:t>
            </a:r>
            <a:r>
              <a:rPr lang="en-US" sz="2000" b="1" dirty="0">
                <a:solidFill>
                  <a:srgbClr val="002060"/>
                </a:solidFill>
                <a:latin typeface="Arial" panose="020B0604020202020204" pitchFamily="34" charset="0"/>
                <a:cs typeface="Arial" panose="020B0604020202020204" pitchFamily="34" charset="0"/>
              </a:rPr>
              <a:t> </a:t>
            </a:r>
          </a:p>
        </p:txBody>
      </p:sp>
      <p:grpSp>
        <p:nvGrpSpPr>
          <p:cNvPr id="3" name="Group 2">
            <a:extLst>
              <a:ext uri="{FF2B5EF4-FFF2-40B4-BE49-F238E27FC236}">
                <a16:creationId xmlns:a16="http://schemas.microsoft.com/office/drawing/2014/main" id="{D39A9766-2712-80A2-63B6-178C8A28F099}"/>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0003A4D6-133E-5A31-40CC-1AAF98C3B0D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2C9A3B0-20AC-9C6A-6587-6ABDAA7DAAA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C2B266B2-E9A7-14B2-62FD-24D88BF5CB9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0974144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0480" y="1018593"/>
            <a:ext cx="9062720" cy="5536837"/>
          </a:xfrm>
          <a:prstGeom prst="rect">
            <a:avLst/>
          </a:prstGeom>
          <a:noFill/>
        </p:spPr>
        <p:txBody>
          <a:bodyPr wrap="square" rtlCol="0">
            <a:spAutoFit/>
          </a:bodyPr>
          <a:lstStyle/>
          <a:p>
            <a:pPr marL="182563" lvl="3">
              <a:lnSpc>
                <a:spcPct val="200000"/>
              </a:lnSpc>
            </a:pPr>
            <a:r>
              <a:rPr lang="en-US" sz="2000" b="1" u="sng" dirty="0">
                <a:solidFill>
                  <a:srgbClr val="FF0000"/>
                </a:solidFill>
                <a:latin typeface="Arial" panose="020B0604020202020204" pitchFamily="34" charset="0"/>
                <a:cs typeface="Arial" panose="020B0604020202020204" pitchFamily="34" charset="0"/>
              </a:rPr>
              <a:t>RISK ASSOCIATED WITH THE USE OF SMART DEVICES</a:t>
            </a:r>
            <a:r>
              <a:rPr lang="en-US" sz="2000" b="1" dirty="0">
                <a:solidFill>
                  <a:srgbClr val="FF0000"/>
                </a:solidFill>
                <a:latin typeface="Arial" panose="020B0604020202020204" pitchFamily="34" charset="0"/>
                <a:cs typeface="Arial" panose="020B0604020202020204" pitchFamily="34" charset="0"/>
              </a:rPr>
              <a:t> : Use of smart devices and smartphones in military environment pose risks, which are as under: - </a:t>
            </a:r>
          </a:p>
          <a:p>
            <a:pPr marL="698500" lvl="3"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Computing/ storage power of smart devices are equivalent of laptops/ computers. They can therefore store/ process huge volume of data. </a:t>
            </a:r>
          </a:p>
          <a:p>
            <a:pPr marL="698500" lvl="3"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Downloading of third party application makes these devices even more vulnerable. </a:t>
            </a:r>
          </a:p>
          <a:p>
            <a:pPr marL="698500" lvl="3"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Camera, microphone can be used to capture sensitive data.</a:t>
            </a:r>
            <a:endParaRPr lang="en-US" sz="2000" b="1" u="sng"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F7AB2F84-1932-D56C-AFBE-B43087F74551}"/>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213C0DE8-7FAF-EE3B-0CE4-9316C710AAC8}"/>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6419D4B-6BE2-C8B4-081C-04C4A845D1D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C7D114B9-AC1A-E2B6-A3DF-B4C59B496D8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2423565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C026B-0F21-EF0A-BC0E-4AE29BAE24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32C9C8-C529-7AC3-D15D-395B78CB7667}"/>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F91A9D0-EC40-DFB5-46B0-DD8E9B90CADE}"/>
              </a:ext>
            </a:extLst>
          </p:cNvPr>
          <p:cNvSpPr txBox="1"/>
          <p:nvPr/>
        </p:nvSpPr>
        <p:spPr>
          <a:xfrm>
            <a:off x="30480" y="1018593"/>
            <a:ext cx="9062720" cy="5444504"/>
          </a:xfrm>
          <a:prstGeom prst="rect">
            <a:avLst/>
          </a:prstGeom>
          <a:noFill/>
        </p:spPr>
        <p:txBody>
          <a:bodyPr wrap="square" rtlCol="0">
            <a:spAutoFit/>
          </a:bodyPr>
          <a:lstStyle/>
          <a:p>
            <a:pPr marL="698500" lvl="3" indent="-3429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Metadata (location, call timings </a:t>
            </a:r>
            <a:r>
              <a:rPr lang="en-US" sz="2000" b="1" dirty="0" err="1">
                <a:solidFill>
                  <a:srgbClr val="FF0000"/>
                </a:solidFill>
                <a:latin typeface="Arial" panose="020B0604020202020204" pitchFamily="34" charset="0"/>
                <a:cs typeface="Arial" panose="020B0604020202020204" pitchFamily="34" charset="0"/>
              </a:rPr>
              <a:t>etc</a:t>
            </a:r>
            <a:r>
              <a:rPr lang="en-US" sz="2000" b="1" dirty="0">
                <a:solidFill>
                  <a:srgbClr val="FF0000"/>
                </a:solidFill>
                <a:latin typeface="Arial" panose="020B0604020202020204" pitchFamily="34" charset="0"/>
                <a:cs typeface="Arial" panose="020B0604020202020204" pitchFamily="34" charset="0"/>
              </a:rPr>
              <a:t>) is recorded/ maintained by service providers/ applications and can be used by hostile elements.</a:t>
            </a:r>
          </a:p>
          <a:p>
            <a:pPr marL="698500" lvl="3" indent="-342900">
              <a:lnSpc>
                <a:spcPct val="16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Supply chain poisoning can cause built-in software, hardware backdoors in these devices, which can be used to control the device. </a:t>
            </a:r>
          </a:p>
          <a:p>
            <a:pPr marL="698500" lvl="3" indent="-342900">
              <a:lnSpc>
                <a:spcPct val="16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Personally Identifiable Information (PII) leakage.</a:t>
            </a:r>
          </a:p>
          <a:p>
            <a:pPr marL="698500" lvl="3" indent="-3429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Public Wi-Fi connections - Weak security </a:t>
            </a:r>
            <a:r>
              <a:rPr lang="en-US" sz="2000" b="1" dirty="0" err="1">
                <a:solidFill>
                  <a:srgbClr val="FF0000"/>
                </a:solidFill>
                <a:latin typeface="Arial" panose="020B0604020202020204" pitchFamily="34" charset="0"/>
                <a:cs typeface="Arial" panose="020B0604020202020204" pitchFamily="34" charset="0"/>
              </a:rPr>
              <a:t>stds</a:t>
            </a:r>
            <a:endParaRPr lang="en-US" sz="2000" b="1" dirty="0">
              <a:solidFill>
                <a:srgbClr val="FF0000"/>
              </a:solidFill>
              <a:latin typeface="Arial" panose="020B0604020202020204" pitchFamily="34" charset="0"/>
              <a:cs typeface="Arial" panose="020B0604020202020204" pitchFamily="34" charset="0"/>
            </a:endParaRPr>
          </a:p>
          <a:p>
            <a:pPr marL="698500" lvl="3" indent="-342900">
              <a:lnSpc>
                <a:spcPct val="16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Untrusted Content – Unknown QR codes not be scanned</a:t>
            </a:r>
          </a:p>
          <a:p>
            <a:pPr marL="698500" lvl="3" indent="-342900">
              <a:lnSpc>
                <a:spcPct val="16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Honey trap activities carried out by adversaries via various chat &amp; social media applications.</a:t>
            </a:r>
            <a:endParaRPr lang="en-IN"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453C77D-5B07-9C59-74B8-73642A0C80E5}"/>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0019862C-7B73-B91C-873A-0C48BA48DD54}"/>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B3947C4-8BF1-C785-C7B9-F539D596D8E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23CF29C2-D4FB-1F22-3DB5-371EE339B7E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6970774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23972" y="909394"/>
            <a:ext cx="9062720" cy="5444504"/>
          </a:xfrm>
          <a:prstGeom prst="rect">
            <a:avLst/>
          </a:prstGeom>
          <a:noFill/>
        </p:spPr>
        <p:txBody>
          <a:bodyPr wrap="square" rtlCol="0">
            <a:spAutoFit/>
          </a:bodyPr>
          <a:lstStyle/>
          <a:p>
            <a:pPr marL="698500" lvl="3" indent="-3429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Friends and family members often become source leakage of sensitive information e.g. through photos/ videos, sharing news about posting/ promotions etc.</a:t>
            </a:r>
            <a:endParaRPr lang="en-IN" sz="2000" b="1" dirty="0">
              <a:solidFill>
                <a:srgbClr val="FF0000"/>
              </a:solidFill>
              <a:latin typeface="Arial" panose="020B0604020202020204" pitchFamily="34" charset="0"/>
              <a:cs typeface="Arial" panose="020B0604020202020204" pitchFamily="34" charset="0"/>
            </a:endParaRPr>
          </a:p>
          <a:p>
            <a:pPr marL="698500" lvl="3" indent="-342900">
              <a:lnSpc>
                <a:spcPct val="16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Hacked accounts of friends and family members are used to target military persons.</a:t>
            </a:r>
            <a:endParaRPr lang="en-IN" sz="2000" b="1" dirty="0">
              <a:latin typeface="Arial" panose="020B0604020202020204" pitchFamily="34" charset="0"/>
              <a:cs typeface="Arial" panose="020B0604020202020204" pitchFamily="34" charset="0"/>
            </a:endParaRPr>
          </a:p>
          <a:p>
            <a:pPr marL="698500" lvl="3" indent="-342900">
              <a:lnSpc>
                <a:spcPct val="16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Gathering of Personally Identified Information (PII) &amp; bank details by means of frauds through online shopping &amp; dating applications.</a:t>
            </a:r>
            <a:endParaRPr lang="en-IN" sz="2000" b="1" dirty="0">
              <a:solidFill>
                <a:srgbClr val="0070C0"/>
              </a:solidFill>
              <a:latin typeface="Arial" panose="020B0604020202020204" pitchFamily="34" charset="0"/>
              <a:cs typeface="Arial" panose="020B0604020202020204" pitchFamily="34" charset="0"/>
            </a:endParaRPr>
          </a:p>
          <a:p>
            <a:pPr marL="698500" lvl="3" indent="-342900">
              <a:lnSpc>
                <a:spcPct val="16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Family members shall adhere to the cyber guidelines disseminated during various </a:t>
            </a:r>
            <a:r>
              <a:rPr lang="en-US" sz="2000" b="1" dirty="0" err="1">
                <a:solidFill>
                  <a:srgbClr val="FF0000"/>
                </a:solidFill>
                <a:latin typeface="Arial" panose="020B0604020202020204" pitchFamily="34" charset="0"/>
                <a:cs typeface="Arial" panose="020B0604020202020204" pitchFamily="34" charset="0"/>
              </a:rPr>
              <a:t>Sainik</a:t>
            </a:r>
            <a:r>
              <a:rPr lang="en-US" sz="2000" b="1" dirty="0">
                <a:solidFill>
                  <a:srgbClr val="FF0000"/>
                </a:solidFill>
                <a:latin typeface="Arial" panose="020B0604020202020204" pitchFamily="34" charset="0"/>
                <a:cs typeface="Arial" panose="020B0604020202020204" pitchFamily="34" charset="0"/>
              </a:rPr>
              <a:t> </a:t>
            </a:r>
            <a:r>
              <a:rPr lang="en-US" sz="2000" b="1" dirty="0" err="1">
                <a:solidFill>
                  <a:srgbClr val="FF0000"/>
                </a:solidFill>
                <a:latin typeface="Arial" panose="020B0604020202020204" pitchFamily="34" charset="0"/>
                <a:cs typeface="Arial" panose="020B0604020202020204" pitchFamily="34" charset="0"/>
              </a:rPr>
              <a:t>Sammelans</a:t>
            </a:r>
            <a:r>
              <a:rPr lang="en-US" sz="2000" b="1" dirty="0">
                <a:solidFill>
                  <a:srgbClr val="FF0000"/>
                </a:solidFill>
                <a:latin typeface="Arial" panose="020B0604020202020204" pitchFamily="34" charset="0"/>
                <a:cs typeface="Arial" panose="020B0604020202020204" pitchFamily="34" charset="0"/>
              </a:rPr>
              <a:t>, Family Welfare </a:t>
            </a:r>
            <a:r>
              <a:rPr lang="en-US" sz="2000" b="1" dirty="0" err="1">
                <a:solidFill>
                  <a:srgbClr val="FF0000"/>
                </a:solidFill>
                <a:latin typeface="Arial" panose="020B0604020202020204" pitchFamily="34" charset="0"/>
                <a:cs typeface="Arial" panose="020B0604020202020204" pitchFamily="34" charset="0"/>
              </a:rPr>
              <a:t>Programmes</a:t>
            </a:r>
            <a:r>
              <a:rPr lang="en-US" sz="2000" b="1" dirty="0">
                <a:solidFill>
                  <a:srgbClr val="FF0000"/>
                </a:solidFill>
                <a:latin typeface="Arial" panose="020B0604020202020204" pitchFamily="34" charset="0"/>
                <a:cs typeface="Arial" panose="020B0604020202020204" pitchFamily="34" charset="0"/>
              </a:rPr>
              <a:t>, lectures &amp; talks. Such educational/ awareness capsules should be conducted regularly at</a:t>
            </a:r>
            <a:endParaRPr lang="en-IN" sz="20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6B53A877-8C0D-0371-12CF-9327C2736FC0}"/>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2E00D42F-B620-24D7-F5DD-44B744ABA72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34FD2D1-579F-D2A8-DFCE-9DF56431868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BFCE68B8-551D-FA49-7677-6FA8147E360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8223731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955039"/>
            <a:ext cx="9062720" cy="5575309"/>
          </a:xfrm>
          <a:prstGeom prst="rect">
            <a:avLst/>
          </a:prstGeom>
          <a:noFill/>
        </p:spPr>
        <p:txBody>
          <a:bodyPr wrap="square" rtlCol="0">
            <a:spAutoFit/>
          </a:bodyPr>
          <a:lstStyle/>
          <a:p>
            <a:pPr marL="355600" lvl="3">
              <a:lnSpc>
                <a:spcPct val="150000"/>
              </a:lnSpc>
            </a:pPr>
            <a:r>
              <a:rPr lang="en-US" sz="2000" b="1" u="sng" dirty="0">
                <a:solidFill>
                  <a:srgbClr val="FF0000"/>
                </a:solidFill>
                <a:latin typeface="Arial" panose="020B0604020202020204" pitchFamily="34" charset="0"/>
                <a:cs typeface="Arial" panose="020B0604020202020204" pitchFamily="34" charset="0"/>
              </a:rPr>
              <a:t>STEPS TO FOLLOW</a:t>
            </a:r>
          </a:p>
          <a:p>
            <a:pPr marL="698500"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Password Protection using strong PIN, pattern or fingerprint.</a:t>
            </a:r>
          </a:p>
          <a:p>
            <a:pPr marL="698500" lvl="3" indent="-342900">
              <a:lnSpc>
                <a:spcPct val="15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Camera/ Microphone/ Loc svc – Permissions disabled </a:t>
            </a:r>
            <a:endParaRPr lang="en-US" sz="2000" b="1" dirty="0">
              <a:solidFill>
                <a:srgbClr val="0070C0"/>
              </a:solidFill>
              <a:latin typeface="Arial" panose="020B0604020202020204" pitchFamily="34" charset="0"/>
              <a:cs typeface="Arial" panose="020B0604020202020204" pitchFamily="34" charset="0"/>
            </a:endParaRPr>
          </a:p>
          <a:p>
            <a:pPr marL="698500"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Contact list – Avoid saving contacts with Rank, unit name </a:t>
            </a:r>
          </a:p>
          <a:p>
            <a:pPr marL="698500"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Cl Info – Not to be stored on mob phone </a:t>
            </a:r>
          </a:p>
          <a:p>
            <a:pPr marL="698500" lvl="3"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Logging off websites after use </a:t>
            </a:r>
          </a:p>
          <a:p>
            <a:pPr marL="698500" lvl="3"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Charging through un-trusted USB ports avoided</a:t>
            </a:r>
          </a:p>
          <a:p>
            <a:pPr marL="698500"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Repair/ maint – Through trusted / OEM repair centers only</a:t>
            </a:r>
          </a:p>
          <a:p>
            <a:pPr marL="182563" lvl="3">
              <a:lnSpc>
                <a:spcPct val="150000"/>
              </a:lnSpc>
            </a:pPr>
            <a:r>
              <a:rPr lang="en-US" sz="2000" b="1" u="sng" dirty="0">
                <a:solidFill>
                  <a:srgbClr val="0070C0"/>
                </a:solidFill>
                <a:latin typeface="Arial" panose="020B0604020202020204" pitchFamily="34" charset="0"/>
                <a:cs typeface="Arial" panose="020B0604020202020204" pitchFamily="34" charset="0"/>
              </a:rPr>
              <a:t>IT Assets &amp; </a:t>
            </a:r>
            <a:r>
              <a:rPr lang="en-US" sz="2000" b="1" u="sng" dirty="0" err="1">
                <a:solidFill>
                  <a:srgbClr val="0070C0"/>
                </a:solidFill>
                <a:latin typeface="Arial" panose="020B0604020202020204" pitchFamily="34" charset="0"/>
                <a:cs typeface="Arial" panose="020B0604020202020204" pitchFamily="34" charset="0"/>
              </a:rPr>
              <a:t>Peripheial</a:t>
            </a:r>
            <a:r>
              <a:rPr lang="en-US" sz="2000" b="1" u="sng" dirty="0">
                <a:solidFill>
                  <a:srgbClr val="0070C0"/>
                </a:solidFill>
                <a:latin typeface="Arial" panose="020B0604020202020204" pitchFamily="34" charset="0"/>
                <a:cs typeface="Arial" panose="020B0604020202020204" pitchFamily="34" charset="0"/>
              </a:rPr>
              <a:t> Mgt</a:t>
            </a:r>
          </a:p>
          <a:p>
            <a:pPr marL="982663" lvl="4"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Servers will be kept in server racks under lock &amp; key. </a:t>
            </a:r>
          </a:p>
          <a:p>
            <a:pPr marL="982663" lvl="4"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USB based Pen Drive/ Flash Drive/ SD Card Readers Use other than whitelisted USB based tokens is strictly prohibited. </a:t>
            </a:r>
            <a:endParaRPr lang="en-IN" sz="2000" b="1"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5B8C7E7-FC2D-35A7-7F18-B61DF76A6CAC}"/>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F0866A66-8E18-0C9D-4518-DFD3BE37FF08}"/>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96CC5D1-DCF8-183E-4120-D856BC00620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5D272049-F8B8-8266-F86A-4BEFB9A6541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756212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955039"/>
            <a:ext cx="9062720" cy="4282647"/>
          </a:xfrm>
          <a:prstGeom prst="rect">
            <a:avLst/>
          </a:prstGeom>
          <a:noFill/>
        </p:spPr>
        <p:txBody>
          <a:bodyPr wrap="square" rtlCol="0">
            <a:spAutoFit/>
          </a:bodyPr>
          <a:lstStyle/>
          <a:p>
            <a:pPr marL="182563" lvl="3">
              <a:lnSpc>
                <a:spcPct val="150000"/>
              </a:lnSpc>
            </a:pPr>
            <a:r>
              <a:rPr lang="en-US" sz="2400" b="1" u="sng" dirty="0">
                <a:solidFill>
                  <a:srgbClr val="FF0000"/>
                </a:solidFill>
                <a:latin typeface="Arial" panose="020B0604020202020204" pitchFamily="34" charset="0"/>
                <a:cs typeface="Arial" panose="020B0604020202020204" pitchFamily="34" charset="0"/>
              </a:rPr>
              <a:t>Internal CD/DVD Drives</a:t>
            </a:r>
          </a:p>
          <a:p>
            <a:pPr marL="982663" lvl="4"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ADN computers - Prohibited, except for computers </a:t>
            </a:r>
            <a:r>
              <a:rPr lang="en-US" sz="2000" b="1" dirty="0" err="1">
                <a:latin typeface="Arial" panose="020B0604020202020204" pitchFamily="34" charset="0"/>
                <a:cs typeface="Arial" panose="020B0604020202020204" pitchFamily="34" charset="0"/>
              </a:rPr>
              <a:t>iden</a:t>
            </a:r>
            <a:r>
              <a:rPr lang="en-US" sz="2000" b="1" dirty="0">
                <a:latin typeface="Arial" panose="020B0604020202020204" pitchFamily="34" charset="0"/>
                <a:cs typeface="Arial" panose="020B0604020202020204" pitchFamily="34" charset="0"/>
              </a:rPr>
              <a:t> as (DEP)</a:t>
            </a:r>
          </a:p>
          <a:p>
            <a:pPr marL="982663" lvl="4"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Exclusive LAN - Enabled on selected computers authorised by Cyber security </a:t>
            </a:r>
            <a:r>
              <a:rPr lang="en-US" sz="2000" b="1" dirty="0" err="1">
                <a:solidFill>
                  <a:srgbClr val="0070C0"/>
                </a:solidFill>
                <a:latin typeface="Arial" panose="020B0604020202020204" pitchFamily="34" charset="0"/>
                <a:cs typeface="Arial" panose="020B0604020202020204" pitchFamily="34" charset="0"/>
              </a:rPr>
              <a:t>offr</a:t>
            </a:r>
            <a:r>
              <a:rPr lang="en-US" sz="2000" b="1" dirty="0">
                <a:solidFill>
                  <a:srgbClr val="0070C0"/>
                </a:solidFill>
                <a:latin typeface="Arial" panose="020B0604020202020204" pitchFamily="34" charset="0"/>
                <a:cs typeface="Arial" panose="020B0604020202020204" pitchFamily="34" charset="0"/>
              </a:rPr>
              <a:t>.</a:t>
            </a:r>
          </a:p>
          <a:p>
            <a:pPr marL="982663" lvl="4"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Internet PC/ laptops - Enabled on computers authorised by CS </a:t>
            </a:r>
            <a:r>
              <a:rPr lang="en-US" sz="2000" b="1" dirty="0" err="1">
                <a:solidFill>
                  <a:srgbClr val="FF0000"/>
                </a:solidFill>
                <a:latin typeface="Arial" panose="020B0604020202020204" pitchFamily="34" charset="0"/>
                <a:cs typeface="Arial" panose="020B0604020202020204" pitchFamily="34" charset="0"/>
              </a:rPr>
              <a:t>offr</a:t>
            </a:r>
            <a:r>
              <a:rPr lang="en-US" sz="2000" b="1" dirty="0">
                <a:solidFill>
                  <a:srgbClr val="FF0000"/>
                </a:solidFill>
                <a:latin typeface="Arial" panose="020B0604020202020204" pitchFamily="34" charset="0"/>
                <a:cs typeface="Arial" panose="020B0604020202020204" pitchFamily="34" charset="0"/>
              </a:rPr>
              <a:t>.</a:t>
            </a:r>
          </a:p>
          <a:p>
            <a:pPr marL="982663" lvl="4" indent="-3429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Sanitisation &amp; DEP computer - Permitted </a:t>
            </a:r>
            <a:endParaRPr lang="en-US" sz="2000" b="1" dirty="0">
              <a:latin typeface="Arial" panose="020B0604020202020204" pitchFamily="34" charset="0"/>
              <a:cs typeface="Arial" panose="020B0604020202020204" pitchFamily="34" charset="0"/>
            </a:endParaRPr>
          </a:p>
          <a:p>
            <a:pPr marL="982663" lvl="4"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Wireless Keyboard &amp; Mouse – Not Permitted on assets having Cl SECRET &amp; above. </a:t>
            </a:r>
            <a:endParaRPr lang="en-IN"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96B0B56-7B53-77DA-1EE7-D31AB40C9361}"/>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B7344400-C2A8-651A-F581-CAFCABEE6E15}"/>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52017584-2987-48F8-DB5C-1284B4562DB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C90FA82A-B131-BC4D-42EC-02B29DB6108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938132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0480" y="987963"/>
            <a:ext cx="9062720" cy="5167505"/>
          </a:xfrm>
          <a:prstGeom prst="rect">
            <a:avLst/>
          </a:prstGeom>
          <a:noFill/>
        </p:spPr>
        <p:txBody>
          <a:bodyPr wrap="square" rtlCol="0">
            <a:spAutoFit/>
          </a:bodyPr>
          <a:lstStyle/>
          <a:p>
            <a:pPr marL="182563" lvl="3">
              <a:lnSpc>
                <a:spcPct val="200000"/>
              </a:lnSpc>
            </a:pPr>
            <a:r>
              <a:rPr lang="en-US" sz="2800" b="1" u="sng" dirty="0">
                <a:solidFill>
                  <a:srgbClr val="FF0000"/>
                </a:solidFill>
                <a:latin typeface="Arial" panose="020B0604020202020204" pitchFamily="34" charset="0"/>
                <a:cs typeface="Arial" panose="020B0604020202020204" pitchFamily="34" charset="0"/>
              </a:rPr>
              <a:t>IT asset mgt list (ITAML)</a:t>
            </a:r>
          </a:p>
          <a:p>
            <a:pPr marL="982663" lvl="4"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Inventory of cyber/ IT assets and infrastructure is called IT Asset Management List (ITAML).</a:t>
            </a:r>
          </a:p>
          <a:p>
            <a:pPr marL="982663" lvl="4"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List shall be prepared to ensure that all IT assets irrespective of the mode/ source/ purpose of procurement are accounted for and have been assigned an owner.</a:t>
            </a:r>
          </a:p>
          <a:p>
            <a:pPr marL="982663" lvl="4"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The ITAML shall be kept updated at all times by ITO and Network Administrators at all levels.</a:t>
            </a:r>
          </a:p>
        </p:txBody>
      </p:sp>
      <p:grpSp>
        <p:nvGrpSpPr>
          <p:cNvPr id="3" name="Group 2">
            <a:extLst>
              <a:ext uri="{FF2B5EF4-FFF2-40B4-BE49-F238E27FC236}">
                <a16:creationId xmlns:a16="http://schemas.microsoft.com/office/drawing/2014/main" id="{86DABDE7-FE9C-A986-28C6-BCC78683FE8D}"/>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512CCE91-BBBC-6C71-8953-5A16948C71A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9E03C9E5-B663-F4AE-7572-7F508C2AB18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20044AF6-65E2-192B-A70D-5367B0AB771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0331348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9EB7-1A60-42BD-A088-7CBE9A0C1E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2B8E89-5CBF-E1CE-166E-1B5DA7AC903E}"/>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C04A544-1DE5-5356-F716-1E5B4131A3B9}"/>
              </a:ext>
            </a:extLst>
          </p:cNvPr>
          <p:cNvSpPr txBox="1"/>
          <p:nvPr/>
        </p:nvSpPr>
        <p:spPr>
          <a:xfrm>
            <a:off x="30480" y="987963"/>
            <a:ext cx="9062720" cy="4305730"/>
          </a:xfrm>
          <a:prstGeom prst="rect">
            <a:avLst/>
          </a:prstGeom>
          <a:noFill/>
        </p:spPr>
        <p:txBody>
          <a:bodyPr wrap="square" rtlCol="0">
            <a:spAutoFit/>
          </a:bodyPr>
          <a:lstStyle/>
          <a:p>
            <a:pPr marL="982663" lvl="4"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ITO will be overall responsible for preparation, maintaining and correctness of ITAML, as well as records of repair, recovery, disposal etc.</a:t>
            </a:r>
          </a:p>
          <a:p>
            <a:pPr marL="982663" lvl="4"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Correctness of ITAML, as well as records of repair, recovery, disposal etc. in respective AOR. The IT asset details will also be uploaded on MISO IT Asset module checked during cyber security audits.</a:t>
            </a:r>
            <a:endParaRPr lang="en-IN"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B94BBE5F-F879-8F1D-AAC0-8C962933E910}"/>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4CB70B12-0EDB-235A-CFF7-694BC2C7019F}"/>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AA83CDDE-B3F7-1783-0591-9B7B629CD95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D2B74CEC-0D41-57D8-D11D-A2EE644DFEB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876696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868605"/>
            <a:ext cx="9062720" cy="5667642"/>
          </a:xfrm>
          <a:prstGeom prst="rect">
            <a:avLst/>
          </a:prstGeom>
          <a:noFill/>
        </p:spPr>
        <p:txBody>
          <a:bodyPr wrap="square" rtlCol="0">
            <a:spAutoFit/>
          </a:bodyPr>
          <a:lstStyle/>
          <a:p>
            <a:pPr marL="182563" lvl="3">
              <a:lnSpc>
                <a:spcPct val="150000"/>
              </a:lnSpc>
            </a:pPr>
            <a:r>
              <a:rPr lang="en-US" sz="2400" b="1" u="sng" dirty="0">
                <a:solidFill>
                  <a:srgbClr val="FF0000"/>
                </a:solidFill>
                <a:latin typeface="Arial" panose="020B0604020202020204" pitchFamily="34" charset="0"/>
                <a:cs typeface="Arial" panose="020B0604020202020204" pitchFamily="34" charset="0"/>
              </a:rPr>
              <a:t>In addition, following will be ensured for Army visibility: -</a:t>
            </a:r>
          </a:p>
          <a:p>
            <a:pPr marL="982663" lvl="4"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DG Signals will maintain updated ITAML of all ICT assets deployed on ADN, including Servers, Routers, Switches, Printers, Scanners, MFDs, end user terminals.</a:t>
            </a:r>
            <a:endParaRPr lang="en-US" sz="2000" b="1" dirty="0">
              <a:solidFill>
                <a:srgbClr val="002060"/>
              </a:solidFill>
              <a:latin typeface="Arial" panose="020B0604020202020204" pitchFamily="34" charset="0"/>
              <a:cs typeface="Arial" panose="020B0604020202020204" pitchFamily="34" charset="0"/>
            </a:endParaRPr>
          </a:p>
          <a:p>
            <a:pPr marL="982663" lvl="4"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DGIS will maintain updated ITAML of assets in IA, including ADN, LANs, Internet and Standalone computers, irrespective of the source/ mode/ purpose of procurement.</a:t>
            </a:r>
          </a:p>
          <a:p>
            <a:pPr marL="982663" lvl="4"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Advisory on the format for maintaining IT Asset list will be issued by DGIS.</a:t>
            </a:r>
          </a:p>
          <a:p>
            <a:pPr marL="982663" lvl="4"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The configuration of IT Assets to be procured will be governed by DGIS policy on Standard Configuration of IT Hardware and Peripherals.</a:t>
            </a:r>
            <a:endParaRPr lang="en-US" sz="2000" b="1"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EEB08194-1744-51B5-FC89-B0CA2DBF8E29}"/>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A2DFA079-D343-424B-9F6A-82C205BC790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62E3CCF-600D-B93B-C05B-3C7842FA974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B8EA3FAA-186E-54CF-0FD0-40A6E8101AA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8845791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0480" y="990525"/>
            <a:ext cx="9062720" cy="5252143"/>
          </a:xfrm>
          <a:prstGeom prst="rect">
            <a:avLst/>
          </a:prstGeom>
          <a:noFill/>
        </p:spPr>
        <p:txBody>
          <a:bodyPr wrap="square" rtlCol="0">
            <a:spAutoFit/>
          </a:bodyPr>
          <a:lstStyle/>
          <a:p>
            <a:pPr marL="355600" lvl="4">
              <a:lnSpc>
                <a:spcPct val="170000"/>
              </a:lnSpc>
            </a:pPr>
            <a:r>
              <a:rPr lang="en-US" sz="2000" b="1" u="sng" dirty="0">
                <a:solidFill>
                  <a:srgbClr val="FF0000"/>
                </a:solidFill>
                <a:latin typeface="Arial" panose="020B0604020202020204" pitchFamily="34" charset="0"/>
                <a:cs typeface="Arial" panose="020B0604020202020204" pitchFamily="34" charset="0"/>
              </a:rPr>
              <a:t>The ITAML shall contain the following information (not all inclusive) about the assets:-</a:t>
            </a:r>
          </a:p>
          <a:p>
            <a:pPr marL="1096963" lvl="5" indent="-376238">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Asset identity (Serial No/ Make/ Model No as applicable) to allow unique identification the asset. </a:t>
            </a:r>
            <a:endParaRPr lang="en-US" sz="2000" b="1" dirty="0">
              <a:solidFill>
                <a:srgbClr val="002060"/>
              </a:solidFill>
              <a:latin typeface="Arial" panose="020B0604020202020204" pitchFamily="34" charset="0"/>
              <a:cs typeface="Arial" panose="020B0604020202020204" pitchFamily="34" charset="0"/>
            </a:endParaRPr>
          </a:p>
          <a:p>
            <a:pPr marL="1096963" lvl="5" indent="-376238">
              <a:lnSpc>
                <a:spcPct val="17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Asset Classification (if applicable). </a:t>
            </a:r>
            <a:endParaRPr lang="en-US" sz="2000" b="1" dirty="0">
              <a:solidFill>
                <a:srgbClr val="0070C0"/>
              </a:solidFill>
              <a:latin typeface="Arial" panose="020B0604020202020204" pitchFamily="34" charset="0"/>
              <a:cs typeface="Arial" panose="020B0604020202020204" pitchFamily="34" charset="0"/>
            </a:endParaRPr>
          </a:p>
          <a:p>
            <a:pPr marL="1096963" lvl="5" indent="-376238">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Name/Appointment of the Asset Owner. </a:t>
            </a:r>
          </a:p>
          <a:p>
            <a:pPr marL="1096963" lvl="5" indent="-376238">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Unit/ Formation/ Establishment </a:t>
            </a:r>
            <a:r>
              <a:rPr lang="en-US" sz="2000" b="1" dirty="0" err="1">
                <a:latin typeface="Arial" panose="020B0604020202020204" pitchFamily="34" charset="0"/>
                <a:cs typeface="Arial" panose="020B0604020202020204" pitchFamily="34" charset="0"/>
              </a:rPr>
              <a:t>utilising</a:t>
            </a:r>
            <a:r>
              <a:rPr lang="en-US" sz="2000" b="1" dirty="0">
                <a:latin typeface="Arial" panose="020B0604020202020204" pitchFamily="34" charset="0"/>
                <a:cs typeface="Arial" panose="020B0604020202020204" pitchFamily="34" charset="0"/>
              </a:rPr>
              <a:t> the asset.</a:t>
            </a:r>
          </a:p>
          <a:p>
            <a:pPr marL="1096963" lvl="5" indent="-376238">
              <a:lnSpc>
                <a:spcPct val="17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Role (ADN/ Exclusive LAN/ Standalone).</a:t>
            </a:r>
            <a:endParaRPr lang="en-US" sz="2000" b="1" dirty="0">
              <a:solidFill>
                <a:srgbClr val="0070C0"/>
              </a:solidFill>
              <a:latin typeface="Arial" panose="020B0604020202020204" pitchFamily="34" charset="0"/>
              <a:cs typeface="Arial" panose="020B0604020202020204" pitchFamily="34" charset="0"/>
            </a:endParaRPr>
          </a:p>
          <a:p>
            <a:pPr marL="1096963" lvl="5" indent="-376238">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IP address (if applicable). </a:t>
            </a:r>
          </a:p>
          <a:p>
            <a:pPr marL="1096963" lvl="5" indent="-376238">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MAC Address (if applicable).</a:t>
            </a:r>
            <a:endParaRPr lang="en-IN" sz="2000" b="1"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BFA24C4-056B-6F29-7263-0512751F599F}"/>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377EC2C2-233A-EB45-4657-7AB48D033F1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59832651-869E-C2F1-D160-39CF4B7727B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9DEA4465-7E7E-890D-D1E4-725D7467CEC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8638775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0480" y="980365"/>
            <a:ext cx="9062720" cy="5644559"/>
          </a:xfrm>
          <a:prstGeom prst="rect">
            <a:avLst/>
          </a:prstGeom>
          <a:noFill/>
        </p:spPr>
        <p:txBody>
          <a:bodyPr wrap="square" rtlCol="0">
            <a:spAutoFit/>
          </a:bodyPr>
          <a:lstStyle/>
          <a:p>
            <a:pPr marL="355600" lvl="4">
              <a:lnSpc>
                <a:spcPct val="140000"/>
              </a:lnSpc>
            </a:pPr>
            <a:r>
              <a:rPr lang="en-US" sz="2000" b="1" u="sng" dirty="0">
                <a:solidFill>
                  <a:srgbClr val="FF0000"/>
                </a:solidFill>
                <a:latin typeface="Arial" panose="020B0604020202020204" pitchFamily="34" charset="0"/>
                <a:cs typeface="Arial" panose="020B0604020202020204" pitchFamily="34" charset="0"/>
              </a:rPr>
              <a:t>PASSWORD PROTECTION</a:t>
            </a:r>
            <a:r>
              <a:rPr lang="en-US" sz="2000" b="1" dirty="0">
                <a:solidFill>
                  <a:srgbClr val="FF0000"/>
                </a:solidFill>
                <a:latin typeface="Arial" panose="020B0604020202020204" pitchFamily="34" charset="0"/>
                <a:cs typeface="Arial" panose="020B0604020202020204" pitchFamily="34" charset="0"/>
              </a:rPr>
              <a:t> : Passwords are an important aspect of computer security. A poorly chosen password may result in unauthorized access or exploitation of the ICT resources. Following must be ensured: -</a:t>
            </a:r>
          </a:p>
          <a:p>
            <a:pPr marL="812800" lvl="4" indent="-457200">
              <a:lnSpc>
                <a:spcPct val="140000"/>
              </a:lnSpc>
              <a:buFont typeface="+mj-lt"/>
              <a:buAutoNum type="alphaLcParenR"/>
            </a:pPr>
            <a:r>
              <a:rPr lang="en-US" sz="2000" b="1" u="sng" dirty="0">
                <a:solidFill>
                  <a:schemeClr val="tx1">
                    <a:lumMod val="95000"/>
                    <a:lumOff val="5000"/>
                  </a:schemeClr>
                </a:solidFill>
                <a:latin typeface="Arial" panose="020B0604020202020204" pitchFamily="34" charset="0"/>
                <a:cs typeface="Arial" panose="020B0604020202020204" pitchFamily="34" charset="0"/>
              </a:rPr>
              <a:t>Admin Passwords</a:t>
            </a:r>
            <a:r>
              <a:rPr lang="en-US" sz="2000" b="1" dirty="0">
                <a:solidFill>
                  <a:schemeClr val="tx1">
                    <a:lumMod val="95000"/>
                    <a:lumOff val="5000"/>
                  </a:schemeClr>
                </a:solidFill>
                <a:latin typeface="Arial" panose="020B0604020202020204" pitchFamily="34" charset="0"/>
                <a:cs typeface="Arial" panose="020B0604020202020204" pitchFamily="34" charset="0"/>
              </a:rPr>
              <a:t> : User accounts will be created with limited privileges for daily use. Admin account will be accessed only by network administrators for specific purposes. Passwords for admin accounts will not be shared with the users. Holders of admin passwords for IT assets including computers deployed on various networks are as under: -</a:t>
            </a:r>
          </a:p>
          <a:p>
            <a:pPr marL="1155700" lvl="5" indent="-342900">
              <a:lnSpc>
                <a:spcPct val="14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ADN and Exclusive LANs : Nominated network administrators </a:t>
            </a:r>
          </a:p>
          <a:p>
            <a:pPr marL="1155700" lvl="5"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Standalone and Internet computers : Nominated Cyber Security Officer</a:t>
            </a:r>
            <a:endParaRPr lang="en-US" sz="2000" b="1" u="sng"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46DFF2DD-30C7-7E9D-152D-E561C34F7B04}"/>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B4B005DD-BA57-247C-FB5C-4DE74710639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E94F681-3F49-38EE-1FDD-6C2760B8410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C22D08B0-F3E5-FD7B-0FFA-2212C7D0161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9887006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30480" y="980365"/>
            <a:ext cx="9062720" cy="5575309"/>
          </a:xfrm>
          <a:prstGeom prst="rect">
            <a:avLst/>
          </a:prstGeom>
          <a:noFill/>
        </p:spPr>
        <p:txBody>
          <a:bodyPr wrap="square" rtlCol="0">
            <a:spAutoFit/>
          </a:bodyPr>
          <a:lstStyle/>
          <a:p>
            <a:pPr marL="812800" lvl="4" indent="-457200">
              <a:lnSpc>
                <a:spcPct val="150000"/>
              </a:lnSpc>
              <a:buAutoNum type="alphaLcParenR" startAt="2"/>
            </a:pPr>
            <a:r>
              <a:rPr lang="en-US" sz="2000" b="1" dirty="0">
                <a:solidFill>
                  <a:srgbClr val="FF0000"/>
                </a:solidFill>
                <a:latin typeface="Arial" panose="020B0604020202020204" pitchFamily="34" charset="0"/>
                <a:cs typeface="Arial" panose="020B0604020202020204" pitchFamily="34" charset="0"/>
              </a:rPr>
              <a:t>Password Register will be maintained wherein logs related to periodic change of passwords as per policy will be maintained by the user/ system administrator. The user level passwords will not be written in the register/ any other easily accessible place to avoid unauthorized access. However, admin passwords may be maintained in a separate register held with authorised appointments as mentioned above. </a:t>
            </a:r>
          </a:p>
          <a:p>
            <a:pPr marL="812800" lvl="4" indent="-457200">
              <a:lnSpc>
                <a:spcPct val="150000"/>
              </a:lnSpc>
              <a:buAutoNum type="alphaLcParenR" startAt="2"/>
            </a:pPr>
            <a:r>
              <a:rPr lang="en-US" sz="2000" b="1" dirty="0">
                <a:latin typeface="Arial" panose="020B0604020202020204" pitchFamily="34" charset="0"/>
                <a:cs typeface="Arial" panose="020B0604020202020204" pitchFamily="34" charset="0"/>
              </a:rPr>
              <a:t>All system level passwords (including Boot, Windows Administrator, application administrator accounts </a:t>
            </a:r>
            <a:r>
              <a:rPr lang="en-US" sz="2000" b="1" dirty="0" err="1">
                <a:latin typeface="Arial" panose="020B0604020202020204" pitchFamily="34" charset="0"/>
                <a:cs typeface="Arial" panose="020B0604020202020204" pitchFamily="34" charset="0"/>
              </a:rPr>
              <a:t>etc</a:t>
            </a:r>
            <a:r>
              <a:rPr lang="en-US" sz="2000" b="1" dirty="0">
                <a:latin typeface="Arial" panose="020B0604020202020204" pitchFamily="34" charset="0"/>
                <a:cs typeface="Arial" panose="020B0604020202020204" pitchFamily="34" charset="0"/>
              </a:rPr>
              <a:t>) must be changed every quarter. </a:t>
            </a:r>
          </a:p>
          <a:p>
            <a:pPr marL="812800" lvl="4" indent="-457200">
              <a:lnSpc>
                <a:spcPct val="150000"/>
              </a:lnSpc>
              <a:buAutoNum type="alphaLcParenR" startAt="2"/>
            </a:pPr>
            <a:r>
              <a:rPr lang="en-US" sz="2000" b="1" dirty="0">
                <a:solidFill>
                  <a:srgbClr val="0070C0"/>
                </a:solidFill>
                <a:latin typeface="Arial" panose="020B0604020202020204" pitchFamily="34" charset="0"/>
                <a:cs typeface="Arial" panose="020B0604020202020204" pitchFamily="34" charset="0"/>
              </a:rPr>
              <a:t>User level passwords (including web, email </a:t>
            </a:r>
            <a:r>
              <a:rPr lang="en-US" sz="2000" b="1" dirty="0" err="1">
                <a:solidFill>
                  <a:srgbClr val="0070C0"/>
                </a:solidFill>
                <a:latin typeface="Arial" panose="020B0604020202020204" pitchFamily="34" charset="0"/>
                <a:cs typeface="Arial" panose="020B0604020202020204" pitchFamily="34" charset="0"/>
              </a:rPr>
              <a:t>etc</a:t>
            </a:r>
            <a:r>
              <a:rPr lang="en-US" sz="2000" b="1" dirty="0">
                <a:solidFill>
                  <a:srgbClr val="0070C0"/>
                </a:solidFill>
                <a:latin typeface="Arial" panose="020B0604020202020204" pitchFamily="34" charset="0"/>
                <a:cs typeface="Arial" panose="020B0604020202020204" pitchFamily="34" charset="0"/>
              </a:rPr>
              <a:t>) must be changed at least quarterly.</a:t>
            </a:r>
          </a:p>
        </p:txBody>
      </p:sp>
      <p:grpSp>
        <p:nvGrpSpPr>
          <p:cNvPr id="3" name="Group 2">
            <a:extLst>
              <a:ext uri="{FF2B5EF4-FFF2-40B4-BE49-F238E27FC236}">
                <a16:creationId xmlns:a16="http://schemas.microsoft.com/office/drawing/2014/main" id="{3D907A7F-6A40-14D5-6FC7-20D9F69384BB}"/>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3A9750B6-B131-CF03-8542-2B865AB081D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9696B98-7002-58A1-3FCC-74E170939EA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A5C7E231-7478-9198-4149-2A0CF5232F2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5982417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868605"/>
            <a:ext cx="9062720" cy="4928593"/>
          </a:xfrm>
          <a:prstGeom prst="rect">
            <a:avLst/>
          </a:prstGeom>
          <a:noFill/>
        </p:spPr>
        <p:txBody>
          <a:bodyPr wrap="square" rtlCol="0">
            <a:spAutoFit/>
          </a:bodyPr>
          <a:lstStyle/>
          <a:p>
            <a:pPr marL="812800" lvl="4" indent="-457200">
              <a:lnSpc>
                <a:spcPct val="200000"/>
              </a:lnSpc>
              <a:buAutoNum type="alphaLcParenR" startAt="5"/>
            </a:pPr>
            <a:r>
              <a:rPr lang="en-US" sz="2000" b="1" dirty="0">
                <a:solidFill>
                  <a:srgbClr val="FF0000"/>
                </a:solidFill>
                <a:latin typeface="Arial" panose="020B0604020202020204" pitchFamily="34" charset="0"/>
                <a:cs typeface="Arial" panose="020B0604020202020204" pitchFamily="34" charset="0"/>
              </a:rPr>
              <a:t>All user level and system level passwords must have at least eight alphanumeric characters and must contain at least four of the five following character classes below: -</a:t>
            </a:r>
          </a:p>
          <a:p>
            <a:pPr marL="1270000" lvl="5" indent="-457200">
              <a:lnSpc>
                <a:spcPct val="200000"/>
              </a:lnSpc>
              <a:buAutoNum type="alphaLcParenR"/>
            </a:pPr>
            <a:r>
              <a:rPr lang="en-US" sz="2000" b="1" dirty="0">
                <a:latin typeface="Arial" panose="020B0604020202020204" pitchFamily="34" charset="0"/>
                <a:cs typeface="Arial" panose="020B0604020202020204" pitchFamily="34" charset="0"/>
              </a:rPr>
              <a:t>Lower case characters</a:t>
            </a:r>
          </a:p>
          <a:p>
            <a:pPr marL="1270000" lvl="5" indent="-457200">
              <a:lnSpc>
                <a:spcPct val="200000"/>
              </a:lnSpc>
              <a:buAutoNum type="alphaLcParenR" startAt="2"/>
            </a:pPr>
            <a:r>
              <a:rPr lang="en-US" sz="2000" b="1" dirty="0">
                <a:solidFill>
                  <a:srgbClr val="0070C0"/>
                </a:solidFill>
                <a:latin typeface="Arial" panose="020B0604020202020204" pitchFamily="34" charset="0"/>
                <a:cs typeface="Arial" panose="020B0604020202020204" pitchFamily="34" charset="0"/>
              </a:rPr>
              <a:t>Upper case characters</a:t>
            </a:r>
          </a:p>
          <a:p>
            <a:pPr marL="1270000" lvl="5" indent="-457200">
              <a:lnSpc>
                <a:spcPct val="200000"/>
              </a:lnSpc>
              <a:buAutoNum type="alphaLcParenR" startAt="2"/>
            </a:pPr>
            <a:r>
              <a:rPr lang="en-US" sz="2000" b="1" dirty="0">
                <a:solidFill>
                  <a:srgbClr val="FF0000"/>
                </a:solidFill>
                <a:latin typeface="Arial" panose="020B0604020202020204" pitchFamily="34" charset="0"/>
                <a:cs typeface="Arial" panose="020B0604020202020204" pitchFamily="34" charset="0"/>
              </a:rPr>
              <a:t>Numbers</a:t>
            </a:r>
          </a:p>
          <a:p>
            <a:pPr marL="1270000" lvl="5" indent="-457200">
              <a:lnSpc>
                <a:spcPct val="200000"/>
              </a:lnSpc>
              <a:buAutoNum type="alphaLcParenR" startAt="2"/>
            </a:pPr>
            <a:r>
              <a:rPr lang="en-IN" sz="2000" b="1" dirty="0">
                <a:solidFill>
                  <a:schemeClr val="tx1">
                    <a:lumMod val="95000"/>
                    <a:lumOff val="5000"/>
                  </a:schemeClr>
                </a:solidFill>
                <a:latin typeface="Arial" panose="020B0604020202020204" pitchFamily="34" charset="0"/>
                <a:cs typeface="Arial" panose="020B0604020202020204" pitchFamily="34" charset="0"/>
              </a:rPr>
              <a:t>Special characters.</a:t>
            </a:r>
            <a:endParaRPr lang="en-US" sz="2000" b="1" dirty="0">
              <a:solidFill>
                <a:schemeClr val="tx1">
                  <a:lumMod val="95000"/>
                  <a:lumOff val="5000"/>
                </a:schemeClr>
              </a:solidFill>
              <a:latin typeface="Arial" panose="020B0604020202020204" pitchFamily="34" charset="0"/>
              <a:cs typeface="Arial" panose="020B0604020202020204" pitchFamily="34" charset="0"/>
            </a:endParaRPr>
          </a:p>
          <a:p>
            <a:pPr marL="812800" lvl="5" indent="-365125">
              <a:lnSpc>
                <a:spcPct val="200000"/>
              </a:lnSpc>
            </a:pPr>
            <a:r>
              <a:rPr lang="en-US" sz="2000" b="1" dirty="0">
                <a:solidFill>
                  <a:srgbClr val="0070C0"/>
                </a:solidFill>
                <a:latin typeface="Arial" panose="020B0604020202020204" pitchFamily="34" charset="0"/>
                <a:cs typeface="Arial" panose="020B0604020202020204" pitchFamily="34" charset="0"/>
              </a:rPr>
              <a:t>f)	</a:t>
            </a:r>
            <a:r>
              <a:rPr lang="en-US" sz="2000" dirty="0">
                <a:solidFill>
                  <a:srgbClr val="0070C0"/>
                </a:solidFill>
              </a:rPr>
              <a:t> </a:t>
            </a:r>
            <a:r>
              <a:rPr lang="en-US" sz="2000" b="1" dirty="0">
                <a:solidFill>
                  <a:srgbClr val="0070C0"/>
                </a:solidFill>
                <a:latin typeface="Arial" panose="020B0604020202020204" pitchFamily="34" charset="0"/>
                <a:cs typeface="Arial" panose="020B0604020202020204" pitchFamily="34" charset="0"/>
              </a:rPr>
              <a:t>Detailed password policy will be issued by ACG.</a:t>
            </a:r>
          </a:p>
        </p:txBody>
      </p:sp>
      <p:grpSp>
        <p:nvGrpSpPr>
          <p:cNvPr id="3" name="Group 2">
            <a:extLst>
              <a:ext uri="{FF2B5EF4-FFF2-40B4-BE49-F238E27FC236}">
                <a16:creationId xmlns:a16="http://schemas.microsoft.com/office/drawing/2014/main" id="{F4DEF683-3FF8-3AF8-EAD9-0232A58416FF}"/>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8BF1A9D1-700C-D9A6-CDAC-CCC3EF45B0F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7B9FF07-4DA7-9EEB-6FB4-A4A6B845B65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F20A97D9-F111-D5B1-C4B1-E23A58385E4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07966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868605"/>
            <a:ext cx="9062720" cy="5536837"/>
          </a:xfrm>
          <a:prstGeom prst="rect">
            <a:avLst/>
          </a:prstGeom>
          <a:noFill/>
        </p:spPr>
        <p:txBody>
          <a:bodyPr wrap="square" rtlCol="0">
            <a:spAutoFit/>
          </a:bodyPr>
          <a:lstStyle/>
          <a:p>
            <a:pPr marL="355600" lvl="4">
              <a:lnSpc>
                <a:spcPct val="200000"/>
              </a:lnSpc>
            </a:pPr>
            <a:r>
              <a:rPr lang="en-US" sz="2000" b="1" u="sng" dirty="0">
                <a:solidFill>
                  <a:srgbClr val="FF0000"/>
                </a:solidFill>
                <a:latin typeface="Arial" panose="020B0604020202020204" pitchFamily="34" charset="0"/>
                <a:cs typeface="Arial" panose="020B0604020202020204" pitchFamily="34" charset="0"/>
              </a:rPr>
              <a:t>USE OF LAPTOPS</a:t>
            </a:r>
            <a:r>
              <a:rPr lang="en-US" sz="2000" b="1" dirty="0">
                <a:solidFill>
                  <a:srgbClr val="FF0000"/>
                </a:solidFill>
                <a:latin typeface="Arial" panose="020B0604020202020204" pitchFamily="34" charset="0"/>
                <a:cs typeface="Arial" panose="020B0604020202020204" pitchFamily="34" charset="0"/>
              </a:rPr>
              <a:t> : Use of Laptops in the IA has been authorized to all appointments tenanted by Lieutenant Colonel and above at a scale of one per officers as replacement for authorized Desktop Computer.</a:t>
            </a:r>
          </a:p>
          <a:p>
            <a:pPr marL="355600" lvl="4">
              <a:lnSpc>
                <a:spcPct val="200000"/>
              </a:lnSpc>
            </a:pPr>
            <a:endParaRPr lang="en-US" sz="2000" b="1" dirty="0">
              <a:solidFill>
                <a:srgbClr val="FF0000"/>
              </a:solidFill>
              <a:latin typeface="Arial" panose="020B0604020202020204" pitchFamily="34" charset="0"/>
              <a:cs typeface="Arial" panose="020B0604020202020204" pitchFamily="34" charset="0"/>
            </a:endParaRPr>
          </a:p>
          <a:p>
            <a:pPr marL="812800" lvl="4" indent="-457200">
              <a:lnSpc>
                <a:spcPct val="200000"/>
              </a:lnSpc>
              <a:buFont typeface="+mj-lt"/>
              <a:buAutoNum type="alphaLcParenR"/>
            </a:pPr>
            <a:r>
              <a:rPr lang="en-US" sz="2000" b="1" u="sng" dirty="0">
                <a:latin typeface="Arial" panose="020B0604020202020204" pitchFamily="34" charset="0"/>
                <a:cs typeface="Arial" panose="020B0604020202020204" pitchFamily="34" charset="0"/>
              </a:rPr>
              <a:t>USAGE ENVIRONMENT</a:t>
            </a:r>
            <a:r>
              <a:rPr lang="en-US" sz="2000" b="1" dirty="0">
                <a:latin typeface="Arial" panose="020B0604020202020204" pitchFamily="34" charset="0"/>
                <a:cs typeface="Arial" panose="020B0604020202020204" pitchFamily="34" charset="0"/>
              </a:rPr>
              <a:t> : The Laptops are envisaged to be used on following networks in IA.</a:t>
            </a:r>
          </a:p>
          <a:p>
            <a:pPr marL="1155700" lvl="5"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ADN/DCN</a:t>
            </a:r>
          </a:p>
          <a:p>
            <a:pPr marL="1155700" lvl="5"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STANDALONE MODE</a:t>
            </a:r>
          </a:p>
          <a:p>
            <a:pPr marL="1155700" lvl="5" indent="-34290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EXCLUSIVE LANs</a:t>
            </a:r>
          </a:p>
        </p:txBody>
      </p:sp>
      <p:grpSp>
        <p:nvGrpSpPr>
          <p:cNvPr id="3" name="Group 2">
            <a:extLst>
              <a:ext uri="{FF2B5EF4-FFF2-40B4-BE49-F238E27FC236}">
                <a16:creationId xmlns:a16="http://schemas.microsoft.com/office/drawing/2014/main" id="{235A89BD-DCF6-BD69-FEB9-FDB5DEA79290}"/>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E9A603C6-E374-98FD-7F4C-0A6D2BEC86E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A06B1C31-FE2B-B395-ACC6-ED124DB8EF0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43DA7ED9-3DA2-464D-2E10-6B71CF947B1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9639759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20320" y="1000685"/>
            <a:ext cx="9062720" cy="4921284"/>
          </a:xfrm>
          <a:prstGeom prst="rect">
            <a:avLst/>
          </a:prstGeom>
          <a:noFill/>
        </p:spPr>
        <p:txBody>
          <a:bodyPr wrap="square" rtlCol="0">
            <a:spAutoFit/>
          </a:bodyPr>
          <a:lstStyle/>
          <a:p>
            <a:pPr marL="812800" lvl="5" indent="-457200">
              <a:lnSpc>
                <a:spcPct val="200000"/>
              </a:lnSpc>
              <a:buAutoNum type="alphaLcParenR" startAt="2"/>
            </a:pPr>
            <a:r>
              <a:rPr lang="en-US" sz="2000" b="1" u="sng" dirty="0">
                <a:solidFill>
                  <a:srgbClr val="FF0000"/>
                </a:solidFill>
                <a:latin typeface="Arial" panose="020B0604020202020204" pitchFamily="34" charset="0"/>
                <a:cs typeface="Arial" panose="020B0604020202020204" pitchFamily="34" charset="0"/>
              </a:rPr>
              <a:t>Cyber security of laptops</a:t>
            </a:r>
            <a:r>
              <a:rPr lang="en-US" sz="2000" b="1" dirty="0">
                <a:solidFill>
                  <a:srgbClr val="FF0000"/>
                </a:solidFill>
                <a:latin typeface="Arial" panose="020B0604020202020204" pitchFamily="34" charset="0"/>
                <a:cs typeface="Arial" panose="020B0604020202020204" pitchFamily="34" charset="0"/>
              </a:rPr>
              <a:t> : Though all aspects mentioned in ACSP are applicable on official Laptops to be used in IA, certain peculiar issues are highlighted in the subsequent paragraphs. Portability of the Laptop enables the officer to carry the Laptops out of the office, however, it also renders Laptops vulnerable for theft/ misuse. Since these Laptops will contain critical/ sensitive military information, their loss/compromise may have detrimental effect on the overall Cyber Security posture of the IA.</a:t>
            </a:r>
          </a:p>
        </p:txBody>
      </p:sp>
      <p:grpSp>
        <p:nvGrpSpPr>
          <p:cNvPr id="3" name="Group 2">
            <a:extLst>
              <a:ext uri="{FF2B5EF4-FFF2-40B4-BE49-F238E27FC236}">
                <a16:creationId xmlns:a16="http://schemas.microsoft.com/office/drawing/2014/main" id="{445948A3-FEE3-EF5F-5B53-592E36CC705F}"/>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C3A2CBE4-35B8-13AC-0D3E-910BB224CFA3}"/>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CC9FA6B-2D35-46F6-7A80-BA55F14B33E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09AABD60-EA19-BCFF-BEEC-9888832F624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8751329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B2557-AE6C-856D-3EC7-28757189D0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F37C10-929A-497C-F59E-9651A33E7EB7}"/>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56F1167-4B9F-E3A8-21F0-6587CE2CA07C}"/>
              </a:ext>
            </a:extLst>
          </p:cNvPr>
          <p:cNvSpPr txBox="1"/>
          <p:nvPr/>
        </p:nvSpPr>
        <p:spPr>
          <a:xfrm>
            <a:off x="30480" y="1000685"/>
            <a:ext cx="9062720" cy="4921284"/>
          </a:xfrm>
          <a:prstGeom prst="rect">
            <a:avLst/>
          </a:prstGeom>
          <a:noFill/>
        </p:spPr>
        <p:txBody>
          <a:bodyPr wrap="square" rtlCol="0">
            <a:spAutoFit/>
          </a:bodyPr>
          <a:lstStyle/>
          <a:p>
            <a:pPr marL="355600" lvl="5">
              <a:lnSpc>
                <a:spcPct val="200000"/>
              </a:lnSpc>
            </a:pPr>
            <a:r>
              <a:rPr lang="en-IN" sz="2000" b="1" dirty="0">
                <a:solidFill>
                  <a:schemeClr val="tx1">
                    <a:lumMod val="95000"/>
                    <a:lumOff val="5000"/>
                  </a:schemeClr>
                </a:solidFill>
                <a:latin typeface="Arial" panose="020B0604020202020204" pitchFamily="34" charset="0"/>
                <a:cs typeface="Arial" panose="020B0604020202020204" pitchFamily="34" charset="0"/>
              </a:rPr>
              <a:t>c)	</a:t>
            </a:r>
            <a:r>
              <a:rPr lang="en-IN" sz="2000" b="1" u="sng" dirty="0">
                <a:solidFill>
                  <a:schemeClr val="tx1">
                    <a:lumMod val="95000"/>
                    <a:lumOff val="5000"/>
                  </a:schemeClr>
                </a:solidFill>
                <a:latin typeface="Arial" panose="020B0604020202020204" pitchFamily="34" charset="0"/>
                <a:cs typeface="Arial" panose="020B0604020202020204" pitchFamily="34" charset="0"/>
              </a:rPr>
              <a:t>Procurement of Laptops </a:t>
            </a:r>
            <a:r>
              <a:rPr lang="en-IN" sz="2000" b="1" dirty="0">
                <a:solidFill>
                  <a:schemeClr val="tx1">
                    <a:lumMod val="95000"/>
                    <a:lumOff val="5000"/>
                  </a:schemeClr>
                </a:solidFill>
                <a:latin typeface="Arial" panose="020B0604020202020204" pitchFamily="34" charset="0"/>
                <a:cs typeface="Arial" panose="020B0604020202020204" pitchFamily="34" charset="0"/>
              </a:rPr>
              <a:t>: </a:t>
            </a:r>
            <a:r>
              <a:rPr lang="en-US" sz="2000" b="1" dirty="0">
                <a:solidFill>
                  <a:schemeClr val="tx1">
                    <a:lumMod val="95000"/>
                    <a:lumOff val="5000"/>
                  </a:schemeClr>
                </a:solidFill>
                <a:latin typeface="Arial" panose="020B0604020202020204" pitchFamily="34" charset="0"/>
                <a:cs typeface="Arial" panose="020B0604020202020204" pitchFamily="34" charset="0"/>
              </a:rPr>
              <a:t>Following additional security aspects will be included in the technical specification while procuring the Laptops: - </a:t>
            </a:r>
          </a:p>
          <a:p>
            <a:pPr marL="1270000" lvl="6" indent="-457200">
              <a:lnSpc>
                <a:spcPct val="200000"/>
              </a:lnSpc>
              <a:buFont typeface="Arial" panose="020B0604020202020204" pitchFamily="34" charset="0"/>
              <a:buChar char="•"/>
            </a:pPr>
            <a:r>
              <a:rPr lang="en-US" sz="2000" b="1" u="sng" dirty="0">
                <a:solidFill>
                  <a:srgbClr val="0070C0"/>
                </a:solidFill>
                <a:latin typeface="Arial" panose="020B0604020202020204" pitchFamily="34" charset="0"/>
                <a:cs typeface="Arial" panose="020B0604020202020204" pitchFamily="34" charset="0"/>
              </a:rPr>
              <a:t>Trusted Platform Module (TPM) Security Chip</a:t>
            </a:r>
            <a:r>
              <a:rPr lang="en-US" sz="2000" b="1" dirty="0">
                <a:solidFill>
                  <a:srgbClr val="0070C0"/>
                </a:solidFill>
                <a:latin typeface="Arial" panose="020B0604020202020204" pitchFamily="34" charset="0"/>
                <a:cs typeface="Arial" panose="020B0604020202020204" pitchFamily="34" charset="0"/>
              </a:rPr>
              <a:t> : This chip authenticates passwords, encryption keys and digital cert.</a:t>
            </a:r>
          </a:p>
          <a:p>
            <a:pPr marL="1155700" lvl="6"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 Biometric Scanner. Laptops must have a fingerprint scanner. This will ensure that only the authorized person has access to the Laptop.</a:t>
            </a:r>
          </a:p>
        </p:txBody>
      </p:sp>
      <p:grpSp>
        <p:nvGrpSpPr>
          <p:cNvPr id="3" name="Group 2">
            <a:extLst>
              <a:ext uri="{FF2B5EF4-FFF2-40B4-BE49-F238E27FC236}">
                <a16:creationId xmlns:a16="http://schemas.microsoft.com/office/drawing/2014/main" id="{35E65532-A8E0-4300-3AD4-F5A2F3CB985E}"/>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4208F6CB-5913-D6E4-8CEE-BC9B57183C0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3AFFD86C-2409-0565-499C-CBE1DCC7117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386D25EF-E743-2297-4C6C-1635FCD2540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5242530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3B0B-A666-D08D-48B4-229D2E6C2A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1EAF70-6D7C-0A5D-C4D2-136FA2EE621F}"/>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878DFCE-DA8C-32B7-E7B6-4695C65BB80B}"/>
              </a:ext>
            </a:extLst>
          </p:cNvPr>
          <p:cNvSpPr txBox="1"/>
          <p:nvPr/>
        </p:nvSpPr>
        <p:spPr>
          <a:xfrm>
            <a:off x="20320" y="1000685"/>
            <a:ext cx="9062720" cy="6036974"/>
          </a:xfrm>
          <a:prstGeom prst="rect">
            <a:avLst/>
          </a:prstGeom>
          <a:noFill/>
        </p:spPr>
        <p:txBody>
          <a:bodyPr wrap="square" rtlCol="0">
            <a:spAutoFit/>
          </a:bodyPr>
          <a:lstStyle/>
          <a:p>
            <a:pPr marL="698500" lvl="5"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Laptop Lock Slots. This Lock slot will enable the users to physically lock the laptop while on move or during absence from the office. This will ensure physical security of Laptops while on move. </a:t>
            </a:r>
          </a:p>
          <a:p>
            <a:pPr marL="698500" lvl="5" indent="-342900">
              <a:lnSpc>
                <a:spcPct val="15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Full Disk Encryption. The Laptop should have a facility to encrypt the complete hard disk.</a:t>
            </a:r>
          </a:p>
          <a:p>
            <a:pPr marL="355600" lvl="5">
              <a:lnSpc>
                <a:spcPct val="150000"/>
              </a:lnSpc>
            </a:pPr>
            <a:r>
              <a:rPr lang="en-US" sz="2000" b="1" u="sng" dirty="0">
                <a:solidFill>
                  <a:srgbClr val="0070C0"/>
                </a:solidFill>
                <a:latin typeface="Arial" panose="020B0604020202020204" pitchFamily="34" charset="0"/>
                <a:cs typeface="Arial" panose="020B0604020202020204" pitchFamily="34" charset="0"/>
              </a:rPr>
              <a:t>Carriage of Laptops </a:t>
            </a:r>
            <a:r>
              <a:rPr lang="en-US" sz="2000" b="1" dirty="0">
                <a:solidFill>
                  <a:srgbClr val="0070C0"/>
                </a:solidFill>
                <a:latin typeface="Arial" panose="020B0604020202020204" pitchFamily="34" charset="0"/>
                <a:cs typeface="Arial" panose="020B0604020202020204" pitchFamily="34" charset="0"/>
              </a:rPr>
              <a:t>: The details are as under: -</a:t>
            </a:r>
          </a:p>
          <a:p>
            <a:pPr marL="812800" lvl="5" indent="-457200">
              <a:lnSpc>
                <a:spcPct val="150000"/>
              </a:lnSpc>
              <a:buFont typeface="+mj-lt"/>
              <a:buAutoNum type="alphaLcParenR"/>
            </a:pPr>
            <a:r>
              <a:rPr lang="en-US" sz="2000" b="1" dirty="0">
                <a:solidFill>
                  <a:srgbClr val="0070C0"/>
                </a:solidFill>
                <a:latin typeface="Arial" panose="020B0604020202020204" pitchFamily="34" charset="0"/>
                <a:cs typeface="Arial" panose="020B0604020202020204" pitchFamily="34" charset="0"/>
              </a:rPr>
              <a:t>Carriage of laptops outside concerned office premises including for discharge of official tasks on TD has been permitted. However, carriage of Laptops deployed on ADN will NOT be permitted outside the office premises unless permission is obtained from an officer of the rank of Major General</a:t>
            </a:r>
            <a:r>
              <a:rPr lang="en-US" sz="2000" b="1" dirty="0">
                <a:solidFill>
                  <a:srgbClr val="FF0000"/>
                </a:solidFill>
                <a:latin typeface="Arial" panose="020B0604020202020204" pitchFamily="34" charset="0"/>
                <a:cs typeface="Arial" panose="020B0604020202020204" pitchFamily="34" charset="0"/>
              </a:rPr>
              <a:t>.  </a:t>
            </a:r>
          </a:p>
          <a:p>
            <a:pPr marL="355600" lvl="5">
              <a:lnSpc>
                <a:spcPct val="150000"/>
              </a:lnSpc>
            </a:pPr>
            <a:endParaRPr lang="en-US" sz="2000" b="1"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9F06209-68E5-3550-2CB3-73A9A5F1B138}"/>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F173C651-A4BF-45C3-41D9-D2208371E72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96A2304E-3780-309A-42B3-4C9DFAB98A2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306B8E24-E988-26E5-5A12-E9ED55CF913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2154849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1C2CB9D-F3CB-5FF1-B176-F033E549B09E}"/>
              </a:ext>
            </a:extLst>
          </p:cNvPr>
          <p:cNvSpPr txBox="1"/>
          <p:nvPr/>
        </p:nvSpPr>
        <p:spPr>
          <a:xfrm>
            <a:off x="40640" y="990378"/>
            <a:ext cx="9022080" cy="5536837"/>
          </a:xfrm>
          <a:prstGeom prst="rect">
            <a:avLst/>
          </a:prstGeom>
          <a:noFill/>
        </p:spPr>
        <p:txBody>
          <a:bodyPr wrap="square">
            <a:spAutoFit/>
          </a:bodyPr>
          <a:lstStyle/>
          <a:p>
            <a:pPr marL="812800" lvl="5" indent="-457200">
              <a:lnSpc>
                <a:spcPct val="200000"/>
              </a:lnSpc>
              <a:buAutoNum type="alphaLcParenR" startAt="2"/>
            </a:pPr>
            <a:r>
              <a:rPr lang="en-US" sz="2000" b="1" dirty="0">
                <a:solidFill>
                  <a:srgbClr val="FF0000"/>
                </a:solidFill>
                <a:latin typeface="Arial" panose="020B0604020202020204" pitchFamily="34" charset="0"/>
                <a:cs typeface="Arial" panose="020B0604020202020204" pitchFamily="34" charset="0"/>
              </a:rPr>
              <a:t>A record of move of laptop in case undertaken will be maintained by the Cyber Security officer. Laptops used for storing of data with security classification of CONFIDENTAIL or above will be governed by the provision of the CHCD or MI directorate policy on subject.</a:t>
            </a:r>
          </a:p>
          <a:p>
            <a:pPr marL="355600" lvl="5">
              <a:lnSpc>
                <a:spcPct val="200000"/>
              </a:lnSpc>
            </a:pPr>
            <a:r>
              <a:rPr lang="en-US" sz="2000" b="1" u="sng" dirty="0">
                <a:latin typeface="Arial" panose="020B0604020202020204" pitchFamily="34" charset="0"/>
                <a:cs typeface="Arial" panose="020B0604020202020204" pitchFamily="34" charset="0"/>
              </a:rPr>
              <a:t>PERMISSION OF CISO FOR SYS FORMATTING, UPGRADATION, REC, REPAIR &amp; RESTORE</a:t>
            </a:r>
          </a:p>
          <a:p>
            <a:pPr marL="698500" lvl="5" indent="-34290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Records of sys formatting reset, repairs &amp; restore </a:t>
            </a:r>
            <a:r>
              <a:rPr lang="en-US" sz="2000" b="1" dirty="0" err="1">
                <a:solidFill>
                  <a:srgbClr val="0070C0"/>
                </a:solidFill>
                <a:latin typeface="Arial" panose="020B0604020202020204" pitchFamily="34" charset="0"/>
                <a:cs typeface="Arial" panose="020B0604020202020204" pitchFamily="34" charset="0"/>
              </a:rPr>
              <a:t>maint</a:t>
            </a:r>
            <a:r>
              <a:rPr lang="en-US" sz="2000" b="1" dirty="0">
                <a:solidFill>
                  <a:srgbClr val="0070C0"/>
                </a:solidFill>
                <a:latin typeface="Arial" panose="020B0604020202020204" pitchFamily="34" charset="0"/>
                <a:cs typeface="Arial" panose="020B0604020202020204" pitchFamily="34" charset="0"/>
              </a:rPr>
              <a:t> by ITO but only after permission of CISO</a:t>
            </a:r>
            <a:endParaRPr lang="en-US" sz="2000" b="1" u="sng" dirty="0">
              <a:solidFill>
                <a:srgbClr val="0070C0"/>
              </a:solidFill>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7B276B64-6277-AA49-B099-F6086B37985D}"/>
              </a:ext>
            </a:extLst>
          </p:cNvPr>
          <p:cNvGrpSpPr/>
          <p:nvPr/>
        </p:nvGrpSpPr>
        <p:grpSpPr>
          <a:xfrm>
            <a:off x="-10160" y="6354"/>
            <a:ext cx="9144000" cy="938525"/>
            <a:chOff x="0" y="39305"/>
            <a:chExt cx="9144000" cy="1091874"/>
          </a:xfrm>
          <a:solidFill>
            <a:srgbClr val="C00000"/>
          </a:solidFill>
        </p:grpSpPr>
        <p:sp>
          <p:nvSpPr>
            <p:cNvPr id="11" name="Rounded Rectangle 13">
              <a:extLst>
                <a:ext uri="{FF2B5EF4-FFF2-40B4-BE49-F238E27FC236}">
                  <a16:creationId xmlns:a16="http://schemas.microsoft.com/office/drawing/2014/main" id="{9EC3A106-F2C1-390A-ACD3-5670A63AF58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EF659B0-F02E-C05B-F8ED-0B49877DF6D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3" name="Picture 12">
              <a:extLst>
                <a:ext uri="{FF2B5EF4-FFF2-40B4-BE49-F238E27FC236}">
                  <a16:creationId xmlns:a16="http://schemas.microsoft.com/office/drawing/2014/main" id="{B7118985-9D03-ABF4-402A-59A5990ED0C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3409058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3CCF-07A8-8865-028B-6E0AB9AD55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D1B386-A1F5-70E0-C20C-22F1151EF815}"/>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6ACB880A-ACE2-036B-49EC-4776799FB279}"/>
              </a:ext>
            </a:extLst>
          </p:cNvPr>
          <p:cNvSpPr txBox="1"/>
          <p:nvPr/>
        </p:nvSpPr>
        <p:spPr>
          <a:xfrm>
            <a:off x="40640" y="990378"/>
            <a:ext cx="9022080" cy="3690177"/>
          </a:xfrm>
          <a:prstGeom prst="rect">
            <a:avLst/>
          </a:prstGeom>
          <a:noFill/>
        </p:spPr>
        <p:txBody>
          <a:bodyPr wrap="square">
            <a:spAutoFit/>
          </a:bodyPr>
          <a:lstStyle/>
          <a:p>
            <a:pPr marL="698500" lvl="5" indent="-34290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Computer connected on internet will not be used for ADN/LAN &amp; vice versa even if formatted</a:t>
            </a:r>
            <a:endParaRPr lang="en-US" sz="2000" b="1" u="sng" dirty="0">
              <a:solidFill>
                <a:srgbClr val="FF0000"/>
              </a:solidFill>
              <a:latin typeface="Arial" panose="020B0604020202020204" pitchFamily="34" charset="0"/>
              <a:cs typeface="Arial" panose="020B0604020202020204" pitchFamily="34" charset="0"/>
            </a:endParaRPr>
          </a:p>
          <a:p>
            <a:pPr marL="698500" lvl="5" indent="-342900">
              <a:lnSpc>
                <a:spcPct val="20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Change of appointment - formatting computers not be restored For of non ADN computers, network admin will issue fresh user credentials with role based credentials User account password of IT assets being taken over will be reset by new responsible user.vi</a:t>
            </a:r>
          </a:p>
        </p:txBody>
      </p:sp>
      <p:grpSp>
        <p:nvGrpSpPr>
          <p:cNvPr id="10" name="Group 9">
            <a:extLst>
              <a:ext uri="{FF2B5EF4-FFF2-40B4-BE49-F238E27FC236}">
                <a16:creationId xmlns:a16="http://schemas.microsoft.com/office/drawing/2014/main" id="{BFD97CF6-5CD8-5132-1765-C85ADA9340A5}"/>
              </a:ext>
            </a:extLst>
          </p:cNvPr>
          <p:cNvGrpSpPr/>
          <p:nvPr/>
        </p:nvGrpSpPr>
        <p:grpSpPr>
          <a:xfrm>
            <a:off x="-10160" y="6354"/>
            <a:ext cx="9144000" cy="938525"/>
            <a:chOff x="0" y="39305"/>
            <a:chExt cx="9144000" cy="1091874"/>
          </a:xfrm>
          <a:solidFill>
            <a:srgbClr val="C00000"/>
          </a:solidFill>
        </p:grpSpPr>
        <p:sp>
          <p:nvSpPr>
            <p:cNvPr id="11" name="Rounded Rectangle 13">
              <a:extLst>
                <a:ext uri="{FF2B5EF4-FFF2-40B4-BE49-F238E27FC236}">
                  <a16:creationId xmlns:a16="http://schemas.microsoft.com/office/drawing/2014/main" id="{881C2FE4-3318-B339-1FF6-E21B771A608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2547D29-4FE2-F119-FB68-3E17687AA4F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3" name="Picture 12">
              <a:extLst>
                <a:ext uri="{FF2B5EF4-FFF2-40B4-BE49-F238E27FC236}">
                  <a16:creationId xmlns:a16="http://schemas.microsoft.com/office/drawing/2014/main" id="{AABEBE48-D423-D22A-E1E0-28B12F8F39A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8457870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868605"/>
            <a:ext cx="9062720" cy="5858014"/>
          </a:xfrm>
          <a:prstGeom prst="rect">
            <a:avLst/>
          </a:prstGeom>
          <a:noFill/>
        </p:spPr>
        <p:txBody>
          <a:bodyPr wrap="square" rtlCol="0">
            <a:spAutoFit/>
          </a:bodyPr>
          <a:lstStyle/>
          <a:p>
            <a:pPr marL="355600" lvl="5">
              <a:lnSpc>
                <a:spcPct val="150000"/>
              </a:lnSpc>
            </a:pPr>
            <a:r>
              <a:rPr lang="en-US" b="1" u="sng" dirty="0">
                <a:solidFill>
                  <a:srgbClr val="FF0000"/>
                </a:solidFill>
                <a:latin typeface="Arial" panose="020B0604020202020204" pitchFamily="34" charset="0"/>
                <a:cs typeface="Arial" panose="020B0604020202020204" pitchFamily="34" charset="0"/>
              </a:rPr>
              <a:t>DATA EXCHANGE POINT (DEP)</a:t>
            </a:r>
            <a:r>
              <a:rPr lang="en-US" b="1" dirty="0">
                <a:solidFill>
                  <a:srgbClr val="FF0000"/>
                </a:solidFill>
                <a:latin typeface="Arial" panose="020B0604020202020204" pitchFamily="34" charset="0"/>
                <a:cs typeface="Arial" panose="020B0604020202020204" pitchFamily="34" charset="0"/>
              </a:rPr>
              <a:t> : DEP is a computer earmarked and configured for data transfer to/ from the secure network. Critical asset on ADN/ exclusive LANs is the data itself. It is of paramount importance to regulate egress of data created/ present on a secure network to other networks. The effort shall be to ensure data on ADN/ exclusive LANs remains within precincts of the network and is made available to the users through secure data transmissions mechanisms such as ASIGMA/ secure email/ secure FTP/ whitelisted application etc. Following aspects shall be ensured: - </a:t>
            </a:r>
          </a:p>
          <a:p>
            <a:pPr marL="641350" lvl="5"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Use of internal CD drive/ External CD writers will be permitted only for earmarked DEPs and will be properly documented and produced during the Internal and External audits. No other computer other than DEP computer shall have permission to write/ burn CD/ DVD/ Blue Ray discs. To achieve this, internal CD/DVD must be physically disabled in all other computers. The same will be confirmed by cyber security officer to CISO. </a:t>
            </a:r>
            <a:endParaRPr lang="en-US" b="1" dirty="0">
              <a:solidFill>
                <a:schemeClr val="tx1">
                  <a:lumMod val="95000"/>
                  <a:lumOff val="5000"/>
                </a:schemeClr>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55B3EFCD-DD31-2741-7C38-A0A2AC6D1DB3}"/>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E04CDDDB-A786-242F-593B-35111BD7732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952E90FB-D9CE-B9F7-140E-D2406FDA0BF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8810781C-065F-43B0-3BB0-3A5CE23FA5D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9279928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689097"/>
            <a:ext cx="9062720" cy="6152390"/>
          </a:xfrm>
          <a:prstGeom prst="rect">
            <a:avLst/>
          </a:prstGeom>
          <a:noFill/>
        </p:spPr>
        <p:txBody>
          <a:bodyPr wrap="square" rtlCol="0">
            <a:spAutoFit/>
          </a:bodyPr>
          <a:lstStyle/>
          <a:p>
            <a:pPr marL="641350" lvl="5" indent="-28575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DEP shall be setup with written permission. The permission must be produced during internal/ External Cyber security audits. </a:t>
            </a:r>
          </a:p>
          <a:p>
            <a:pPr marL="641350" lvl="5" indent="-28575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DEP shall always be kept under supervision of nominated person.</a:t>
            </a:r>
          </a:p>
          <a:p>
            <a:pPr marL="641350" lvl="5" indent="-28575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Record of all DEPs shall be held with respective Cyber Security Officers. </a:t>
            </a:r>
          </a:p>
          <a:p>
            <a:pPr marL="641350" lvl="5" indent="-285750">
              <a:lnSpc>
                <a:spcPct val="20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It shall be ensured that Anti-virus software at DEP computers is kept updated at all times.</a:t>
            </a:r>
          </a:p>
          <a:p>
            <a:pPr marL="641350" lvl="5" indent="-285750">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Only CD/DVD that have been </a:t>
            </a:r>
            <a:r>
              <a:rPr lang="en-US" sz="2000" b="1" dirty="0" err="1">
                <a:latin typeface="Arial" panose="020B0604020202020204" pitchFamily="34" charset="0"/>
                <a:cs typeface="Arial" panose="020B0604020202020204" pitchFamily="34" charset="0"/>
              </a:rPr>
              <a:t>sanitised</a:t>
            </a:r>
            <a:r>
              <a:rPr lang="en-US" sz="2000" b="1" dirty="0">
                <a:latin typeface="Arial" panose="020B0604020202020204" pitchFamily="34" charset="0"/>
                <a:cs typeface="Arial" panose="020B0604020202020204" pitchFamily="34" charset="0"/>
              </a:rPr>
              <a:t> (through the Sanitization Box) shall be used to import data.</a:t>
            </a:r>
          </a:p>
          <a:p>
            <a:pPr marL="641350" lvl="5" indent="-285750">
              <a:lnSpc>
                <a:spcPct val="20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Computers identified as DEP must be prominently labelled.</a:t>
            </a:r>
          </a:p>
        </p:txBody>
      </p:sp>
      <p:grpSp>
        <p:nvGrpSpPr>
          <p:cNvPr id="3" name="Group 2">
            <a:extLst>
              <a:ext uri="{FF2B5EF4-FFF2-40B4-BE49-F238E27FC236}">
                <a16:creationId xmlns:a16="http://schemas.microsoft.com/office/drawing/2014/main" id="{E76B712B-646E-D54B-E109-F892532074A7}"/>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90127800-DB7D-4C87-A543-DD41F67662C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1D8751B-436A-16FB-C59B-6D5A9A2AE6B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0CC0B452-310C-4B1A-DECB-31043DA49C8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692335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868605"/>
            <a:ext cx="9062720" cy="5864939"/>
          </a:xfrm>
          <a:prstGeom prst="rect">
            <a:avLst/>
          </a:prstGeom>
          <a:noFill/>
        </p:spPr>
        <p:txBody>
          <a:bodyPr wrap="square" rtlCol="0">
            <a:spAutoFit/>
          </a:bodyPr>
          <a:lstStyle/>
          <a:p>
            <a:pPr marL="355600" lvl="5">
              <a:lnSpc>
                <a:spcPct val="140000"/>
              </a:lnSpc>
            </a:pPr>
            <a:r>
              <a:rPr lang="en-US" b="1" u="sng" dirty="0">
                <a:solidFill>
                  <a:srgbClr val="FF0000"/>
                </a:solidFill>
                <a:latin typeface="Arial" panose="020B0604020202020204" pitchFamily="34" charset="0"/>
                <a:cs typeface="Arial" panose="020B0604020202020204" pitchFamily="34" charset="0"/>
              </a:rPr>
              <a:t>SANITISATION BOX</a:t>
            </a:r>
            <a:r>
              <a:rPr lang="en-US" b="1" dirty="0">
                <a:solidFill>
                  <a:srgbClr val="FF0000"/>
                </a:solidFill>
                <a:latin typeface="Arial" panose="020B0604020202020204" pitchFamily="34" charset="0"/>
                <a:cs typeface="Arial" panose="020B0604020202020204" pitchFamily="34" charset="0"/>
              </a:rPr>
              <a:t> : CISOs at all levels will ensure that a standalone computer with updated antivirus solution, other than the one being used on ADN/ Internet/ Exclusive LAN computer, be earmarked to scan CD/DVD. Such nominated computers will be termed as Sanitization Box. Following aspects shall be ensured: -</a:t>
            </a:r>
          </a:p>
          <a:p>
            <a:pPr marL="641350" lvl="5" indent="-285750">
              <a:lnSpc>
                <a:spcPct val="140000"/>
              </a:lnSpc>
              <a:buFont typeface="Arial" panose="020B0604020202020204" pitchFamily="34" charset="0"/>
              <a:buChar char="•"/>
            </a:pPr>
            <a:r>
              <a:rPr lang="en-US" b="1" dirty="0">
                <a:latin typeface="Arial" panose="020B0604020202020204" pitchFamily="34" charset="0"/>
                <a:cs typeface="Arial" panose="020B0604020202020204" pitchFamily="34" charset="0"/>
              </a:rPr>
              <a:t>Sanitization Box shall be an isolated workstation deployed to undertake all sanitization related tasks.</a:t>
            </a:r>
          </a:p>
          <a:p>
            <a:pPr marL="641350" lvl="5" indent="-285750">
              <a:lnSpc>
                <a:spcPct val="140000"/>
              </a:lnSpc>
              <a:buFont typeface="Arial" panose="020B0604020202020204" pitchFamily="34" charset="0"/>
              <a:buChar char="•"/>
            </a:pPr>
            <a:r>
              <a:rPr lang="en-US" b="1" dirty="0">
                <a:solidFill>
                  <a:srgbClr val="0070C0"/>
                </a:solidFill>
                <a:latin typeface="Arial" panose="020B0604020202020204" pitchFamily="34" charset="0"/>
                <a:cs typeface="Arial" panose="020B0604020202020204" pitchFamily="34" charset="0"/>
              </a:rPr>
              <a:t>Data downloaded from Internet to include patches and updates for the firmware, documents, pictures and videos </a:t>
            </a:r>
            <a:r>
              <a:rPr lang="en-US" b="1" dirty="0" err="1">
                <a:solidFill>
                  <a:srgbClr val="0070C0"/>
                </a:solidFill>
                <a:latin typeface="Arial" panose="020B0604020202020204" pitchFamily="34" charset="0"/>
                <a:cs typeface="Arial" panose="020B0604020202020204" pitchFamily="34" charset="0"/>
              </a:rPr>
              <a:t>etc</a:t>
            </a:r>
            <a:r>
              <a:rPr lang="en-US" b="1" dirty="0">
                <a:solidFill>
                  <a:srgbClr val="0070C0"/>
                </a:solidFill>
                <a:latin typeface="Arial" panose="020B0604020202020204" pitchFamily="34" charset="0"/>
                <a:cs typeface="Arial" panose="020B0604020202020204" pitchFamily="34" charset="0"/>
              </a:rPr>
              <a:t> must be first scanned by an updated version of credible antivirus on the Internet computer itself. Thereafter, the data shall be copied on the sanitisation box using an optical media (CD/DVD/ Blue Ray Disk) authorised to be used on Internet and scanned through Sanitisation Box (essentially installed with updated version of antivirus software that is different from the one deployed on Internet machine).</a:t>
            </a:r>
          </a:p>
        </p:txBody>
      </p:sp>
      <p:grpSp>
        <p:nvGrpSpPr>
          <p:cNvPr id="3" name="Group 2">
            <a:extLst>
              <a:ext uri="{FF2B5EF4-FFF2-40B4-BE49-F238E27FC236}">
                <a16:creationId xmlns:a16="http://schemas.microsoft.com/office/drawing/2014/main" id="{8C1E069C-9970-A494-DD29-D1B3EA96165B}"/>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9ED392B8-3835-E4C7-E92C-15C06FCC660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6C7A7ED-FBF1-B7DD-03D0-01AF61EC932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783AAFAA-9B4C-F882-1025-F09EF0721ED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5998292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1025290"/>
            <a:ext cx="9062720" cy="1335687"/>
          </a:xfrm>
          <a:prstGeom prst="rect">
            <a:avLst/>
          </a:prstGeom>
          <a:noFill/>
        </p:spPr>
        <p:txBody>
          <a:bodyPr wrap="square" rtlCol="0">
            <a:spAutoFit/>
          </a:bodyPr>
          <a:lstStyle/>
          <a:p>
            <a:pPr marL="641350" lvl="5" indent="-28575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The scanned data will then be copied on a different optical media (CD/DVD) authorised to be used on ADN/ Exclusive LAN/ Standalone Computer and transferred to the designated computer. </a:t>
            </a:r>
          </a:p>
        </p:txBody>
      </p:sp>
      <p:grpSp>
        <p:nvGrpSpPr>
          <p:cNvPr id="56" name="Group 55">
            <a:extLst>
              <a:ext uri="{FF2B5EF4-FFF2-40B4-BE49-F238E27FC236}">
                <a16:creationId xmlns:a16="http://schemas.microsoft.com/office/drawing/2014/main" id="{C572B14D-A4C4-893B-4A79-7F6F1590138C}"/>
              </a:ext>
            </a:extLst>
          </p:cNvPr>
          <p:cNvGrpSpPr/>
          <p:nvPr/>
        </p:nvGrpSpPr>
        <p:grpSpPr>
          <a:xfrm>
            <a:off x="45085" y="3088789"/>
            <a:ext cx="9053829" cy="2900606"/>
            <a:chOff x="8891" y="2741241"/>
            <a:chExt cx="9053829" cy="2444228"/>
          </a:xfrm>
        </p:grpSpPr>
        <p:sp>
          <p:nvSpPr>
            <p:cNvPr id="55" name="Oval 54">
              <a:extLst>
                <a:ext uri="{FF2B5EF4-FFF2-40B4-BE49-F238E27FC236}">
                  <a16:creationId xmlns:a16="http://schemas.microsoft.com/office/drawing/2014/main" id="{33848581-0658-1624-6774-516593BEFB04}"/>
                </a:ext>
              </a:extLst>
            </p:cNvPr>
            <p:cNvSpPr/>
            <p:nvPr/>
          </p:nvSpPr>
          <p:spPr>
            <a:xfrm>
              <a:off x="6428740" y="2854569"/>
              <a:ext cx="2186940" cy="2165258"/>
            </a:xfrm>
            <a:prstGeom prst="ellipse">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B050"/>
                  </a:solidFill>
                </a:rPr>
                <a:t>Secure NW</a:t>
              </a:r>
            </a:p>
            <a:p>
              <a:pPr algn="ctr"/>
              <a:r>
                <a:rPr lang="en-IN" dirty="0">
                  <a:solidFill>
                    <a:srgbClr val="00B050"/>
                  </a:solidFill>
                </a:rPr>
                <a:t>AND/LAN/</a:t>
              </a:r>
            </a:p>
            <a:p>
              <a:pPr algn="ctr"/>
              <a:r>
                <a:rPr lang="en-IN" dirty="0">
                  <a:solidFill>
                    <a:srgbClr val="00B050"/>
                  </a:solidFill>
                </a:rPr>
                <a:t>Standalone</a:t>
              </a:r>
            </a:p>
            <a:p>
              <a:pPr algn="ctr"/>
              <a:r>
                <a:rPr lang="en-IN" dirty="0" err="1">
                  <a:solidFill>
                    <a:srgbClr val="00B050"/>
                  </a:solidFill>
                </a:rPr>
                <a:t>cmptr</a:t>
              </a:r>
              <a:endParaRPr lang="en-IN" dirty="0">
                <a:solidFill>
                  <a:srgbClr val="00B050"/>
                </a:solidFill>
              </a:endParaRPr>
            </a:p>
          </p:txBody>
        </p:sp>
        <p:sp>
          <p:nvSpPr>
            <p:cNvPr id="3" name="Thought Bubble: Cloud 2">
              <a:extLst>
                <a:ext uri="{FF2B5EF4-FFF2-40B4-BE49-F238E27FC236}">
                  <a16:creationId xmlns:a16="http://schemas.microsoft.com/office/drawing/2014/main" id="{4860BA2B-92DF-4AF9-E77E-58DF853CDF02}"/>
                </a:ext>
              </a:extLst>
            </p:cNvPr>
            <p:cNvSpPr/>
            <p:nvPr/>
          </p:nvSpPr>
          <p:spPr>
            <a:xfrm>
              <a:off x="8891" y="3448986"/>
              <a:ext cx="1287780" cy="794584"/>
            </a:xfrm>
            <a:prstGeom prst="cloudCallout">
              <a:avLst/>
            </a:prstGeom>
            <a:ln w="28575">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100" dirty="0">
                  <a:latin typeface="Arial" panose="020B0604020202020204" pitchFamily="34" charset="0"/>
                  <a:cs typeface="Arial" panose="020B0604020202020204" pitchFamily="34" charset="0"/>
                </a:rPr>
                <a:t>Untrusted</a:t>
              </a:r>
            </a:p>
            <a:p>
              <a:pPr algn="ctr"/>
              <a:r>
                <a:rPr lang="en-IN" sz="1100" dirty="0">
                  <a:latin typeface="Arial" panose="020B0604020202020204" pitchFamily="34" charset="0"/>
                  <a:cs typeface="Arial" panose="020B0604020202020204" pitchFamily="34" charset="0"/>
                </a:rPr>
                <a:t> network</a:t>
              </a:r>
            </a:p>
          </p:txBody>
        </p:sp>
        <p:sp>
          <p:nvSpPr>
            <p:cNvPr id="9" name="Rectangle 8">
              <a:extLst>
                <a:ext uri="{FF2B5EF4-FFF2-40B4-BE49-F238E27FC236}">
                  <a16:creationId xmlns:a16="http://schemas.microsoft.com/office/drawing/2014/main" id="{EFC012EA-E9B6-62BF-4EC5-2CA626C4C8D0}"/>
                </a:ext>
              </a:extLst>
            </p:cNvPr>
            <p:cNvSpPr/>
            <p:nvPr/>
          </p:nvSpPr>
          <p:spPr>
            <a:xfrm>
              <a:off x="1940561" y="3614394"/>
              <a:ext cx="1287780" cy="463768"/>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FF0000"/>
                  </a:solidFill>
                </a:rPr>
                <a:t>Internet pc</a:t>
              </a:r>
            </a:p>
          </p:txBody>
        </p:sp>
        <p:sp>
          <p:nvSpPr>
            <p:cNvPr id="10" name="Rectangle 9">
              <a:extLst>
                <a:ext uri="{FF2B5EF4-FFF2-40B4-BE49-F238E27FC236}">
                  <a16:creationId xmlns:a16="http://schemas.microsoft.com/office/drawing/2014/main" id="{C9D28056-9139-1F0F-D32C-E3914129954E}"/>
                </a:ext>
              </a:extLst>
            </p:cNvPr>
            <p:cNvSpPr/>
            <p:nvPr/>
          </p:nvSpPr>
          <p:spPr>
            <a:xfrm>
              <a:off x="3997404" y="3602506"/>
              <a:ext cx="1287780" cy="478170"/>
            </a:xfrm>
            <a:prstGeom prst="rect">
              <a:avLst/>
            </a:prstGeom>
            <a:ln w="28575">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2060"/>
                  </a:solidFill>
                </a:rPr>
                <a:t>Sanitisation</a:t>
              </a:r>
            </a:p>
          </p:txBody>
        </p:sp>
        <p:sp>
          <p:nvSpPr>
            <p:cNvPr id="11" name="Rectangle 10">
              <a:extLst>
                <a:ext uri="{FF2B5EF4-FFF2-40B4-BE49-F238E27FC236}">
                  <a16:creationId xmlns:a16="http://schemas.microsoft.com/office/drawing/2014/main" id="{D6378350-F162-521A-C263-F6BB658404CF}"/>
                </a:ext>
              </a:extLst>
            </p:cNvPr>
            <p:cNvSpPr/>
            <p:nvPr/>
          </p:nvSpPr>
          <p:spPr>
            <a:xfrm>
              <a:off x="2968982" y="2925852"/>
              <a:ext cx="1287780" cy="288085"/>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FF0000"/>
                  </a:solidFill>
                </a:rPr>
                <a:t>Internet CD</a:t>
              </a:r>
            </a:p>
          </p:txBody>
        </p:sp>
        <p:sp>
          <p:nvSpPr>
            <p:cNvPr id="12" name="Rectangle 11">
              <a:extLst>
                <a:ext uri="{FF2B5EF4-FFF2-40B4-BE49-F238E27FC236}">
                  <a16:creationId xmlns:a16="http://schemas.microsoft.com/office/drawing/2014/main" id="{1F7A947C-D897-8F19-3543-75B0616BA8E9}"/>
                </a:ext>
              </a:extLst>
            </p:cNvPr>
            <p:cNvSpPr/>
            <p:nvPr/>
          </p:nvSpPr>
          <p:spPr>
            <a:xfrm>
              <a:off x="4965700" y="2949556"/>
              <a:ext cx="1404620" cy="288085"/>
            </a:xfrm>
            <a:prstGeom prst="rect">
              <a:avLst/>
            </a:prstGeom>
            <a:ln w="28575">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2060"/>
                  </a:solidFill>
                </a:rPr>
                <a:t>ADN/LAN CD</a:t>
              </a:r>
            </a:p>
          </p:txBody>
        </p:sp>
        <p:cxnSp>
          <p:nvCxnSpPr>
            <p:cNvPr id="14" name="Straight Connector 13">
              <a:extLst>
                <a:ext uri="{FF2B5EF4-FFF2-40B4-BE49-F238E27FC236}">
                  <a16:creationId xmlns:a16="http://schemas.microsoft.com/office/drawing/2014/main" id="{52EE7D5A-6936-96EA-D847-C8B643885553}"/>
                </a:ext>
              </a:extLst>
            </p:cNvPr>
            <p:cNvCxnSpPr>
              <a:cxnSpLocks/>
              <a:stCxn id="3" idx="2"/>
              <a:endCxn id="9" idx="1"/>
            </p:cNvCxnSpPr>
            <p:nvPr/>
          </p:nvCxnSpPr>
          <p:spPr>
            <a:xfrm>
              <a:off x="1295598" y="3846278"/>
              <a:ext cx="64496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057A75C-B074-CDF3-0A20-D57BD16DF8C9}"/>
                </a:ext>
              </a:extLst>
            </p:cNvPr>
            <p:cNvCxnSpPr>
              <a:cxnSpLocks/>
              <a:stCxn id="9" idx="3"/>
              <a:endCxn id="10" idx="1"/>
            </p:cNvCxnSpPr>
            <p:nvPr/>
          </p:nvCxnSpPr>
          <p:spPr>
            <a:xfrm flipV="1">
              <a:off x="3228341" y="3841591"/>
              <a:ext cx="769063" cy="468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47A613E-1F4D-34E7-D28F-F35B12256AB8}"/>
                </a:ext>
              </a:extLst>
            </p:cNvPr>
            <p:cNvSpPr/>
            <p:nvPr/>
          </p:nvSpPr>
          <p:spPr>
            <a:xfrm>
              <a:off x="5897880" y="3686433"/>
              <a:ext cx="944880" cy="310316"/>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B050"/>
                  </a:solidFill>
                </a:rPr>
                <a:t>DEP</a:t>
              </a:r>
            </a:p>
          </p:txBody>
        </p:sp>
        <p:cxnSp>
          <p:nvCxnSpPr>
            <p:cNvPr id="49" name="Straight Connector 48">
              <a:extLst>
                <a:ext uri="{FF2B5EF4-FFF2-40B4-BE49-F238E27FC236}">
                  <a16:creationId xmlns:a16="http://schemas.microsoft.com/office/drawing/2014/main" id="{FE52332A-12B5-90E7-21B1-66993823FDE9}"/>
                </a:ext>
              </a:extLst>
            </p:cNvPr>
            <p:cNvCxnSpPr>
              <a:cxnSpLocks/>
              <a:endCxn id="24" idx="1"/>
            </p:cNvCxnSpPr>
            <p:nvPr/>
          </p:nvCxnSpPr>
          <p:spPr>
            <a:xfrm flipV="1">
              <a:off x="5283478" y="3841591"/>
              <a:ext cx="614402" cy="4687"/>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B8569E4-9940-55FD-1135-FE51261B4BBA}"/>
                </a:ext>
              </a:extLst>
            </p:cNvPr>
            <p:cNvSpPr/>
            <p:nvPr/>
          </p:nvSpPr>
          <p:spPr>
            <a:xfrm>
              <a:off x="7025640" y="2741241"/>
              <a:ext cx="944880" cy="310316"/>
            </a:xfrm>
            <a:prstGeom prst="rect">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B050"/>
                  </a:solidFill>
                </a:rPr>
                <a:t>PC</a:t>
              </a:r>
            </a:p>
          </p:txBody>
        </p:sp>
        <p:sp>
          <p:nvSpPr>
            <p:cNvPr id="52" name="Rectangle 51">
              <a:extLst>
                <a:ext uri="{FF2B5EF4-FFF2-40B4-BE49-F238E27FC236}">
                  <a16:creationId xmlns:a16="http://schemas.microsoft.com/office/drawing/2014/main" id="{CE68D83C-BA36-3773-46C3-C96DF635F2BF}"/>
                </a:ext>
              </a:extLst>
            </p:cNvPr>
            <p:cNvSpPr/>
            <p:nvPr/>
          </p:nvSpPr>
          <p:spPr>
            <a:xfrm>
              <a:off x="8117840" y="3686433"/>
              <a:ext cx="944880" cy="310316"/>
            </a:xfrm>
            <a:prstGeom prst="rect">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B050"/>
                  </a:solidFill>
                </a:rPr>
                <a:t>PC</a:t>
              </a:r>
            </a:p>
          </p:txBody>
        </p:sp>
        <p:sp>
          <p:nvSpPr>
            <p:cNvPr id="53" name="Rectangle 52">
              <a:extLst>
                <a:ext uri="{FF2B5EF4-FFF2-40B4-BE49-F238E27FC236}">
                  <a16:creationId xmlns:a16="http://schemas.microsoft.com/office/drawing/2014/main" id="{D0D81A9A-C3AF-4914-9089-298926FCFDD4}"/>
                </a:ext>
              </a:extLst>
            </p:cNvPr>
            <p:cNvSpPr/>
            <p:nvPr/>
          </p:nvSpPr>
          <p:spPr>
            <a:xfrm>
              <a:off x="7078980" y="4875153"/>
              <a:ext cx="944880" cy="310316"/>
            </a:xfrm>
            <a:prstGeom prst="rect">
              <a:avLst/>
            </a:prstGeom>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rgbClr val="00B050"/>
                  </a:solidFill>
                </a:rPr>
                <a:t>PC</a:t>
              </a:r>
            </a:p>
          </p:txBody>
        </p:sp>
      </p:grpSp>
      <p:grpSp>
        <p:nvGrpSpPr>
          <p:cNvPr id="13" name="Group 12">
            <a:extLst>
              <a:ext uri="{FF2B5EF4-FFF2-40B4-BE49-F238E27FC236}">
                <a16:creationId xmlns:a16="http://schemas.microsoft.com/office/drawing/2014/main" id="{EFC28F01-7EA9-CD35-85B8-BE5EFB3CDDFE}"/>
              </a:ext>
            </a:extLst>
          </p:cNvPr>
          <p:cNvGrpSpPr/>
          <p:nvPr/>
        </p:nvGrpSpPr>
        <p:grpSpPr>
          <a:xfrm>
            <a:off x="-10160" y="6354"/>
            <a:ext cx="9144000" cy="938525"/>
            <a:chOff x="0" y="39305"/>
            <a:chExt cx="9144000" cy="1091874"/>
          </a:xfrm>
          <a:solidFill>
            <a:srgbClr val="C00000"/>
          </a:solidFill>
        </p:grpSpPr>
        <p:sp>
          <p:nvSpPr>
            <p:cNvPr id="16" name="Rounded Rectangle 13">
              <a:extLst>
                <a:ext uri="{FF2B5EF4-FFF2-40B4-BE49-F238E27FC236}">
                  <a16:creationId xmlns:a16="http://schemas.microsoft.com/office/drawing/2014/main" id="{D2CA6CF9-C971-2527-212B-6C8F51D4044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SECURITY CONTROLS</a:t>
              </a:r>
              <a:endParaRPr lang="en-IN" sz="2800" b="1" u="sng" dirty="0">
                <a:solidFill>
                  <a:schemeClr val="bg1"/>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F7FE2477-C432-3DD7-E169-0822AB67E21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8" name="Picture 17">
              <a:extLst>
                <a:ext uri="{FF2B5EF4-FFF2-40B4-BE49-F238E27FC236}">
                  <a16:creationId xmlns:a16="http://schemas.microsoft.com/office/drawing/2014/main" id="{F0EB876C-385E-921B-211E-23B969C1933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3636646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975689"/>
            <a:ext cx="9144000" cy="5442516"/>
          </a:xfrm>
          <a:prstGeom prst="rect">
            <a:avLst/>
          </a:prstGeom>
          <a:noFill/>
        </p:spPr>
        <p:txBody>
          <a:bodyPr wrap="square" rtlCol="0">
            <a:spAutoFit/>
          </a:bodyPr>
          <a:lstStyle/>
          <a:p>
            <a:pPr marL="355600" lvl="5" indent="-263525">
              <a:lnSpc>
                <a:spcPct val="150000"/>
              </a:lnSpc>
            </a:pPr>
            <a:r>
              <a:rPr lang="en-US" b="1" u="sng" dirty="0">
                <a:solidFill>
                  <a:srgbClr val="FF0000"/>
                </a:solidFill>
                <a:latin typeface="Arial" panose="020B0604020202020204" pitchFamily="34" charset="0"/>
                <a:cs typeface="Arial" panose="020B0604020202020204" pitchFamily="34" charset="0"/>
              </a:rPr>
              <a:t>INFORMATION CLASSIFICATION </a:t>
            </a:r>
          </a:p>
          <a:p>
            <a:pPr marL="698500" lvl="5" indent="-342900">
              <a:lnSpc>
                <a:spcPct val="150000"/>
              </a:lnSpc>
              <a:buFont typeface="+mj-lt"/>
              <a:buAutoNum type="alphaLcParenR"/>
            </a:pPr>
            <a:r>
              <a:rPr lang="en-US" b="1" dirty="0">
                <a:latin typeface="Arial" panose="020B0604020202020204" pitchFamily="34" charset="0"/>
                <a:cs typeface="Arial" panose="020B0604020202020204" pitchFamily="34" charset="0"/>
              </a:rPr>
              <a:t>Information in digital form is classified as per CHCD. </a:t>
            </a:r>
          </a:p>
          <a:p>
            <a:pPr marL="698500" lvl="5" indent="-342900">
              <a:lnSpc>
                <a:spcPct val="150000"/>
              </a:lnSpc>
              <a:buFont typeface="+mj-lt"/>
              <a:buAutoNum type="alphaLcParenR"/>
            </a:pPr>
            <a:r>
              <a:rPr lang="en-US" b="1" dirty="0">
                <a:solidFill>
                  <a:srgbClr val="0070C0"/>
                </a:solidFill>
                <a:latin typeface="Arial" panose="020B0604020202020204" pitchFamily="34" charset="0"/>
                <a:cs typeface="Arial" panose="020B0604020202020204" pitchFamily="34" charset="0"/>
              </a:rPr>
              <a:t>It shall be mandatory to endorse security classifications (UNCLAS/ RESTRICTED/ CONFIDENTIAL/ SECRET/ TOP SECRET) on all digital documents.</a:t>
            </a:r>
          </a:p>
          <a:p>
            <a:pPr marL="355600" lvl="5" indent="-263525">
              <a:lnSpc>
                <a:spcPct val="150000"/>
              </a:lnSpc>
            </a:pPr>
            <a:r>
              <a:rPr lang="en-US" b="1" u="sng" dirty="0">
                <a:solidFill>
                  <a:srgbClr val="FF0000"/>
                </a:solidFill>
                <a:latin typeface="Arial" panose="020B0604020202020204" pitchFamily="34" charset="0"/>
                <a:cs typeface="Arial" panose="020B0604020202020204" pitchFamily="34" charset="0"/>
              </a:rPr>
              <a:t>HANDLING CLASSIFIED DOCUMENTS IN DIGITAL FORM </a:t>
            </a:r>
          </a:p>
          <a:p>
            <a:pPr marL="355600" lvl="5">
              <a:lnSpc>
                <a:spcPct val="150000"/>
              </a:lnSpc>
            </a:pPr>
            <a:r>
              <a:rPr lang="en-US" b="1" dirty="0">
                <a:latin typeface="Arial" panose="020B0604020202020204" pitchFamily="34" charset="0"/>
                <a:cs typeface="Arial" panose="020B0604020202020204" pitchFamily="34" charset="0"/>
              </a:rPr>
              <a:t>Computers/peripherals (including printers) or storage media used for processing or storing documents of classified nature must be under the ownership of a person of rank/ designation as specified in CHCD. No extra printouts of a document other than distribution list will be taken unless required in official correspondence. Data Loss Prevention Tool will be installed on IT assets processing Op Sensitive info. Security of digital documents shall be handled as per the following policy instructions:- </a:t>
            </a:r>
            <a:endParaRPr lang="en-US" b="1"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FCDA299A-828D-1084-5E14-6B88E0EB0783}"/>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4EF7A44C-36A8-60DA-44F1-996F76C0BF64}"/>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A9234ED-F5A1-D034-7ED9-FD17E156BD7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CB416943-0EE7-9506-8959-B39F008B240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2406446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975689"/>
            <a:ext cx="9144000" cy="5736892"/>
          </a:xfrm>
          <a:prstGeom prst="rect">
            <a:avLst/>
          </a:prstGeom>
          <a:noFill/>
        </p:spPr>
        <p:txBody>
          <a:bodyPr wrap="square" rtlCol="0">
            <a:spAutoFit/>
          </a:bodyPr>
          <a:lstStyle/>
          <a:p>
            <a:pPr marL="355600" lvl="5" indent="-263525">
              <a:lnSpc>
                <a:spcPct val="150000"/>
              </a:lnSpc>
            </a:pPr>
            <a:r>
              <a:rPr lang="en-US" sz="2000" b="1" u="sng" dirty="0">
                <a:solidFill>
                  <a:srgbClr val="FF0000"/>
                </a:solidFill>
                <a:latin typeface="Arial" panose="020B0604020202020204" pitchFamily="34" charset="0"/>
                <a:cs typeface="Arial" panose="020B0604020202020204" pitchFamily="34" charset="0"/>
              </a:rPr>
              <a:t>TOP SECRET AND SECRET DOCUMENTS</a:t>
            </a:r>
            <a:r>
              <a:rPr lang="en-US" sz="2000" b="1" dirty="0">
                <a:solidFill>
                  <a:srgbClr val="FF0000"/>
                </a:solidFill>
                <a:latin typeface="Arial" panose="020B0604020202020204" pitchFamily="34" charset="0"/>
                <a:cs typeface="Arial" panose="020B0604020202020204" pitchFamily="34" charset="0"/>
              </a:rPr>
              <a:t> : TOP SECRET &amp; SECRET documents in the digital format will be handled as per the following policy instructions: - </a:t>
            </a:r>
          </a:p>
          <a:p>
            <a:pPr marL="492125" lvl="5" indent="-400050">
              <a:lnSpc>
                <a:spcPct val="140000"/>
              </a:lnSpc>
              <a:buFont typeface="+mj-lt"/>
              <a:buAutoNum type="romanUcPeriod"/>
            </a:pPr>
            <a:r>
              <a:rPr lang="en-US" sz="2000" b="1" dirty="0">
                <a:latin typeface="Arial" panose="020B0604020202020204" pitchFamily="34" charset="0"/>
                <a:cs typeface="Arial" panose="020B0604020202020204" pitchFamily="34" charset="0"/>
              </a:rPr>
              <a:t>TOP SECRET &amp; SECRET document must be typed and prepared in a designated standalone computer for handling of documents of such classification. </a:t>
            </a:r>
            <a:endParaRPr lang="en-US" sz="2000" b="1" dirty="0">
              <a:solidFill>
                <a:srgbClr val="FF0000"/>
              </a:solidFill>
              <a:latin typeface="Arial" panose="020B0604020202020204" pitchFamily="34" charset="0"/>
              <a:cs typeface="Arial" panose="020B0604020202020204" pitchFamily="34" charset="0"/>
            </a:endParaRPr>
          </a:p>
          <a:p>
            <a:pPr marL="492125" lvl="5" indent="-400050">
              <a:lnSpc>
                <a:spcPct val="140000"/>
              </a:lnSpc>
              <a:buFont typeface="+mj-lt"/>
              <a:buAutoNum type="romanUcPeriod"/>
            </a:pPr>
            <a:r>
              <a:rPr lang="en-US" sz="2000" b="1" dirty="0">
                <a:solidFill>
                  <a:srgbClr val="0070C0"/>
                </a:solidFill>
                <a:latin typeface="Arial" panose="020B0604020202020204" pitchFamily="34" charset="0"/>
                <a:cs typeface="Arial" panose="020B0604020202020204" pitchFamily="34" charset="0"/>
              </a:rPr>
              <a:t>The originator of the TOP SECRET &amp; SECRET document will be governed as per the provisions of CHCD. </a:t>
            </a:r>
          </a:p>
          <a:p>
            <a:pPr marL="492125" lvl="5" indent="-400050">
              <a:lnSpc>
                <a:spcPct val="140000"/>
              </a:lnSpc>
              <a:buFont typeface="+mj-lt"/>
              <a:buAutoNum type="romanUcPeriod"/>
            </a:pPr>
            <a:r>
              <a:rPr lang="en-US" sz="2000" b="1" dirty="0">
                <a:solidFill>
                  <a:srgbClr val="FF0000"/>
                </a:solidFill>
                <a:latin typeface="Arial" panose="020B0604020202020204" pitchFamily="34" charset="0"/>
                <a:cs typeface="Arial" panose="020B0604020202020204" pitchFamily="34" charset="0"/>
              </a:rPr>
              <a:t>All relevant clauses of CHCD shall be applicable for handling, transmission and destruction of printed copies of the document.</a:t>
            </a:r>
          </a:p>
          <a:p>
            <a:pPr marL="492125" lvl="5" indent="-400050">
              <a:lnSpc>
                <a:spcPct val="140000"/>
              </a:lnSpc>
              <a:buFont typeface="+mj-lt"/>
              <a:buAutoNum type="romanUcPeriod"/>
            </a:pPr>
            <a:r>
              <a:rPr lang="en-US" sz="2000" b="1" dirty="0">
                <a:latin typeface="Arial" panose="020B0604020202020204" pitchFamily="34" charset="0"/>
                <a:cs typeface="Arial" panose="020B0604020202020204" pitchFamily="34" charset="0"/>
              </a:rPr>
              <a:t>Whitelisted shredder software will be used for deletion of TOP SECRET &amp; SECRET. Advisory on secure deletion/shredder software will be issued by ACG. </a:t>
            </a:r>
            <a:endParaRPr lang="en-US" sz="20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0707D3F-1B01-12D7-04C0-50B823BD7F42}"/>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6BE31244-7A69-12B2-EA56-054872D5F4EE}"/>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B52CA7BA-1F57-8CDF-63F5-63504B044EE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FD340AFE-495B-58CA-0373-4E3AB6DF3DB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0828181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975689"/>
            <a:ext cx="9144000" cy="5213671"/>
          </a:xfrm>
          <a:prstGeom prst="rect">
            <a:avLst/>
          </a:prstGeom>
          <a:noFill/>
        </p:spPr>
        <p:txBody>
          <a:bodyPr wrap="square" rtlCol="0">
            <a:spAutoFit/>
          </a:bodyPr>
          <a:lstStyle/>
          <a:p>
            <a:pPr marL="492125" lvl="5" indent="-400050">
              <a:lnSpc>
                <a:spcPct val="140000"/>
              </a:lnSpc>
              <a:buAutoNum type="romanUcPeriod" startAt="5"/>
            </a:pPr>
            <a:r>
              <a:rPr lang="en-US" sz="2000" b="1" dirty="0">
                <a:solidFill>
                  <a:srgbClr val="FF0000"/>
                </a:solidFill>
                <a:latin typeface="Arial" panose="020B0604020202020204" pitchFamily="34" charset="0"/>
                <a:cs typeface="Arial" panose="020B0604020202020204" pitchFamily="34" charset="0"/>
              </a:rPr>
              <a:t>Copying of the ‘TOP SECRET &amp; SECRET’ document into USB Drive is strictly prohibited. The same may be undertaken on a CD/DVD or approved storage media. In such cases, the CD/DVD or earmarked hard disk must be treated in the manner similar to the security classification of the data stored.</a:t>
            </a:r>
          </a:p>
          <a:p>
            <a:pPr marL="492125" lvl="5" indent="-400050">
              <a:lnSpc>
                <a:spcPct val="140000"/>
              </a:lnSpc>
              <a:buFontTx/>
              <a:buAutoNum type="romanUcPeriod" startAt="5"/>
            </a:pPr>
            <a:r>
              <a:rPr lang="en-US" sz="2000" b="1" dirty="0">
                <a:latin typeface="Arial" panose="020B0604020202020204" pitchFamily="34" charset="0"/>
                <a:cs typeface="Arial" panose="020B0604020202020204" pitchFamily="34" charset="0"/>
              </a:rPr>
              <a:t>In case backup of the ‘TOP SECRET &amp; SECRET’ document in the electronic format is maintained, the device in which the back-up is being taken must also be clearly marked as TOP SECRET &amp; SECRET and treated in the same manner.</a:t>
            </a:r>
          </a:p>
          <a:p>
            <a:pPr marL="492125" lvl="5" indent="-400050">
              <a:lnSpc>
                <a:spcPct val="140000"/>
              </a:lnSpc>
              <a:buFontTx/>
              <a:buAutoNum type="romanUcPeriod" startAt="5"/>
            </a:pPr>
            <a:r>
              <a:rPr lang="en-US" sz="2000" b="1" dirty="0">
                <a:solidFill>
                  <a:srgbClr val="0070C0"/>
                </a:solidFill>
                <a:latin typeface="Arial" panose="020B0604020202020204" pitchFamily="34" charset="0"/>
                <a:cs typeface="Arial" panose="020B0604020202020204" pitchFamily="34" charset="0"/>
              </a:rPr>
              <a:t>Printouts of all documents classified as TOP SECRET &amp; SECRET will mandatorily be watermarked to establish the intended receiver and to prevent unauthorized pilferage/ copying of the same. </a:t>
            </a:r>
          </a:p>
        </p:txBody>
      </p:sp>
      <p:grpSp>
        <p:nvGrpSpPr>
          <p:cNvPr id="3" name="Group 2">
            <a:extLst>
              <a:ext uri="{FF2B5EF4-FFF2-40B4-BE49-F238E27FC236}">
                <a16:creationId xmlns:a16="http://schemas.microsoft.com/office/drawing/2014/main" id="{CFE38FD8-A08F-0B9B-2134-73A26EEFAA08}"/>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20C39100-6D93-18E3-D303-364C2C6B1A1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26A92F4-8EA1-874A-F648-E88048B7E58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AEB9BC13-A726-DFF6-C455-AB2A1AF8584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721152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219868" y="1021154"/>
            <a:ext cx="8842852" cy="427746"/>
          </a:xfrm>
          <a:prstGeom prst="rect">
            <a:avLst/>
          </a:prstGeom>
          <a:noFill/>
        </p:spPr>
        <p:txBody>
          <a:bodyPr wrap="square" rtlCol="0">
            <a:spAutoFit/>
          </a:bodyPr>
          <a:lstStyle/>
          <a:p>
            <a:pPr>
              <a:lnSpc>
                <a:spcPct val="120000"/>
              </a:lnSpc>
            </a:pPr>
            <a:endParaRPr lang="en-IN" sz="2000" b="1" u="sng" dirty="0">
              <a:solidFill>
                <a:srgbClr val="FF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1D72A0-67CE-1776-3C16-4550448DEE3F}"/>
              </a:ext>
            </a:extLst>
          </p:cNvPr>
          <p:cNvSpPr txBox="1"/>
          <p:nvPr/>
        </p:nvSpPr>
        <p:spPr>
          <a:xfrm>
            <a:off x="0" y="693464"/>
            <a:ext cx="9144000" cy="6767943"/>
          </a:xfrm>
          <a:prstGeom prst="rect">
            <a:avLst/>
          </a:prstGeom>
          <a:noFill/>
        </p:spPr>
        <p:txBody>
          <a:bodyPr wrap="square" rtlCol="0">
            <a:spAutoFit/>
          </a:bodyPr>
          <a:lstStyle/>
          <a:p>
            <a:pPr marL="92075" lvl="5">
              <a:lnSpc>
                <a:spcPct val="200000"/>
              </a:lnSpc>
            </a:pPr>
            <a:r>
              <a:rPr lang="en-US" sz="2000" b="1" u="sng" dirty="0">
                <a:solidFill>
                  <a:srgbClr val="FF0000"/>
                </a:solidFill>
                <a:latin typeface="Arial" panose="020B0604020202020204" pitchFamily="34" charset="0"/>
                <a:cs typeface="Arial" panose="020B0604020202020204" pitchFamily="34" charset="0"/>
              </a:rPr>
              <a:t>CONFIDENTIAL DOCUMENTS</a:t>
            </a:r>
            <a:r>
              <a:rPr lang="en-US" sz="2000" b="1" dirty="0">
                <a:solidFill>
                  <a:srgbClr val="FF0000"/>
                </a:solidFill>
                <a:latin typeface="Arial" panose="020B0604020202020204" pitchFamily="34" charset="0"/>
                <a:cs typeface="Arial" panose="020B0604020202020204" pitchFamily="34" charset="0"/>
              </a:rPr>
              <a:t> : CONFIDENTIAL documents in the digital format will be handled as per the following policy instructions: -</a:t>
            </a:r>
          </a:p>
          <a:p>
            <a:pPr marL="606425" lvl="5" indent="-514350">
              <a:lnSpc>
                <a:spcPct val="200000"/>
              </a:lnSpc>
              <a:buFont typeface="+mj-lt"/>
              <a:buAutoNum type="romanLcPeriod"/>
            </a:pPr>
            <a:r>
              <a:rPr lang="en-US" sz="2000" b="1" dirty="0">
                <a:latin typeface="Arial" panose="020B0604020202020204" pitchFamily="34" charset="0"/>
                <a:cs typeface="Arial" panose="020B0604020202020204" pitchFamily="34" charset="0"/>
              </a:rPr>
              <a:t>Confidential Information shall be created/ stored/ processed only on designated </a:t>
            </a:r>
            <a:r>
              <a:rPr lang="en-US" sz="2000" b="1">
                <a:latin typeface="Arial" panose="020B0604020202020204" pitchFamily="34" charset="0"/>
                <a:cs typeface="Arial" panose="020B0604020202020204" pitchFamily="34" charset="0"/>
              </a:rPr>
              <a:t>(nominated) </a:t>
            </a:r>
            <a:r>
              <a:rPr lang="en-US" sz="2000" b="1" dirty="0">
                <a:latin typeface="Arial" panose="020B0604020202020204" pitchFamily="34" charset="0"/>
                <a:cs typeface="Arial" panose="020B0604020202020204" pitchFamily="34" charset="0"/>
              </a:rPr>
              <a:t>computers.</a:t>
            </a:r>
          </a:p>
          <a:p>
            <a:pPr marL="606425" lvl="5" indent="-514350">
              <a:lnSpc>
                <a:spcPct val="200000"/>
              </a:lnSpc>
              <a:buFont typeface="+mj-lt"/>
              <a:buAutoNum type="romanLcPeriod"/>
            </a:pPr>
            <a:r>
              <a:rPr lang="en-US" sz="2000" b="1" dirty="0">
                <a:solidFill>
                  <a:srgbClr val="0070C0"/>
                </a:solidFill>
                <a:latin typeface="Arial" panose="020B0604020202020204" pitchFamily="34" charset="0"/>
                <a:cs typeface="Arial" panose="020B0604020202020204" pitchFamily="34" charset="0"/>
              </a:rPr>
              <a:t>All documents of CONFIDENTIAL classification, when stored on computers, will be stored in secure data vaults created using whitelisted software like Vera Crypt/ Bit locker/ Secure Desk.</a:t>
            </a:r>
          </a:p>
          <a:p>
            <a:pPr marL="606425" lvl="5" indent="-514350">
              <a:lnSpc>
                <a:spcPct val="200000"/>
              </a:lnSpc>
              <a:buFont typeface="+mj-lt"/>
              <a:buAutoNum type="romanLcPeriod"/>
            </a:pPr>
            <a:r>
              <a:rPr lang="en-US" sz="2000" b="1" dirty="0">
                <a:solidFill>
                  <a:srgbClr val="FF0000"/>
                </a:solidFill>
                <a:latin typeface="Arial" panose="020B0604020202020204" pitchFamily="34" charset="0"/>
                <a:cs typeface="Arial" panose="020B0604020202020204" pitchFamily="34" charset="0"/>
              </a:rPr>
              <a:t>CONFIDENTIAL documents can be managed over the ADN using applications cleared/ whitelisted for handling/ transmission of CONFIDENTIAL documents including whitelisted SFTP application.</a:t>
            </a:r>
            <a:endParaRPr lang="en-US" sz="2000" b="1" u="sng" dirty="0">
              <a:solidFill>
                <a:srgbClr val="FF0000"/>
              </a:solidFill>
              <a:latin typeface="Arial" panose="020B0604020202020204" pitchFamily="34" charset="0"/>
              <a:cs typeface="Arial" panose="020B0604020202020204" pitchFamily="34" charset="0"/>
            </a:endParaRPr>
          </a:p>
          <a:p>
            <a:pPr marL="92075" lvl="5">
              <a:lnSpc>
                <a:spcPct val="200000"/>
              </a:lnSpc>
            </a:pPr>
            <a:endParaRPr lang="en-US" sz="20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E2C3DA57-47F8-FB8A-8F6F-B1D90EFC8948}"/>
              </a:ext>
            </a:extLst>
          </p:cNvPr>
          <p:cNvGrpSpPr/>
          <p:nvPr/>
        </p:nvGrpSpPr>
        <p:grpSpPr>
          <a:xfrm>
            <a:off x="-10160" y="6354"/>
            <a:ext cx="9144000" cy="938525"/>
            <a:chOff x="0" y="39305"/>
            <a:chExt cx="9144000" cy="1091874"/>
          </a:xfrm>
          <a:solidFill>
            <a:srgbClr val="C00000"/>
          </a:solidFill>
        </p:grpSpPr>
        <p:sp>
          <p:nvSpPr>
            <p:cNvPr id="9" name="Rounded Rectangle 13">
              <a:extLst>
                <a:ext uri="{FF2B5EF4-FFF2-40B4-BE49-F238E27FC236}">
                  <a16:creationId xmlns:a16="http://schemas.microsoft.com/office/drawing/2014/main" id="{292B3F54-F011-793B-3343-5E07F3505E5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3F83F87A-C716-220F-AA34-5EACA65C21F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1" name="Picture 10">
              <a:extLst>
                <a:ext uri="{FF2B5EF4-FFF2-40B4-BE49-F238E27FC236}">
                  <a16:creationId xmlns:a16="http://schemas.microsoft.com/office/drawing/2014/main" id="{A382D4DD-48B9-AE8D-DF10-2AD1F7FE369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6841508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853770"/>
            <a:ext cx="9062720" cy="5536837"/>
          </a:xfrm>
          <a:prstGeom prst="rect">
            <a:avLst/>
          </a:prstGeom>
          <a:noFill/>
        </p:spPr>
        <p:txBody>
          <a:bodyPr wrap="square" rtlCol="0">
            <a:spAutoFit/>
          </a:bodyPr>
          <a:lstStyle/>
          <a:p>
            <a:pPr marL="514350" indent="-514350">
              <a:lnSpc>
                <a:spcPct val="200000"/>
              </a:lnSpc>
              <a:buAutoNum type="romanLcPeriod" startAt="4"/>
            </a:pPr>
            <a:r>
              <a:rPr lang="en-US" sz="2000" b="1" dirty="0">
                <a:solidFill>
                  <a:srgbClr val="FF0000"/>
                </a:solidFill>
                <a:latin typeface="Arial" panose="020B0604020202020204" pitchFamily="34" charset="0"/>
                <a:cs typeface="Arial" panose="020B0604020202020204" pitchFamily="34" charset="0"/>
              </a:rPr>
              <a:t>Documents will be erased/ deleted securely by using whitelisted software like Eraser or Secure Erase (latest version).</a:t>
            </a:r>
          </a:p>
          <a:p>
            <a:pPr marL="514350" indent="-514350">
              <a:lnSpc>
                <a:spcPct val="200000"/>
              </a:lnSpc>
              <a:buAutoNum type="romanLcPeriod" startAt="4"/>
            </a:pPr>
            <a:r>
              <a:rPr lang="en-US" sz="2000" b="1" dirty="0">
                <a:latin typeface="Arial" panose="020B0604020202020204" pitchFamily="34" charset="0"/>
                <a:cs typeface="Arial" panose="020B0604020202020204" pitchFamily="34" charset="0"/>
              </a:rPr>
              <a:t>Printouts of all documents classified as CONFIDENTIAL should preferably be watermarked to establish the intended receiver and to prevent unauthorized pilferage/ copying of the same.</a:t>
            </a:r>
          </a:p>
          <a:p>
            <a:pPr marL="514350" indent="-514350">
              <a:lnSpc>
                <a:spcPct val="200000"/>
              </a:lnSpc>
              <a:buAutoNum type="romanLcPeriod" startAt="4"/>
            </a:pPr>
            <a:r>
              <a:rPr lang="en-US" sz="2000" b="1" dirty="0">
                <a:solidFill>
                  <a:srgbClr val="0070C0"/>
                </a:solidFill>
                <a:latin typeface="Arial" panose="020B0604020202020204" pitchFamily="34" charset="0"/>
                <a:cs typeface="Arial" panose="020B0604020202020204" pitchFamily="34" charset="0"/>
              </a:rPr>
              <a:t>Backup of CONFIDENTIAL documents can be stored in a digital format on a secondary storage media. In such cases, the CD/DVD or earmarked hard disk must be treated in the manner similar to the security classification of the data stored.</a:t>
            </a:r>
          </a:p>
        </p:txBody>
      </p:sp>
      <p:grpSp>
        <p:nvGrpSpPr>
          <p:cNvPr id="3" name="Group 2">
            <a:extLst>
              <a:ext uri="{FF2B5EF4-FFF2-40B4-BE49-F238E27FC236}">
                <a16:creationId xmlns:a16="http://schemas.microsoft.com/office/drawing/2014/main" id="{5A937A7D-C243-A0DA-67DF-DFEB80A9AB79}"/>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1F42FD1A-7C33-0A79-3595-861869F1418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969B1B7-F307-9854-8EAF-AFC56C23DF0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B8B15600-E82E-7717-DD86-5E617BD9E5A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4092847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1003146"/>
            <a:ext cx="9144000" cy="5575309"/>
          </a:xfrm>
          <a:prstGeom prst="rect">
            <a:avLst/>
          </a:prstGeom>
          <a:noFill/>
        </p:spPr>
        <p:txBody>
          <a:bodyPr wrap="square" rtlCol="0">
            <a:spAutoFit/>
          </a:bodyPr>
          <a:lstStyle/>
          <a:p>
            <a:pPr>
              <a:lnSpc>
                <a:spcPct val="150000"/>
              </a:lnSpc>
            </a:pPr>
            <a:r>
              <a:rPr lang="en-US" sz="2000" b="1" u="sng" dirty="0">
                <a:solidFill>
                  <a:srgbClr val="FF0000"/>
                </a:solidFill>
                <a:latin typeface="Arial" panose="020B0604020202020204" pitchFamily="34" charset="0"/>
                <a:cs typeface="Arial" panose="020B0604020202020204" pitchFamily="34" charset="0"/>
              </a:rPr>
              <a:t>RESTRICTED DOCUMENTS</a:t>
            </a:r>
            <a:r>
              <a:rPr lang="en-US" sz="2000" b="1" dirty="0">
                <a:solidFill>
                  <a:srgbClr val="FF0000"/>
                </a:solidFill>
                <a:latin typeface="Arial" panose="020B0604020202020204" pitchFamily="34" charset="0"/>
                <a:cs typeface="Arial" panose="020B0604020202020204" pitchFamily="34" charset="0"/>
              </a:rPr>
              <a:t> : Restricted documents in the digital format will be handled as per the following policy instructions: - </a:t>
            </a:r>
          </a:p>
          <a:p>
            <a:pPr marL="342900"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Digital documents having a security classification of RESTRICTED shall be stored in secured vault using tools like Vera Crypt and Secure Desk/ Bit locker.</a:t>
            </a:r>
            <a:endParaRPr lang="en-US" sz="2000" b="1" dirty="0">
              <a:solidFill>
                <a:srgbClr val="FF0000"/>
              </a:solidFill>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The designated computers may be connected over the exclusive network/ ADN. However, users must ensure adoption of requisite controls over dissemination of data of ibid classification.</a:t>
            </a:r>
          </a:p>
          <a:p>
            <a:pPr marL="342900"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RESTRICTED documents can be transacted over the through emails/ whitelisted SFTP software. </a:t>
            </a:r>
          </a:p>
          <a:p>
            <a:pPr marL="342900"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Backup of RESTRICTED documents can be stored in a digital format on a secondary storage media.</a:t>
            </a:r>
            <a:endParaRPr lang="en-IN" sz="2000" b="1" u="sng"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E283E908-DAF8-65CA-FC61-4643993CDB5C}"/>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69FAFE75-23E3-837D-C0CB-F05D2E6BE7F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DIGITAL DATA HANDLING</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1FCDFF3-1AC1-ED16-A6CA-978F3913158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B8160F00-AD8E-0933-FF18-2446A933C4C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967502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1003146"/>
            <a:ext cx="9144000" cy="6152390"/>
          </a:xfrm>
          <a:prstGeom prst="rect">
            <a:avLst/>
          </a:prstGeom>
          <a:noFill/>
        </p:spPr>
        <p:txBody>
          <a:bodyPr wrap="square" rtlCol="0">
            <a:spAutoFit/>
          </a:bodyPr>
          <a:lstStyle/>
          <a:p>
            <a:pPr>
              <a:lnSpc>
                <a:spcPct val="200000"/>
              </a:lnSpc>
            </a:pPr>
            <a:r>
              <a:rPr lang="en-US" sz="2000" b="1" u="sng" dirty="0">
                <a:solidFill>
                  <a:srgbClr val="FF0000"/>
                </a:solidFill>
                <a:latin typeface="Arial" panose="020B0604020202020204" pitchFamily="34" charset="0"/>
                <a:cs typeface="Arial" panose="020B0604020202020204" pitchFamily="34" charset="0"/>
              </a:rPr>
              <a:t>INCIDENT REPORTING</a:t>
            </a:r>
            <a:r>
              <a:rPr lang="en-US" sz="2000" b="1"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Cyber Crisis Management Plan (CCMP) will be followed in letter and spirit for incident reporting in Indian Army. Any individual who suspects that a theft, breach or exposure of protected data or any attempt to compromise the asset has occurred must immediately provide a description of the incident via the fastest available means to the unit/ organization CISO/ cyber security officer. Thereafter, the following actions are required to be initiated: - </a:t>
            </a:r>
          </a:p>
          <a:p>
            <a:pPr marL="457200" indent="-457200">
              <a:lnSpc>
                <a:spcPct val="200000"/>
              </a:lnSpc>
              <a:buFont typeface="+mj-lt"/>
              <a:buAutoNum type="arabicPeriod"/>
            </a:pPr>
            <a:r>
              <a:rPr lang="en-US" sz="2000" b="1" dirty="0">
                <a:latin typeface="Arial" panose="020B0604020202020204" pitchFamily="34" charset="0"/>
                <a:cs typeface="Arial" panose="020B0604020202020204" pitchFamily="34" charset="0"/>
              </a:rPr>
              <a:t>Upon identification of the theft or data breach, the device needs to be isolated at the earliest.</a:t>
            </a:r>
            <a:endParaRPr lang="en-US" sz="2000" b="1" dirty="0">
              <a:solidFill>
                <a:srgbClr val="FF0000"/>
              </a:solidFill>
              <a:latin typeface="Arial" panose="020B0604020202020204" pitchFamily="34" charset="0"/>
              <a:cs typeface="Arial" panose="020B0604020202020204" pitchFamily="34" charset="0"/>
            </a:endParaRPr>
          </a:p>
          <a:p>
            <a:pPr marL="457200" indent="-457200">
              <a:lnSpc>
                <a:spcPct val="200000"/>
              </a:lnSpc>
              <a:buFont typeface="+mj-lt"/>
              <a:buAutoNum type="arabicPeriod"/>
            </a:pPr>
            <a:endParaRPr lang="en-IN" sz="2000" b="1" u="sng"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E12A502-2B83-5D73-C92A-EE5464E33BAA}"/>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940E9669-3AEB-24B0-D161-3A802D87078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CAAFD082-3366-5B79-F3F2-2603978792A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AA071167-326F-73FA-AFE0-4DAFD46CB25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5557731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30480" y="937462"/>
            <a:ext cx="9144000" cy="5575309"/>
          </a:xfrm>
          <a:prstGeom prst="rect">
            <a:avLst/>
          </a:prstGeom>
          <a:noFill/>
        </p:spPr>
        <p:txBody>
          <a:bodyPr wrap="square" rtlCol="0">
            <a:spAutoFit/>
          </a:bodyPr>
          <a:lstStyle/>
          <a:p>
            <a:pPr marL="457200" indent="-457200">
              <a:lnSpc>
                <a:spcPct val="150000"/>
              </a:lnSpc>
              <a:buAutoNum type="arabicPeriod" startAt="2"/>
            </a:pPr>
            <a:r>
              <a:rPr lang="en-US" sz="2000" b="1" dirty="0">
                <a:solidFill>
                  <a:srgbClr val="FF0000"/>
                </a:solidFill>
                <a:latin typeface="Arial" panose="020B0604020202020204" pitchFamily="34" charset="0"/>
                <a:cs typeface="Arial" panose="020B0604020202020204" pitchFamily="34" charset="0"/>
              </a:rPr>
              <a:t>BOO will be nominated by the concerned formation for immediate seizure and prelim investigation of breach or theft. Standing BOO at formation/ station level may preferably be nominated for the same. The BOO should preferably include representative of provost as member and ITO/ technical representative from local Signal unit/ detachment for technical assistance (and not as a member of BOO).</a:t>
            </a:r>
          </a:p>
          <a:p>
            <a:pPr>
              <a:lnSpc>
                <a:spcPct val="150000"/>
              </a:lnSpc>
            </a:pPr>
            <a:endParaRPr lang="en-US" sz="2000" b="1" dirty="0">
              <a:solidFill>
                <a:srgbClr val="FF0000"/>
              </a:solidFill>
              <a:latin typeface="Arial" panose="020B0604020202020204" pitchFamily="34" charset="0"/>
              <a:cs typeface="Arial" panose="020B0604020202020204" pitchFamily="34" charset="0"/>
            </a:endParaRPr>
          </a:p>
          <a:p>
            <a:pPr marL="457200" indent="-457200">
              <a:lnSpc>
                <a:spcPct val="150000"/>
              </a:lnSpc>
              <a:buAutoNum type="arabicPeriod" startAt="2"/>
            </a:pPr>
            <a:r>
              <a:rPr lang="en-US" sz="2000" b="1" dirty="0">
                <a:latin typeface="Arial" panose="020B0604020202020204" pitchFamily="34" charset="0"/>
                <a:cs typeface="Arial" panose="020B0604020202020204" pitchFamily="34" charset="0"/>
              </a:rPr>
              <a:t>The incident will also be reported to Army Cyber Group (CERT-Army) through the respective IW/ GS Staff at various levels. Any major cyber incident or a suspected targeted attack will be reported to Command GS(IW) immediately on notice of the incident. All relevant details must be reported to facilitate investigation or mitigation of the incident. </a:t>
            </a:r>
            <a:endParaRPr lang="en-IN" sz="2000" b="1" u="sng"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B94BA11D-370C-3DEC-9B3E-DEC7312AD92B}"/>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901F7427-27B0-4579-13A0-609F5EB38C8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235F7D63-91D3-7799-F805-DA6A644E42E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1B9F1DA6-0B8C-0ECC-0CCD-1AE9221390E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2754105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113644"/>
          </a:xfrm>
          <a:prstGeom prst="rect">
            <a:avLst/>
          </a:prstGeom>
          <a:noFill/>
        </p:spPr>
        <p:txBody>
          <a:bodyPr wrap="square" rtlCol="0">
            <a:spAutoFit/>
          </a:bodyPr>
          <a:lstStyle/>
          <a:p>
            <a:pPr>
              <a:lnSpc>
                <a:spcPct val="150000"/>
              </a:lnSpc>
            </a:pPr>
            <a:r>
              <a:rPr lang="en-US" sz="2000" b="1" u="sng" dirty="0">
                <a:solidFill>
                  <a:srgbClr val="FF0000"/>
                </a:solidFill>
                <a:latin typeface="Arial" panose="020B0604020202020204" pitchFamily="34" charset="0"/>
                <a:cs typeface="Arial" panose="020B0604020202020204" pitchFamily="34" charset="0"/>
              </a:rPr>
              <a:t>NODAL AGENCY FOR COORDINATING INCIDENTS</a:t>
            </a:r>
            <a:endParaRPr lang="en-US" sz="2000" b="1" dirty="0">
              <a:solidFill>
                <a:srgbClr val="FF0000"/>
              </a:solidFill>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Respective heads of the formation will be responsible for ensuring activities related to incident reporting and subsequent investigation, if required.</a:t>
            </a:r>
          </a:p>
          <a:p>
            <a:pPr marL="800100" lvl="1"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Army Cyber Group in coordination with DG Signals shall be responsible for coordinating all activities regarding computer security incidents/ emergencies such as limiting their spread and initiation of mitigation actions. </a:t>
            </a:r>
          </a:p>
          <a:p>
            <a:pPr marL="800100" lvl="1"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DG Signals. Monthly summary of such violations including security logs such as DLP logs, Anti-virus logs, SIEM logs </a:t>
            </a:r>
            <a:r>
              <a:rPr lang="en-US" sz="2000" b="1" dirty="0" err="1">
                <a:solidFill>
                  <a:srgbClr val="FF0000"/>
                </a:solidFill>
                <a:latin typeface="Arial" panose="020B0604020202020204" pitchFamily="34" charset="0"/>
                <a:cs typeface="Arial" panose="020B0604020202020204" pitchFamily="34" charset="0"/>
              </a:rPr>
              <a:t>etc</a:t>
            </a:r>
            <a:r>
              <a:rPr lang="en-US" sz="2000" b="1" dirty="0">
                <a:solidFill>
                  <a:srgbClr val="FF0000"/>
                </a:solidFill>
                <a:latin typeface="Arial" panose="020B0604020202020204" pitchFamily="34" charset="0"/>
                <a:cs typeface="Arial" panose="020B0604020202020204" pitchFamily="34" charset="0"/>
              </a:rPr>
              <a:t> shall be compiled by DG Signals for further analysis by Army Cyber Group. </a:t>
            </a:r>
          </a:p>
        </p:txBody>
      </p:sp>
      <p:grpSp>
        <p:nvGrpSpPr>
          <p:cNvPr id="3" name="Group 2">
            <a:extLst>
              <a:ext uri="{FF2B5EF4-FFF2-40B4-BE49-F238E27FC236}">
                <a16:creationId xmlns:a16="http://schemas.microsoft.com/office/drawing/2014/main" id="{90C8B251-F7A5-2DA8-0E1B-D8089E77F569}"/>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98E09D7F-7D5B-67EB-A3EB-ED5AD42BCD5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50DC74DB-ED25-1717-C73F-37FAEDC522D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90BC07C7-F3FF-3B79-F5A5-10692ADB565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2970200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759975"/>
          </a:xfrm>
          <a:prstGeom prst="rect">
            <a:avLst/>
          </a:prstGeom>
          <a:noFill/>
        </p:spPr>
        <p:txBody>
          <a:bodyPr wrap="square" rtlCol="0">
            <a:spAutoFit/>
          </a:bodyPr>
          <a:lstStyle/>
          <a:p>
            <a:pPr>
              <a:lnSpc>
                <a:spcPct val="150000"/>
              </a:lnSpc>
            </a:pPr>
            <a:r>
              <a:rPr lang="en-US" sz="2400" b="1" u="sng" dirty="0">
                <a:solidFill>
                  <a:srgbClr val="FF0000"/>
                </a:solidFill>
                <a:latin typeface="Arial" panose="020B0604020202020204" pitchFamily="34" charset="0"/>
                <a:cs typeface="Arial" panose="020B0604020202020204" pitchFamily="34" charset="0"/>
              </a:rPr>
              <a:t>CCMP</a:t>
            </a:r>
            <a:r>
              <a:rPr lang="en-US" sz="2000" b="1" dirty="0">
                <a:solidFill>
                  <a:srgbClr val="FF0000"/>
                </a:solidFill>
                <a:latin typeface="Arial" panose="020B0604020202020204" pitchFamily="34" charset="0"/>
                <a:cs typeface="Arial" panose="020B0604020202020204" pitchFamily="34" charset="0"/>
              </a:rPr>
              <a:t> :  Commanders at all levels would ensure adherence to provisions of Cyber Crisis Management Plan (CCMP) of Indian Army. </a:t>
            </a:r>
          </a:p>
          <a:p>
            <a:pPr>
              <a:lnSpc>
                <a:spcPct val="150000"/>
              </a:lnSpc>
            </a:pPr>
            <a:r>
              <a:rPr lang="en-US" sz="2400" b="1" u="sng" dirty="0">
                <a:latin typeface="Arial" panose="020B0604020202020204" pitchFamily="34" charset="0"/>
                <a:cs typeface="Arial" panose="020B0604020202020204" pitchFamily="34" charset="0"/>
              </a:rPr>
              <a:t>Closure of Incidents</a:t>
            </a:r>
            <a:r>
              <a:rPr lang="en-US" sz="24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 DGMO/MO-12 will be the nodal agency in Indian Army for dealing with all types of compromised computers/ on Internet and USB violations over ADN and official Internet connections. The cases will be closed only by DGMO/MO-12 based on the Action Taken Report (ATR) report from the Command GS (IW). If the espionage angle is not ruled out by the BOO/ C of I, the case will be transferred to DGMI/ Command GS (Int) for further investigation, under intimation to all concerned. Completion report of all such cases, along with Action Taken Report (ATR), will also be forwarded to DGMO/MO-12. </a:t>
            </a:r>
          </a:p>
          <a:p>
            <a:pPr>
              <a:lnSpc>
                <a:spcPct val="150000"/>
              </a:lnSpc>
            </a:pPr>
            <a:endParaRPr lang="en-US" sz="20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EC993493-AEC3-BBF9-7CCB-8265EBC80FB8}"/>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50E38381-608D-149F-CC02-BB8E0CDC045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FF99730-9F1C-5808-0193-55411DA48CF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AE717158-5997-3658-F95F-3DBEAEE26E3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4302890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6181179"/>
          </a:xfrm>
          <a:prstGeom prst="rect">
            <a:avLst/>
          </a:prstGeom>
          <a:noFill/>
        </p:spPr>
        <p:txBody>
          <a:bodyPr wrap="square" rtlCol="0">
            <a:spAutoFit/>
          </a:bodyPr>
          <a:lstStyle/>
          <a:p>
            <a:pPr>
              <a:lnSpc>
                <a:spcPct val="150000"/>
              </a:lnSpc>
            </a:pPr>
            <a:r>
              <a:rPr lang="en-US" sz="2000" b="1" dirty="0">
                <a:solidFill>
                  <a:srgbClr val="FF0000"/>
                </a:solidFill>
                <a:latin typeface="Arial" panose="020B0604020202020204" pitchFamily="34" charset="0"/>
                <a:cs typeface="Arial" panose="020B0604020202020204" pitchFamily="34" charset="0"/>
              </a:rPr>
              <a:t>Cyber violations will be categorized according to DGMO/MO-12 letter on the subject and will be accordingly investigated, till finalization/ completion of the case. Some of the major cyber violations on official IT assets of Indian Army are as under: -</a:t>
            </a:r>
          </a:p>
          <a:p>
            <a:pPr marL="800100" lvl="1" indent="-342900">
              <a:lnSpc>
                <a:spcPct val="140000"/>
              </a:lnSpc>
              <a:buFont typeface="Arial" panose="020B0604020202020204" pitchFamily="34" charset="0"/>
              <a:buChar char="•"/>
            </a:pPr>
            <a:r>
              <a:rPr lang="en-US" b="1" u="sng" dirty="0">
                <a:latin typeface="Arial" panose="020B0604020202020204" pitchFamily="34" charset="0"/>
                <a:cs typeface="Arial" panose="020B0604020202020204" pitchFamily="34" charset="0"/>
              </a:rPr>
              <a:t>Possession of </a:t>
            </a:r>
            <a:r>
              <a:rPr lang="en-US" b="1" u="sng" dirty="0" err="1">
                <a:latin typeface="Arial" panose="020B0604020202020204" pitchFamily="34" charset="0"/>
                <a:cs typeface="Arial" panose="020B0604020202020204" pitchFamily="34" charset="0"/>
              </a:rPr>
              <a:t>Unauthorised</a:t>
            </a:r>
            <a:r>
              <a:rPr lang="en-US" b="1" u="sng" dirty="0">
                <a:latin typeface="Arial" panose="020B0604020202020204" pitchFamily="34" charset="0"/>
                <a:cs typeface="Arial" panose="020B0604020202020204" pitchFamily="34" charset="0"/>
              </a:rPr>
              <a:t> Data</a:t>
            </a:r>
            <a:r>
              <a:rPr lang="en-US" b="1" dirty="0">
                <a:latin typeface="Arial" panose="020B0604020202020204" pitchFamily="34" charset="0"/>
                <a:cs typeface="Arial" panose="020B0604020202020204" pitchFamily="34" charset="0"/>
              </a:rPr>
              <a:t> : Possession of unauthorized data such as SECRET/ TOP-SECRET data on ADN computer/ standalone computer not cleared for handling of the same, CONFIDENTIAL data in asset not cleared for same, possession of official data on Internet connected/ personal devices etc.</a:t>
            </a:r>
          </a:p>
          <a:p>
            <a:pPr marL="800100" lvl="1" indent="-342900">
              <a:lnSpc>
                <a:spcPct val="140000"/>
              </a:lnSpc>
              <a:buFont typeface="Arial" panose="020B0604020202020204" pitchFamily="34" charset="0"/>
              <a:buChar char="•"/>
            </a:pPr>
            <a:r>
              <a:rPr lang="en-US" b="1" u="sng" dirty="0">
                <a:solidFill>
                  <a:srgbClr val="0070C0"/>
                </a:solidFill>
                <a:latin typeface="Arial" panose="020B0604020202020204" pitchFamily="34" charset="0"/>
                <a:cs typeface="Arial" panose="020B0604020202020204" pitchFamily="34" charset="0"/>
              </a:rPr>
              <a:t>Transmission of Data through </a:t>
            </a:r>
            <a:r>
              <a:rPr lang="en-US" b="1" u="sng" dirty="0" err="1">
                <a:solidFill>
                  <a:srgbClr val="0070C0"/>
                </a:solidFill>
                <a:latin typeface="Arial" panose="020B0604020202020204" pitchFamily="34" charset="0"/>
                <a:cs typeface="Arial" panose="020B0604020202020204" pitchFamily="34" charset="0"/>
              </a:rPr>
              <a:t>Unauthorised</a:t>
            </a:r>
            <a:r>
              <a:rPr lang="en-US" b="1" u="sng" dirty="0">
                <a:solidFill>
                  <a:srgbClr val="0070C0"/>
                </a:solidFill>
                <a:latin typeface="Arial" panose="020B0604020202020204" pitchFamily="34" charset="0"/>
                <a:cs typeface="Arial" panose="020B0604020202020204" pitchFamily="34" charset="0"/>
              </a:rPr>
              <a:t> Media</a:t>
            </a:r>
            <a:r>
              <a:rPr lang="en-US" b="1" dirty="0">
                <a:solidFill>
                  <a:srgbClr val="0070C0"/>
                </a:solidFill>
                <a:latin typeface="Arial" panose="020B0604020202020204" pitchFamily="34" charset="0"/>
                <a:cs typeface="Arial" panose="020B0604020202020204" pitchFamily="34" charset="0"/>
              </a:rPr>
              <a:t> : Involvement in act of transmission of official data that is in contravention to the provisions as given in the ACSP 2023 such as transmission using Internet based services like email, WhatsApp </a:t>
            </a:r>
            <a:r>
              <a:rPr lang="en-US" b="1" dirty="0" err="1">
                <a:solidFill>
                  <a:srgbClr val="0070C0"/>
                </a:solidFill>
                <a:latin typeface="Arial" panose="020B0604020202020204" pitchFamily="34" charset="0"/>
                <a:cs typeface="Arial" panose="020B0604020202020204" pitchFamily="34" charset="0"/>
              </a:rPr>
              <a:t>etc</a:t>
            </a:r>
            <a:r>
              <a:rPr lang="en-US" b="1" dirty="0">
                <a:solidFill>
                  <a:srgbClr val="0070C0"/>
                </a:solidFill>
                <a:latin typeface="Arial" panose="020B0604020202020204" pitchFamily="34" charset="0"/>
                <a:cs typeface="Arial" panose="020B0604020202020204" pitchFamily="34" charset="0"/>
              </a:rPr>
              <a:t>, SECRET classified documents through ASIGMA, use of shared folders etc. </a:t>
            </a:r>
          </a:p>
          <a:p>
            <a:pPr>
              <a:lnSpc>
                <a:spcPct val="150000"/>
              </a:lnSpc>
            </a:pPr>
            <a:endParaRPr lang="en-US"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F26AABC3-B428-06A1-5D6D-D0AB07337CC8}"/>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B7830980-DD32-6998-6C25-98BAF48D79F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D01516A-F995-8CC3-01B3-B38934DDD6E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8EBB93CF-B1B3-DFDB-1CE5-D583FB74AD8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3772092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95034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Use of Non-Whitelisted Applications </a:t>
            </a:r>
            <a:r>
              <a:rPr lang="en-US" b="1" dirty="0">
                <a:solidFill>
                  <a:srgbClr val="FF0000"/>
                </a:solidFill>
                <a:latin typeface="Arial" panose="020B0604020202020204" pitchFamily="34" charset="0"/>
                <a:cs typeface="Arial" panose="020B0604020202020204" pitchFamily="34" charset="0"/>
              </a:rPr>
              <a:t>: Installation of applications that have not been vetted for the said deployment environment.</a:t>
            </a:r>
          </a:p>
          <a:p>
            <a:pPr marL="342900" indent="-342900">
              <a:lnSpc>
                <a:spcPct val="150000"/>
              </a:lnSpc>
              <a:buFont typeface="Arial" panose="020B0604020202020204" pitchFamily="34" charset="0"/>
              <a:buChar char="•"/>
            </a:pPr>
            <a:r>
              <a:rPr lang="en-US" b="1" u="sng" dirty="0" err="1">
                <a:latin typeface="Arial" panose="020B0604020202020204" pitchFamily="34" charset="0"/>
                <a:cs typeface="Arial" panose="020B0604020202020204" pitchFamily="34" charset="0"/>
              </a:rPr>
              <a:t>Unauthorised</a:t>
            </a:r>
            <a:r>
              <a:rPr lang="en-US" b="1" u="sng" dirty="0">
                <a:latin typeface="Arial" panose="020B0604020202020204" pitchFamily="34" charset="0"/>
                <a:cs typeface="Arial" panose="020B0604020202020204" pitchFamily="34" charset="0"/>
              </a:rPr>
              <a:t> Access</a:t>
            </a:r>
            <a:r>
              <a:rPr lang="en-US" b="1" dirty="0">
                <a:latin typeface="Arial" panose="020B0604020202020204" pitchFamily="34" charset="0"/>
                <a:cs typeface="Arial" panose="020B0604020202020204" pitchFamily="34" charset="0"/>
              </a:rPr>
              <a:t> : An act of or involvement in obtaining or attempt to obtain access to any official system/ device without due permission for the same </a:t>
            </a:r>
            <a:r>
              <a:rPr lang="en-US" b="1" dirty="0" err="1">
                <a:latin typeface="Arial" panose="020B0604020202020204" pitchFamily="34" charset="0"/>
                <a:cs typeface="Arial" panose="020B0604020202020204" pitchFamily="34" charset="0"/>
              </a:rPr>
              <a:t>eg</a:t>
            </a:r>
            <a:r>
              <a:rPr lang="en-US" b="1" dirty="0">
                <a:latin typeface="Arial" panose="020B0604020202020204" pitchFamily="34" charset="0"/>
                <a:cs typeface="Arial" panose="020B0604020202020204" pitchFamily="34" charset="0"/>
              </a:rPr>
              <a:t> carrying out network scans, attempting to brute force/ bypass login mechanisms etc.</a:t>
            </a:r>
          </a:p>
          <a:p>
            <a:pPr marL="342900" indent="-342900">
              <a:lnSpc>
                <a:spcPct val="150000"/>
              </a:lnSpc>
              <a:buFont typeface="Arial" panose="020B0604020202020204" pitchFamily="34" charset="0"/>
              <a:buChar char="•"/>
            </a:pPr>
            <a:r>
              <a:rPr lang="en-US" b="1" u="sng" dirty="0">
                <a:solidFill>
                  <a:srgbClr val="0070C0"/>
                </a:solidFill>
                <a:latin typeface="Arial" panose="020B0604020202020204" pitchFamily="34" charset="0"/>
                <a:cs typeface="Arial" panose="020B0604020202020204" pitchFamily="34" charset="0"/>
              </a:rPr>
              <a:t>Device/ Data Integrity</a:t>
            </a:r>
            <a:r>
              <a:rPr lang="en-US" b="1" dirty="0">
                <a:solidFill>
                  <a:srgbClr val="0070C0"/>
                </a:solidFill>
                <a:latin typeface="Arial" panose="020B0604020202020204" pitchFamily="34" charset="0"/>
                <a:cs typeface="Arial" panose="020B0604020202020204" pitchFamily="34" charset="0"/>
              </a:rPr>
              <a:t> : An act resulting in violating the integrity of data/ device for its malicious/ </a:t>
            </a:r>
            <a:r>
              <a:rPr lang="en-US" b="1" dirty="0" err="1">
                <a:solidFill>
                  <a:srgbClr val="0070C0"/>
                </a:solidFill>
                <a:latin typeface="Arial" panose="020B0604020202020204" pitchFamily="34" charset="0"/>
                <a:cs typeface="Arial" panose="020B0604020202020204" pitchFamily="34" charset="0"/>
              </a:rPr>
              <a:t>unauthorised</a:t>
            </a:r>
            <a:r>
              <a:rPr lang="en-US" b="1" dirty="0">
                <a:solidFill>
                  <a:srgbClr val="0070C0"/>
                </a:solidFill>
                <a:latin typeface="Arial" panose="020B0604020202020204" pitchFamily="34" charset="0"/>
                <a:cs typeface="Arial" panose="020B0604020202020204" pitchFamily="34" charset="0"/>
              </a:rPr>
              <a:t> use unless directed to do the same by </a:t>
            </a:r>
            <a:r>
              <a:rPr lang="en-US" b="1" dirty="0" err="1">
                <a:solidFill>
                  <a:srgbClr val="0070C0"/>
                </a:solidFill>
                <a:latin typeface="Arial" panose="020B0604020202020204" pitchFamily="34" charset="0"/>
                <a:cs typeface="Arial" panose="020B0604020202020204" pitchFamily="34" charset="0"/>
              </a:rPr>
              <a:t>authorised</a:t>
            </a:r>
            <a:r>
              <a:rPr lang="en-US" b="1" dirty="0">
                <a:solidFill>
                  <a:srgbClr val="0070C0"/>
                </a:solidFill>
                <a:latin typeface="Arial" panose="020B0604020202020204" pitchFamily="34" charset="0"/>
                <a:cs typeface="Arial" panose="020B0604020202020204" pitchFamily="34" charset="0"/>
              </a:rPr>
              <a:t> authority. </a:t>
            </a:r>
          </a:p>
          <a:p>
            <a:pPr marL="342900" indent="-342900">
              <a:lnSpc>
                <a:spcPct val="150000"/>
              </a:lnSpc>
              <a:buFont typeface="Arial" panose="020B0604020202020204" pitchFamily="34" charset="0"/>
              <a:buChar char="•"/>
            </a:pPr>
            <a:r>
              <a:rPr lang="en-US" b="1" u="sng" dirty="0" err="1">
                <a:solidFill>
                  <a:srgbClr val="FF0000"/>
                </a:solidFill>
                <a:latin typeface="Arial" panose="020B0604020202020204" pitchFamily="34" charset="0"/>
                <a:cs typeface="Arial" panose="020B0604020202020204" pitchFamily="34" charset="0"/>
              </a:rPr>
              <a:t>Unauthorised</a:t>
            </a:r>
            <a:r>
              <a:rPr lang="en-US" b="1" u="sng" dirty="0">
                <a:solidFill>
                  <a:srgbClr val="FF0000"/>
                </a:solidFill>
                <a:latin typeface="Arial" panose="020B0604020202020204" pitchFamily="34" charset="0"/>
                <a:cs typeface="Arial" panose="020B0604020202020204" pitchFamily="34" charset="0"/>
              </a:rPr>
              <a:t> Changes</a:t>
            </a:r>
            <a:r>
              <a:rPr lang="en-US" b="1" dirty="0">
                <a:solidFill>
                  <a:srgbClr val="FF0000"/>
                </a:solidFill>
                <a:latin typeface="Arial" panose="020B0604020202020204" pitchFamily="34" charset="0"/>
                <a:cs typeface="Arial" panose="020B0604020202020204" pitchFamily="34" charset="0"/>
              </a:rPr>
              <a:t> : Undertaking </a:t>
            </a:r>
            <a:r>
              <a:rPr lang="en-US" b="1" dirty="0" err="1">
                <a:solidFill>
                  <a:srgbClr val="FF0000"/>
                </a:solidFill>
                <a:latin typeface="Arial" panose="020B0604020202020204" pitchFamily="34" charset="0"/>
                <a:cs typeface="Arial" panose="020B0604020202020204" pitchFamily="34" charset="0"/>
              </a:rPr>
              <a:t>unauthorised</a:t>
            </a:r>
            <a:r>
              <a:rPr lang="en-US" b="1" dirty="0">
                <a:solidFill>
                  <a:srgbClr val="FF0000"/>
                </a:solidFill>
                <a:latin typeface="Arial" panose="020B0604020202020204" pitchFamily="34" charset="0"/>
                <a:cs typeface="Arial" panose="020B0604020202020204" pitchFamily="34" charset="0"/>
              </a:rPr>
              <a:t> changes in configuration of device/ systems that is not in accordance with the provisions of ACSP-2023/ advisories/ guidelines/ SOPs in vogue.</a:t>
            </a:r>
          </a:p>
          <a:p>
            <a:pPr marL="342900" indent="-342900">
              <a:lnSpc>
                <a:spcPct val="150000"/>
              </a:lnSpc>
              <a:buFont typeface="Arial" panose="020B0604020202020204" pitchFamily="34" charset="0"/>
              <a:buChar char="•"/>
            </a:pPr>
            <a:r>
              <a:rPr lang="en-US" b="1" u="sng" dirty="0" err="1">
                <a:latin typeface="Arial" panose="020B0604020202020204" pitchFamily="34" charset="0"/>
                <a:cs typeface="Arial" panose="020B0604020202020204" pitchFamily="34" charset="0"/>
              </a:rPr>
              <a:t>Unauthorised</a:t>
            </a:r>
            <a:r>
              <a:rPr lang="en-US" b="1" u="sng" dirty="0">
                <a:latin typeface="Arial" panose="020B0604020202020204" pitchFamily="34" charset="0"/>
                <a:cs typeface="Arial" panose="020B0604020202020204" pitchFamily="34" charset="0"/>
              </a:rPr>
              <a:t> Internet Access</a:t>
            </a:r>
            <a:r>
              <a:rPr lang="en-US" b="1" dirty="0">
                <a:latin typeface="Arial" panose="020B0604020202020204" pitchFamily="34" charset="0"/>
                <a:cs typeface="Arial" panose="020B0604020202020204" pitchFamily="34" charset="0"/>
              </a:rPr>
              <a:t> : Accessing official Internet by </a:t>
            </a:r>
            <a:r>
              <a:rPr lang="en-US" b="1" dirty="0" err="1">
                <a:latin typeface="Arial" panose="020B0604020202020204" pitchFamily="34" charset="0"/>
                <a:cs typeface="Arial" panose="020B0604020202020204" pitchFamily="34" charset="0"/>
              </a:rPr>
              <a:t>unauthorised</a:t>
            </a:r>
            <a:r>
              <a:rPr lang="en-US" b="1" dirty="0">
                <a:latin typeface="Arial" panose="020B0604020202020204" pitchFamily="34" charset="0"/>
                <a:cs typeface="Arial" panose="020B0604020202020204" pitchFamily="34" charset="0"/>
              </a:rPr>
              <a:t> users/ using </a:t>
            </a:r>
            <a:r>
              <a:rPr lang="en-US" b="1" dirty="0" err="1">
                <a:latin typeface="Arial" panose="020B0604020202020204" pitchFamily="34" charset="0"/>
                <a:cs typeface="Arial" panose="020B0604020202020204" pitchFamily="34" charset="0"/>
              </a:rPr>
              <a:t>unauthorised</a:t>
            </a:r>
            <a:r>
              <a:rPr lang="en-US" b="1" dirty="0">
                <a:latin typeface="Arial" panose="020B0604020202020204" pitchFamily="34" charset="0"/>
                <a:cs typeface="Arial" panose="020B0604020202020204" pitchFamily="34" charset="0"/>
              </a:rPr>
              <a:t> devices/ accessing </a:t>
            </a:r>
            <a:r>
              <a:rPr lang="en-US" b="1" dirty="0" err="1">
                <a:latin typeface="Arial" panose="020B0604020202020204" pitchFamily="34" charset="0"/>
                <a:cs typeface="Arial" panose="020B0604020202020204" pitchFamily="34" charset="0"/>
              </a:rPr>
              <a:t>unauthorised</a:t>
            </a:r>
            <a:r>
              <a:rPr lang="en-US" b="1" dirty="0">
                <a:latin typeface="Arial" panose="020B0604020202020204" pitchFamily="34" charset="0"/>
                <a:cs typeface="Arial" panose="020B0604020202020204" pitchFamily="34" charset="0"/>
              </a:rPr>
              <a:t> sites etc. </a:t>
            </a:r>
            <a:endParaRPr lang="en-US"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851FBDE5-B5B7-57CF-5F10-2B8989C76555}"/>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B96D2E85-F905-A932-4220-9BC2E410B3C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64D3B521-7B5B-F099-4852-A7B272DFAD0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36209297-71A3-DC24-0498-5E973A56B06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87776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85801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Air Gap Violation</a:t>
            </a:r>
            <a:r>
              <a:rPr lang="en-US" b="1" dirty="0">
                <a:solidFill>
                  <a:srgbClr val="FF0000"/>
                </a:solidFill>
                <a:latin typeface="Arial" panose="020B0604020202020204" pitchFamily="34" charset="0"/>
                <a:cs typeface="Arial" panose="020B0604020202020204" pitchFamily="34" charset="0"/>
              </a:rPr>
              <a:t> : Any act resulting in violating the exclusiveness of ADN/ exclusive LAN assets such as use of ADN/ exclusive LAN computers/ devices on Internet, sharing of computers/ network devices on Internet and ADN/ exclusive LAN, connection of mobile phones to official computers etc.</a:t>
            </a:r>
          </a:p>
          <a:p>
            <a:pPr marL="342900" indent="-342900">
              <a:lnSpc>
                <a:spcPct val="150000"/>
              </a:lnSpc>
              <a:buFont typeface="Arial" panose="020B0604020202020204" pitchFamily="34" charset="0"/>
              <a:buChar char="•"/>
            </a:pPr>
            <a:r>
              <a:rPr lang="en-US" b="1" u="sng" dirty="0">
                <a:latin typeface="Arial" panose="020B0604020202020204" pitchFamily="34" charset="0"/>
                <a:cs typeface="Arial" panose="020B0604020202020204" pitchFamily="34" charset="0"/>
              </a:rPr>
              <a:t>Logs Deletion</a:t>
            </a:r>
            <a:r>
              <a:rPr lang="en-US" b="1" dirty="0">
                <a:latin typeface="Arial" panose="020B0604020202020204" pitchFamily="34" charset="0"/>
                <a:cs typeface="Arial" panose="020B0604020202020204" pitchFamily="34" charset="0"/>
              </a:rPr>
              <a:t> : An act of complete or partial deletion of device/ System Logs. </a:t>
            </a:r>
          </a:p>
          <a:p>
            <a:pPr marL="342900" indent="-342900">
              <a:lnSpc>
                <a:spcPct val="150000"/>
              </a:lnSpc>
              <a:buFont typeface="Arial" panose="020B0604020202020204" pitchFamily="34" charset="0"/>
              <a:buChar char="•"/>
            </a:pPr>
            <a:r>
              <a:rPr lang="en-US" b="1" u="sng" dirty="0">
                <a:solidFill>
                  <a:srgbClr val="0070C0"/>
                </a:solidFill>
                <a:latin typeface="Arial" panose="020B0604020202020204" pitchFamily="34" charset="0"/>
                <a:cs typeface="Arial" panose="020B0604020202020204" pitchFamily="34" charset="0"/>
              </a:rPr>
              <a:t>Connection of </a:t>
            </a:r>
            <a:r>
              <a:rPr lang="en-US" b="1" u="sng" dirty="0" err="1">
                <a:solidFill>
                  <a:srgbClr val="0070C0"/>
                </a:solidFill>
                <a:latin typeface="Arial" panose="020B0604020202020204" pitchFamily="34" charset="0"/>
                <a:cs typeface="Arial" panose="020B0604020202020204" pitchFamily="34" charset="0"/>
              </a:rPr>
              <a:t>Unauthorised</a:t>
            </a:r>
            <a:r>
              <a:rPr lang="en-US" b="1" u="sng" dirty="0">
                <a:solidFill>
                  <a:srgbClr val="0070C0"/>
                </a:solidFill>
                <a:latin typeface="Arial" panose="020B0604020202020204" pitchFamily="34" charset="0"/>
                <a:cs typeface="Arial" panose="020B0604020202020204" pitchFamily="34" charset="0"/>
              </a:rPr>
              <a:t> Device</a:t>
            </a:r>
            <a:r>
              <a:rPr lang="en-US" b="1" dirty="0">
                <a:solidFill>
                  <a:srgbClr val="0070C0"/>
                </a:solidFill>
                <a:latin typeface="Arial" panose="020B0604020202020204" pitchFamily="34" charset="0"/>
                <a:cs typeface="Arial" panose="020B0604020202020204" pitchFamily="34" charset="0"/>
              </a:rPr>
              <a:t> : To connect/ attempt to connect any device that is not </a:t>
            </a:r>
            <a:r>
              <a:rPr lang="en-US" b="1" dirty="0" err="1">
                <a:solidFill>
                  <a:srgbClr val="0070C0"/>
                </a:solidFill>
                <a:latin typeface="Arial" panose="020B0604020202020204" pitchFamily="34" charset="0"/>
                <a:cs typeface="Arial" panose="020B0604020202020204" pitchFamily="34" charset="0"/>
              </a:rPr>
              <a:t>authorised</a:t>
            </a:r>
            <a:r>
              <a:rPr lang="en-US" b="1" dirty="0">
                <a:solidFill>
                  <a:srgbClr val="0070C0"/>
                </a:solidFill>
                <a:latin typeface="Arial" panose="020B0604020202020204" pitchFamily="34" charset="0"/>
                <a:cs typeface="Arial" panose="020B0604020202020204" pitchFamily="34" charset="0"/>
              </a:rPr>
              <a:t>/ whitelisted to the official network.</a:t>
            </a:r>
          </a:p>
          <a:p>
            <a:pPr marL="342900" indent="-342900">
              <a:lnSpc>
                <a:spcPct val="15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Sharing of Credentials</a:t>
            </a:r>
            <a:r>
              <a:rPr lang="en-US" b="1" dirty="0">
                <a:solidFill>
                  <a:srgbClr val="FF0000"/>
                </a:solidFill>
                <a:latin typeface="Arial" panose="020B0604020202020204" pitchFamily="34" charset="0"/>
                <a:cs typeface="Arial" panose="020B0604020202020204" pitchFamily="34" charset="0"/>
              </a:rPr>
              <a:t> : An act to share account credentials such as User name, password </a:t>
            </a:r>
            <a:r>
              <a:rPr lang="en-US" b="1" dirty="0" err="1">
                <a:solidFill>
                  <a:srgbClr val="FF0000"/>
                </a:solidFill>
                <a:latin typeface="Arial" panose="020B0604020202020204" pitchFamily="34" charset="0"/>
                <a:cs typeface="Arial" panose="020B0604020202020204" pitchFamily="34" charset="0"/>
              </a:rPr>
              <a:t>etc</a:t>
            </a:r>
            <a:r>
              <a:rPr lang="en-US" b="1" dirty="0">
                <a:solidFill>
                  <a:srgbClr val="FF0000"/>
                </a:solidFill>
                <a:latin typeface="Arial" panose="020B0604020202020204" pitchFamily="34" charset="0"/>
                <a:cs typeface="Arial" panose="020B0604020202020204" pitchFamily="34" charset="0"/>
              </a:rPr>
              <a:t> of official assets with individuals not </a:t>
            </a:r>
            <a:r>
              <a:rPr lang="en-US" b="1" dirty="0" err="1">
                <a:solidFill>
                  <a:srgbClr val="FF0000"/>
                </a:solidFill>
                <a:latin typeface="Arial" panose="020B0604020202020204" pitchFamily="34" charset="0"/>
                <a:cs typeface="Arial" panose="020B0604020202020204" pitchFamily="34" charset="0"/>
              </a:rPr>
              <a:t>authorised</a:t>
            </a:r>
            <a:r>
              <a:rPr lang="en-US" b="1" dirty="0">
                <a:solidFill>
                  <a:srgbClr val="FF0000"/>
                </a:solidFill>
                <a:latin typeface="Arial" panose="020B0604020202020204" pitchFamily="34" charset="0"/>
                <a:cs typeface="Arial" panose="020B0604020202020204" pitchFamily="34" charset="0"/>
              </a:rPr>
              <a:t> to be in possession of the same. </a:t>
            </a:r>
          </a:p>
          <a:p>
            <a:pPr marL="342900" indent="-342900">
              <a:lnSpc>
                <a:spcPct val="150000"/>
              </a:lnSpc>
              <a:buFont typeface="Arial" panose="020B0604020202020204" pitchFamily="34" charset="0"/>
              <a:buChar char="•"/>
            </a:pPr>
            <a:r>
              <a:rPr lang="en-US" b="1" u="sng" dirty="0">
                <a:latin typeface="Arial" panose="020B0604020202020204" pitchFamily="34" charset="0"/>
                <a:cs typeface="Arial" panose="020B0604020202020204" pitchFamily="34" charset="0"/>
              </a:rPr>
              <a:t>Storing Classified Data w/o Encryption</a:t>
            </a:r>
            <a:r>
              <a:rPr lang="en-US" b="1" dirty="0">
                <a:latin typeface="Arial" panose="020B0604020202020204" pitchFamily="34" charset="0"/>
                <a:cs typeface="Arial" panose="020B0604020202020204" pitchFamily="34" charset="0"/>
              </a:rPr>
              <a:t> : Possession of classified data in an unencrypted form.</a:t>
            </a:r>
          </a:p>
          <a:p>
            <a:pPr marL="342900" indent="-342900">
              <a:lnSpc>
                <a:spcPct val="150000"/>
              </a:lnSpc>
              <a:buFont typeface="Arial" panose="020B0604020202020204" pitchFamily="34" charset="0"/>
              <a:buChar char="•"/>
            </a:pPr>
            <a:r>
              <a:rPr lang="en-US" b="1" u="sng" dirty="0">
                <a:solidFill>
                  <a:srgbClr val="0070C0"/>
                </a:solidFill>
                <a:latin typeface="Arial" panose="020B0604020202020204" pitchFamily="34" charset="0"/>
                <a:cs typeface="Arial" panose="020B0604020202020204" pitchFamily="34" charset="0"/>
              </a:rPr>
              <a:t>Formatting/ OS Upgradation without Permission</a:t>
            </a:r>
            <a:r>
              <a:rPr lang="en-US" b="1" dirty="0">
                <a:solidFill>
                  <a:srgbClr val="0070C0"/>
                </a:solidFill>
                <a:latin typeface="Arial" panose="020B0604020202020204" pitchFamily="34" charset="0"/>
                <a:cs typeface="Arial" panose="020B0604020202020204" pitchFamily="34" charset="0"/>
              </a:rPr>
              <a:t> : Act of formatting/ OS upgrade to a computer without permission. </a:t>
            </a:r>
          </a:p>
        </p:txBody>
      </p:sp>
      <p:grpSp>
        <p:nvGrpSpPr>
          <p:cNvPr id="3" name="Group 2">
            <a:extLst>
              <a:ext uri="{FF2B5EF4-FFF2-40B4-BE49-F238E27FC236}">
                <a16:creationId xmlns:a16="http://schemas.microsoft.com/office/drawing/2014/main" id="{E213EC4A-C018-16E8-0330-17AE951D4B6D}"/>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3C9001CC-0646-30B7-3A40-95A970FBEA3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C4BDF5D2-F35B-5DE2-BCC2-56BD9D45E9C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F6CFF9DA-4792-7815-3DF6-28C44802679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1073093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44905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b="1" u="sng" dirty="0" err="1">
                <a:solidFill>
                  <a:srgbClr val="FF0000"/>
                </a:solidFill>
                <a:latin typeface="Arial" panose="020B0604020202020204" pitchFamily="34" charset="0"/>
                <a:cs typeface="Arial" panose="020B0604020202020204" pitchFamily="34" charset="0"/>
              </a:rPr>
              <a:t>Unauthorised</a:t>
            </a:r>
            <a:r>
              <a:rPr lang="en-US" b="1" u="sng" dirty="0">
                <a:solidFill>
                  <a:srgbClr val="FF0000"/>
                </a:solidFill>
                <a:latin typeface="Arial" panose="020B0604020202020204" pitchFamily="34" charset="0"/>
                <a:cs typeface="Arial" panose="020B0604020202020204" pitchFamily="34" charset="0"/>
              </a:rPr>
              <a:t> Access to CD/ DVD Writer</a:t>
            </a:r>
            <a:r>
              <a:rPr lang="en-US" b="1" dirty="0">
                <a:solidFill>
                  <a:srgbClr val="FF0000"/>
                </a:solidFill>
                <a:latin typeface="Arial" panose="020B0604020202020204" pitchFamily="34" charset="0"/>
                <a:cs typeface="Arial" panose="020B0604020202020204" pitchFamily="34" charset="0"/>
              </a:rPr>
              <a:t> : Having facility to write/ burn CD/ DVD without due permission from appropriate authority to the user.</a:t>
            </a:r>
          </a:p>
          <a:p>
            <a:pPr marL="342900" indent="-342900">
              <a:lnSpc>
                <a:spcPct val="150000"/>
              </a:lnSpc>
              <a:buFont typeface="Arial" panose="020B0604020202020204" pitchFamily="34" charset="0"/>
              <a:buChar char="•"/>
            </a:pPr>
            <a:r>
              <a:rPr lang="en-US" b="1" u="sng" dirty="0">
                <a:latin typeface="Arial" panose="020B0604020202020204" pitchFamily="34" charset="0"/>
                <a:cs typeface="Arial" panose="020B0604020202020204" pitchFamily="34" charset="0"/>
              </a:rPr>
              <a:t>Uploading of Malicious Programs/ Codes</a:t>
            </a:r>
            <a:r>
              <a:rPr lang="en-US" b="1" dirty="0">
                <a:latin typeface="Arial" panose="020B0604020202020204" pitchFamily="34" charset="0"/>
                <a:cs typeface="Arial" panose="020B0604020202020204" pitchFamily="34" charset="0"/>
              </a:rPr>
              <a:t> : Uploading/ executing of malicious codes, scripts over ADN/ exclusive LAN.</a:t>
            </a:r>
          </a:p>
          <a:p>
            <a:pPr marL="342900" indent="-342900">
              <a:lnSpc>
                <a:spcPct val="150000"/>
              </a:lnSpc>
              <a:buFont typeface="Arial" panose="020B0604020202020204" pitchFamily="34" charset="0"/>
              <a:buChar char="•"/>
            </a:pPr>
            <a:r>
              <a:rPr lang="en-US" b="1" u="sng" dirty="0">
                <a:solidFill>
                  <a:srgbClr val="0070C0"/>
                </a:solidFill>
                <a:latin typeface="Arial" panose="020B0604020202020204" pitchFamily="34" charset="0"/>
                <a:cs typeface="Arial" panose="020B0604020202020204" pitchFamily="34" charset="0"/>
              </a:rPr>
              <a:t>Installation of </a:t>
            </a:r>
            <a:r>
              <a:rPr lang="en-US" b="1" u="sng" dirty="0" err="1">
                <a:solidFill>
                  <a:srgbClr val="0070C0"/>
                </a:solidFill>
                <a:latin typeface="Arial" panose="020B0604020202020204" pitchFamily="34" charset="0"/>
                <a:cs typeface="Arial" panose="020B0604020202020204" pitchFamily="34" charset="0"/>
              </a:rPr>
              <a:t>Unauthorised</a:t>
            </a:r>
            <a:r>
              <a:rPr lang="en-US" b="1" u="sng" dirty="0">
                <a:solidFill>
                  <a:srgbClr val="0070C0"/>
                </a:solidFill>
                <a:latin typeface="Arial" panose="020B0604020202020204" pitchFamily="34" charset="0"/>
                <a:cs typeface="Arial" panose="020B0604020202020204" pitchFamily="34" charset="0"/>
              </a:rPr>
              <a:t> Software</a:t>
            </a:r>
            <a:r>
              <a:rPr lang="en-US" b="1" dirty="0">
                <a:solidFill>
                  <a:srgbClr val="0070C0"/>
                </a:solidFill>
                <a:latin typeface="Arial" panose="020B0604020202020204" pitchFamily="34" charset="0"/>
                <a:cs typeface="Arial" panose="020B0604020202020204" pitchFamily="34" charset="0"/>
              </a:rPr>
              <a:t> : Installation of </a:t>
            </a:r>
            <a:r>
              <a:rPr lang="en-US" b="1" dirty="0" err="1">
                <a:solidFill>
                  <a:srgbClr val="0070C0"/>
                </a:solidFill>
                <a:latin typeface="Arial" panose="020B0604020202020204" pitchFamily="34" charset="0"/>
                <a:cs typeface="Arial" panose="020B0604020202020204" pitchFamily="34" charset="0"/>
              </a:rPr>
              <a:t>unauthorised</a:t>
            </a:r>
            <a:r>
              <a:rPr lang="en-US" b="1" dirty="0">
                <a:solidFill>
                  <a:srgbClr val="0070C0"/>
                </a:solidFill>
                <a:latin typeface="Arial" panose="020B0604020202020204" pitchFamily="34" charset="0"/>
                <a:cs typeface="Arial" panose="020B0604020202020204" pitchFamily="34" charset="0"/>
              </a:rPr>
              <a:t> software such as </a:t>
            </a:r>
            <a:r>
              <a:rPr lang="en-US" b="1" dirty="0" err="1">
                <a:solidFill>
                  <a:srgbClr val="0070C0"/>
                </a:solidFill>
                <a:latin typeface="Arial" panose="020B0604020202020204" pitchFamily="34" charset="0"/>
                <a:cs typeface="Arial" panose="020B0604020202020204" pitchFamily="34" charset="0"/>
              </a:rPr>
              <a:t>virtualisation</a:t>
            </a:r>
            <a:r>
              <a:rPr lang="en-US" b="1" dirty="0">
                <a:solidFill>
                  <a:srgbClr val="0070C0"/>
                </a:solidFill>
                <a:latin typeface="Arial" panose="020B0604020202020204" pitchFamily="34" charset="0"/>
                <a:cs typeface="Arial" panose="020B0604020202020204" pitchFamily="34" charset="0"/>
              </a:rPr>
              <a:t> server on endpoint terminals, non-applications etc.</a:t>
            </a:r>
          </a:p>
          <a:p>
            <a:pPr marL="342900" indent="-342900">
              <a:lnSpc>
                <a:spcPct val="150000"/>
              </a:lnSpc>
              <a:buFont typeface="Arial" panose="020B0604020202020204" pitchFamily="34" charset="0"/>
              <a:buChar char="•"/>
            </a:pPr>
            <a:r>
              <a:rPr lang="en-US" b="1" u="sng" dirty="0">
                <a:solidFill>
                  <a:srgbClr val="FF0000"/>
                </a:solidFill>
                <a:latin typeface="Arial" panose="020B0604020202020204" pitchFamily="34" charset="0"/>
                <a:cs typeface="Arial" panose="020B0604020202020204" pitchFamily="34" charset="0"/>
              </a:rPr>
              <a:t>Non-production of Asset for Audit</a:t>
            </a:r>
            <a:r>
              <a:rPr lang="en-US" b="1" dirty="0">
                <a:solidFill>
                  <a:srgbClr val="FF0000"/>
                </a:solidFill>
                <a:latin typeface="Arial" panose="020B0604020202020204" pitchFamily="34" charset="0"/>
                <a:cs typeface="Arial" panose="020B0604020202020204" pitchFamily="34" charset="0"/>
              </a:rPr>
              <a:t> : An act of willingly not producing a serviceable IT asset for cyber audit (unless waiver/ exemption for the same has been obtained from appropriate authorities). </a:t>
            </a:r>
          </a:p>
          <a:p>
            <a:pPr marL="342900" indent="-342900">
              <a:lnSpc>
                <a:spcPct val="150000"/>
              </a:lnSpc>
              <a:buFont typeface="Arial" panose="020B0604020202020204" pitchFamily="34" charset="0"/>
              <a:buChar char="•"/>
            </a:pPr>
            <a:r>
              <a:rPr lang="en-US" b="1" u="sng" dirty="0">
                <a:latin typeface="Arial" panose="020B0604020202020204" pitchFamily="34" charset="0"/>
                <a:cs typeface="Arial" panose="020B0604020202020204" pitchFamily="34" charset="0"/>
              </a:rPr>
              <a:t>Data Loss</a:t>
            </a:r>
            <a:r>
              <a:rPr lang="en-US" b="1" dirty="0">
                <a:latin typeface="Arial" panose="020B0604020202020204" pitchFamily="34" charset="0"/>
                <a:cs typeface="Arial" panose="020B0604020202020204" pitchFamily="34" charset="0"/>
              </a:rPr>
              <a:t> : An act of intentional/ unintentional loss of information/ data for which the individual(s) is responsible for its safe custody or handling. Appropriate action shall be undertaken against the offenders of cyber violations as applicable by the provisions of military law. </a:t>
            </a:r>
            <a:endParaRPr lang="en-US" b="1"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6CCBE78B-4542-B631-F24B-2077DC172037}"/>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B6FC64A6-58FA-2DBA-86DA-2B5651C2DB7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INCIDENTS</a:t>
              </a:r>
              <a:endParaRPr lang="en-IN" sz="2800" b="1" u="sng" dirty="0">
                <a:solidFill>
                  <a:schemeClr val="bg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ED3FAB2-99A7-E449-25A7-242CFA9B700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78D46FEC-07D1-2256-6042-56616C4CEAA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9107365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E03318B7-A105-4C1C-7A02-0D9E74E6C6B0}"/>
              </a:ext>
            </a:extLst>
          </p:cNvPr>
          <p:cNvGraphicFramePr>
            <a:graphicFrameLocks noGrp="1"/>
          </p:cNvGraphicFramePr>
          <p:nvPr>
            <p:extLst>
              <p:ext uri="{D42A27DB-BD31-4B8C-83A1-F6EECF244321}">
                <p14:modId xmlns:p14="http://schemas.microsoft.com/office/powerpoint/2010/main" val="3496471140"/>
              </p:ext>
            </p:extLst>
          </p:nvPr>
        </p:nvGraphicFramePr>
        <p:xfrm>
          <a:off x="0" y="1031313"/>
          <a:ext cx="9144000" cy="5826690"/>
        </p:xfrm>
        <a:graphic>
          <a:graphicData uri="http://schemas.openxmlformats.org/drawingml/2006/table">
            <a:tbl>
              <a:tblPr firstRow="1" bandRow="1">
                <a:tableStyleId>{5C22544A-7EE6-4342-B048-85BDC9FD1C3A}</a:tableStyleId>
              </a:tblPr>
              <a:tblGrid>
                <a:gridCol w="681742">
                  <a:extLst>
                    <a:ext uri="{9D8B030D-6E8A-4147-A177-3AD203B41FA5}">
                      <a16:colId xmlns:a16="http://schemas.microsoft.com/office/drawing/2014/main" val="2281256614"/>
                    </a:ext>
                  </a:extLst>
                </a:gridCol>
                <a:gridCol w="5414258">
                  <a:extLst>
                    <a:ext uri="{9D8B030D-6E8A-4147-A177-3AD203B41FA5}">
                      <a16:colId xmlns:a16="http://schemas.microsoft.com/office/drawing/2014/main" val="2369885080"/>
                    </a:ext>
                  </a:extLst>
                </a:gridCol>
                <a:gridCol w="3048000">
                  <a:extLst>
                    <a:ext uri="{9D8B030D-6E8A-4147-A177-3AD203B41FA5}">
                      <a16:colId xmlns:a16="http://schemas.microsoft.com/office/drawing/2014/main" val="3032285605"/>
                    </a:ext>
                  </a:extLst>
                </a:gridCol>
              </a:tblGrid>
              <a:tr h="642312">
                <a:tc>
                  <a:txBody>
                    <a:bodyPr/>
                    <a:lstStyle/>
                    <a:p>
                      <a:pPr algn="ctr"/>
                      <a:r>
                        <a:rPr lang="en-IN" sz="1800" b="1" dirty="0">
                          <a:latin typeface="Arial" panose="020B0604020202020204" pitchFamily="34" charset="0"/>
                          <a:cs typeface="Arial" panose="020B0604020202020204" pitchFamily="34" charset="0"/>
                        </a:rPr>
                        <a:t>Ser No</a:t>
                      </a:r>
                    </a:p>
                  </a:txBody>
                  <a:tcPr/>
                </a:tc>
                <a:tc>
                  <a:txBody>
                    <a:bodyPr/>
                    <a:lstStyle/>
                    <a:p>
                      <a:pPr algn="ctr"/>
                      <a:r>
                        <a:rPr lang="en-IN" sz="1800" b="1" dirty="0">
                          <a:latin typeface="Arial" panose="020B0604020202020204" pitchFamily="34" charset="0"/>
                          <a:cs typeface="Arial" panose="020B0604020202020204" pitchFamily="34" charset="0"/>
                        </a:rPr>
                        <a:t>ASCP 2023</a:t>
                      </a:r>
                    </a:p>
                  </a:txBody>
                  <a:tcPr/>
                </a:tc>
                <a:tc>
                  <a:txBody>
                    <a:bodyPr/>
                    <a:lstStyle/>
                    <a:p>
                      <a:pPr algn="ctr"/>
                      <a:r>
                        <a:rPr lang="en-IN" sz="1800" b="1" dirty="0">
                          <a:latin typeface="Arial" panose="020B0604020202020204" pitchFamily="34" charset="0"/>
                          <a:cs typeface="Arial" panose="020B0604020202020204" pitchFamily="34" charset="0"/>
                        </a:rPr>
                        <a:t>ASCP 2017</a:t>
                      </a:r>
                    </a:p>
                  </a:txBody>
                  <a:tcPr/>
                </a:tc>
                <a:extLst>
                  <a:ext uri="{0D108BD9-81ED-4DB2-BD59-A6C34878D82A}">
                    <a16:rowId xmlns:a16="http://schemas.microsoft.com/office/drawing/2014/main" val="1512184754"/>
                  </a:ext>
                </a:extLst>
              </a:tr>
              <a:tr h="474088">
                <a:tc>
                  <a:txBody>
                    <a:bodyPr/>
                    <a:lstStyle/>
                    <a:p>
                      <a:pPr algn="ctr"/>
                      <a:r>
                        <a:rPr lang="en-IN" sz="1800" b="1" dirty="0">
                          <a:latin typeface="Arial" panose="020B0604020202020204" pitchFamily="34" charset="0"/>
                          <a:cs typeface="Arial" panose="020B0604020202020204" pitchFamily="34" charset="0"/>
                        </a:rPr>
                        <a:t>1</a:t>
                      </a:r>
                    </a:p>
                  </a:txBody>
                  <a:tcPr/>
                </a:tc>
                <a:tc>
                  <a:txBody>
                    <a:bodyPr/>
                    <a:lstStyle/>
                    <a:p>
                      <a:pPr algn="ctr"/>
                      <a:r>
                        <a:rPr lang="en-IN" sz="1800" b="1" dirty="0">
                          <a:latin typeface="Arial" panose="020B0604020202020204" pitchFamily="34" charset="0"/>
                          <a:cs typeface="Arial" panose="020B0604020202020204" pitchFamily="34" charset="0"/>
                        </a:rPr>
                        <a:t>2IC as CISO(Chief info security officer)</a:t>
                      </a:r>
                    </a:p>
                  </a:txBody>
                  <a:tcPr/>
                </a:tc>
                <a:tc>
                  <a:txBody>
                    <a:bodyPr/>
                    <a:lstStyle/>
                    <a:p>
                      <a:pPr algn="ctr"/>
                      <a:r>
                        <a:rPr lang="en-IN" sz="1800" b="1" dirty="0">
                          <a:latin typeface="Arial" panose="020B0604020202020204" pitchFamily="34" charset="0"/>
                          <a:cs typeface="Arial" panose="020B0604020202020204" pitchFamily="34" charset="0"/>
                        </a:rPr>
                        <a:t>CO as CISO</a:t>
                      </a:r>
                    </a:p>
                  </a:txBody>
                  <a:tcPr/>
                </a:tc>
                <a:extLst>
                  <a:ext uri="{0D108BD9-81ED-4DB2-BD59-A6C34878D82A}">
                    <a16:rowId xmlns:a16="http://schemas.microsoft.com/office/drawing/2014/main" val="925093204"/>
                  </a:ext>
                </a:extLst>
              </a:tr>
              <a:tr h="474088">
                <a:tc>
                  <a:txBody>
                    <a:bodyPr/>
                    <a:lstStyle/>
                    <a:p>
                      <a:pPr algn="ctr"/>
                      <a:r>
                        <a:rPr lang="en-IN" sz="1800" b="1" dirty="0">
                          <a:latin typeface="Arial" panose="020B0604020202020204" pitchFamily="34" charset="0"/>
                          <a:cs typeface="Arial" panose="020B0604020202020204" pitchFamily="34" charset="0"/>
                        </a:rPr>
                        <a:t>2</a:t>
                      </a:r>
                    </a:p>
                  </a:txBody>
                  <a:tcPr/>
                </a:tc>
                <a:tc>
                  <a:txBody>
                    <a:bodyPr/>
                    <a:lstStyle/>
                    <a:p>
                      <a:pPr algn="ctr"/>
                      <a:r>
                        <a:rPr lang="en-IN" sz="1800" b="1" dirty="0">
                          <a:latin typeface="Arial" panose="020B0604020202020204" pitchFamily="34" charset="0"/>
                          <a:cs typeface="Arial" panose="020B0604020202020204" pitchFamily="34" charset="0"/>
                        </a:rPr>
                        <a:t>PC Formatting auth : 2IC (CISO)</a:t>
                      </a:r>
                    </a:p>
                  </a:txBody>
                  <a:tcPr/>
                </a:tc>
                <a:tc>
                  <a:txBody>
                    <a:bodyPr/>
                    <a:lstStyle/>
                    <a:p>
                      <a:pPr algn="ctr"/>
                      <a:r>
                        <a:rPr lang="en-IN" sz="1800" b="1" dirty="0">
                          <a:latin typeface="Arial" panose="020B0604020202020204" pitchFamily="34" charset="0"/>
                          <a:cs typeface="Arial" panose="020B0604020202020204" pitchFamily="34" charset="0"/>
                        </a:rPr>
                        <a:t>Formatting auth : CO</a:t>
                      </a:r>
                    </a:p>
                  </a:txBody>
                  <a:tcPr/>
                </a:tc>
                <a:extLst>
                  <a:ext uri="{0D108BD9-81ED-4DB2-BD59-A6C34878D82A}">
                    <a16:rowId xmlns:a16="http://schemas.microsoft.com/office/drawing/2014/main" val="2013545525"/>
                  </a:ext>
                </a:extLst>
              </a:tr>
              <a:tr h="474088">
                <a:tc>
                  <a:txBody>
                    <a:bodyPr/>
                    <a:lstStyle/>
                    <a:p>
                      <a:pPr algn="ctr"/>
                      <a:r>
                        <a:rPr lang="en-IN" sz="1800" b="1" dirty="0">
                          <a:latin typeface="Arial" panose="020B0604020202020204" pitchFamily="34" charset="0"/>
                          <a:cs typeface="Arial" panose="020B0604020202020204" pitchFamily="34" charset="0"/>
                        </a:rPr>
                        <a:t>3</a:t>
                      </a:r>
                    </a:p>
                  </a:txBody>
                  <a:tcPr/>
                </a:tc>
                <a:tc>
                  <a:txBody>
                    <a:bodyPr/>
                    <a:lstStyle/>
                    <a:p>
                      <a:pPr algn="ctr"/>
                      <a:r>
                        <a:rPr lang="en-IN" sz="1800" b="1" dirty="0" err="1">
                          <a:latin typeface="Arial" panose="020B0604020202020204" pitchFamily="34" charset="0"/>
                          <a:cs typeface="Arial" panose="020B0604020202020204" pitchFamily="34" charset="0"/>
                        </a:rPr>
                        <a:t>Maint</a:t>
                      </a:r>
                      <a:r>
                        <a:rPr lang="en-IN" sz="1800" b="1" dirty="0">
                          <a:latin typeface="Arial" panose="020B0604020202020204" pitchFamily="34" charset="0"/>
                          <a:cs typeface="Arial" panose="020B0604020202020204" pitchFamily="34" charset="0"/>
                        </a:rPr>
                        <a:t> of IT record </a:t>
                      </a:r>
                      <a:r>
                        <a:rPr lang="en-IN" sz="1800" b="1" dirty="0" err="1">
                          <a:latin typeface="Arial" panose="020B0604020202020204" pitchFamily="34" charset="0"/>
                          <a:cs typeface="Arial" panose="020B0604020202020204" pitchFamily="34" charset="0"/>
                        </a:rPr>
                        <a:t>resp</a:t>
                      </a:r>
                      <a:r>
                        <a:rPr lang="en-IN" sz="1800" b="1" dirty="0">
                          <a:latin typeface="Arial" panose="020B0604020202020204" pitchFamily="34" charset="0"/>
                          <a:cs typeface="Arial" panose="020B0604020202020204" pitchFamily="34" charset="0"/>
                        </a:rPr>
                        <a:t> : ITO</a:t>
                      </a:r>
                    </a:p>
                  </a:txBody>
                  <a:tcPr/>
                </a:tc>
                <a:tc>
                  <a:txBody>
                    <a:bodyPr/>
                    <a:lstStyle/>
                    <a:p>
                      <a:pPr algn="ctr"/>
                      <a:r>
                        <a:rPr lang="en-IN" sz="1800" b="1" dirty="0">
                          <a:latin typeface="Arial" panose="020B0604020202020204" pitchFamily="34" charset="0"/>
                          <a:cs typeface="Arial" panose="020B0604020202020204" pitchFamily="34" charset="0"/>
                        </a:rPr>
                        <a:t>Not mentioned before</a:t>
                      </a:r>
                    </a:p>
                  </a:txBody>
                  <a:tcPr/>
                </a:tc>
                <a:extLst>
                  <a:ext uri="{0D108BD9-81ED-4DB2-BD59-A6C34878D82A}">
                    <a16:rowId xmlns:a16="http://schemas.microsoft.com/office/drawing/2014/main" val="200839514"/>
                  </a:ext>
                </a:extLst>
              </a:tr>
              <a:tr h="917589">
                <a:tc>
                  <a:txBody>
                    <a:bodyPr/>
                    <a:lstStyle/>
                    <a:p>
                      <a:pPr algn="ctr"/>
                      <a:r>
                        <a:rPr lang="en-IN" sz="1800" b="1" dirty="0">
                          <a:latin typeface="Arial" panose="020B0604020202020204" pitchFamily="34" charset="0"/>
                          <a:cs typeface="Arial" panose="020B0604020202020204" pitchFamily="34" charset="0"/>
                        </a:rPr>
                        <a:t>4</a:t>
                      </a:r>
                    </a:p>
                  </a:txBody>
                  <a:tcPr/>
                </a:tc>
                <a:tc>
                  <a:txBody>
                    <a:bodyPr/>
                    <a:lstStyle/>
                    <a:p>
                      <a:pPr algn="ctr"/>
                      <a:r>
                        <a:rPr lang="en-IN" sz="1800" b="1" dirty="0">
                          <a:latin typeface="Arial" panose="020B0604020202020204" pitchFamily="34" charset="0"/>
                          <a:cs typeface="Arial" panose="020B0604020202020204" pitchFamily="34" charset="0"/>
                        </a:rPr>
                        <a:t>Internet PC will not be used in ADN, Exclusive LAN/Standalone, even if formatted. LAN to ADN </a:t>
                      </a:r>
                      <a:r>
                        <a:rPr lang="en-IN" sz="1800" b="1" dirty="0" err="1">
                          <a:latin typeface="Arial" panose="020B0604020202020204" pitchFamily="34" charset="0"/>
                          <a:cs typeface="Arial" panose="020B0604020202020204" pitchFamily="34" charset="0"/>
                        </a:rPr>
                        <a:t>reqd</a:t>
                      </a:r>
                      <a:r>
                        <a:rPr lang="en-IN" sz="1800" b="1" dirty="0">
                          <a:latin typeface="Arial" panose="020B0604020202020204" pitchFamily="34" charset="0"/>
                          <a:cs typeface="Arial" panose="020B0604020202020204" pitchFamily="34" charset="0"/>
                        </a:rPr>
                        <a:t> CISO permission</a:t>
                      </a:r>
                    </a:p>
                  </a:txBody>
                  <a:tcPr/>
                </a:tc>
                <a:tc>
                  <a:txBody>
                    <a:bodyPr/>
                    <a:lstStyle/>
                    <a:p>
                      <a:pPr algn="ctr"/>
                      <a:r>
                        <a:rPr lang="en-IN" sz="1800" b="1" dirty="0">
                          <a:latin typeface="Arial" panose="020B0604020202020204" pitchFamily="34" charset="0"/>
                          <a:cs typeface="Arial" panose="020B0604020202020204" pitchFamily="34" charset="0"/>
                        </a:rPr>
                        <a:t>Under un-avoidable</a:t>
                      </a:r>
                    </a:p>
                    <a:p>
                      <a:pPr algn="ctr"/>
                      <a:r>
                        <a:rPr lang="en-IN" sz="1800" b="1" dirty="0">
                          <a:latin typeface="Arial" panose="020B0604020202020204" pitchFamily="34" charset="0"/>
                          <a:cs typeface="Arial" panose="020B0604020202020204" pitchFamily="34" charset="0"/>
                        </a:rPr>
                        <a:t>Circumstances</a:t>
                      </a:r>
                    </a:p>
                  </a:txBody>
                  <a:tcPr/>
                </a:tc>
                <a:extLst>
                  <a:ext uri="{0D108BD9-81ED-4DB2-BD59-A6C34878D82A}">
                    <a16:rowId xmlns:a16="http://schemas.microsoft.com/office/drawing/2014/main" val="3849429921"/>
                  </a:ext>
                </a:extLst>
              </a:tr>
              <a:tr h="642312">
                <a:tc>
                  <a:txBody>
                    <a:bodyPr/>
                    <a:lstStyle/>
                    <a:p>
                      <a:pPr algn="ctr"/>
                      <a:r>
                        <a:rPr lang="en-IN" sz="1800" b="1" dirty="0">
                          <a:latin typeface="Arial" panose="020B0604020202020204" pitchFamily="34" charset="0"/>
                          <a:cs typeface="Arial" panose="020B0604020202020204" pitchFamily="34" charset="0"/>
                        </a:rPr>
                        <a:t>5</a:t>
                      </a:r>
                    </a:p>
                  </a:txBody>
                  <a:tcPr/>
                </a:tc>
                <a:tc>
                  <a:txBody>
                    <a:bodyPr/>
                    <a:lstStyle/>
                    <a:p>
                      <a:pPr algn="ctr"/>
                      <a:r>
                        <a:rPr lang="en-IN" sz="1800" b="1" dirty="0">
                          <a:latin typeface="Arial" panose="020B0604020202020204" pitchFamily="34" charset="0"/>
                          <a:cs typeface="Arial" panose="020B0604020202020204" pitchFamily="34" charset="0"/>
                        </a:rPr>
                        <a:t>Internal CD/DVD writers prohibited in ADN </a:t>
                      </a:r>
                    </a:p>
                    <a:p>
                      <a:pPr algn="ctr"/>
                      <a:r>
                        <a:rPr lang="en-IN" sz="1800" b="1" dirty="0">
                          <a:latin typeface="Arial" panose="020B0604020202020204" pitchFamily="34" charset="0"/>
                          <a:cs typeface="Arial" panose="020B0604020202020204" pitchFamily="34" charset="0"/>
                        </a:rPr>
                        <a:t>Except(DEP, </a:t>
                      </a:r>
                      <a:r>
                        <a:rPr lang="en-IN" sz="1800" b="1" dirty="0" err="1">
                          <a:latin typeface="Arial" panose="020B0604020202020204" pitchFamily="34" charset="0"/>
                          <a:cs typeface="Arial" panose="020B0604020202020204" pitchFamily="34" charset="0"/>
                        </a:rPr>
                        <a:t>Spl</a:t>
                      </a:r>
                      <a:r>
                        <a:rPr lang="en-IN" sz="1800" b="1" dirty="0">
                          <a:latin typeface="Arial" panose="020B0604020202020204" pitchFamily="34" charset="0"/>
                          <a:cs typeface="Arial" panose="020B0604020202020204" pitchFamily="34" charset="0"/>
                        </a:rPr>
                        <a:t> permission)</a:t>
                      </a:r>
                    </a:p>
                  </a:txBody>
                  <a:tcPr/>
                </a:tc>
                <a:tc>
                  <a:txBody>
                    <a:bodyPr/>
                    <a:lstStyle/>
                    <a:p>
                      <a:pPr algn="ctr"/>
                      <a:r>
                        <a:rPr lang="en-IN" sz="1800" b="1" dirty="0">
                          <a:latin typeface="Arial" panose="020B0604020202020204" pitchFamily="34" charset="0"/>
                          <a:cs typeface="Arial" panose="020B0604020202020204" pitchFamily="34" charset="0"/>
                        </a:rPr>
                        <a:t>Not prohibited rule</a:t>
                      </a:r>
                    </a:p>
                  </a:txBody>
                  <a:tcPr/>
                </a:tc>
                <a:extLst>
                  <a:ext uri="{0D108BD9-81ED-4DB2-BD59-A6C34878D82A}">
                    <a16:rowId xmlns:a16="http://schemas.microsoft.com/office/drawing/2014/main" val="3134722534"/>
                  </a:ext>
                </a:extLst>
              </a:tr>
              <a:tr h="642312">
                <a:tc>
                  <a:txBody>
                    <a:bodyPr/>
                    <a:lstStyle/>
                    <a:p>
                      <a:pPr algn="ctr"/>
                      <a:r>
                        <a:rPr lang="en-IN" sz="1800" b="1" dirty="0">
                          <a:latin typeface="Arial" panose="020B0604020202020204" pitchFamily="34" charset="0"/>
                          <a:cs typeface="Arial" panose="020B0604020202020204" pitchFamily="34" charset="0"/>
                        </a:rPr>
                        <a:t>6</a:t>
                      </a:r>
                    </a:p>
                  </a:txBody>
                  <a:tcPr/>
                </a:tc>
                <a:tc>
                  <a:txBody>
                    <a:bodyPr/>
                    <a:lstStyle/>
                    <a:p>
                      <a:pPr algn="ctr"/>
                      <a:r>
                        <a:rPr lang="en-IN" sz="1800" b="1" dirty="0">
                          <a:latin typeface="Arial" panose="020B0604020202020204" pitchFamily="34" charset="0"/>
                          <a:cs typeface="Arial" panose="020B0604020202020204" pitchFamily="34" charset="0"/>
                        </a:rPr>
                        <a:t>Wireless keyboard mouse not permitted in classified pc</a:t>
                      </a:r>
                    </a:p>
                  </a:txBody>
                  <a:tcPr/>
                </a:tc>
                <a:tc>
                  <a:txBody>
                    <a:bodyPr/>
                    <a:lstStyle/>
                    <a:p>
                      <a:pPr algn="ctr"/>
                      <a:r>
                        <a:rPr lang="en-IN" sz="1800" b="1" dirty="0">
                          <a:latin typeface="Arial" panose="020B0604020202020204" pitchFamily="34" charset="0"/>
                          <a:cs typeface="Arial" panose="020B0604020202020204" pitchFamily="34" charset="0"/>
                        </a:rPr>
                        <a:t>Not mentioned before</a:t>
                      </a:r>
                    </a:p>
                  </a:txBody>
                  <a:tcPr/>
                </a:tc>
                <a:extLst>
                  <a:ext uri="{0D108BD9-81ED-4DB2-BD59-A6C34878D82A}">
                    <a16:rowId xmlns:a16="http://schemas.microsoft.com/office/drawing/2014/main" val="614811131"/>
                  </a:ext>
                </a:extLst>
              </a:tr>
              <a:tr h="642312">
                <a:tc>
                  <a:txBody>
                    <a:bodyPr/>
                    <a:lstStyle/>
                    <a:p>
                      <a:pPr algn="ctr"/>
                      <a:r>
                        <a:rPr lang="en-IN" sz="1800" b="1" dirty="0">
                          <a:latin typeface="Arial" panose="020B0604020202020204" pitchFamily="34" charset="0"/>
                          <a:cs typeface="Arial" panose="020B0604020202020204" pitchFamily="34" charset="0"/>
                        </a:rPr>
                        <a:t>7</a:t>
                      </a:r>
                    </a:p>
                  </a:txBody>
                  <a:tcPr/>
                </a:tc>
                <a:tc>
                  <a:txBody>
                    <a:bodyPr/>
                    <a:lstStyle/>
                    <a:p>
                      <a:pPr algn="ctr"/>
                      <a:r>
                        <a:rPr lang="en-IN" sz="1800" b="1" dirty="0">
                          <a:latin typeface="Arial" panose="020B0604020202020204" pitchFamily="34" charset="0"/>
                          <a:cs typeface="Arial" panose="020B0604020202020204" pitchFamily="34" charset="0"/>
                        </a:rPr>
                        <a:t>All in one pc mic/webcam restriction</a:t>
                      </a:r>
                    </a:p>
                  </a:txBody>
                  <a:tcPr/>
                </a:tc>
                <a:tc>
                  <a:txBody>
                    <a:bodyPr/>
                    <a:lstStyle/>
                    <a:p>
                      <a:pPr algn="ctr"/>
                      <a:r>
                        <a:rPr lang="en-IN" sz="1800" b="1" dirty="0">
                          <a:latin typeface="Arial" panose="020B0604020202020204" pitchFamily="34" charset="0"/>
                          <a:cs typeface="Arial" panose="020B0604020202020204" pitchFamily="34" charset="0"/>
                        </a:rPr>
                        <a:t>No restriction, restriction in ADN</a:t>
                      </a:r>
                    </a:p>
                  </a:txBody>
                  <a:tcPr/>
                </a:tc>
                <a:extLst>
                  <a:ext uri="{0D108BD9-81ED-4DB2-BD59-A6C34878D82A}">
                    <a16:rowId xmlns:a16="http://schemas.microsoft.com/office/drawing/2014/main" val="343374481"/>
                  </a:ext>
                </a:extLst>
              </a:tr>
              <a:tr h="917589">
                <a:tc>
                  <a:txBody>
                    <a:bodyPr/>
                    <a:lstStyle/>
                    <a:p>
                      <a:pPr algn="ctr"/>
                      <a:r>
                        <a:rPr lang="en-IN" sz="1800" b="1" dirty="0">
                          <a:latin typeface="Arial" panose="020B0604020202020204" pitchFamily="34" charset="0"/>
                          <a:cs typeface="Arial" panose="020B0604020202020204" pitchFamily="34" charset="0"/>
                        </a:rPr>
                        <a:t>8</a:t>
                      </a:r>
                    </a:p>
                  </a:txBody>
                  <a:tcPr/>
                </a:tc>
                <a:tc>
                  <a:txBody>
                    <a:bodyPr/>
                    <a:lstStyle/>
                    <a:p>
                      <a:pPr algn="ctr"/>
                      <a:r>
                        <a:rPr lang="en-IN" sz="1800" b="1" dirty="0">
                          <a:latin typeface="Arial" panose="020B0604020202020204" pitchFamily="34" charset="0"/>
                          <a:cs typeface="Arial" panose="020B0604020202020204" pitchFamily="34" charset="0"/>
                        </a:rPr>
                        <a:t>PC formation/OS sys change will do EME </a:t>
                      </a:r>
                      <a:r>
                        <a:rPr lang="en-IN" sz="1800" b="1" dirty="0" err="1">
                          <a:latin typeface="Arial" panose="020B0604020202020204" pitchFamily="34" charset="0"/>
                          <a:cs typeface="Arial" panose="020B0604020202020204" pitchFamily="34" charset="0"/>
                        </a:rPr>
                        <a:t>wksp</a:t>
                      </a:r>
                      <a:r>
                        <a:rPr lang="en-IN" sz="1800" b="1" dirty="0">
                          <a:latin typeface="Arial" panose="020B0604020202020204" pitchFamily="34" charset="0"/>
                          <a:cs typeface="Arial" panose="020B0604020202020204" pitchFamily="34" charset="0"/>
                        </a:rPr>
                        <a:t> only provision of genuine OS for the same is the </a:t>
                      </a:r>
                      <a:r>
                        <a:rPr lang="en-IN" sz="1800" b="1" dirty="0" err="1">
                          <a:latin typeface="Arial" panose="020B0604020202020204" pitchFamily="34" charset="0"/>
                          <a:cs typeface="Arial" panose="020B0604020202020204" pitchFamily="34" charset="0"/>
                        </a:rPr>
                        <a:t>resp</a:t>
                      </a:r>
                      <a:r>
                        <a:rPr lang="en-IN" sz="1800" b="1" dirty="0">
                          <a:latin typeface="Arial" panose="020B0604020202020204" pitchFamily="34" charset="0"/>
                          <a:cs typeface="Arial" panose="020B0604020202020204" pitchFamily="34" charset="0"/>
                        </a:rPr>
                        <a:t> of the respective user of the pc</a:t>
                      </a:r>
                    </a:p>
                  </a:txBody>
                  <a:tcPr/>
                </a:tc>
                <a:tc>
                  <a:txBody>
                    <a:bodyPr/>
                    <a:lstStyle/>
                    <a:p>
                      <a:pPr algn="ctr"/>
                      <a:r>
                        <a:rPr lang="en-IN" sz="1800" b="1" dirty="0">
                          <a:latin typeface="Arial" panose="020B0604020202020204" pitchFamily="34" charset="0"/>
                          <a:cs typeface="Arial" panose="020B0604020202020204" pitchFamily="34" charset="0"/>
                        </a:rPr>
                        <a:t>Not given by the name of EME </a:t>
                      </a:r>
                      <a:r>
                        <a:rPr lang="en-IN" sz="1800" b="1" dirty="0" err="1">
                          <a:latin typeface="Arial" panose="020B0604020202020204" pitchFamily="34" charset="0"/>
                          <a:cs typeface="Arial" panose="020B0604020202020204" pitchFamily="34" charset="0"/>
                        </a:rPr>
                        <a:t>wksp</a:t>
                      </a:r>
                      <a:endParaRPr lang="en-IN" sz="1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23136626"/>
                  </a:ext>
                </a:extLst>
              </a:tr>
            </a:tbl>
          </a:graphicData>
        </a:graphic>
      </p:graphicFrame>
      <p:grpSp>
        <p:nvGrpSpPr>
          <p:cNvPr id="2" name="Group 1">
            <a:extLst>
              <a:ext uri="{FF2B5EF4-FFF2-40B4-BE49-F238E27FC236}">
                <a16:creationId xmlns:a16="http://schemas.microsoft.com/office/drawing/2014/main" id="{6FEFBA88-CC8F-A27C-FB82-FD79AEAFDCDD}"/>
              </a:ext>
            </a:extLst>
          </p:cNvPr>
          <p:cNvGrpSpPr/>
          <p:nvPr/>
        </p:nvGrpSpPr>
        <p:grpSpPr>
          <a:xfrm>
            <a:off x="-10160" y="6354"/>
            <a:ext cx="9144000" cy="938525"/>
            <a:chOff x="0" y="39305"/>
            <a:chExt cx="9144000" cy="1091874"/>
          </a:xfrm>
          <a:solidFill>
            <a:srgbClr val="C00000"/>
          </a:solidFill>
        </p:grpSpPr>
        <p:sp>
          <p:nvSpPr>
            <p:cNvPr id="3" name="Rounded Rectangle 13">
              <a:extLst>
                <a:ext uri="{FF2B5EF4-FFF2-40B4-BE49-F238E27FC236}">
                  <a16:creationId xmlns:a16="http://schemas.microsoft.com/office/drawing/2014/main" id="{6CB33F5D-EF40-F472-070B-35B2E074A27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MAJOR DIFFERENCE BETWEEN</a:t>
              </a:r>
            </a:p>
            <a:p>
              <a:pPr algn="ctr"/>
              <a:r>
                <a:rPr lang="en-US" sz="2800" b="1" u="sng" dirty="0">
                  <a:solidFill>
                    <a:schemeClr val="bg1"/>
                  </a:solidFill>
                  <a:latin typeface="Arial" panose="020B0604020202020204" pitchFamily="34" charset="0"/>
                  <a:cs typeface="Arial" panose="020B0604020202020204" pitchFamily="34" charset="0"/>
                </a:rPr>
                <a:t>ACSP 2023 &amp; ACSP 2017</a:t>
              </a:r>
              <a:endParaRPr lang="en-IN" sz="2800" b="1" u="sng" dirty="0">
                <a:solidFill>
                  <a:schemeClr val="bg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C9152AC-D8FA-4111-7689-87EB6FA2AC3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79EAFB7E-8E99-4C82-5C26-08FC3167746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5679087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E03318B7-A105-4C1C-7A02-0D9E74E6C6B0}"/>
              </a:ext>
            </a:extLst>
          </p:cNvPr>
          <p:cNvGraphicFramePr>
            <a:graphicFrameLocks noGrp="1"/>
          </p:cNvGraphicFramePr>
          <p:nvPr>
            <p:extLst>
              <p:ext uri="{D42A27DB-BD31-4B8C-83A1-F6EECF244321}">
                <p14:modId xmlns:p14="http://schemas.microsoft.com/office/powerpoint/2010/main" val="19586363"/>
              </p:ext>
            </p:extLst>
          </p:nvPr>
        </p:nvGraphicFramePr>
        <p:xfrm>
          <a:off x="0" y="1031313"/>
          <a:ext cx="9144000" cy="6013797"/>
        </p:xfrm>
        <a:graphic>
          <a:graphicData uri="http://schemas.openxmlformats.org/drawingml/2006/table">
            <a:tbl>
              <a:tblPr firstRow="1" bandRow="1">
                <a:tableStyleId>{5C22544A-7EE6-4342-B048-85BDC9FD1C3A}</a:tableStyleId>
              </a:tblPr>
              <a:tblGrid>
                <a:gridCol w="681742">
                  <a:extLst>
                    <a:ext uri="{9D8B030D-6E8A-4147-A177-3AD203B41FA5}">
                      <a16:colId xmlns:a16="http://schemas.microsoft.com/office/drawing/2014/main" val="2281256614"/>
                    </a:ext>
                  </a:extLst>
                </a:gridCol>
                <a:gridCol w="5414258">
                  <a:extLst>
                    <a:ext uri="{9D8B030D-6E8A-4147-A177-3AD203B41FA5}">
                      <a16:colId xmlns:a16="http://schemas.microsoft.com/office/drawing/2014/main" val="2369885080"/>
                    </a:ext>
                  </a:extLst>
                </a:gridCol>
                <a:gridCol w="3048000">
                  <a:extLst>
                    <a:ext uri="{9D8B030D-6E8A-4147-A177-3AD203B41FA5}">
                      <a16:colId xmlns:a16="http://schemas.microsoft.com/office/drawing/2014/main" val="3032285605"/>
                    </a:ext>
                  </a:extLst>
                </a:gridCol>
              </a:tblGrid>
              <a:tr h="650513">
                <a:tc>
                  <a:txBody>
                    <a:bodyPr/>
                    <a:lstStyle/>
                    <a:p>
                      <a:pPr algn="ctr"/>
                      <a:r>
                        <a:rPr lang="en-IN" sz="1800" b="1" dirty="0">
                          <a:latin typeface="Arial" panose="020B0604020202020204" pitchFamily="34" charset="0"/>
                          <a:cs typeface="Arial" panose="020B0604020202020204" pitchFamily="34" charset="0"/>
                        </a:rPr>
                        <a:t>Ser No</a:t>
                      </a:r>
                    </a:p>
                  </a:txBody>
                  <a:tcPr/>
                </a:tc>
                <a:tc>
                  <a:txBody>
                    <a:bodyPr/>
                    <a:lstStyle/>
                    <a:p>
                      <a:pPr algn="ctr"/>
                      <a:r>
                        <a:rPr lang="en-IN" sz="1800" b="1" dirty="0">
                          <a:latin typeface="Arial" panose="020B0604020202020204" pitchFamily="34" charset="0"/>
                          <a:cs typeface="Arial" panose="020B0604020202020204" pitchFamily="34" charset="0"/>
                        </a:rPr>
                        <a:t>ASCP 2023</a:t>
                      </a:r>
                    </a:p>
                  </a:txBody>
                  <a:tcPr/>
                </a:tc>
                <a:tc>
                  <a:txBody>
                    <a:bodyPr/>
                    <a:lstStyle/>
                    <a:p>
                      <a:pPr algn="ctr"/>
                      <a:r>
                        <a:rPr lang="en-IN" sz="1800" b="1" dirty="0">
                          <a:latin typeface="Arial" panose="020B0604020202020204" pitchFamily="34" charset="0"/>
                          <a:cs typeface="Arial" panose="020B0604020202020204" pitchFamily="34" charset="0"/>
                        </a:rPr>
                        <a:t>ASCP 2017</a:t>
                      </a:r>
                    </a:p>
                  </a:txBody>
                  <a:tcPr/>
                </a:tc>
                <a:extLst>
                  <a:ext uri="{0D108BD9-81ED-4DB2-BD59-A6C34878D82A}">
                    <a16:rowId xmlns:a16="http://schemas.microsoft.com/office/drawing/2014/main" val="1512184754"/>
                  </a:ext>
                </a:extLst>
              </a:tr>
              <a:tr h="474337">
                <a:tc>
                  <a:txBody>
                    <a:bodyPr/>
                    <a:lstStyle/>
                    <a:p>
                      <a:pPr algn="ctr"/>
                      <a:r>
                        <a:rPr lang="en-IN" sz="1800" b="1" dirty="0">
                          <a:latin typeface="Arial" panose="020B0604020202020204" pitchFamily="34" charset="0"/>
                          <a:cs typeface="Arial" panose="020B0604020202020204" pitchFamily="34" charset="0"/>
                        </a:rPr>
                        <a:t>9</a:t>
                      </a:r>
                    </a:p>
                  </a:txBody>
                  <a:tcPr/>
                </a:tc>
                <a:tc>
                  <a:txBody>
                    <a:bodyPr/>
                    <a:lstStyle/>
                    <a:p>
                      <a:pPr algn="ctr"/>
                      <a:r>
                        <a:rPr lang="en-IN" sz="1800" b="1" dirty="0">
                          <a:latin typeface="Arial" panose="020B0604020202020204" pitchFamily="34" charset="0"/>
                          <a:cs typeface="Arial" panose="020B0604020202020204" pitchFamily="34" charset="0"/>
                        </a:rPr>
                        <a:t>Internet </a:t>
                      </a:r>
                      <a:r>
                        <a:rPr lang="en-IN" sz="1800" b="1" dirty="0" err="1">
                          <a:latin typeface="Arial" panose="020B0604020202020204" pitchFamily="34" charset="0"/>
                          <a:cs typeface="Arial" panose="020B0604020202020204" pitchFamily="34" charset="0"/>
                        </a:rPr>
                        <a:t>resp</a:t>
                      </a:r>
                      <a:r>
                        <a:rPr lang="en-IN" sz="1800" b="1" dirty="0">
                          <a:latin typeface="Arial" panose="020B0604020202020204" pitchFamily="34" charset="0"/>
                          <a:cs typeface="Arial" panose="020B0604020202020204" pitchFamily="34" charset="0"/>
                        </a:rPr>
                        <a:t> of DGMO, DG sigs</a:t>
                      </a:r>
                    </a:p>
                  </a:txBody>
                  <a:tcPr/>
                </a:tc>
                <a:tc>
                  <a:txBody>
                    <a:bodyPr/>
                    <a:lstStyle/>
                    <a:p>
                      <a:pPr algn="ctr"/>
                      <a:r>
                        <a:rPr lang="en-IN" sz="1800" b="1" dirty="0">
                          <a:latin typeface="Arial" panose="020B0604020202020204" pitchFamily="34" charset="0"/>
                          <a:cs typeface="Arial" panose="020B0604020202020204" pitchFamily="34" charset="0"/>
                        </a:rPr>
                        <a:t>Not given</a:t>
                      </a:r>
                    </a:p>
                  </a:txBody>
                  <a:tcPr/>
                </a:tc>
                <a:extLst>
                  <a:ext uri="{0D108BD9-81ED-4DB2-BD59-A6C34878D82A}">
                    <a16:rowId xmlns:a16="http://schemas.microsoft.com/office/drawing/2014/main" val="925093204"/>
                  </a:ext>
                </a:extLst>
              </a:tr>
              <a:tr h="650513">
                <a:tc>
                  <a:txBody>
                    <a:bodyPr/>
                    <a:lstStyle/>
                    <a:p>
                      <a:pPr algn="ctr"/>
                      <a:r>
                        <a:rPr lang="en-IN" sz="1800" b="1" dirty="0">
                          <a:latin typeface="Arial" panose="020B0604020202020204" pitchFamily="34" charset="0"/>
                          <a:cs typeface="Arial" panose="020B0604020202020204" pitchFamily="34" charset="0"/>
                        </a:rPr>
                        <a:t>10</a:t>
                      </a:r>
                    </a:p>
                  </a:txBody>
                  <a:tcPr/>
                </a:tc>
                <a:tc>
                  <a:txBody>
                    <a:bodyPr/>
                    <a:lstStyle/>
                    <a:p>
                      <a:pPr algn="ctr"/>
                      <a:r>
                        <a:rPr lang="en-IN" sz="1800" b="1" dirty="0">
                          <a:latin typeface="Arial" panose="020B0604020202020204" pitchFamily="34" charset="0"/>
                          <a:cs typeface="Arial" panose="020B0604020202020204" pitchFamily="34" charset="0"/>
                        </a:rPr>
                        <a:t>Email and </a:t>
                      </a:r>
                      <a:r>
                        <a:rPr lang="en-IN" sz="1800" b="1" dirty="0" err="1">
                          <a:latin typeface="Arial" panose="020B0604020202020204" pitchFamily="34" charset="0"/>
                          <a:cs typeface="Arial" panose="020B0604020202020204" pitchFamily="34" charset="0"/>
                        </a:rPr>
                        <a:t>whatapp</a:t>
                      </a:r>
                      <a:r>
                        <a:rPr lang="en-IN" sz="1800" b="1" dirty="0">
                          <a:latin typeface="Arial" panose="020B0604020202020204" pitchFamily="34" charset="0"/>
                          <a:cs typeface="Arial" panose="020B0604020202020204" pitchFamily="34" charset="0"/>
                        </a:rPr>
                        <a:t> security no confidential docu to be share in any condition</a:t>
                      </a:r>
                    </a:p>
                  </a:txBody>
                  <a:tcPr/>
                </a:tc>
                <a:tc>
                  <a:txBody>
                    <a:bodyPr/>
                    <a:lstStyle/>
                    <a:p>
                      <a:pPr algn="ctr"/>
                      <a:r>
                        <a:rPr lang="en-IN" sz="1800" b="1" dirty="0">
                          <a:latin typeface="Arial" panose="020B0604020202020204" pitchFamily="34" charset="0"/>
                          <a:cs typeface="Arial" panose="020B0604020202020204" pitchFamily="34" charset="0"/>
                        </a:rPr>
                        <a:t>Not given</a:t>
                      </a:r>
                    </a:p>
                  </a:txBody>
                  <a:tcPr/>
                </a:tc>
                <a:extLst>
                  <a:ext uri="{0D108BD9-81ED-4DB2-BD59-A6C34878D82A}">
                    <a16:rowId xmlns:a16="http://schemas.microsoft.com/office/drawing/2014/main" val="2013545525"/>
                  </a:ext>
                </a:extLst>
              </a:tr>
              <a:tr h="474337">
                <a:tc>
                  <a:txBody>
                    <a:bodyPr/>
                    <a:lstStyle/>
                    <a:p>
                      <a:pPr algn="ctr"/>
                      <a:r>
                        <a:rPr lang="en-IN" sz="1800" b="1" dirty="0">
                          <a:latin typeface="Arial" panose="020B0604020202020204" pitchFamily="34" charset="0"/>
                          <a:cs typeface="Arial" panose="020B0604020202020204" pitchFamily="34" charset="0"/>
                        </a:rPr>
                        <a:t>11</a:t>
                      </a:r>
                    </a:p>
                  </a:txBody>
                  <a:tcPr/>
                </a:tc>
                <a:tc>
                  <a:txBody>
                    <a:bodyPr/>
                    <a:lstStyle/>
                    <a:p>
                      <a:pPr algn="ctr"/>
                      <a:r>
                        <a:rPr lang="en-IN" sz="1800" b="1" dirty="0">
                          <a:latin typeface="Arial" panose="020B0604020202020204" pitchFamily="34" charset="0"/>
                          <a:cs typeface="Arial" panose="020B0604020202020204" pitchFamily="34" charset="0"/>
                        </a:rPr>
                        <a:t>BOSS ISOC ( internal security </a:t>
                      </a:r>
                      <a:r>
                        <a:rPr lang="en-IN" sz="1800" b="1" dirty="0" err="1">
                          <a:latin typeface="Arial" panose="020B0604020202020204" pitchFamily="34" charset="0"/>
                          <a:cs typeface="Arial" panose="020B0604020202020204" pitchFamily="34" charset="0"/>
                        </a:rPr>
                        <a:t>oprs</a:t>
                      </a:r>
                      <a:r>
                        <a:rPr lang="en-IN" sz="1800" b="1" dirty="0">
                          <a:latin typeface="Arial" panose="020B0604020202020204" pitchFamily="34" charset="0"/>
                          <a:cs typeface="Arial" panose="020B0604020202020204" pitchFamily="34" charset="0"/>
                        </a:rPr>
                        <a:t> </a:t>
                      </a:r>
                      <a:r>
                        <a:rPr lang="en-IN" sz="1800" b="1" dirty="0" err="1">
                          <a:latin typeface="Arial" panose="020B0604020202020204" pitchFamily="34" charset="0"/>
                          <a:cs typeface="Arial" panose="020B0604020202020204" pitchFamily="34" charset="0"/>
                        </a:rPr>
                        <a:t>center</a:t>
                      </a:r>
                      <a:r>
                        <a:rPr lang="en-IN" sz="1800" b="1" dirty="0">
                          <a:latin typeface="Arial" panose="020B0604020202020204" pitchFamily="34" charset="0"/>
                          <a:cs typeface="Arial" panose="020B0604020202020204" pitchFamily="34" charset="0"/>
                        </a:rPr>
                        <a:t> )</a:t>
                      </a:r>
                    </a:p>
                  </a:txBody>
                  <a:tcPr/>
                </a:tc>
                <a:tc>
                  <a:txBody>
                    <a:bodyPr/>
                    <a:lstStyle/>
                    <a:p>
                      <a:pPr algn="ctr"/>
                      <a:r>
                        <a:rPr lang="en-IN" sz="1800" b="1" dirty="0">
                          <a:latin typeface="Arial" panose="020B0604020202020204" pitchFamily="34" charset="0"/>
                          <a:cs typeface="Arial" panose="020B0604020202020204" pitchFamily="34" charset="0"/>
                        </a:rPr>
                        <a:t>Not given </a:t>
                      </a:r>
                    </a:p>
                  </a:txBody>
                  <a:tcPr/>
                </a:tc>
                <a:extLst>
                  <a:ext uri="{0D108BD9-81ED-4DB2-BD59-A6C34878D82A}">
                    <a16:rowId xmlns:a16="http://schemas.microsoft.com/office/drawing/2014/main" val="200839514"/>
                  </a:ext>
                </a:extLst>
              </a:tr>
              <a:tr h="918072">
                <a:tc>
                  <a:txBody>
                    <a:bodyPr/>
                    <a:lstStyle/>
                    <a:p>
                      <a:pPr algn="ctr"/>
                      <a:r>
                        <a:rPr lang="en-IN" sz="1800" b="1" dirty="0">
                          <a:latin typeface="Arial" panose="020B0604020202020204" pitchFamily="34" charset="0"/>
                          <a:cs typeface="Arial" panose="020B0604020202020204" pitchFamily="34" charset="0"/>
                        </a:rPr>
                        <a:t>12</a:t>
                      </a:r>
                    </a:p>
                  </a:txBody>
                  <a:tcPr/>
                </a:tc>
                <a:tc>
                  <a:txBody>
                    <a:bodyPr/>
                    <a:lstStyle/>
                    <a:p>
                      <a:pPr algn="ctr"/>
                      <a:r>
                        <a:rPr lang="en-IN" sz="1800" b="1" dirty="0">
                          <a:latin typeface="Arial" panose="020B0604020202020204" pitchFamily="34" charset="0"/>
                          <a:cs typeface="Arial" panose="020B0604020202020204" pitchFamily="34" charset="0"/>
                        </a:rPr>
                        <a:t>IP address </a:t>
                      </a:r>
                      <a:r>
                        <a:rPr lang="en-IN" sz="1800" b="1" dirty="0" err="1">
                          <a:latin typeface="Arial" panose="020B0604020202020204" pitchFamily="34" charset="0"/>
                          <a:cs typeface="Arial" panose="020B0604020202020204" pitchFamily="34" charset="0"/>
                        </a:rPr>
                        <a:t>mgt</a:t>
                      </a:r>
                      <a:r>
                        <a:rPr lang="en-IN" sz="1800" b="1" dirty="0">
                          <a:latin typeface="Arial" panose="020B0604020202020204" pitchFamily="34" charset="0"/>
                          <a:cs typeface="Arial" panose="020B0604020202020204" pitchFamily="34" charset="0"/>
                        </a:rPr>
                        <a:t> in briefly, security control in ADN, switches</a:t>
                      </a:r>
                    </a:p>
                  </a:txBody>
                  <a:tcPr/>
                </a:tc>
                <a:tc>
                  <a:txBody>
                    <a:bodyPr/>
                    <a:lstStyle/>
                    <a:p>
                      <a:pPr algn="ctr"/>
                      <a:r>
                        <a:rPr lang="en-IN" sz="1800" b="1" dirty="0">
                          <a:latin typeface="Arial" panose="020B0604020202020204" pitchFamily="34" charset="0"/>
                          <a:cs typeface="Arial" panose="020B0604020202020204" pitchFamily="34" charset="0"/>
                        </a:rPr>
                        <a:t>Not before</a:t>
                      </a:r>
                    </a:p>
                  </a:txBody>
                  <a:tcPr/>
                </a:tc>
                <a:extLst>
                  <a:ext uri="{0D108BD9-81ED-4DB2-BD59-A6C34878D82A}">
                    <a16:rowId xmlns:a16="http://schemas.microsoft.com/office/drawing/2014/main" val="3849429921"/>
                  </a:ext>
                </a:extLst>
              </a:tr>
              <a:tr h="642651">
                <a:tc>
                  <a:txBody>
                    <a:bodyPr/>
                    <a:lstStyle/>
                    <a:p>
                      <a:pPr algn="ctr"/>
                      <a:r>
                        <a:rPr lang="en-IN" sz="1800" b="1" dirty="0">
                          <a:latin typeface="Arial" panose="020B0604020202020204" pitchFamily="34" charset="0"/>
                          <a:cs typeface="Arial" panose="020B0604020202020204" pitchFamily="34" charset="0"/>
                        </a:rPr>
                        <a:t>13</a:t>
                      </a:r>
                    </a:p>
                  </a:txBody>
                  <a:tcPr/>
                </a:tc>
                <a:tc>
                  <a:txBody>
                    <a:bodyPr/>
                    <a:lstStyle/>
                    <a:p>
                      <a:pPr algn="ctr"/>
                      <a:r>
                        <a:rPr lang="en-IN" sz="1800" b="1" dirty="0">
                          <a:latin typeface="Arial" panose="020B0604020202020204" pitchFamily="34" charset="0"/>
                          <a:cs typeface="Arial" panose="020B0604020202020204" pitchFamily="34" charset="0"/>
                        </a:rPr>
                        <a:t>ASIGMA ruling in brief</a:t>
                      </a:r>
                    </a:p>
                  </a:txBody>
                  <a:tcPr/>
                </a:tc>
                <a:tc>
                  <a:txBody>
                    <a:bodyPr/>
                    <a:lstStyle/>
                    <a:p>
                      <a:pPr algn="ctr"/>
                      <a:r>
                        <a:rPr lang="en-IN" sz="1800" b="1" dirty="0">
                          <a:latin typeface="Arial" panose="020B0604020202020204" pitchFamily="34" charset="0"/>
                          <a:cs typeface="Arial" panose="020B0604020202020204" pitchFamily="34" charset="0"/>
                        </a:rPr>
                        <a:t> </a:t>
                      </a:r>
                    </a:p>
                  </a:txBody>
                  <a:tcPr/>
                </a:tc>
                <a:extLst>
                  <a:ext uri="{0D108BD9-81ED-4DB2-BD59-A6C34878D82A}">
                    <a16:rowId xmlns:a16="http://schemas.microsoft.com/office/drawing/2014/main" val="3134722534"/>
                  </a:ext>
                </a:extLst>
              </a:tr>
              <a:tr h="642651">
                <a:tc>
                  <a:txBody>
                    <a:bodyPr/>
                    <a:lstStyle/>
                    <a:p>
                      <a:pPr algn="ctr"/>
                      <a:r>
                        <a:rPr lang="en-IN" sz="1800" b="1" dirty="0">
                          <a:latin typeface="Arial" panose="020B0604020202020204" pitchFamily="34" charset="0"/>
                          <a:cs typeface="Arial" panose="020B0604020202020204" pitchFamily="34" charset="0"/>
                        </a:rPr>
                        <a:t>14</a:t>
                      </a:r>
                    </a:p>
                  </a:txBody>
                  <a:tcPr/>
                </a:tc>
                <a:tc>
                  <a:txBody>
                    <a:bodyPr/>
                    <a:lstStyle/>
                    <a:p>
                      <a:pPr algn="ctr"/>
                      <a:r>
                        <a:rPr lang="en-IN" sz="1800" b="1" dirty="0">
                          <a:latin typeface="Arial" panose="020B0604020202020204" pitchFamily="34" charset="0"/>
                          <a:cs typeface="Arial" panose="020B0604020202020204" pitchFamily="34" charset="0"/>
                        </a:rPr>
                        <a:t>DEP and sanitisation box ruling</a:t>
                      </a:r>
                    </a:p>
                  </a:txBody>
                  <a:tcPr/>
                </a:tc>
                <a:tc>
                  <a:txBody>
                    <a:bodyPr/>
                    <a:lstStyle/>
                    <a:p>
                      <a:pPr algn="ctr"/>
                      <a:r>
                        <a:rPr lang="en-IN" sz="1800" b="1" dirty="0">
                          <a:latin typeface="Arial" panose="020B0604020202020204" pitchFamily="34" charset="0"/>
                          <a:cs typeface="Arial" panose="020B0604020202020204" pitchFamily="34" charset="0"/>
                        </a:rPr>
                        <a:t>Sanitisation pc only</a:t>
                      </a:r>
                    </a:p>
                  </a:txBody>
                  <a:tcPr/>
                </a:tc>
                <a:extLst>
                  <a:ext uri="{0D108BD9-81ED-4DB2-BD59-A6C34878D82A}">
                    <a16:rowId xmlns:a16="http://schemas.microsoft.com/office/drawing/2014/main" val="614811131"/>
                  </a:ext>
                </a:extLst>
              </a:tr>
              <a:tr h="642651">
                <a:tc>
                  <a:txBody>
                    <a:bodyPr/>
                    <a:lstStyle/>
                    <a:p>
                      <a:pPr algn="ctr"/>
                      <a:r>
                        <a:rPr lang="en-IN" sz="1800" b="1" dirty="0">
                          <a:latin typeface="Arial" panose="020B0604020202020204" pitchFamily="34" charset="0"/>
                          <a:cs typeface="Arial" panose="020B0604020202020204" pitchFamily="34" charset="0"/>
                        </a:rPr>
                        <a:t>15</a:t>
                      </a:r>
                    </a:p>
                  </a:txBody>
                  <a:tcPr/>
                </a:tc>
                <a:tc>
                  <a:txBody>
                    <a:bodyPr/>
                    <a:lstStyle/>
                    <a:p>
                      <a:pPr algn="ctr"/>
                      <a:r>
                        <a:rPr lang="en-IN" sz="1800" b="1" dirty="0">
                          <a:latin typeface="Arial" panose="020B0604020202020204" pitchFamily="34" charset="0"/>
                          <a:cs typeface="Arial" panose="020B0604020202020204" pitchFamily="34" charset="0"/>
                        </a:rPr>
                        <a:t>Handling of classified docu in brief</a:t>
                      </a:r>
                    </a:p>
                  </a:txBody>
                  <a:tcPr/>
                </a:tc>
                <a:tc>
                  <a:txBody>
                    <a:bodyPr/>
                    <a:lstStyle/>
                    <a:p>
                      <a:pPr algn="ctr"/>
                      <a:endParaRPr lang="en-IN" sz="1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3374481"/>
                  </a:ext>
                </a:extLst>
              </a:tr>
              <a:tr h="918072">
                <a:tc>
                  <a:txBody>
                    <a:bodyPr/>
                    <a:lstStyle/>
                    <a:p>
                      <a:pPr algn="ctr"/>
                      <a:r>
                        <a:rPr lang="en-IN" sz="1800" b="1" dirty="0">
                          <a:latin typeface="Arial" panose="020B0604020202020204" pitchFamily="34" charset="0"/>
                          <a:cs typeface="Arial" panose="020B0604020202020204" pitchFamily="34" charset="0"/>
                        </a:rPr>
                        <a:t>16</a:t>
                      </a:r>
                    </a:p>
                  </a:txBody>
                  <a:tcPr/>
                </a:tc>
                <a:tc>
                  <a:txBody>
                    <a:bodyPr/>
                    <a:lstStyle/>
                    <a:p>
                      <a:pPr algn="ctr"/>
                      <a:r>
                        <a:rPr lang="en-IN" sz="1800" b="1" dirty="0">
                          <a:latin typeface="Arial" panose="020B0604020202020204" pitchFamily="34" charset="0"/>
                          <a:cs typeface="Arial" panose="020B0604020202020204" pitchFamily="34" charset="0"/>
                        </a:rPr>
                        <a:t>ITAML ( IT asset </a:t>
                      </a:r>
                      <a:r>
                        <a:rPr lang="en-IN" sz="1800" b="1" dirty="0" err="1">
                          <a:latin typeface="Arial" panose="020B0604020202020204" pitchFamily="34" charset="0"/>
                          <a:cs typeface="Arial" panose="020B0604020202020204" pitchFamily="34" charset="0"/>
                        </a:rPr>
                        <a:t>mgt</a:t>
                      </a:r>
                      <a:r>
                        <a:rPr lang="en-IN" sz="1800" b="1" dirty="0">
                          <a:latin typeface="Arial" panose="020B0604020202020204" pitchFamily="34" charset="0"/>
                          <a:cs typeface="Arial" panose="020B0604020202020204" pitchFamily="34" charset="0"/>
                        </a:rPr>
                        <a:t> list) brief, custodian and classification</a:t>
                      </a:r>
                    </a:p>
                  </a:txBody>
                  <a:tcPr/>
                </a:tc>
                <a:tc>
                  <a:txBody>
                    <a:bodyPr/>
                    <a:lstStyle/>
                    <a:p>
                      <a:pPr algn="ctr"/>
                      <a:r>
                        <a:rPr lang="en-IN" sz="1800" b="1" dirty="0">
                          <a:latin typeface="Arial" panose="020B0604020202020204" pitchFamily="34" charset="0"/>
                          <a:cs typeface="Arial" panose="020B0604020202020204" pitchFamily="34" charset="0"/>
                        </a:rPr>
                        <a:t>Not given </a:t>
                      </a:r>
                    </a:p>
                  </a:txBody>
                  <a:tcPr/>
                </a:tc>
                <a:extLst>
                  <a:ext uri="{0D108BD9-81ED-4DB2-BD59-A6C34878D82A}">
                    <a16:rowId xmlns:a16="http://schemas.microsoft.com/office/drawing/2014/main" val="1523136626"/>
                  </a:ext>
                </a:extLst>
              </a:tr>
            </a:tbl>
          </a:graphicData>
        </a:graphic>
      </p:graphicFrame>
      <p:grpSp>
        <p:nvGrpSpPr>
          <p:cNvPr id="2" name="Group 1">
            <a:extLst>
              <a:ext uri="{FF2B5EF4-FFF2-40B4-BE49-F238E27FC236}">
                <a16:creationId xmlns:a16="http://schemas.microsoft.com/office/drawing/2014/main" id="{5E17AA49-40A3-DCAC-17C7-345B528D6DBA}"/>
              </a:ext>
            </a:extLst>
          </p:cNvPr>
          <p:cNvGrpSpPr/>
          <p:nvPr/>
        </p:nvGrpSpPr>
        <p:grpSpPr>
          <a:xfrm>
            <a:off x="-10160" y="6354"/>
            <a:ext cx="9144000" cy="938525"/>
            <a:chOff x="0" y="39305"/>
            <a:chExt cx="9144000" cy="1091874"/>
          </a:xfrm>
          <a:solidFill>
            <a:srgbClr val="C00000"/>
          </a:solidFill>
        </p:grpSpPr>
        <p:sp>
          <p:nvSpPr>
            <p:cNvPr id="3" name="Rounded Rectangle 13">
              <a:extLst>
                <a:ext uri="{FF2B5EF4-FFF2-40B4-BE49-F238E27FC236}">
                  <a16:creationId xmlns:a16="http://schemas.microsoft.com/office/drawing/2014/main" id="{48A8F1B1-8915-134A-482F-15665AAB7CB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MAJOR DIFFERENCE BETWEEN</a:t>
              </a:r>
            </a:p>
            <a:p>
              <a:pPr algn="ctr"/>
              <a:r>
                <a:rPr lang="en-US" sz="2800" b="1" u="sng" dirty="0">
                  <a:solidFill>
                    <a:schemeClr val="bg1"/>
                  </a:solidFill>
                  <a:latin typeface="Arial" panose="020B0604020202020204" pitchFamily="34" charset="0"/>
                  <a:cs typeface="Arial" panose="020B0604020202020204" pitchFamily="34" charset="0"/>
                </a:rPr>
                <a:t>ACSP 2023 &amp; ACSP 2017</a:t>
              </a:r>
              <a:endParaRPr lang="en-IN" sz="2800" b="1" u="sng" dirty="0">
                <a:solidFill>
                  <a:schemeClr val="bg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8914C104-0F8E-51D4-3298-A15CF0592D0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3FBDCC2C-93C8-AE11-F003-FB702E8C08E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8466017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E03318B7-A105-4C1C-7A02-0D9E74E6C6B0}"/>
              </a:ext>
            </a:extLst>
          </p:cNvPr>
          <p:cNvGraphicFramePr>
            <a:graphicFrameLocks noGrp="1"/>
          </p:cNvGraphicFramePr>
          <p:nvPr>
            <p:extLst>
              <p:ext uri="{D42A27DB-BD31-4B8C-83A1-F6EECF244321}">
                <p14:modId xmlns:p14="http://schemas.microsoft.com/office/powerpoint/2010/main" val="2432644891"/>
              </p:ext>
            </p:extLst>
          </p:nvPr>
        </p:nvGraphicFramePr>
        <p:xfrm>
          <a:off x="0" y="1021152"/>
          <a:ext cx="9144000" cy="3349425"/>
        </p:xfrm>
        <a:graphic>
          <a:graphicData uri="http://schemas.openxmlformats.org/drawingml/2006/table">
            <a:tbl>
              <a:tblPr firstRow="1" bandRow="1">
                <a:tableStyleId>{5C22544A-7EE6-4342-B048-85BDC9FD1C3A}</a:tableStyleId>
              </a:tblPr>
              <a:tblGrid>
                <a:gridCol w="681742">
                  <a:extLst>
                    <a:ext uri="{9D8B030D-6E8A-4147-A177-3AD203B41FA5}">
                      <a16:colId xmlns:a16="http://schemas.microsoft.com/office/drawing/2014/main" val="2281256614"/>
                    </a:ext>
                  </a:extLst>
                </a:gridCol>
                <a:gridCol w="5414258">
                  <a:extLst>
                    <a:ext uri="{9D8B030D-6E8A-4147-A177-3AD203B41FA5}">
                      <a16:colId xmlns:a16="http://schemas.microsoft.com/office/drawing/2014/main" val="2369885080"/>
                    </a:ext>
                  </a:extLst>
                </a:gridCol>
                <a:gridCol w="3048000">
                  <a:extLst>
                    <a:ext uri="{9D8B030D-6E8A-4147-A177-3AD203B41FA5}">
                      <a16:colId xmlns:a16="http://schemas.microsoft.com/office/drawing/2014/main" val="3032285605"/>
                    </a:ext>
                  </a:extLst>
                </a:gridCol>
              </a:tblGrid>
              <a:tr h="632914">
                <a:tc>
                  <a:txBody>
                    <a:bodyPr/>
                    <a:lstStyle/>
                    <a:p>
                      <a:pPr algn="ctr"/>
                      <a:r>
                        <a:rPr lang="en-IN" sz="1800" b="1" dirty="0">
                          <a:latin typeface="Arial" panose="020B0604020202020204" pitchFamily="34" charset="0"/>
                          <a:cs typeface="Arial" panose="020B0604020202020204" pitchFamily="34" charset="0"/>
                        </a:rPr>
                        <a:t>Ser No</a:t>
                      </a:r>
                    </a:p>
                  </a:txBody>
                  <a:tcPr/>
                </a:tc>
                <a:tc>
                  <a:txBody>
                    <a:bodyPr/>
                    <a:lstStyle/>
                    <a:p>
                      <a:pPr algn="ctr"/>
                      <a:r>
                        <a:rPr lang="en-IN" sz="1800" b="1" dirty="0">
                          <a:latin typeface="Arial" panose="020B0604020202020204" pitchFamily="34" charset="0"/>
                          <a:cs typeface="Arial" panose="020B0604020202020204" pitchFamily="34" charset="0"/>
                        </a:rPr>
                        <a:t>ASCP 2023</a:t>
                      </a:r>
                    </a:p>
                  </a:txBody>
                  <a:tcPr/>
                </a:tc>
                <a:tc>
                  <a:txBody>
                    <a:bodyPr/>
                    <a:lstStyle/>
                    <a:p>
                      <a:pPr algn="ctr"/>
                      <a:r>
                        <a:rPr lang="en-IN" sz="1800" b="1" dirty="0">
                          <a:latin typeface="Arial" panose="020B0604020202020204" pitchFamily="34" charset="0"/>
                          <a:cs typeface="Arial" panose="020B0604020202020204" pitchFamily="34" charset="0"/>
                        </a:rPr>
                        <a:t>ASCP 2017</a:t>
                      </a:r>
                    </a:p>
                  </a:txBody>
                  <a:tcPr/>
                </a:tc>
                <a:extLst>
                  <a:ext uri="{0D108BD9-81ED-4DB2-BD59-A6C34878D82A}">
                    <a16:rowId xmlns:a16="http://schemas.microsoft.com/office/drawing/2014/main" val="1512184754"/>
                  </a:ext>
                </a:extLst>
              </a:tr>
              <a:tr h="467151">
                <a:tc>
                  <a:txBody>
                    <a:bodyPr/>
                    <a:lstStyle/>
                    <a:p>
                      <a:pPr algn="ctr"/>
                      <a:r>
                        <a:rPr lang="en-IN" sz="1800" b="1" dirty="0">
                          <a:latin typeface="Arial" panose="020B0604020202020204" pitchFamily="34" charset="0"/>
                          <a:cs typeface="Arial" panose="020B0604020202020204" pitchFamily="34" charset="0"/>
                        </a:rPr>
                        <a:t>17</a:t>
                      </a:r>
                    </a:p>
                  </a:txBody>
                  <a:tcPr/>
                </a:tc>
                <a:tc>
                  <a:txBody>
                    <a:bodyPr/>
                    <a:lstStyle/>
                    <a:p>
                      <a:pPr algn="ctr"/>
                      <a:r>
                        <a:rPr lang="en-IN" sz="1800" b="1" dirty="0">
                          <a:latin typeface="Arial" panose="020B0604020202020204" pitchFamily="34" charset="0"/>
                          <a:cs typeface="Arial" panose="020B0604020202020204" pitchFamily="34" charset="0"/>
                        </a:rPr>
                        <a:t>Cyber security of laptop is brief</a:t>
                      </a:r>
                    </a:p>
                  </a:txBody>
                  <a:tcPr/>
                </a:tc>
                <a:tc>
                  <a:txBody>
                    <a:bodyPr/>
                    <a:lstStyle/>
                    <a:p>
                      <a:pPr algn="ctr"/>
                      <a:r>
                        <a:rPr lang="en-IN" sz="1800" b="1" dirty="0">
                          <a:latin typeface="Arial" panose="020B0604020202020204" pitchFamily="34" charset="0"/>
                          <a:cs typeface="Arial" panose="020B0604020202020204" pitchFamily="34" charset="0"/>
                        </a:rPr>
                        <a:t>Not given</a:t>
                      </a:r>
                    </a:p>
                  </a:txBody>
                  <a:tcPr/>
                </a:tc>
                <a:extLst>
                  <a:ext uri="{0D108BD9-81ED-4DB2-BD59-A6C34878D82A}">
                    <a16:rowId xmlns:a16="http://schemas.microsoft.com/office/drawing/2014/main" val="925093204"/>
                  </a:ext>
                </a:extLst>
              </a:tr>
              <a:tr h="467151">
                <a:tc>
                  <a:txBody>
                    <a:bodyPr/>
                    <a:lstStyle/>
                    <a:p>
                      <a:pPr algn="ctr"/>
                      <a:r>
                        <a:rPr lang="en-IN" sz="1800" b="1" dirty="0">
                          <a:latin typeface="Arial" panose="020B0604020202020204" pitchFamily="34" charset="0"/>
                          <a:cs typeface="Arial" panose="020B0604020202020204" pitchFamily="34" charset="0"/>
                        </a:rPr>
                        <a:t>18</a:t>
                      </a:r>
                    </a:p>
                  </a:txBody>
                  <a:tcPr/>
                </a:tc>
                <a:tc>
                  <a:txBody>
                    <a:bodyPr/>
                    <a:lstStyle/>
                    <a:p>
                      <a:pPr algn="ctr"/>
                      <a:r>
                        <a:rPr lang="en-IN" sz="1800" b="1" dirty="0">
                          <a:latin typeface="Arial" panose="020B0604020202020204" pitchFamily="34" charset="0"/>
                          <a:cs typeface="Arial" panose="020B0604020202020204" pitchFamily="34" charset="0"/>
                        </a:rPr>
                        <a:t>Airgap violation not mentioned 1.5m</a:t>
                      </a:r>
                    </a:p>
                  </a:txBody>
                  <a:tcPr/>
                </a:tc>
                <a:tc>
                  <a:txBody>
                    <a:bodyPr/>
                    <a:lstStyle/>
                    <a:p>
                      <a:pPr algn="ctr"/>
                      <a:r>
                        <a:rPr lang="en-IN" sz="1800" b="1" dirty="0">
                          <a:latin typeface="Arial" panose="020B0604020202020204" pitchFamily="34" charset="0"/>
                          <a:cs typeface="Arial" panose="020B0604020202020204" pitchFamily="34" charset="0"/>
                        </a:rPr>
                        <a:t>Mentioned 1.5m</a:t>
                      </a:r>
                    </a:p>
                  </a:txBody>
                  <a:tcPr/>
                </a:tc>
                <a:extLst>
                  <a:ext uri="{0D108BD9-81ED-4DB2-BD59-A6C34878D82A}">
                    <a16:rowId xmlns:a16="http://schemas.microsoft.com/office/drawing/2014/main" val="2013545525"/>
                  </a:ext>
                </a:extLst>
              </a:tr>
              <a:tr h="467151">
                <a:tc>
                  <a:txBody>
                    <a:bodyPr/>
                    <a:lstStyle/>
                    <a:p>
                      <a:pPr algn="ctr"/>
                      <a:r>
                        <a:rPr lang="en-IN" sz="1800" b="1" dirty="0">
                          <a:latin typeface="Arial" panose="020B0604020202020204" pitchFamily="34" charset="0"/>
                          <a:cs typeface="Arial" panose="020B0604020202020204" pitchFamily="34" charset="0"/>
                        </a:rPr>
                        <a:t>19</a:t>
                      </a:r>
                    </a:p>
                  </a:txBody>
                  <a:tcPr/>
                </a:tc>
                <a:tc>
                  <a:txBody>
                    <a:bodyPr/>
                    <a:lstStyle/>
                    <a:p>
                      <a:pPr algn="ctr"/>
                      <a:r>
                        <a:rPr lang="en-IN" sz="1800" b="1" dirty="0">
                          <a:latin typeface="Arial" panose="020B0604020202020204" pitchFamily="34" charset="0"/>
                          <a:cs typeface="Arial" panose="020B0604020202020204" pitchFamily="34" charset="0"/>
                        </a:rPr>
                        <a:t>Cyber awareness in Roll Coll, SS, FWC</a:t>
                      </a:r>
                    </a:p>
                  </a:txBody>
                  <a:tcPr/>
                </a:tc>
                <a:tc>
                  <a:txBody>
                    <a:bodyPr/>
                    <a:lstStyle/>
                    <a:p>
                      <a:pPr algn="ctr"/>
                      <a:r>
                        <a:rPr lang="en-IN" sz="1800" b="1" dirty="0">
                          <a:latin typeface="Arial" panose="020B0604020202020204" pitchFamily="34" charset="0"/>
                          <a:cs typeface="Arial" panose="020B0604020202020204" pitchFamily="34" charset="0"/>
                        </a:rPr>
                        <a:t> </a:t>
                      </a:r>
                    </a:p>
                  </a:txBody>
                  <a:tcPr/>
                </a:tc>
                <a:extLst>
                  <a:ext uri="{0D108BD9-81ED-4DB2-BD59-A6C34878D82A}">
                    <a16:rowId xmlns:a16="http://schemas.microsoft.com/office/drawing/2014/main" val="200839514"/>
                  </a:ext>
                </a:extLst>
              </a:tr>
              <a:tr h="667812">
                <a:tc>
                  <a:txBody>
                    <a:bodyPr/>
                    <a:lstStyle/>
                    <a:p>
                      <a:pPr algn="ctr"/>
                      <a:r>
                        <a:rPr lang="en-IN" sz="1800" b="1" dirty="0">
                          <a:latin typeface="Arial" panose="020B0604020202020204" pitchFamily="34" charset="0"/>
                          <a:cs typeface="Arial" panose="020B0604020202020204" pitchFamily="34" charset="0"/>
                        </a:rPr>
                        <a:t>20</a:t>
                      </a:r>
                    </a:p>
                  </a:txBody>
                  <a:tcPr/>
                </a:tc>
                <a:tc>
                  <a:txBody>
                    <a:bodyPr/>
                    <a:lstStyle/>
                    <a:p>
                      <a:pPr algn="ctr"/>
                      <a:r>
                        <a:rPr lang="en-IN" sz="1800" b="1" dirty="0">
                          <a:latin typeface="Arial" panose="020B0604020202020204" pitchFamily="34" charset="0"/>
                          <a:cs typeface="Arial" panose="020B0604020202020204" pitchFamily="34" charset="0"/>
                        </a:rPr>
                        <a:t>Smart devices and public </a:t>
                      </a:r>
                      <a:r>
                        <a:rPr lang="en-IN" sz="1800" b="1" dirty="0" err="1">
                          <a:latin typeface="Arial" panose="020B0604020202020204" pitchFamily="34" charset="0"/>
                          <a:cs typeface="Arial" panose="020B0604020202020204" pitchFamily="34" charset="0"/>
                        </a:rPr>
                        <a:t>wifi</a:t>
                      </a:r>
                      <a:endParaRPr lang="en-IN" sz="1800" b="1" dirty="0">
                        <a:latin typeface="Arial" panose="020B0604020202020204" pitchFamily="34" charset="0"/>
                        <a:cs typeface="Arial" panose="020B0604020202020204" pitchFamily="34" charset="0"/>
                      </a:endParaRPr>
                    </a:p>
                  </a:txBody>
                  <a:tcPr/>
                </a:tc>
                <a:tc>
                  <a:txBody>
                    <a:bodyPr/>
                    <a:lstStyle/>
                    <a:p>
                      <a:pPr algn="ctr"/>
                      <a:r>
                        <a:rPr lang="en-IN" sz="1800" b="1" dirty="0">
                          <a:latin typeface="Arial" panose="020B0604020202020204" pitchFamily="34" charset="0"/>
                          <a:cs typeface="Arial" panose="020B0604020202020204" pitchFamily="34" charset="0"/>
                        </a:rPr>
                        <a:t>Not before</a:t>
                      </a:r>
                    </a:p>
                  </a:txBody>
                  <a:tcPr/>
                </a:tc>
                <a:extLst>
                  <a:ext uri="{0D108BD9-81ED-4DB2-BD59-A6C34878D82A}">
                    <a16:rowId xmlns:a16="http://schemas.microsoft.com/office/drawing/2014/main" val="3849429921"/>
                  </a:ext>
                </a:extLst>
              </a:tr>
              <a:tr h="632914">
                <a:tc>
                  <a:txBody>
                    <a:bodyPr/>
                    <a:lstStyle/>
                    <a:p>
                      <a:pPr algn="ctr"/>
                      <a:r>
                        <a:rPr lang="en-IN" sz="1800" b="1" dirty="0">
                          <a:latin typeface="Arial" panose="020B0604020202020204" pitchFamily="34" charset="0"/>
                          <a:cs typeface="Arial" panose="020B0604020202020204" pitchFamily="34" charset="0"/>
                        </a:rPr>
                        <a:t>21</a:t>
                      </a:r>
                    </a:p>
                  </a:txBody>
                  <a:tcPr/>
                </a:tc>
                <a:tc>
                  <a:txBody>
                    <a:bodyPr/>
                    <a:lstStyle/>
                    <a:p>
                      <a:pPr algn="ctr"/>
                      <a:r>
                        <a:rPr lang="en-IN" sz="1800" b="1" dirty="0">
                          <a:latin typeface="Arial" panose="020B0604020202020204" pitchFamily="34" charset="0"/>
                          <a:cs typeface="Arial" panose="020B0604020202020204" pitchFamily="34" charset="0"/>
                        </a:rPr>
                        <a:t>PW policy A-N-</a:t>
                      </a:r>
                      <a:r>
                        <a:rPr lang="en-IN" sz="1800" b="1" dirty="0" err="1">
                          <a:latin typeface="Arial" panose="020B0604020202020204" pitchFamily="34" charset="0"/>
                          <a:cs typeface="Arial" panose="020B0604020202020204" pitchFamily="34" charset="0"/>
                        </a:rPr>
                        <a:t>Spl</a:t>
                      </a:r>
                      <a:r>
                        <a:rPr lang="en-IN" sz="1800" b="1" dirty="0">
                          <a:latin typeface="Arial" panose="020B0604020202020204" pitchFamily="34" charset="0"/>
                          <a:cs typeface="Arial" panose="020B0604020202020204" pitchFamily="34" charset="0"/>
                        </a:rPr>
                        <a:t> 8 characters- user not write PW- quarterly change</a:t>
                      </a:r>
                    </a:p>
                  </a:txBody>
                  <a:tcPr/>
                </a:tc>
                <a:tc>
                  <a:txBody>
                    <a:bodyPr/>
                    <a:lstStyle/>
                    <a:p>
                      <a:pPr algn="ctr"/>
                      <a:r>
                        <a:rPr lang="en-IN" sz="1800" b="1" dirty="0">
                          <a:latin typeface="Arial" panose="020B0604020202020204" pitchFamily="34" charset="0"/>
                          <a:cs typeface="Arial" panose="020B0604020202020204" pitchFamily="34" charset="0"/>
                        </a:rPr>
                        <a:t>PW policy 10 characters monthly</a:t>
                      </a:r>
                    </a:p>
                  </a:txBody>
                  <a:tcPr/>
                </a:tc>
                <a:extLst>
                  <a:ext uri="{0D108BD9-81ED-4DB2-BD59-A6C34878D82A}">
                    <a16:rowId xmlns:a16="http://schemas.microsoft.com/office/drawing/2014/main" val="3134722534"/>
                  </a:ext>
                </a:extLst>
              </a:tr>
            </a:tbl>
          </a:graphicData>
        </a:graphic>
      </p:graphicFrame>
      <p:grpSp>
        <p:nvGrpSpPr>
          <p:cNvPr id="2" name="Group 1">
            <a:extLst>
              <a:ext uri="{FF2B5EF4-FFF2-40B4-BE49-F238E27FC236}">
                <a16:creationId xmlns:a16="http://schemas.microsoft.com/office/drawing/2014/main" id="{C6FA9A31-029B-5D61-6A3A-19256B88F8CB}"/>
              </a:ext>
            </a:extLst>
          </p:cNvPr>
          <p:cNvGrpSpPr/>
          <p:nvPr/>
        </p:nvGrpSpPr>
        <p:grpSpPr>
          <a:xfrm>
            <a:off x="-10160" y="6354"/>
            <a:ext cx="9144000" cy="938525"/>
            <a:chOff x="0" y="39305"/>
            <a:chExt cx="9144000" cy="1091874"/>
          </a:xfrm>
          <a:solidFill>
            <a:srgbClr val="C00000"/>
          </a:solidFill>
        </p:grpSpPr>
        <p:sp>
          <p:nvSpPr>
            <p:cNvPr id="3" name="Rounded Rectangle 13">
              <a:extLst>
                <a:ext uri="{FF2B5EF4-FFF2-40B4-BE49-F238E27FC236}">
                  <a16:creationId xmlns:a16="http://schemas.microsoft.com/office/drawing/2014/main" id="{7760FBA4-80A7-DF17-0B56-4B68A700A99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MAJOR DIFFERENCE BETWEEN</a:t>
              </a:r>
            </a:p>
            <a:p>
              <a:pPr algn="ctr"/>
              <a:r>
                <a:rPr lang="en-US" sz="2800" b="1" u="sng" dirty="0">
                  <a:solidFill>
                    <a:schemeClr val="bg1"/>
                  </a:solidFill>
                  <a:latin typeface="Arial" panose="020B0604020202020204" pitchFamily="34" charset="0"/>
                  <a:cs typeface="Arial" panose="020B0604020202020204" pitchFamily="34" charset="0"/>
                </a:rPr>
                <a:t>ACSP 2023 &amp; ACSP 2017</a:t>
              </a:r>
              <a:endParaRPr lang="en-IN" sz="2800" b="1" u="sng" dirty="0">
                <a:solidFill>
                  <a:schemeClr val="bg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1E819280-26DF-C46C-2050-468CD235B23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D9DA9191-6FAC-9634-7AAE-E1AEE6CAF74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40178953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442516"/>
          </a:xfrm>
          <a:prstGeom prst="rect">
            <a:avLst/>
          </a:prstGeom>
          <a:noFill/>
        </p:spPr>
        <p:txBody>
          <a:bodyPr wrap="square" rtlCol="0">
            <a:spAutoFit/>
          </a:bodyPr>
          <a:lstStyle/>
          <a:p>
            <a:pPr>
              <a:lnSpc>
                <a:spcPct val="150000"/>
              </a:lnSpc>
            </a:pPr>
            <a:r>
              <a:rPr lang="en-US" b="1" u="sng" dirty="0">
                <a:solidFill>
                  <a:srgbClr val="FF0000"/>
                </a:solidFill>
                <a:latin typeface="Arial" panose="020B0604020202020204" pitchFamily="34" charset="0"/>
                <a:cs typeface="Arial" panose="020B0604020202020204" pitchFamily="34" charset="0"/>
              </a:rPr>
              <a:t>PC Hardening</a:t>
            </a:r>
            <a:r>
              <a:rPr lang="en-US" b="1" dirty="0">
                <a:solidFill>
                  <a:srgbClr val="FF0000"/>
                </a:solidFill>
                <a:latin typeface="Arial" panose="020B0604020202020204" pitchFamily="34" charset="0"/>
                <a:cs typeface="Arial" panose="020B0604020202020204" pitchFamily="34" charset="0"/>
              </a:rPr>
              <a:t> : Refers to the basic settings that is to be done with the new procured computers either using it as standalone or configuring it onto a Domain. Whenever we procure a computer in IA, the first thing we need to do is Hardening of PC.</a:t>
            </a:r>
          </a:p>
          <a:p>
            <a:pPr marL="742950" lvl="1"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BIOS Hardening</a:t>
            </a:r>
          </a:p>
          <a:p>
            <a:pPr marL="1314450" lvl="2" indent="-400050">
              <a:lnSpc>
                <a:spcPct val="150000"/>
              </a:lnSpc>
              <a:buFont typeface="+mj-lt"/>
              <a:buAutoNum type="romanUcPeriod"/>
            </a:pPr>
            <a:r>
              <a:rPr lang="en-US" b="1" dirty="0">
                <a:solidFill>
                  <a:srgbClr val="0070C0"/>
                </a:solidFill>
                <a:latin typeface="Arial" panose="020B0604020202020204" pitchFamily="34" charset="0"/>
                <a:cs typeface="Arial" panose="020B0604020202020204" pitchFamily="34" charset="0"/>
              </a:rPr>
              <a:t>BIOS password should be enabled.</a:t>
            </a:r>
          </a:p>
          <a:p>
            <a:pPr marL="1314450" lvl="2" indent="-400050">
              <a:lnSpc>
                <a:spcPct val="150000"/>
              </a:lnSpc>
              <a:buFont typeface="+mj-lt"/>
              <a:buAutoNum type="romanUcPeriod"/>
            </a:pPr>
            <a:r>
              <a:rPr lang="en-IN" b="1" dirty="0">
                <a:solidFill>
                  <a:srgbClr val="FF0000"/>
                </a:solidFill>
                <a:latin typeface="Arial" panose="020B0604020202020204" pitchFamily="34" charset="0"/>
                <a:cs typeface="Arial" panose="020B0604020202020204" pitchFamily="34" charset="0"/>
              </a:rPr>
              <a:t>Card Reader should be disabled </a:t>
            </a:r>
            <a:endParaRPr lang="en-US" b="1" dirty="0">
              <a:solidFill>
                <a:srgbClr val="FF0000"/>
              </a:solidFill>
              <a:latin typeface="Arial" panose="020B0604020202020204" pitchFamily="34" charset="0"/>
              <a:cs typeface="Arial" panose="020B0604020202020204" pitchFamily="34" charset="0"/>
            </a:endParaRPr>
          </a:p>
          <a:p>
            <a:pPr marL="1314450" lvl="2" indent="-400050">
              <a:lnSpc>
                <a:spcPct val="150000"/>
              </a:lnSpc>
              <a:buFont typeface="+mj-lt"/>
              <a:buAutoNum type="romanUcPeriod"/>
            </a:pPr>
            <a:r>
              <a:rPr lang="en-US" b="1" dirty="0">
                <a:latin typeface="Arial" panose="020B0604020202020204" pitchFamily="34" charset="0"/>
                <a:cs typeface="Arial" panose="020B0604020202020204" pitchFamily="34" charset="0"/>
              </a:rPr>
              <a:t>Wireless network Adapter should be disabled.</a:t>
            </a:r>
            <a:endParaRPr lang="en-US" b="1" dirty="0">
              <a:solidFill>
                <a:srgbClr val="FF0000"/>
              </a:solidFill>
              <a:latin typeface="Arial" panose="020B0604020202020204" pitchFamily="34" charset="0"/>
              <a:cs typeface="Arial" panose="020B0604020202020204" pitchFamily="34" charset="0"/>
            </a:endParaRPr>
          </a:p>
          <a:p>
            <a:pPr marL="1314450" lvl="2" indent="-400050">
              <a:lnSpc>
                <a:spcPct val="150000"/>
              </a:lnSpc>
              <a:buFont typeface="+mj-lt"/>
              <a:buAutoNum type="romanUcPeriod"/>
            </a:pPr>
            <a:r>
              <a:rPr lang="en-US" b="1" dirty="0">
                <a:solidFill>
                  <a:srgbClr val="0070C0"/>
                </a:solidFill>
                <a:latin typeface="Arial" panose="020B0604020202020204" pitchFamily="34" charset="0"/>
                <a:cs typeface="Arial" panose="020B0604020202020204" pitchFamily="34" charset="0"/>
              </a:rPr>
              <a:t>Multiple network card should be disabled.</a:t>
            </a:r>
          </a:p>
          <a:p>
            <a:pPr marL="1314450" lvl="2" indent="-400050">
              <a:lnSpc>
                <a:spcPct val="150000"/>
              </a:lnSpc>
              <a:buFont typeface="+mj-lt"/>
              <a:buAutoNum type="romanUcPeriod"/>
            </a:pPr>
            <a:r>
              <a:rPr lang="en-US" b="1" dirty="0">
                <a:solidFill>
                  <a:srgbClr val="FF0000"/>
                </a:solidFill>
                <a:latin typeface="Arial" panose="020B0604020202020204" pitchFamily="34" charset="0"/>
                <a:cs typeface="Arial" panose="020B0604020202020204" pitchFamily="34" charset="0"/>
              </a:rPr>
              <a:t>Multiple booting should be disabled.</a:t>
            </a:r>
          </a:p>
          <a:p>
            <a:pPr marL="1314450" lvl="2" indent="-400050">
              <a:lnSpc>
                <a:spcPct val="150000"/>
              </a:lnSpc>
              <a:buFont typeface="+mj-lt"/>
              <a:buAutoNum type="romanUcPeriod"/>
            </a:pPr>
            <a:r>
              <a:rPr lang="en-US" b="1" dirty="0">
                <a:latin typeface="Arial" panose="020B0604020202020204" pitchFamily="34" charset="0"/>
                <a:cs typeface="Arial" panose="020B0604020202020204" pitchFamily="34" charset="0"/>
              </a:rPr>
              <a:t>Wake on LAN should be disabled.</a:t>
            </a:r>
            <a:endParaRPr lang="en-US" b="1" dirty="0">
              <a:solidFill>
                <a:srgbClr val="FF0000"/>
              </a:solidFill>
              <a:latin typeface="Arial" panose="020B0604020202020204" pitchFamily="34" charset="0"/>
              <a:cs typeface="Arial" panose="020B0604020202020204" pitchFamily="34" charset="0"/>
            </a:endParaRPr>
          </a:p>
          <a:p>
            <a:pPr marL="1314450" lvl="2" indent="-400050">
              <a:lnSpc>
                <a:spcPct val="150000"/>
              </a:lnSpc>
              <a:buFont typeface="+mj-lt"/>
              <a:buAutoNum type="romanUcPeriod"/>
            </a:pPr>
            <a:r>
              <a:rPr lang="en-US" b="1" dirty="0">
                <a:solidFill>
                  <a:srgbClr val="0070C0"/>
                </a:solidFill>
                <a:latin typeface="Arial" panose="020B0604020202020204" pitchFamily="34" charset="0"/>
                <a:cs typeface="Arial" panose="020B0604020202020204" pitchFamily="34" charset="0"/>
              </a:rPr>
              <a:t>Chassis Intrusion should be enable.</a:t>
            </a:r>
          </a:p>
          <a:p>
            <a:pPr marL="1314450" lvl="2" indent="-400050">
              <a:lnSpc>
                <a:spcPct val="150000"/>
              </a:lnSpc>
              <a:buFont typeface="+mj-lt"/>
              <a:buAutoNum type="romanUcPeriod"/>
            </a:pPr>
            <a:r>
              <a:rPr lang="en-US" b="1" dirty="0">
                <a:solidFill>
                  <a:srgbClr val="FF0000"/>
                </a:solidFill>
                <a:latin typeface="Arial" panose="020B0604020202020204" pitchFamily="34" charset="0"/>
                <a:cs typeface="Arial" panose="020B0604020202020204" pitchFamily="34" charset="0"/>
              </a:rPr>
              <a:t>BIOS update (to be done only when needed with no other option)</a:t>
            </a:r>
          </a:p>
        </p:txBody>
      </p:sp>
      <p:grpSp>
        <p:nvGrpSpPr>
          <p:cNvPr id="3" name="Group 2">
            <a:extLst>
              <a:ext uri="{FF2B5EF4-FFF2-40B4-BE49-F238E27FC236}">
                <a16:creationId xmlns:a16="http://schemas.microsoft.com/office/drawing/2014/main" id="{C08DCA69-4C47-D4BD-5841-4A1B8A157457}"/>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0A1CD0A5-BFF6-D942-FB03-9B19CFA381E7}"/>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HARDENING OF PC</a:t>
              </a:r>
            </a:p>
          </p:txBody>
        </p:sp>
        <p:pic>
          <p:nvPicPr>
            <p:cNvPr id="9" name="Picture 8">
              <a:extLst>
                <a:ext uri="{FF2B5EF4-FFF2-40B4-BE49-F238E27FC236}">
                  <a16:creationId xmlns:a16="http://schemas.microsoft.com/office/drawing/2014/main" id="{FBA31A92-5B6A-235D-4B09-932A3932F94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4D5A51C7-68F2-828C-D5F6-06DFEF5E93D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8935363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271443"/>
          </a:xfrm>
          <a:prstGeom prst="rect">
            <a:avLst/>
          </a:prstGeom>
          <a:noFill/>
        </p:spPr>
        <p:txBody>
          <a:bodyPr wrap="square" rtlCol="0">
            <a:spAutoFit/>
          </a:bodyPr>
          <a:lstStyle/>
          <a:p>
            <a:pPr>
              <a:lnSpc>
                <a:spcPct val="200000"/>
              </a:lnSpc>
            </a:pPr>
            <a:r>
              <a:rPr lang="en-US" sz="2800" b="1" u="sng" dirty="0">
                <a:solidFill>
                  <a:srgbClr val="FF0000"/>
                </a:solidFill>
                <a:latin typeface="Arial" panose="020B0604020202020204" pitchFamily="34" charset="0"/>
                <a:cs typeface="Arial" panose="020B0604020202020204" pitchFamily="34" charset="0"/>
              </a:rPr>
              <a:t>Genuine OS</a:t>
            </a:r>
            <a:r>
              <a:rPr lang="en-US" sz="2800" b="1" dirty="0">
                <a:solidFill>
                  <a:srgbClr val="FF0000"/>
                </a:solidFill>
                <a:latin typeface="Arial" panose="020B0604020202020204" pitchFamily="34" charset="0"/>
                <a:cs typeface="Arial" panose="020B0604020202020204" pitchFamily="34" charset="0"/>
              </a:rPr>
              <a:t> : </a:t>
            </a:r>
          </a:p>
          <a:p>
            <a:pPr marL="742950" lvl="1" indent="-285750">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Procedure to check OS specifications</a:t>
            </a:r>
            <a:endParaRPr lang="en-US" sz="2400" b="1" dirty="0">
              <a:solidFill>
                <a:srgbClr val="FF0000"/>
              </a:solidFill>
              <a:latin typeface="Arial" panose="020B0604020202020204" pitchFamily="34" charset="0"/>
              <a:cs typeface="Arial" panose="020B0604020202020204" pitchFamily="34" charset="0"/>
            </a:endParaRPr>
          </a:p>
          <a:p>
            <a:pPr marL="742950" lvl="1" indent="-285750">
              <a:lnSpc>
                <a:spcPct val="200000"/>
              </a:lnSpc>
              <a:buFont typeface="Arial" panose="020B0604020202020204" pitchFamily="34" charset="0"/>
              <a:buChar char="•"/>
            </a:pPr>
            <a:r>
              <a:rPr lang="en-US" sz="2400" b="1" dirty="0">
                <a:solidFill>
                  <a:srgbClr val="0070C0"/>
                </a:solidFill>
                <a:latin typeface="Arial" panose="020B0604020202020204" pitchFamily="34" charset="0"/>
                <a:cs typeface="Arial" panose="020B0604020202020204" pitchFamily="34" charset="0"/>
              </a:rPr>
              <a:t>Press Window+R in Keyboard</a:t>
            </a:r>
          </a:p>
          <a:p>
            <a:pPr marL="742950" lvl="1" indent="-285750">
              <a:lnSpc>
                <a:spcPct val="200000"/>
              </a:lnSpc>
              <a:buFont typeface="Arial" panose="020B0604020202020204" pitchFamily="34" charset="0"/>
              <a:buChar char="•"/>
            </a:pPr>
            <a:r>
              <a:rPr lang="en-US" sz="2400" b="1" dirty="0">
                <a:solidFill>
                  <a:srgbClr val="FF0000"/>
                </a:solidFill>
                <a:latin typeface="Arial" panose="020B0604020202020204" pitchFamily="34" charset="0"/>
                <a:cs typeface="Arial" panose="020B0604020202020204" pitchFamily="34" charset="0"/>
              </a:rPr>
              <a:t>Type CMD and press enter</a:t>
            </a:r>
          </a:p>
          <a:p>
            <a:pPr marL="742950" lvl="1" indent="-285750">
              <a:lnSpc>
                <a:spcPct val="200000"/>
              </a:lnSpc>
              <a:buFont typeface="Arial" panose="020B0604020202020204" pitchFamily="34" charset="0"/>
              <a:buChar char="•"/>
            </a:pPr>
            <a:r>
              <a:rPr lang="en-IN" sz="2400" b="1" dirty="0">
                <a:latin typeface="Arial" panose="020B0604020202020204" pitchFamily="34" charset="0"/>
                <a:cs typeface="Arial" panose="020B0604020202020204" pitchFamily="34" charset="0"/>
              </a:rPr>
              <a:t>Type </a:t>
            </a:r>
            <a:r>
              <a:rPr lang="en-IN" sz="2400" b="1" dirty="0" err="1">
                <a:latin typeface="Arial" panose="020B0604020202020204" pitchFamily="34" charset="0"/>
                <a:cs typeface="Arial" panose="020B0604020202020204" pitchFamily="34" charset="0"/>
              </a:rPr>
              <a:t>systeminfo</a:t>
            </a:r>
            <a:r>
              <a:rPr lang="en-IN" sz="2400" b="1" dirty="0">
                <a:latin typeface="Arial" panose="020B0604020202020204" pitchFamily="34" charset="0"/>
                <a:cs typeface="Arial" panose="020B0604020202020204" pitchFamily="34" charset="0"/>
              </a:rPr>
              <a:t> and press enter</a:t>
            </a:r>
            <a:endParaRPr lang="en-US" sz="2400" b="1" dirty="0">
              <a:solidFill>
                <a:srgbClr val="FF0000"/>
              </a:solidFill>
              <a:latin typeface="Arial" panose="020B0604020202020204" pitchFamily="34" charset="0"/>
              <a:cs typeface="Arial" panose="020B0604020202020204" pitchFamily="34" charset="0"/>
            </a:endParaRPr>
          </a:p>
          <a:p>
            <a:pPr marL="742950" lvl="1" indent="-285750">
              <a:lnSpc>
                <a:spcPct val="200000"/>
              </a:lnSpc>
              <a:buFont typeface="Arial" panose="020B0604020202020204" pitchFamily="34" charset="0"/>
              <a:buChar char="•"/>
            </a:pPr>
            <a:r>
              <a:rPr lang="en-IN" sz="2400" b="1" dirty="0">
                <a:solidFill>
                  <a:srgbClr val="0070C0"/>
                </a:solidFill>
                <a:latin typeface="Arial" panose="020B0604020202020204" pitchFamily="34" charset="0"/>
                <a:cs typeface="Arial" panose="020B0604020202020204" pitchFamily="34" charset="0"/>
              </a:rPr>
              <a:t>Type “slmgr.vbs -xpr” and press enter</a:t>
            </a:r>
            <a:endParaRPr lang="en-US" sz="2400" b="1" dirty="0">
              <a:solidFill>
                <a:srgbClr val="0070C0"/>
              </a:solidFill>
              <a:latin typeface="Arial" panose="020B0604020202020204" pitchFamily="34" charset="0"/>
              <a:cs typeface="Arial" panose="020B0604020202020204" pitchFamily="34" charset="0"/>
            </a:endParaRPr>
          </a:p>
          <a:p>
            <a:pPr marL="742950" lvl="1" indent="-285750">
              <a:lnSpc>
                <a:spcPct val="200000"/>
              </a:lnSpc>
              <a:buFont typeface="Arial" panose="020B0604020202020204" pitchFamily="34" charset="0"/>
              <a:buChar char="•"/>
            </a:pPr>
            <a:r>
              <a:rPr lang="en-US" sz="2400" b="1" dirty="0">
                <a:solidFill>
                  <a:srgbClr val="FF0000"/>
                </a:solidFill>
                <a:latin typeface="Arial" panose="020B0604020202020204" pitchFamily="34" charset="0"/>
                <a:cs typeface="Arial" panose="020B0604020202020204" pitchFamily="34" charset="0"/>
              </a:rPr>
              <a:t>Right click on This PC icon and click on properties.</a:t>
            </a:r>
          </a:p>
        </p:txBody>
      </p:sp>
      <p:grpSp>
        <p:nvGrpSpPr>
          <p:cNvPr id="3" name="Group 2">
            <a:extLst>
              <a:ext uri="{FF2B5EF4-FFF2-40B4-BE49-F238E27FC236}">
                <a16:creationId xmlns:a16="http://schemas.microsoft.com/office/drawing/2014/main" id="{A2EE8CA8-311D-587C-4EA8-0D483AFE2DBD}"/>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F99FBD42-1137-CF4F-721B-79B57811B556}"/>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HARDENING OF PC</a:t>
              </a:r>
            </a:p>
          </p:txBody>
        </p:sp>
        <p:pic>
          <p:nvPicPr>
            <p:cNvPr id="9" name="Picture 8">
              <a:extLst>
                <a:ext uri="{FF2B5EF4-FFF2-40B4-BE49-F238E27FC236}">
                  <a16:creationId xmlns:a16="http://schemas.microsoft.com/office/drawing/2014/main" id="{6AC16CEF-5734-DDB2-2AF0-187908E1C1D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60417560-197F-7043-9DBD-BF2875FB9B9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4670019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55039"/>
            <a:ext cx="9144000" cy="5563831"/>
          </a:xfrm>
          <a:prstGeom prst="rect">
            <a:avLst/>
          </a:prstGeom>
          <a:noFill/>
        </p:spPr>
        <p:txBody>
          <a:bodyPr wrap="square" rtlCol="0">
            <a:spAutoFit/>
          </a:bodyPr>
          <a:lstStyle/>
          <a:p>
            <a:pPr lvl="1">
              <a:lnSpc>
                <a:spcPct val="150000"/>
              </a:lnSpc>
            </a:pPr>
            <a:r>
              <a:rPr lang="en-US" sz="2400" b="1" dirty="0">
                <a:solidFill>
                  <a:srgbClr val="FF0000"/>
                </a:solidFill>
                <a:latin typeface="Arial" panose="020B0604020202020204" pitchFamily="34" charset="0"/>
                <a:cs typeface="Arial" panose="020B0604020202020204" pitchFamily="34" charset="0"/>
              </a:rPr>
              <a:t>Besides OS specifications some hardening pts are as follows: - </a:t>
            </a:r>
          </a:p>
          <a:p>
            <a:pPr marL="1257300" lvl="2" indent="-342900">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“Allow Remote Assistance connection to this Computer” should be unchecked.</a:t>
            </a:r>
            <a:endParaRPr lang="en-US" sz="2400" b="1" dirty="0">
              <a:solidFill>
                <a:srgbClr val="FF0000"/>
              </a:solidFill>
              <a:latin typeface="Arial" panose="020B0604020202020204" pitchFamily="34" charset="0"/>
              <a:cs typeface="Arial" panose="020B0604020202020204" pitchFamily="34" charset="0"/>
            </a:endParaRPr>
          </a:p>
          <a:p>
            <a:pPr marL="1257300" lvl="2" indent="-342900">
              <a:lnSpc>
                <a:spcPct val="150000"/>
              </a:lnSpc>
              <a:buFont typeface="Arial" panose="020B0604020202020204" pitchFamily="34" charset="0"/>
              <a:buChar char="•"/>
            </a:pPr>
            <a:r>
              <a:rPr lang="en-US" sz="2400" b="1" dirty="0">
                <a:solidFill>
                  <a:srgbClr val="0070C0"/>
                </a:solidFill>
                <a:latin typeface="Arial" panose="020B0604020202020204" pitchFamily="34" charset="0"/>
                <a:cs typeface="Arial" panose="020B0604020202020204" pitchFamily="34" charset="0"/>
              </a:rPr>
              <a:t>USB port should be disabled.</a:t>
            </a:r>
          </a:p>
          <a:p>
            <a:pPr marL="1257300" lvl="2" indent="-342900">
              <a:lnSpc>
                <a:spcPct val="150000"/>
              </a:lnSpc>
              <a:buFont typeface="Arial" panose="020B0604020202020204" pitchFamily="34" charset="0"/>
              <a:buChar char="•"/>
            </a:pPr>
            <a:r>
              <a:rPr lang="en-US" sz="2400" b="1" dirty="0">
                <a:solidFill>
                  <a:srgbClr val="FF0000"/>
                </a:solidFill>
                <a:latin typeface="Arial" panose="020B0604020202020204" pitchFamily="34" charset="0"/>
                <a:cs typeface="Arial" panose="020B0604020202020204" pitchFamily="34" charset="0"/>
              </a:rPr>
              <a:t>System Date &amp; Time should be correct.</a:t>
            </a:r>
          </a:p>
          <a:p>
            <a:pPr marL="1257300" lvl="2" indent="-342900">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PC/ IT eqpts should be labelled. </a:t>
            </a:r>
            <a:endParaRPr lang="en-US" sz="2400" b="1" dirty="0">
              <a:solidFill>
                <a:srgbClr val="FF0000"/>
              </a:solidFill>
              <a:latin typeface="Arial" panose="020B0604020202020204" pitchFamily="34" charset="0"/>
              <a:cs typeface="Arial" panose="020B0604020202020204" pitchFamily="34" charset="0"/>
            </a:endParaRPr>
          </a:p>
          <a:p>
            <a:pPr marL="1257300" lvl="2" indent="-342900">
              <a:lnSpc>
                <a:spcPct val="150000"/>
              </a:lnSpc>
              <a:buFont typeface="Arial" panose="020B0604020202020204" pitchFamily="34" charset="0"/>
              <a:buChar char="•"/>
            </a:pPr>
            <a:r>
              <a:rPr lang="en-IN" sz="2400" b="1" dirty="0">
                <a:solidFill>
                  <a:srgbClr val="0070C0"/>
                </a:solidFill>
                <a:latin typeface="Arial" panose="020B0604020202020204" pitchFamily="34" charset="0"/>
                <a:cs typeface="Arial" panose="020B0604020202020204" pitchFamily="34" charset="0"/>
              </a:rPr>
              <a:t>Rename administrator. </a:t>
            </a:r>
            <a:endParaRPr lang="en-US" sz="2400" b="1" dirty="0">
              <a:solidFill>
                <a:srgbClr val="0070C0"/>
              </a:solidFill>
              <a:latin typeface="Arial" panose="020B0604020202020204" pitchFamily="34" charset="0"/>
              <a:cs typeface="Arial" panose="020B0604020202020204" pitchFamily="34" charset="0"/>
            </a:endParaRPr>
          </a:p>
          <a:p>
            <a:pPr marL="1257300" lvl="2" indent="-342900">
              <a:lnSpc>
                <a:spcPct val="150000"/>
              </a:lnSpc>
              <a:buFont typeface="Arial" panose="020B0604020202020204" pitchFamily="34" charset="0"/>
              <a:buChar char="•"/>
            </a:pPr>
            <a:r>
              <a:rPr lang="en-IN" sz="2400" b="1" dirty="0">
                <a:solidFill>
                  <a:srgbClr val="FF0000"/>
                </a:solidFill>
                <a:latin typeface="Arial" panose="020B0604020202020204" pitchFamily="34" charset="0"/>
                <a:cs typeface="Arial" panose="020B0604020202020204" pitchFamily="34" charset="0"/>
              </a:rPr>
              <a:t>Create user account. </a:t>
            </a:r>
            <a:endParaRPr lang="en-US" sz="2400" b="1" dirty="0">
              <a:solidFill>
                <a:srgbClr val="FF0000"/>
              </a:solidFill>
              <a:latin typeface="Arial" panose="020B0604020202020204" pitchFamily="34" charset="0"/>
              <a:cs typeface="Arial" panose="020B0604020202020204" pitchFamily="34" charset="0"/>
            </a:endParaRPr>
          </a:p>
          <a:p>
            <a:pPr marL="1257300" lvl="2" indent="-342900">
              <a:lnSpc>
                <a:spcPct val="150000"/>
              </a:lnSpc>
              <a:buFont typeface="Arial" panose="020B0604020202020204" pitchFamily="34" charset="0"/>
              <a:buChar char="•"/>
            </a:pPr>
            <a:r>
              <a:rPr lang="en-IN" sz="2400" b="1" dirty="0">
                <a:latin typeface="Arial" panose="020B0604020202020204" pitchFamily="34" charset="0"/>
                <a:cs typeface="Arial" panose="020B0604020202020204" pitchFamily="34" charset="0"/>
              </a:rPr>
              <a:t>IPv6 should be disabled.</a:t>
            </a:r>
            <a:endParaRPr lang="en-US" sz="24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A7BB6248-6EFD-E50C-BABD-02A1E279249C}"/>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46A0E2FC-EC3E-3B0A-0286-DF80FEB4267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HARDENING OF PC</a:t>
              </a:r>
            </a:p>
          </p:txBody>
        </p:sp>
        <p:pic>
          <p:nvPicPr>
            <p:cNvPr id="9" name="Picture 8">
              <a:extLst>
                <a:ext uri="{FF2B5EF4-FFF2-40B4-BE49-F238E27FC236}">
                  <a16:creationId xmlns:a16="http://schemas.microsoft.com/office/drawing/2014/main" id="{AA3544D8-0651-2B41-0FDD-92F3EB1C6BC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A8AF3647-CC31-38CC-E20F-2A0B025383F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8480679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5975034"/>
          </a:xfrm>
          <a:prstGeom prst="rect">
            <a:avLst/>
          </a:prstGeom>
          <a:noFill/>
        </p:spPr>
        <p:txBody>
          <a:bodyPr wrap="square" rtlCol="0">
            <a:spAutoFit/>
          </a:bodyPr>
          <a:lstStyle/>
          <a:p>
            <a:pPr marL="182563" lvl="1">
              <a:lnSpc>
                <a:spcPct val="150000"/>
              </a:lnSpc>
            </a:pPr>
            <a:r>
              <a:rPr lang="en-IN" sz="2400" b="1" u="sng" dirty="0">
                <a:solidFill>
                  <a:srgbClr val="FF0000"/>
                </a:solidFill>
                <a:latin typeface="Arial" panose="020B0604020202020204" pitchFamily="34" charset="0"/>
                <a:cs typeface="Arial" panose="020B0604020202020204" pitchFamily="34" charset="0"/>
              </a:rPr>
              <a:t>According to the CS policy following services should be disabled</a:t>
            </a:r>
            <a:r>
              <a:rPr lang="en-IN" sz="2400" b="1" dirty="0">
                <a:solidFill>
                  <a:srgbClr val="FF0000"/>
                </a:solidFill>
                <a:latin typeface="Arial" panose="020B0604020202020204" pitchFamily="34" charset="0"/>
                <a:cs typeface="Arial" panose="020B0604020202020204" pitchFamily="34" charset="0"/>
              </a:rPr>
              <a:t> :</a:t>
            </a:r>
            <a:endParaRPr lang="en-IN" sz="2400" b="1" u="sng" dirty="0">
              <a:solidFill>
                <a:srgbClr val="FF000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Bluetooth support services</a:t>
            </a:r>
            <a:endParaRPr lang="en-IN" sz="2000" b="1" dirty="0">
              <a:solidFill>
                <a:srgbClr val="FF000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Computer browser (Standalone)</a:t>
            </a:r>
          </a:p>
          <a:p>
            <a:pPr marL="982663" lvl="2" indent="-342900">
              <a:lnSpc>
                <a:spcPct val="12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Fax</a:t>
            </a:r>
          </a:p>
          <a:p>
            <a:pPr marL="982663" lvl="2" indent="-342900">
              <a:lnSpc>
                <a:spcPct val="12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IP helper </a:t>
            </a:r>
            <a:endParaRPr lang="en-IN" sz="2000" b="1" dirty="0">
              <a:solidFill>
                <a:srgbClr val="FF000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Remote desktop sharing </a:t>
            </a:r>
          </a:p>
          <a:p>
            <a:pPr marL="982663" lvl="2" indent="-342900">
              <a:lnSpc>
                <a:spcPct val="12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Routing &amp; remote</a:t>
            </a:r>
          </a:p>
          <a:p>
            <a:pPr marL="982663" lvl="2" indent="-342900">
              <a:lnSpc>
                <a:spcPct val="120000"/>
              </a:lnSpc>
              <a:buFont typeface="Arial" panose="020B0604020202020204" pitchFamily="34" charset="0"/>
              <a:buChar char="•"/>
            </a:pPr>
            <a:r>
              <a:rPr lang="en-IN" sz="2000" b="1" dirty="0">
                <a:solidFill>
                  <a:schemeClr val="tx1">
                    <a:lumMod val="95000"/>
                    <a:lumOff val="5000"/>
                  </a:schemeClr>
                </a:solidFill>
                <a:latin typeface="Arial" panose="020B0604020202020204" pitchFamily="34" charset="0"/>
                <a:cs typeface="Arial" panose="020B0604020202020204" pitchFamily="34" charset="0"/>
              </a:rPr>
              <a:t>SNMP</a:t>
            </a:r>
          </a:p>
          <a:p>
            <a:pPr marL="982663" lvl="2" indent="-342900">
              <a:lnSpc>
                <a:spcPct val="12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Wireless</a:t>
            </a:r>
          </a:p>
          <a:p>
            <a:pPr marL="982663" lvl="2" indent="-342900">
              <a:lnSpc>
                <a:spcPct val="12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Bluetooth support</a:t>
            </a:r>
          </a:p>
          <a:p>
            <a:pPr marL="982663" lvl="2" indent="-342900">
              <a:lnSpc>
                <a:spcPct val="12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FTP publishing (win XP) </a:t>
            </a:r>
            <a:endParaRPr lang="en-IN" sz="2000" b="1" dirty="0">
              <a:solidFill>
                <a:srgbClr val="00206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IN" sz="2000" b="1" dirty="0">
                <a:solidFill>
                  <a:srgbClr val="0070C0"/>
                </a:solidFill>
                <a:latin typeface="Arial" panose="020B0604020202020204" pitchFamily="34" charset="0"/>
                <a:cs typeface="Arial" panose="020B0604020202020204" pitchFamily="34" charset="0"/>
              </a:rPr>
              <a:t>Remote registery </a:t>
            </a:r>
          </a:p>
          <a:p>
            <a:pPr marL="982663" lvl="2" indent="-342900">
              <a:lnSpc>
                <a:spcPct val="120000"/>
              </a:lnSpc>
              <a:buFont typeface="Arial" panose="020B0604020202020204" pitchFamily="34" charset="0"/>
              <a:buChar char="•"/>
            </a:pPr>
            <a:r>
              <a:rPr lang="en-IN" sz="2000" b="1" dirty="0">
                <a:solidFill>
                  <a:srgbClr val="FF0000"/>
                </a:solidFill>
                <a:latin typeface="Arial" panose="020B0604020202020204" pitchFamily="34" charset="0"/>
                <a:cs typeface="Arial" panose="020B0604020202020204" pitchFamily="34" charset="0"/>
              </a:rPr>
              <a:t>SSDP</a:t>
            </a:r>
          </a:p>
          <a:p>
            <a:pPr marL="982663" lvl="2" indent="-342900">
              <a:lnSpc>
                <a:spcPct val="12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Telnet </a:t>
            </a:r>
            <a:endParaRPr lang="en-US" sz="24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35A5F0E9-A898-C94F-A5F3-3C91B18D89C3}"/>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686EEE39-C738-35C0-7A1A-E723BD3AC14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HARDENING OF PC</a:t>
              </a:r>
            </a:p>
          </p:txBody>
        </p:sp>
        <p:pic>
          <p:nvPicPr>
            <p:cNvPr id="9" name="Picture 8">
              <a:extLst>
                <a:ext uri="{FF2B5EF4-FFF2-40B4-BE49-F238E27FC236}">
                  <a16:creationId xmlns:a16="http://schemas.microsoft.com/office/drawing/2014/main" id="{854F2B66-5235-8D92-61D0-B81F41B7C88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FD3A5E2F-0D76-C70C-FE77-056B1E4BF20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3142457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5563831"/>
          </a:xfrm>
          <a:prstGeom prst="rect">
            <a:avLst/>
          </a:prstGeom>
          <a:noFill/>
        </p:spPr>
        <p:txBody>
          <a:bodyPr wrap="square" rtlCol="0">
            <a:spAutoFit/>
          </a:bodyPr>
          <a:lstStyle/>
          <a:p>
            <a:pPr marL="182563" lvl="1">
              <a:lnSpc>
                <a:spcPct val="150000"/>
              </a:lnSpc>
            </a:pPr>
            <a:r>
              <a:rPr lang="en-US" sz="2400" b="1" u="sng" dirty="0">
                <a:solidFill>
                  <a:srgbClr val="FF0000"/>
                </a:solidFill>
                <a:latin typeface="Arial" panose="020B0604020202020204" pitchFamily="34" charset="0"/>
                <a:cs typeface="Arial" panose="020B0604020202020204" pitchFamily="34" charset="0"/>
              </a:rPr>
              <a:t>According to CS policy following policy should be implemented</a:t>
            </a:r>
            <a:r>
              <a:rPr lang="en-US" sz="2400" b="1" dirty="0">
                <a:solidFill>
                  <a:srgbClr val="FF0000"/>
                </a:solidFill>
                <a:latin typeface="Arial" panose="020B0604020202020204" pitchFamily="34" charset="0"/>
                <a:cs typeface="Arial" panose="020B0604020202020204" pitchFamily="34" charset="0"/>
              </a:rPr>
              <a:t> :</a:t>
            </a:r>
            <a:r>
              <a:rPr lang="en-IN" sz="2000" b="1" dirty="0">
                <a:solidFill>
                  <a:srgbClr val="FF0000"/>
                </a:solidFill>
                <a:latin typeface="Arial" panose="020B0604020202020204" pitchFamily="34" charset="0"/>
                <a:cs typeface="Arial" panose="020B0604020202020204" pitchFamily="34" charset="0"/>
              </a:rPr>
              <a:t> </a:t>
            </a:r>
          </a:p>
          <a:p>
            <a:pPr marL="982663" lvl="2" indent="-342900">
              <a:lnSpc>
                <a:spcPct val="150000"/>
              </a:lnSpc>
              <a:buFont typeface="Arial" panose="020B0604020202020204" pitchFamily="34" charset="0"/>
              <a:buChar char="•"/>
            </a:pPr>
            <a:r>
              <a:rPr lang="en-IN" sz="2400" b="1" dirty="0">
                <a:latin typeface="Arial" panose="020B0604020202020204" pitchFamily="34" charset="0"/>
                <a:cs typeface="Arial" panose="020B0604020202020204" pitchFamily="34" charset="0"/>
              </a:rPr>
              <a:t>Password policy </a:t>
            </a:r>
          </a:p>
          <a:p>
            <a:pPr marL="982663" lvl="2" indent="-342900">
              <a:lnSpc>
                <a:spcPct val="150000"/>
              </a:lnSpc>
              <a:buFont typeface="Arial" panose="020B0604020202020204" pitchFamily="34" charset="0"/>
              <a:buChar char="•"/>
            </a:pPr>
            <a:r>
              <a:rPr lang="en-IN" sz="2400" b="1" dirty="0">
                <a:solidFill>
                  <a:srgbClr val="0070C0"/>
                </a:solidFill>
                <a:latin typeface="Arial" panose="020B0604020202020204" pitchFamily="34" charset="0"/>
                <a:cs typeface="Arial" panose="020B0604020202020204" pitchFamily="34" charset="0"/>
              </a:rPr>
              <a:t>Acct logout policy </a:t>
            </a:r>
          </a:p>
          <a:p>
            <a:pPr marL="982663" lvl="2" indent="-342900">
              <a:lnSpc>
                <a:spcPct val="150000"/>
              </a:lnSpc>
              <a:buFont typeface="Arial" panose="020B0604020202020204" pitchFamily="34" charset="0"/>
              <a:buChar char="•"/>
            </a:pPr>
            <a:r>
              <a:rPr lang="en-IN" sz="2400" b="1" dirty="0">
                <a:solidFill>
                  <a:srgbClr val="FF0000"/>
                </a:solidFill>
                <a:latin typeface="Arial" panose="020B0604020202020204" pitchFamily="34" charset="0"/>
                <a:cs typeface="Arial" panose="020B0604020202020204" pitchFamily="34" charset="0"/>
              </a:rPr>
              <a:t>Audit policy </a:t>
            </a:r>
          </a:p>
          <a:p>
            <a:pPr marL="982663" lvl="2" indent="-342900">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No of user account present </a:t>
            </a:r>
            <a:endParaRPr lang="en-IN" sz="2400" b="1" dirty="0">
              <a:latin typeface="Arial" panose="020B0604020202020204" pitchFamily="34" charset="0"/>
              <a:cs typeface="Arial" panose="020B0604020202020204" pitchFamily="34" charset="0"/>
            </a:endParaRPr>
          </a:p>
          <a:p>
            <a:pPr marL="982663" lvl="2" indent="-342900">
              <a:lnSpc>
                <a:spcPct val="150000"/>
              </a:lnSpc>
              <a:buFont typeface="Arial" panose="020B0604020202020204" pitchFamily="34" charset="0"/>
              <a:buChar char="•"/>
            </a:pPr>
            <a:r>
              <a:rPr lang="en-IN" sz="2400" b="1" dirty="0">
                <a:solidFill>
                  <a:srgbClr val="0070C0"/>
                </a:solidFill>
                <a:latin typeface="Arial" panose="020B0604020202020204" pitchFamily="34" charset="0"/>
                <a:cs typeface="Arial" panose="020B0604020202020204" pitchFamily="34" charset="0"/>
              </a:rPr>
              <a:t>Guest account enable </a:t>
            </a:r>
          </a:p>
          <a:p>
            <a:pPr marL="982663" lvl="2" indent="-342900">
              <a:lnSpc>
                <a:spcPct val="150000"/>
              </a:lnSpc>
              <a:buFont typeface="Arial" panose="020B0604020202020204" pitchFamily="34" charset="0"/>
              <a:buChar char="•"/>
            </a:pPr>
            <a:r>
              <a:rPr lang="en-US" sz="2400" b="1" dirty="0">
                <a:solidFill>
                  <a:srgbClr val="FF0000"/>
                </a:solidFill>
                <a:latin typeface="Arial" panose="020B0604020202020204" pitchFamily="34" charset="0"/>
                <a:cs typeface="Arial" panose="020B0604020202020204" pitchFamily="34" charset="0"/>
              </a:rPr>
              <a:t>Display last user name enable </a:t>
            </a:r>
            <a:endParaRPr lang="en-IN" sz="2400" b="1" dirty="0">
              <a:solidFill>
                <a:srgbClr val="FF0000"/>
              </a:solidFill>
              <a:latin typeface="Arial" panose="020B0604020202020204" pitchFamily="34" charset="0"/>
              <a:cs typeface="Arial" panose="020B0604020202020204" pitchFamily="34" charset="0"/>
            </a:endParaRPr>
          </a:p>
          <a:p>
            <a:pPr marL="982663" lvl="2" indent="-342900">
              <a:lnSpc>
                <a:spcPct val="150000"/>
              </a:lnSpc>
              <a:buFont typeface="Arial" panose="020B0604020202020204" pitchFamily="34" charset="0"/>
              <a:buChar char="•"/>
            </a:pPr>
            <a:r>
              <a:rPr lang="en-IN" sz="2400" b="1" dirty="0">
                <a:latin typeface="Arial" panose="020B0604020202020204" pitchFamily="34" charset="0"/>
                <a:cs typeface="Arial" panose="020B0604020202020204" pitchFamily="34" charset="0"/>
              </a:rPr>
              <a:t>Clear virtual memory enable </a:t>
            </a:r>
          </a:p>
          <a:p>
            <a:pPr marL="982663" lvl="2" indent="-342900">
              <a:lnSpc>
                <a:spcPct val="150000"/>
              </a:lnSpc>
              <a:buFont typeface="Arial" panose="020B0604020202020204" pitchFamily="34" charset="0"/>
              <a:buChar char="•"/>
            </a:pPr>
            <a:r>
              <a:rPr lang="en-US" sz="2400" b="1" dirty="0">
                <a:solidFill>
                  <a:srgbClr val="0070C0"/>
                </a:solidFill>
                <a:latin typeface="Arial" panose="020B0604020202020204" pitchFamily="34" charset="0"/>
                <a:cs typeface="Arial" panose="020B0604020202020204" pitchFamily="34" charset="0"/>
              </a:rPr>
              <a:t>Usage of admin account on daily work </a:t>
            </a:r>
          </a:p>
        </p:txBody>
      </p:sp>
      <p:grpSp>
        <p:nvGrpSpPr>
          <p:cNvPr id="3" name="Group 2">
            <a:extLst>
              <a:ext uri="{FF2B5EF4-FFF2-40B4-BE49-F238E27FC236}">
                <a16:creationId xmlns:a16="http://schemas.microsoft.com/office/drawing/2014/main" id="{BC0B26A4-48F8-3E28-937F-A6E567093B11}"/>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86353FCD-E99F-0195-51D0-669EA45FAB3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HARDENING OF PC</a:t>
              </a:r>
            </a:p>
          </p:txBody>
        </p:sp>
        <p:pic>
          <p:nvPicPr>
            <p:cNvPr id="9" name="Picture 8">
              <a:extLst>
                <a:ext uri="{FF2B5EF4-FFF2-40B4-BE49-F238E27FC236}">
                  <a16:creationId xmlns:a16="http://schemas.microsoft.com/office/drawing/2014/main" id="{0E62070D-4CBA-B3A3-DBDD-D4E641B5A5A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3D1B7323-5050-C186-33D5-ED0E04FACB7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1522675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6036974"/>
          </a:xfrm>
          <a:prstGeom prst="rect">
            <a:avLst/>
          </a:prstGeom>
          <a:noFill/>
        </p:spPr>
        <p:txBody>
          <a:bodyPr wrap="square" rtlCol="0">
            <a:spAutoFit/>
          </a:bodyPr>
          <a:lstStyle/>
          <a:p>
            <a:pPr marL="182563" lvl="1">
              <a:lnSpc>
                <a:spcPct val="150000"/>
              </a:lnSpc>
            </a:pPr>
            <a:r>
              <a:rPr lang="en-US" sz="2000" b="1" u="sng" dirty="0">
                <a:solidFill>
                  <a:srgbClr val="FF0000"/>
                </a:solidFill>
                <a:latin typeface="Arial" panose="020B0604020202020204" pitchFamily="34" charset="0"/>
                <a:cs typeface="Arial" panose="020B0604020202020204" pitchFamily="34" charset="0"/>
              </a:rPr>
              <a:t>TYPES OF AUDIT AND RESPONSIBILITIES</a:t>
            </a:r>
            <a:r>
              <a:rPr lang="en-US" sz="2000" b="1" dirty="0">
                <a:solidFill>
                  <a:srgbClr val="FF0000"/>
                </a:solidFill>
                <a:latin typeface="Arial" panose="020B0604020202020204" pitchFamily="34" charset="0"/>
                <a:cs typeface="Arial" panose="020B0604020202020204" pitchFamily="34" charset="0"/>
              </a:rPr>
              <a:t> : The various types of cyber security audit to be undertaken are as under </a:t>
            </a:r>
            <a:endParaRPr lang="en-IN" b="1" dirty="0">
              <a:solidFill>
                <a:srgbClr val="FF0000"/>
              </a:solidFill>
              <a:latin typeface="Arial" panose="020B0604020202020204" pitchFamily="34" charset="0"/>
              <a:cs typeface="Arial" panose="020B0604020202020204" pitchFamily="34" charset="0"/>
            </a:endParaRPr>
          </a:p>
          <a:p>
            <a:pPr marL="1096963" lvl="2" indent="-457200">
              <a:lnSpc>
                <a:spcPct val="150000"/>
              </a:lnSpc>
              <a:buFont typeface="+mj-lt"/>
              <a:buAutoNum type="alphaLcParenR"/>
            </a:pPr>
            <a:r>
              <a:rPr lang="en-US" sz="2000" b="1" u="sng" dirty="0">
                <a:latin typeface="Arial" panose="020B0604020202020204" pitchFamily="34" charset="0"/>
                <a:cs typeface="Arial" panose="020B0604020202020204" pitchFamily="34" charset="0"/>
              </a:rPr>
              <a:t>INTERNAL AUDIT</a:t>
            </a:r>
            <a:r>
              <a:rPr lang="en-US" sz="2000" b="1" dirty="0">
                <a:latin typeface="Arial" panose="020B0604020202020204" pitchFamily="34" charset="0"/>
                <a:cs typeface="Arial" panose="020B0604020202020204" pitchFamily="34" charset="0"/>
              </a:rPr>
              <a:t> : The scope of the Internal Audit will include all IT Assets and Network peripheral assets. These will be conducted by concerned formations/ units/ establishments and will be performed by organization's internal audit staff i.e. within the existing resources of the organization thrice a year. Out of the three internal audits, one audit may be conducted as a surprise audit by the formation/ unit/ establishment. Actions taken on the observations raised during the previous cyber security audit to be verified and endorsed in the instant report. Detailed mechanism for Network Audit will be promulgated by CERT Army.</a:t>
            </a:r>
            <a:endParaRPr lang="en-US" sz="2000" b="1"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9D320442-C5B4-D1DF-02F2-37DC4D25FD58}"/>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68939ED4-EC18-4AA6-85F2-FC137BA87FF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&amp; RESPONSIBILITIES</a:t>
              </a:r>
            </a:p>
          </p:txBody>
        </p:sp>
        <p:pic>
          <p:nvPicPr>
            <p:cNvPr id="9" name="Picture 8">
              <a:extLst>
                <a:ext uri="{FF2B5EF4-FFF2-40B4-BE49-F238E27FC236}">
                  <a16:creationId xmlns:a16="http://schemas.microsoft.com/office/drawing/2014/main" id="{B281E52B-4D6B-CAB0-2A48-CC5498D528E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089E9871-57C6-792F-4403-2E70E56D601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9622777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67793"/>
            <a:ext cx="9144000" cy="5582619"/>
          </a:xfrm>
          <a:prstGeom prst="rect">
            <a:avLst/>
          </a:prstGeom>
          <a:noFill/>
        </p:spPr>
        <p:txBody>
          <a:bodyPr wrap="square" rtlCol="0">
            <a:spAutoFit/>
          </a:bodyPr>
          <a:lstStyle/>
          <a:p>
            <a:pPr marL="182563" lvl="1">
              <a:lnSpc>
                <a:spcPct val="150000"/>
              </a:lnSpc>
            </a:pPr>
            <a:r>
              <a:rPr lang="en-US" sz="2000" b="1" dirty="0">
                <a:solidFill>
                  <a:srgbClr val="FF0000"/>
                </a:solidFill>
                <a:latin typeface="Arial" panose="020B0604020202020204" pitchFamily="34" charset="0"/>
                <a:cs typeface="Arial" panose="020B0604020202020204" pitchFamily="34" charset="0"/>
              </a:rPr>
              <a:t>(b) </a:t>
            </a:r>
            <a:r>
              <a:rPr lang="en-US" sz="2000" b="1" u="sng" dirty="0">
                <a:solidFill>
                  <a:srgbClr val="FF0000"/>
                </a:solidFill>
                <a:latin typeface="Arial" panose="020B0604020202020204" pitchFamily="34" charset="0"/>
                <a:cs typeface="Arial" panose="020B0604020202020204" pitchFamily="34" charset="0"/>
              </a:rPr>
              <a:t>EXTERNAL AUDIT</a:t>
            </a:r>
            <a:r>
              <a:rPr lang="en-US" sz="2000" b="1" dirty="0">
                <a:solidFill>
                  <a:srgbClr val="FF0000"/>
                </a:solidFill>
                <a:latin typeface="Arial" panose="020B0604020202020204" pitchFamily="34" charset="0"/>
                <a:cs typeface="Arial" panose="020B0604020202020204" pitchFamily="34" charset="0"/>
              </a:rPr>
              <a:t> : External Audits at all levels shall be conducted by one up formation/ establishment unless specified. Reports of these audits will be mandatorily included as part of Annual Administrative Inspection by formation Commanders.</a:t>
            </a:r>
          </a:p>
          <a:p>
            <a:pPr marL="182563" lvl="1">
              <a:lnSpc>
                <a:spcPct val="150000"/>
              </a:lnSpc>
            </a:pPr>
            <a:r>
              <a:rPr lang="en-US" sz="2000" b="1" dirty="0">
                <a:latin typeface="Arial" panose="020B0604020202020204" pitchFamily="34" charset="0"/>
                <a:cs typeface="Arial" panose="020B0604020202020204" pitchFamily="34" charset="0"/>
              </a:rPr>
              <a:t>Details of external cyber security audits are as under: -</a:t>
            </a:r>
          </a:p>
          <a:p>
            <a:pPr marL="639763" lvl="1" indent="-457200">
              <a:lnSpc>
                <a:spcPct val="150000"/>
              </a:lnSpc>
              <a:buAutoNum type="alphaLcParenBoth"/>
            </a:pPr>
            <a:r>
              <a:rPr lang="en-US" sz="2000" b="1" dirty="0">
                <a:solidFill>
                  <a:srgbClr val="0070C0"/>
                </a:solidFill>
                <a:latin typeface="Arial" panose="020B0604020202020204" pitchFamily="34" charset="0"/>
                <a:cs typeface="Arial" panose="020B0604020202020204" pitchFamily="34" charset="0"/>
              </a:rPr>
              <a:t>Army Cyber Group. Army Cyber Group audit team will conduct external cyber security audit of all Command HQ, Directorates/ Branches under Integrated HQ of MoD (Army) and ADN connected IT assets of Tri-Services organizations / establishments at Delhi.</a:t>
            </a:r>
          </a:p>
          <a:p>
            <a:pPr marL="639763" lvl="1" indent="-457200">
              <a:lnSpc>
                <a:spcPct val="150000"/>
              </a:lnSpc>
              <a:buAutoNum type="alphaLcParenBoth"/>
            </a:pPr>
            <a:r>
              <a:rPr lang="en-US" sz="2000" b="1" dirty="0">
                <a:solidFill>
                  <a:srgbClr val="FF0000"/>
                </a:solidFill>
                <a:latin typeface="Arial" panose="020B0604020202020204" pitchFamily="34" charset="0"/>
                <a:cs typeface="Arial" panose="020B0604020202020204" pitchFamily="34" charset="0"/>
              </a:rPr>
              <a:t>‘One Up’ Formation. The one-up higher formation is responsible for conducting audit of all IT assets of immediate subordinate formations/ units/ establishments on its Order of Battle.</a:t>
            </a:r>
          </a:p>
        </p:txBody>
      </p:sp>
      <p:grpSp>
        <p:nvGrpSpPr>
          <p:cNvPr id="3" name="Group 2">
            <a:extLst>
              <a:ext uri="{FF2B5EF4-FFF2-40B4-BE49-F238E27FC236}">
                <a16:creationId xmlns:a16="http://schemas.microsoft.com/office/drawing/2014/main" id="{15BFAE56-EE31-7DDF-4CD1-7073AA4F65A6}"/>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0FD0C4C5-71C4-69EC-2DD2-94F5C1020F3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&amp; RESPONSIBILITIES</a:t>
              </a:r>
            </a:p>
          </p:txBody>
        </p:sp>
        <p:pic>
          <p:nvPicPr>
            <p:cNvPr id="9" name="Picture 8">
              <a:extLst>
                <a:ext uri="{FF2B5EF4-FFF2-40B4-BE49-F238E27FC236}">
                  <a16:creationId xmlns:a16="http://schemas.microsoft.com/office/drawing/2014/main" id="{11A99A49-CD83-9BE4-FBD4-63E198419D2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0A517C72-1C50-396F-7A3A-E71AC822BED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4997147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47473"/>
            <a:ext cx="9144000" cy="5864939"/>
          </a:xfrm>
          <a:prstGeom prst="rect">
            <a:avLst/>
          </a:prstGeom>
          <a:noFill/>
        </p:spPr>
        <p:txBody>
          <a:bodyPr wrap="square" rtlCol="0">
            <a:spAutoFit/>
          </a:bodyPr>
          <a:lstStyle/>
          <a:p>
            <a:pPr marL="639763" lvl="1" indent="-457200">
              <a:lnSpc>
                <a:spcPct val="140000"/>
              </a:lnSpc>
              <a:buAutoNum type="alphaLcParenBoth" startAt="3"/>
            </a:pPr>
            <a:r>
              <a:rPr lang="en-US" b="1" dirty="0">
                <a:solidFill>
                  <a:srgbClr val="FF0000"/>
                </a:solidFill>
                <a:latin typeface="Arial" panose="020B0604020202020204" pitchFamily="34" charset="0"/>
                <a:cs typeface="Arial" panose="020B0604020202020204" pitchFamily="34" charset="0"/>
              </a:rPr>
              <a:t>TRAINING ESTABLISHMENTS : External cyber security audit of all Category A and Category B training establishments would be conducted under the aegis of the Command HQ on which the establishment is administratively dependent.</a:t>
            </a:r>
          </a:p>
          <a:p>
            <a:pPr marL="639763" lvl="1" indent="-457200">
              <a:lnSpc>
                <a:spcPct val="140000"/>
              </a:lnSpc>
              <a:buAutoNum type="alphaLcParenBoth" startAt="3"/>
            </a:pPr>
            <a:r>
              <a:rPr lang="en-US" b="1" dirty="0">
                <a:latin typeface="Arial" panose="020B0604020202020204" pitchFamily="34" charset="0"/>
                <a:cs typeface="Arial" panose="020B0604020202020204" pitchFamily="34" charset="0"/>
              </a:rPr>
              <a:t>Tri-Services Formation/ Establishments : ADN connected IT assets (including endpoint devices and network elements) of all Tri- Services formation and establishments will be audited by the formation responsible for extending the ADN connection. Audit of these establishments at Delhi will be undertaken by ACG.</a:t>
            </a:r>
          </a:p>
          <a:p>
            <a:pPr marL="639763" lvl="1" indent="-457200">
              <a:lnSpc>
                <a:spcPct val="140000"/>
              </a:lnSpc>
              <a:buAutoNum type="alphaLcParenBoth" startAt="3"/>
            </a:pPr>
            <a:r>
              <a:rPr lang="en-US" b="1" dirty="0">
                <a:solidFill>
                  <a:srgbClr val="0070C0"/>
                </a:solidFill>
                <a:latin typeface="Arial" panose="020B0604020202020204" pitchFamily="34" charset="0"/>
                <a:cs typeface="Arial" panose="020B0604020202020204" pitchFamily="34" charset="0"/>
              </a:rPr>
              <a:t>SPECIAL AUDIT : Special cases/ circumstances will mandate conduct of special audit, wherein audit team from the higher formation will be tasked to conduct external audit. Special audit of any subordinate unit/ formation/ establishment can be ordered by the higher formation/ unit </a:t>
            </a:r>
            <a:r>
              <a:rPr lang="en-US" b="1" dirty="0" err="1">
                <a:solidFill>
                  <a:srgbClr val="0070C0"/>
                </a:solidFill>
                <a:latin typeface="Arial" panose="020B0604020202020204" pitchFamily="34" charset="0"/>
                <a:cs typeface="Arial" panose="020B0604020202020204" pitchFamily="34" charset="0"/>
              </a:rPr>
              <a:t>Cdr</a:t>
            </a:r>
            <a:r>
              <a:rPr lang="en-US" b="1" dirty="0">
                <a:solidFill>
                  <a:srgbClr val="0070C0"/>
                </a:solidFill>
                <a:latin typeface="Arial" panose="020B0604020202020204" pitchFamily="34" charset="0"/>
                <a:cs typeface="Arial" panose="020B0604020202020204" pitchFamily="34" charset="0"/>
              </a:rPr>
              <a:t>/ head of the establishment. In addition, surprise audit of any unit/ formation/ establishment of Indian Army may be conducted on orders of DGMO. </a:t>
            </a:r>
          </a:p>
        </p:txBody>
      </p:sp>
      <p:grpSp>
        <p:nvGrpSpPr>
          <p:cNvPr id="3" name="Group 2">
            <a:extLst>
              <a:ext uri="{FF2B5EF4-FFF2-40B4-BE49-F238E27FC236}">
                <a16:creationId xmlns:a16="http://schemas.microsoft.com/office/drawing/2014/main" id="{5A872DDF-56DB-CBC1-13DB-C834CA8A2405}"/>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AEEDDC08-72DB-328E-4681-E54FDFE5A1A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&amp; RESPONSIBILITIES</a:t>
              </a:r>
            </a:p>
          </p:txBody>
        </p:sp>
        <p:pic>
          <p:nvPicPr>
            <p:cNvPr id="9" name="Picture 8">
              <a:extLst>
                <a:ext uri="{FF2B5EF4-FFF2-40B4-BE49-F238E27FC236}">
                  <a16:creationId xmlns:a16="http://schemas.microsoft.com/office/drawing/2014/main" id="{179E30A3-FC70-D8B8-7F5F-D7A6A955730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5E53CEE8-97D9-8638-35DC-729355D5E1D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2055966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5730736"/>
          </a:xfrm>
          <a:prstGeom prst="rect">
            <a:avLst/>
          </a:prstGeom>
          <a:noFill/>
        </p:spPr>
        <p:txBody>
          <a:bodyPr wrap="square" rtlCol="0">
            <a:spAutoFit/>
          </a:bodyPr>
          <a:lstStyle/>
          <a:p>
            <a:pPr marL="182563" lvl="1">
              <a:lnSpc>
                <a:spcPct val="140000"/>
              </a:lnSpc>
            </a:pPr>
            <a:r>
              <a:rPr lang="en-US" sz="2400" b="1" u="sng" dirty="0">
                <a:solidFill>
                  <a:srgbClr val="FF0000"/>
                </a:solidFill>
                <a:latin typeface="Arial" panose="020B0604020202020204" pitchFamily="34" charset="0"/>
                <a:cs typeface="Arial" panose="020B0604020202020204" pitchFamily="34" charset="0"/>
              </a:rPr>
              <a:t>CONDUCT</a:t>
            </a:r>
            <a:endParaRPr lang="en-US" b="1" u="sng" dirty="0">
              <a:solidFill>
                <a:srgbClr val="FF0000"/>
              </a:solidFill>
              <a:latin typeface="Arial" panose="020B0604020202020204" pitchFamily="34" charset="0"/>
              <a:cs typeface="Arial" panose="020B0604020202020204" pitchFamily="34" charset="0"/>
            </a:endParaRPr>
          </a:p>
          <a:p>
            <a:pPr marL="468313" lvl="1" indent="-285750">
              <a:lnSpc>
                <a:spcPct val="14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Remote audit will be undertaken centrally by the authorized auditing agency at all levels. Majority of the parameters will be checked online through the Remote Audit Tool developed by ACG. One internal audit to be conducted physically.(i.e. third audit) in the year shall be undertaken physically covering all assets deployed on ADN/ Exclusive network.</a:t>
            </a:r>
          </a:p>
          <a:p>
            <a:pPr marL="468313" lvl="1" indent="-285750">
              <a:lnSpc>
                <a:spcPct val="14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Computers of certain critical appointments (as promulgated by one-up higher formation (CISO) shall be audited physically by the external audit teams. However, in case violations indicating serious gaps in security controls (such as USB violations, air-gap violations </a:t>
            </a:r>
            <a:r>
              <a:rPr lang="en-US" sz="2000" b="1" dirty="0" err="1">
                <a:solidFill>
                  <a:srgbClr val="0070C0"/>
                </a:solidFill>
                <a:latin typeface="Arial" panose="020B0604020202020204" pitchFamily="34" charset="0"/>
                <a:cs typeface="Arial" panose="020B0604020202020204" pitchFamily="34" charset="0"/>
              </a:rPr>
              <a:t>etc</a:t>
            </a:r>
            <a:r>
              <a:rPr lang="en-US" sz="2000" b="1" dirty="0">
                <a:solidFill>
                  <a:srgbClr val="0070C0"/>
                </a:solidFill>
                <a:latin typeface="Arial" panose="020B0604020202020204" pitchFamily="34" charset="0"/>
                <a:cs typeface="Arial" panose="020B0604020202020204" pitchFamily="34" charset="0"/>
              </a:rPr>
              <a:t>) are observed, the external audit team may undertake physical audit of all computers of the affected formation/ branch/ directorate/unit.</a:t>
            </a:r>
            <a:endParaRPr lang="en-US" sz="2000" b="1" u="sng"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8AE64807-67DC-A492-1B0F-BADD6753A507}"/>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83F6AE88-E6CF-4227-36A3-6EEF9C960B2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&amp; RESPONSIBILITIES</a:t>
              </a:r>
            </a:p>
          </p:txBody>
        </p:sp>
        <p:pic>
          <p:nvPicPr>
            <p:cNvPr id="9" name="Picture 8">
              <a:extLst>
                <a:ext uri="{FF2B5EF4-FFF2-40B4-BE49-F238E27FC236}">
                  <a16:creationId xmlns:a16="http://schemas.microsoft.com/office/drawing/2014/main" id="{F1B65E6A-C07A-593F-C09D-7415C7CE423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7B4CFA29-F123-171B-58B2-594274DBDC4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9186870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67793"/>
            <a:ext cx="9144000" cy="5644559"/>
          </a:xfrm>
          <a:prstGeom prst="rect">
            <a:avLst/>
          </a:prstGeom>
          <a:noFill/>
        </p:spPr>
        <p:txBody>
          <a:bodyPr wrap="square" rtlCol="0">
            <a:spAutoFit/>
          </a:bodyPr>
          <a:lstStyle/>
          <a:p>
            <a:pPr marL="182563" lvl="1">
              <a:lnSpc>
                <a:spcPct val="140000"/>
              </a:lnSpc>
            </a:pPr>
            <a:r>
              <a:rPr lang="en-US" sz="2000" b="1" u="sng" dirty="0">
                <a:solidFill>
                  <a:srgbClr val="FF0000"/>
                </a:solidFill>
                <a:latin typeface="Arial" panose="020B0604020202020204" pitchFamily="34" charset="0"/>
                <a:cs typeface="Arial" panose="020B0604020202020204" pitchFamily="34" charset="0"/>
              </a:rPr>
              <a:t>COMPOSITION OF THE TEAM</a:t>
            </a:r>
            <a:r>
              <a:rPr lang="en-US" sz="2000" b="1" dirty="0">
                <a:solidFill>
                  <a:srgbClr val="FF0000"/>
                </a:solidFill>
                <a:latin typeface="Arial" panose="020B0604020202020204" pitchFamily="34" charset="0"/>
                <a:cs typeface="Arial" panose="020B0604020202020204" pitchFamily="34" charset="0"/>
              </a:rPr>
              <a:t> : Internal cyber security audits of Command HQ and External cyber security audits of Corps HQ/ other establishments directly under Command will be conducted by dedicated section of Command Cyber Operations and Support Wing (CCOSW).</a:t>
            </a:r>
          </a:p>
          <a:p>
            <a:pPr marL="182563" lvl="1">
              <a:lnSpc>
                <a:spcPct val="140000"/>
              </a:lnSpc>
            </a:pPr>
            <a:r>
              <a:rPr lang="en-US" sz="2000" b="1" dirty="0">
                <a:latin typeface="Arial" panose="020B0604020202020204" pitchFamily="34" charset="0"/>
                <a:cs typeface="Arial" panose="020B0604020202020204" pitchFamily="34" charset="0"/>
              </a:rPr>
              <a:t> 	Till such time dedicated cyber organizations are raised at lower formation levels, cyber security audits would be conducted by formation Signals as part of all arms team detailed under the aegis of GS (IW)/ GS (Ops) at respective level. Data bank of qualified manpower may be identified and maintained at formation level and detailed for the said task.</a:t>
            </a:r>
          </a:p>
          <a:p>
            <a:pPr marL="182563" lvl="1">
              <a:lnSpc>
                <a:spcPct val="140000"/>
              </a:lnSpc>
            </a:pPr>
            <a:endParaRPr lang="en-US" sz="2000" b="1" dirty="0">
              <a:latin typeface="Arial" panose="020B0604020202020204" pitchFamily="34" charset="0"/>
              <a:cs typeface="Arial" panose="020B0604020202020204" pitchFamily="34" charset="0"/>
            </a:endParaRPr>
          </a:p>
          <a:p>
            <a:pPr marL="182563" lvl="1">
              <a:lnSpc>
                <a:spcPct val="140000"/>
              </a:lnSpc>
            </a:pPr>
            <a:r>
              <a:rPr lang="en-US" sz="2000" b="1" dirty="0">
                <a:solidFill>
                  <a:srgbClr val="FF0000"/>
                </a:solidFill>
                <a:latin typeface="Arial" panose="020B0604020202020204" pitchFamily="34" charset="0"/>
                <a:cs typeface="Arial" panose="020B0604020202020204" pitchFamily="34" charset="0"/>
              </a:rPr>
              <a:t>Note: Cdrs at all levels shall ensure conduct of Internal &amp; External cyber audit.</a:t>
            </a:r>
          </a:p>
        </p:txBody>
      </p:sp>
      <p:grpSp>
        <p:nvGrpSpPr>
          <p:cNvPr id="3" name="Group 2">
            <a:extLst>
              <a:ext uri="{FF2B5EF4-FFF2-40B4-BE49-F238E27FC236}">
                <a16:creationId xmlns:a16="http://schemas.microsoft.com/office/drawing/2014/main" id="{F0959AC4-F3D1-D491-E02F-092D3025DB24}"/>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8D62C30D-C8A9-FC8E-F9D5-1D33F38AEF3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&amp; RESPONSIBILITIES</a:t>
              </a:r>
            </a:p>
          </p:txBody>
        </p:sp>
        <p:pic>
          <p:nvPicPr>
            <p:cNvPr id="9" name="Picture 8">
              <a:extLst>
                <a:ext uri="{FF2B5EF4-FFF2-40B4-BE49-F238E27FC236}">
                  <a16:creationId xmlns:a16="http://schemas.microsoft.com/office/drawing/2014/main" id="{C7A8023C-26FA-3616-049F-0B5CC2800DE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DDD8495A-C7D5-D74F-438D-49795319560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0304393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5880008"/>
          </a:xfrm>
          <a:prstGeom prst="rect">
            <a:avLst/>
          </a:prstGeom>
          <a:noFill/>
        </p:spPr>
        <p:txBody>
          <a:bodyPr wrap="square" rtlCol="0">
            <a:spAutoFit/>
          </a:bodyPr>
          <a:lstStyle/>
          <a:p>
            <a:pPr marL="182563" lvl="1">
              <a:lnSpc>
                <a:spcPct val="170000"/>
              </a:lnSpc>
            </a:pPr>
            <a:r>
              <a:rPr lang="en-US" sz="2400" b="1" u="sng" dirty="0">
                <a:solidFill>
                  <a:srgbClr val="FF0000"/>
                </a:solidFill>
                <a:latin typeface="Arial" panose="020B0604020202020204" pitchFamily="34" charset="0"/>
                <a:cs typeface="Arial" panose="020B0604020202020204" pitchFamily="34" charset="0"/>
              </a:rPr>
              <a:t>List of documents prior to CS audit</a:t>
            </a:r>
          </a:p>
          <a:p>
            <a:pPr marL="182563" lvl="1">
              <a:lnSpc>
                <a:spcPct val="170000"/>
              </a:lnSpc>
            </a:pPr>
            <a:r>
              <a:rPr lang="en-US" sz="2000" b="1" dirty="0">
                <a:latin typeface="Arial" panose="020B0604020202020204" pitchFamily="34" charset="0"/>
                <a:cs typeface="Arial" panose="020B0604020202020204" pitchFamily="34" charset="0"/>
              </a:rPr>
              <a:t>(a) ACSP 2023 &amp; policies/ advisories/ SOPs </a:t>
            </a:r>
          </a:p>
          <a:p>
            <a:pPr marL="182563" lvl="1">
              <a:lnSpc>
                <a:spcPct val="170000"/>
              </a:lnSpc>
            </a:pPr>
            <a:r>
              <a:rPr lang="en-US" sz="2000" b="1" dirty="0">
                <a:solidFill>
                  <a:srgbClr val="0070C0"/>
                </a:solidFill>
                <a:latin typeface="Arial" panose="020B0604020202020204" pitchFamily="34" charset="0"/>
                <a:cs typeface="Arial" panose="020B0604020202020204" pitchFamily="34" charset="0"/>
              </a:rPr>
              <a:t>(b) Inventory list highlighting BER/ faulty devices &amp; action taken </a:t>
            </a:r>
          </a:p>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(c) Part-I orders: ownership </a:t>
            </a:r>
          </a:p>
          <a:p>
            <a:pPr marL="182563" lvl="1">
              <a:lnSpc>
                <a:spcPct val="170000"/>
              </a:lnSpc>
            </a:pPr>
            <a:r>
              <a:rPr lang="en-US" sz="2000" b="1" dirty="0">
                <a:latin typeface="Arial" panose="020B0604020202020204" pitchFamily="34" charset="0"/>
                <a:cs typeface="Arial" panose="020B0604020202020204" pitchFamily="34" charset="0"/>
              </a:rPr>
              <a:t>(d) Record of removal storage </a:t>
            </a:r>
          </a:p>
          <a:p>
            <a:pPr marL="182563" lvl="1">
              <a:lnSpc>
                <a:spcPct val="170000"/>
              </a:lnSpc>
            </a:pPr>
            <a:r>
              <a:rPr lang="en-US" sz="2000" b="1" dirty="0">
                <a:solidFill>
                  <a:srgbClr val="0070C0"/>
                </a:solidFill>
                <a:latin typeface="Arial" panose="020B0604020202020204" pitchFamily="34" charset="0"/>
                <a:cs typeface="Arial" panose="020B0604020202020204" pitchFamily="34" charset="0"/>
              </a:rPr>
              <a:t>(e) Record of destruction of storage media </a:t>
            </a:r>
          </a:p>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(f) Record of sanction for formatting/ upgradation </a:t>
            </a:r>
          </a:p>
          <a:p>
            <a:pPr marL="182563" lvl="1">
              <a:lnSpc>
                <a:spcPct val="170000"/>
              </a:lnSpc>
            </a:pPr>
            <a:r>
              <a:rPr lang="en-US" sz="2000" b="1" dirty="0">
                <a:latin typeface="Arial" panose="020B0604020202020204" pitchFamily="34" charset="0"/>
                <a:cs typeface="Arial" panose="020B0604020202020204" pitchFamily="34" charset="0"/>
              </a:rPr>
              <a:t>(g) Password record register </a:t>
            </a:r>
          </a:p>
          <a:p>
            <a:pPr marL="182563" lvl="1">
              <a:lnSpc>
                <a:spcPct val="170000"/>
              </a:lnSpc>
            </a:pPr>
            <a:r>
              <a:rPr lang="en-US" sz="2000" b="1" dirty="0">
                <a:solidFill>
                  <a:srgbClr val="0070C0"/>
                </a:solidFill>
                <a:latin typeface="Arial" panose="020B0604020202020204" pitchFamily="34" charset="0"/>
                <a:cs typeface="Arial" panose="020B0604020202020204" pitchFamily="34" charset="0"/>
              </a:rPr>
              <a:t>(h) Printout record register </a:t>
            </a:r>
          </a:p>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(j) Permission to use external CD/ DVD writer </a:t>
            </a:r>
          </a:p>
          <a:p>
            <a:pPr marL="182563" lvl="1">
              <a:lnSpc>
                <a:spcPct val="170000"/>
              </a:lnSpc>
            </a:pPr>
            <a:r>
              <a:rPr lang="en-US" sz="2000" b="1" dirty="0">
                <a:latin typeface="Arial" panose="020B0604020202020204" pitchFamily="34" charset="0"/>
                <a:cs typeface="Arial" panose="020B0604020202020204" pitchFamily="34" charset="0"/>
              </a:rPr>
              <a:t>(k) H/T over certificate</a:t>
            </a:r>
            <a:endParaRPr lang="en-US" sz="2000"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DD6FBCA7-E665-AD49-F3F5-8A38D99F1123}"/>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6CF8A505-9B58-B56B-B33E-0DDA6FCDEC2A}"/>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8B847590-5568-BAA5-AFF3-61AAC635974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0BA05722-F982-7139-3B82-64C4776DB6F5}"/>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6217463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7226081"/>
          </a:xfrm>
          <a:prstGeom prst="rect">
            <a:avLst/>
          </a:prstGeom>
          <a:noFill/>
        </p:spPr>
        <p:txBody>
          <a:bodyPr wrap="square" rtlCol="0">
            <a:spAutoFit/>
          </a:bodyPr>
          <a:lstStyle/>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CS AUDIT OF PCS</a:t>
            </a:r>
          </a:p>
          <a:p>
            <a:pPr marL="182563" lvl="1">
              <a:lnSpc>
                <a:spcPct val="170000"/>
              </a:lnSpc>
            </a:pPr>
            <a:r>
              <a:rPr lang="en-US" b="1" dirty="0">
                <a:latin typeface="Arial" panose="020B0604020202020204" pitchFamily="34" charset="0"/>
                <a:cs typeface="Arial" panose="020B0604020202020204" pitchFamily="34" charset="0"/>
              </a:rPr>
              <a:t>     </a:t>
            </a:r>
            <a:r>
              <a:rPr lang="en-US" b="1" u="sng" dirty="0">
                <a:latin typeface="Arial" panose="020B0604020202020204" pitchFamily="34" charset="0"/>
                <a:cs typeface="Arial" panose="020B0604020202020204" pitchFamily="34" charset="0"/>
              </a:rPr>
              <a:t>WIN PASSWORD </a:t>
            </a:r>
          </a:p>
          <a:p>
            <a:pPr marL="1096963" lvl="2" indent="-457200">
              <a:lnSpc>
                <a:spcPct val="170000"/>
              </a:lnSpc>
              <a:buAutoNum type="alphaLcParenBoth"/>
            </a:pPr>
            <a:r>
              <a:rPr lang="en-US" b="1" dirty="0">
                <a:solidFill>
                  <a:srgbClr val="0070C0"/>
                </a:solidFill>
                <a:latin typeface="Arial" panose="020B0604020202020204" pitchFamily="34" charset="0"/>
                <a:cs typeface="Arial" panose="020B0604020202020204" pitchFamily="34" charset="0"/>
              </a:rPr>
              <a:t>Windows must have complex PW to (alphanumeric)of min 8 characters </a:t>
            </a:r>
          </a:p>
          <a:p>
            <a:pPr marL="182563" lvl="1">
              <a:lnSpc>
                <a:spcPct val="170000"/>
              </a:lnSpc>
            </a:pPr>
            <a:r>
              <a:rPr lang="en-US" b="1" dirty="0">
                <a:solidFill>
                  <a:srgbClr val="FF0000"/>
                </a:solidFill>
                <a:latin typeface="Arial" panose="020B0604020202020204" pitchFamily="34" charset="0"/>
                <a:cs typeface="Arial" panose="020B0604020202020204" pitchFamily="34" charset="0"/>
              </a:rPr>
              <a:t>     </a:t>
            </a:r>
            <a:r>
              <a:rPr lang="en-US" b="1" u="sng" dirty="0">
                <a:solidFill>
                  <a:srgbClr val="FF0000"/>
                </a:solidFill>
                <a:latin typeface="Arial" panose="020B0604020202020204" pitchFamily="34" charset="0"/>
                <a:cs typeface="Arial" panose="020B0604020202020204" pitchFamily="34" charset="0"/>
              </a:rPr>
              <a:t>SCREEN SAVER PASSWORD</a:t>
            </a:r>
            <a:r>
              <a:rPr lang="en-US" b="1" dirty="0">
                <a:solidFill>
                  <a:srgbClr val="FF0000"/>
                </a:solidFill>
                <a:latin typeface="Arial" panose="020B0604020202020204" pitchFamily="34" charset="0"/>
                <a:cs typeface="Arial" panose="020B0604020202020204" pitchFamily="34" charset="0"/>
              </a:rPr>
              <a:t> </a:t>
            </a:r>
          </a:p>
          <a:p>
            <a:pPr marL="182563" lvl="1"/>
            <a:r>
              <a:rPr lang="en-US" b="1" dirty="0">
                <a:latin typeface="Arial" panose="020B0604020202020204" pitchFamily="34" charset="0"/>
                <a:cs typeface="Arial" panose="020B0604020202020204" pitchFamily="34" charset="0"/>
              </a:rPr>
              <a:t>       (a) There must be screen saver PW to ensure screen gets lock within one 	minute.</a:t>
            </a:r>
          </a:p>
          <a:p>
            <a:pPr marL="182563" lvl="1">
              <a:lnSpc>
                <a:spcPct val="170000"/>
              </a:lnSpc>
            </a:pPr>
            <a:r>
              <a:rPr lang="en-US" b="1" dirty="0">
                <a:solidFill>
                  <a:srgbClr val="0070C0"/>
                </a:solidFill>
                <a:latin typeface="Arial" panose="020B0604020202020204" pitchFamily="34" charset="0"/>
                <a:cs typeface="Arial" panose="020B0604020202020204" pitchFamily="34" charset="0"/>
              </a:rPr>
              <a:t>     </a:t>
            </a:r>
            <a:r>
              <a:rPr lang="en-US" b="1" u="sng" dirty="0">
                <a:solidFill>
                  <a:srgbClr val="0070C0"/>
                </a:solidFill>
                <a:latin typeface="Arial" panose="020B0604020202020204" pitchFamily="34" charset="0"/>
                <a:cs typeface="Arial" panose="020B0604020202020204" pitchFamily="34" charset="0"/>
              </a:rPr>
              <a:t>OS INSTALLED DATE </a:t>
            </a:r>
          </a:p>
          <a:p>
            <a:pPr marL="182563" lvl="1">
              <a:lnSpc>
                <a:spcPct val="170000"/>
              </a:lnSpc>
            </a:pPr>
            <a:r>
              <a:rPr lang="en-US" b="1"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(a) Only activated OS to be installed in PC.</a:t>
            </a:r>
          </a:p>
          <a:p>
            <a:pPr marL="182563" lvl="1">
              <a:lnSpc>
                <a:spcPct val="170000"/>
              </a:lnSpc>
            </a:pPr>
            <a:r>
              <a:rPr lang="en-US" b="1" dirty="0">
                <a:latin typeface="Arial" panose="020B0604020202020204" pitchFamily="34" charset="0"/>
                <a:cs typeface="Arial" panose="020B0604020202020204" pitchFamily="34" charset="0"/>
              </a:rPr>
              <a:t>	(b) No PC should be running in win 10 and lower version.</a:t>
            </a:r>
          </a:p>
          <a:p>
            <a:pPr marL="182563" lvl="1">
              <a:lnSpc>
                <a:spcPct val="170000"/>
              </a:lnSpc>
            </a:pPr>
            <a:r>
              <a:rPr lang="en-US" b="1" dirty="0">
                <a:solidFill>
                  <a:srgbClr val="0070C0"/>
                </a:solidFill>
                <a:latin typeface="Arial" panose="020B0604020202020204" pitchFamily="34" charset="0"/>
                <a:cs typeface="Arial" panose="020B0604020202020204" pitchFamily="34" charset="0"/>
              </a:rPr>
              <a:t>     </a:t>
            </a:r>
            <a:r>
              <a:rPr lang="en-US" b="1" u="sng" dirty="0">
                <a:solidFill>
                  <a:srgbClr val="0070C0"/>
                </a:solidFill>
                <a:latin typeface="Arial" panose="020B0604020202020204" pitchFamily="34" charset="0"/>
                <a:cs typeface="Arial" panose="020B0604020202020204" pitchFamily="34" charset="0"/>
              </a:rPr>
              <a:t>PW POLICY</a:t>
            </a:r>
          </a:p>
          <a:p>
            <a:pPr marL="182563" lvl="1">
              <a:lnSpc>
                <a:spcPct val="150000"/>
              </a:lnSpc>
            </a:pPr>
            <a:r>
              <a:rPr lang="en-US" b="1"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(a) Password policy must be implemented.</a:t>
            </a:r>
          </a:p>
          <a:p>
            <a:pPr marL="182563" lvl="1">
              <a:lnSpc>
                <a:spcPct val="150000"/>
              </a:lnSpc>
            </a:pPr>
            <a:r>
              <a:rPr lang="en-US" b="1" dirty="0">
                <a:solidFill>
                  <a:srgbClr val="FF0000"/>
                </a:solidFill>
                <a:latin typeface="Arial" panose="020B0604020202020204" pitchFamily="34" charset="0"/>
                <a:cs typeface="Arial" panose="020B0604020202020204" pitchFamily="34" charset="0"/>
              </a:rPr>
              <a:t>	</a:t>
            </a:r>
            <a:r>
              <a:rPr lang="en-US" b="1" dirty="0">
                <a:solidFill>
                  <a:schemeClr val="tx1">
                    <a:lumMod val="85000"/>
                    <a:lumOff val="15000"/>
                  </a:schemeClr>
                </a:solidFill>
                <a:latin typeface="Arial" panose="020B0604020202020204" pitchFamily="34" charset="0"/>
                <a:cs typeface="Arial" panose="020B0604020202020204" pitchFamily="34" charset="0"/>
              </a:rPr>
              <a:t>(b) PW should not repeat</a:t>
            </a:r>
          </a:p>
          <a:p>
            <a:pPr marL="182563" lvl="1">
              <a:lnSpc>
                <a:spcPct val="150000"/>
              </a:lnSpc>
            </a:pPr>
            <a:r>
              <a:rPr lang="en-US" b="1" dirty="0">
                <a:solidFill>
                  <a:srgbClr val="0070C0"/>
                </a:solidFill>
                <a:latin typeface="Arial" panose="020B0604020202020204" pitchFamily="34" charset="0"/>
                <a:cs typeface="Arial" panose="020B0604020202020204" pitchFamily="34" charset="0"/>
              </a:rPr>
              <a:t>	(c) PW should be complex</a:t>
            </a:r>
          </a:p>
          <a:p>
            <a:pPr marL="182563" lvl="1">
              <a:lnSpc>
                <a:spcPct val="150000"/>
              </a:lnSpc>
            </a:pPr>
            <a:r>
              <a:rPr lang="en-US" b="1" dirty="0">
                <a:solidFill>
                  <a:srgbClr val="FF0000"/>
                </a:solidFill>
                <a:latin typeface="Arial" panose="020B0604020202020204" pitchFamily="34" charset="0"/>
                <a:cs typeface="Arial" panose="020B0604020202020204" pitchFamily="34" charset="0"/>
              </a:rPr>
              <a:t>	(d) Three layer PW policy needs to be adhered</a:t>
            </a:r>
          </a:p>
          <a:p>
            <a:pPr marL="182563" lvl="1">
              <a:lnSpc>
                <a:spcPct val="170000"/>
              </a:lnSpc>
            </a:pPr>
            <a:endParaRPr lang="en-US" b="1" dirty="0">
              <a:solidFill>
                <a:srgbClr val="FF0000"/>
              </a:solidFill>
              <a:latin typeface="Arial" panose="020B0604020202020204" pitchFamily="34" charset="0"/>
              <a:cs typeface="Arial" panose="020B0604020202020204" pitchFamily="34" charset="0"/>
            </a:endParaRPr>
          </a:p>
          <a:p>
            <a:pPr marL="182563" lvl="1">
              <a:lnSpc>
                <a:spcPct val="170000"/>
              </a:lnSpc>
            </a:pPr>
            <a:endParaRPr lang="en-US" b="1" dirty="0">
              <a:solidFill>
                <a:srgbClr val="FF000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4568521E-E018-C684-41BC-84D3ACEB127B}"/>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C088EA18-10F4-12C5-4103-A261D08AE680}"/>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6E404135-D179-5D1B-3D3B-192E9CEC3B1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D14A1AD0-15B5-8C6D-BAD1-FDD8CB93877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8910974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6129307"/>
          </a:xfrm>
          <a:prstGeom prst="rect">
            <a:avLst/>
          </a:prstGeom>
          <a:noFill/>
        </p:spPr>
        <p:txBody>
          <a:bodyPr wrap="square" rtlCol="0">
            <a:spAutoFit/>
          </a:bodyPr>
          <a:lstStyle/>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ACCOUNT LOCKOUT POLICY</a:t>
            </a:r>
            <a:r>
              <a:rPr lang="en-US" sz="2000" b="1" dirty="0">
                <a:solidFill>
                  <a:srgbClr val="FF0000"/>
                </a:solidFill>
                <a:latin typeface="Arial" panose="020B0604020202020204" pitchFamily="34" charset="0"/>
                <a:cs typeface="Arial" panose="020B0604020202020204" pitchFamily="34" charset="0"/>
              </a:rPr>
              <a:t> </a:t>
            </a:r>
          </a:p>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(a) Account lockout policy needs to be implemented </a:t>
            </a:r>
          </a:p>
          <a:p>
            <a:pPr marL="182563" lvl="1">
              <a:lnSpc>
                <a:spcPct val="170000"/>
              </a:lnSpc>
            </a:pPr>
            <a:r>
              <a:rPr lang="en-US" sz="2000" b="1" dirty="0">
                <a:solidFill>
                  <a:srgbClr val="0070C0"/>
                </a:solidFill>
                <a:latin typeface="Arial" panose="020B0604020202020204" pitchFamily="34" charset="0"/>
                <a:cs typeface="Arial" panose="020B0604020202020204" pitchFamily="34" charset="0"/>
              </a:rPr>
              <a:t>	(b) On three invalid attempts account should get locked</a:t>
            </a:r>
          </a:p>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NO OF USER</a:t>
            </a:r>
          </a:p>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(a) There must be only user for one PC</a:t>
            </a:r>
          </a:p>
          <a:p>
            <a:pPr marL="182563" lvl="1">
              <a:lnSpc>
                <a:spcPct val="170000"/>
              </a:lnSpc>
            </a:pPr>
            <a:r>
              <a:rPr lang="en-US" sz="2000" b="1" dirty="0">
                <a:solidFill>
                  <a:srgbClr val="0070C0"/>
                </a:solidFill>
                <a:latin typeface="Arial" panose="020B0604020202020204" pitchFamily="34" charset="0"/>
                <a:cs typeface="Arial" panose="020B0604020202020204" pitchFamily="34" charset="0"/>
              </a:rPr>
              <a:t>	(b) No user should be using Admin User for daily usage </a:t>
            </a:r>
            <a:r>
              <a:rPr lang="en-US" sz="2000" b="1" dirty="0" err="1">
                <a:solidFill>
                  <a:srgbClr val="0070C0"/>
                </a:solidFill>
                <a:latin typeface="Arial" panose="020B0604020202020204" pitchFamily="34" charset="0"/>
                <a:cs typeface="Arial" panose="020B0604020202020204" pitchFamily="34" charset="0"/>
              </a:rPr>
              <a:t>wk</a:t>
            </a:r>
            <a:endParaRPr lang="en-US" sz="2000" b="1" dirty="0">
              <a:solidFill>
                <a:srgbClr val="0070C0"/>
              </a:solidFill>
              <a:latin typeface="Arial" panose="020B0604020202020204" pitchFamily="34" charset="0"/>
              <a:cs typeface="Arial" panose="020B0604020202020204" pitchFamily="34" charset="0"/>
            </a:endParaRPr>
          </a:p>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ADMINISTRATOR RENAMED</a:t>
            </a:r>
          </a:p>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	</a:t>
            </a:r>
            <a:r>
              <a:rPr lang="en-US" sz="2000" b="1" dirty="0">
                <a:solidFill>
                  <a:schemeClr val="tx1">
                    <a:lumMod val="95000"/>
                    <a:lumOff val="5000"/>
                  </a:schemeClr>
                </a:solidFill>
                <a:latin typeface="Arial" panose="020B0604020202020204" pitchFamily="34" charset="0"/>
                <a:cs typeface="Arial" panose="020B0604020202020204" pitchFamily="34" charset="0"/>
              </a:rPr>
              <a:t>(a) Administrator account name must be renamed </a:t>
            </a:r>
          </a:p>
          <a:p>
            <a:pPr marL="182563" lvl="1">
              <a:lnSpc>
                <a:spcPct val="170000"/>
              </a:lnSpc>
            </a:pPr>
            <a:r>
              <a:rPr lang="en-US" sz="2000" b="1" u="sng" dirty="0">
                <a:solidFill>
                  <a:srgbClr val="0070C0"/>
                </a:solidFill>
                <a:latin typeface="Arial" panose="020B0604020202020204" pitchFamily="34" charset="0"/>
                <a:cs typeface="Arial" panose="020B0604020202020204" pitchFamily="34" charset="0"/>
              </a:rPr>
              <a:t>Ctrl + Alt + Del </a:t>
            </a:r>
          </a:p>
          <a:p>
            <a:pPr marL="182563" lvl="1">
              <a:lnSpc>
                <a:spcPct val="150000"/>
              </a:lnSpc>
            </a:pPr>
            <a:r>
              <a:rPr lang="en-US" sz="2000" b="1" dirty="0">
                <a:solidFill>
                  <a:srgbClr val="FF0000"/>
                </a:solidFill>
                <a:latin typeface="Arial" panose="020B0604020202020204" pitchFamily="34" charset="0"/>
                <a:cs typeface="Arial" panose="020B0604020202020204" pitchFamily="34" charset="0"/>
              </a:rPr>
              <a:t>	(a) This policy must be enabled as it disables the account name</a:t>
            </a:r>
          </a:p>
          <a:p>
            <a:pPr marL="182563" lvl="1">
              <a:lnSpc>
                <a:spcPct val="150000"/>
              </a:lnSpc>
            </a:pPr>
            <a:r>
              <a:rPr lang="en-US" sz="2000" b="1" dirty="0">
                <a:solidFill>
                  <a:srgbClr val="FF0000"/>
                </a:solidFill>
                <a:latin typeface="Arial" panose="020B0604020202020204" pitchFamily="34" charset="0"/>
                <a:cs typeface="Arial" panose="020B0604020202020204" pitchFamily="34" charset="0"/>
              </a:rPr>
              <a:t>	</a:t>
            </a:r>
            <a:r>
              <a:rPr lang="en-US" sz="2000" b="1" dirty="0">
                <a:solidFill>
                  <a:schemeClr val="tx1">
                    <a:lumMod val="95000"/>
                    <a:lumOff val="5000"/>
                  </a:schemeClr>
                </a:solidFill>
                <a:latin typeface="Arial" panose="020B0604020202020204" pitchFamily="34" charset="0"/>
                <a:cs typeface="Arial" panose="020B0604020202020204" pitchFamily="34" charset="0"/>
              </a:rPr>
              <a:t>(b) User only who knows the username and PW credentials can 	     login </a:t>
            </a:r>
          </a:p>
        </p:txBody>
      </p:sp>
      <p:grpSp>
        <p:nvGrpSpPr>
          <p:cNvPr id="3" name="Group 2">
            <a:extLst>
              <a:ext uri="{FF2B5EF4-FFF2-40B4-BE49-F238E27FC236}">
                <a16:creationId xmlns:a16="http://schemas.microsoft.com/office/drawing/2014/main" id="{6E3E2FE1-45B7-212F-AE66-0CBEC3F5A77F}"/>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DBC1DE33-A52D-80B5-B8B6-2C1E8427E392}"/>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581EFD10-5605-7339-98A1-70B11CDCBEB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B4BE9040-4DE2-D3F9-D2E6-0A1BB9CAB07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884985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5944641"/>
          </a:xfrm>
          <a:prstGeom prst="rect">
            <a:avLst/>
          </a:prstGeom>
          <a:noFill/>
        </p:spPr>
        <p:txBody>
          <a:bodyPr wrap="square" rtlCol="0">
            <a:spAutoFit/>
          </a:bodyPr>
          <a:lstStyle/>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USB PORTS MANAGEMENT</a:t>
            </a:r>
          </a:p>
          <a:p>
            <a:pPr marL="982663" lvl="2"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All the USB ports are reqd to be disabled from BIOS and services. </a:t>
            </a:r>
          </a:p>
          <a:p>
            <a:pPr marL="982663" lvl="2"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All the USB ports except keyboard and mouse need to be sealed </a:t>
            </a:r>
            <a:r>
              <a:rPr lang="en-US" sz="2000" b="1" dirty="0" err="1">
                <a:solidFill>
                  <a:srgbClr val="0070C0"/>
                </a:solidFill>
                <a:latin typeface="Arial" panose="020B0604020202020204" pitchFamily="34" charset="0"/>
                <a:cs typeface="Arial" panose="020B0604020202020204" pitchFamily="34" charset="0"/>
              </a:rPr>
              <a:t>phy</a:t>
            </a:r>
            <a:r>
              <a:rPr lang="en-US" sz="2000" b="1" dirty="0">
                <a:solidFill>
                  <a:srgbClr val="0070C0"/>
                </a:solidFill>
                <a:latin typeface="Arial" panose="020B0604020202020204" pitchFamily="34" charset="0"/>
                <a:cs typeface="Arial" panose="020B0604020202020204" pitchFamily="34" charset="0"/>
              </a:rPr>
              <a:t>.</a:t>
            </a:r>
          </a:p>
          <a:p>
            <a:pPr marL="982663" lvl="2"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If camera is being used in particular PC then BRO has to be done and sanction has to be taken.</a:t>
            </a:r>
          </a:p>
          <a:p>
            <a:pPr marL="182563" lvl="1">
              <a:lnSpc>
                <a:spcPct val="170000"/>
              </a:lnSpc>
            </a:pPr>
            <a:r>
              <a:rPr lang="en-US" sz="2000" b="1" u="sng" dirty="0">
                <a:solidFill>
                  <a:schemeClr val="tx1">
                    <a:lumMod val="95000"/>
                    <a:lumOff val="5000"/>
                  </a:schemeClr>
                </a:solidFill>
                <a:latin typeface="Arial" panose="020B0604020202020204" pitchFamily="34" charset="0"/>
                <a:cs typeface="Arial" panose="020B0604020202020204" pitchFamily="34" charset="0"/>
              </a:rPr>
              <a:t>REMOTE SERVICE</a:t>
            </a:r>
          </a:p>
          <a:p>
            <a:pPr marL="982663" lvl="2"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All the remote services needs to be disabled to mitigate remote connectivity.</a:t>
            </a:r>
            <a:endParaRPr lang="en-US" sz="2000" b="1" u="sng" dirty="0">
              <a:solidFill>
                <a:srgbClr val="0070C0"/>
              </a:solidFill>
              <a:latin typeface="Arial" panose="020B0604020202020204" pitchFamily="34" charset="0"/>
              <a:cs typeface="Arial" panose="020B0604020202020204" pitchFamily="34" charset="0"/>
            </a:endParaRPr>
          </a:p>
          <a:p>
            <a:pPr marL="231775" lvl="2">
              <a:lnSpc>
                <a:spcPct val="170000"/>
              </a:lnSpc>
            </a:pPr>
            <a:r>
              <a:rPr lang="en-US" sz="2000" b="1" u="sng" dirty="0">
                <a:solidFill>
                  <a:srgbClr val="FF0000"/>
                </a:solidFill>
                <a:latin typeface="Arial" panose="020B0604020202020204" pitchFamily="34" charset="0"/>
                <a:cs typeface="Arial" panose="020B0604020202020204" pitchFamily="34" charset="0"/>
              </a:rPr>
              <a:t>DATA ON DESKTOP</a:t>
            </a:r>
          </a:p>
          <a:p>
            <a:pPr marL="1031875" lvl="3"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User is not permitted to store data in desktop</a:t>
            </a:r>
            <a:endParaRPr lang="en-US" sz="2000" b="1" u="sng" dirty="0">
              <a:solidFill>
                <a:schemeClr val="tx1">
                  <a:lumMod val="95000"/>
                  <a:lumOff val="5000"/>
                </a:schemeClr>
              </a:solidFill>
              <a:latin typeface="Arial" panose="020B0604020202020204" pitchFamily="34" charset="0"/>
              <a:cs typeface="Arial" panose="020B0604020202020204" pitchFamily="34" charset="0"/>
            </a:endParaRPr>
          </a:p>
          <a:p>
            <a:pPr marL="1031875" lvl="3"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Desktop data is more prone to breach</a:t>
            </a:r>
          </a:p>
        </p:txBody>
      </p:sp>
      <p:grpSp>
        <p:nvGrpSpPr>
          <p:cNvPr id="3" name="Group 2">
            <a:extLst>
              <a:ext uri="{FF2B5EF4-FFF2-40B4-BE49-F238E27FC236}">
                <a16:creationId xmlns:a16="http://schemas.microsoft.com/office/drawing/2014/main" id="{D728C060-80E4-AA1A-3A66-25EC70F2329C}"/>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76ECE820-17F6-9246-7A46-892688E55108}"/>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876EFE76-AEE3-5D6D-449A-A7F22B2A4C5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2506FC41-5A66-5496-604C-DC303127886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2640458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6298584"/>
          </a:xfrm>
          <a:prstGeom prst="rect">
            <a:avLst/>
          </a:prstGeom>
          <a:noFill/>
        </p:spPr>
        <p:txBody>
          <a:bodyPr wrap="square" rtlCol="0">
            <a:spAutoFit/>
          </a:bodyPr>
          <a:lstStyle/>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NO BACKUP OF DATA</a:t>
            </a:r>
          </a:p>
          <a:p>
            <a:pPr marL="982663" lvl="2"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User is reqd to take backup of data on reg basis</a:t>
            </a:r>
            <a:endParaRPr lang="en-US" sz="2000" b="1" u="sng" dirty="0">
              <a:solidFill>
                <a:srgbClr val="002060"/>
              </a:solidFill>
              <a:latin typeface="Arial" panose="020B0604020202020204" pitchFamily="34" charset="0"/>
              <a:cs typeface="Arial" panose="020B0604020202020204" pitchFamily="34" charset="0"/>
            </a:endParaRPr>
          </a:p>
          <a:p>
            <a:pPr marL="182563" lvl="1">
              <a:lnSpc>
                <a:spcPct val="170000"/>
              </a:lnSpc>
            </a:pPr>
            <a:r>
              <a:rPr lang="en-US" sz="2000" b="1" u="sng" dirty="0">
                <a:solidFill>
                  <a:srgbClr val="0070C0"/>
                </a:solidFill>
                <a:latin typeface="Arial" panose="020B0604020202020204" pitchFamily="34" charset="0"/>
                <a:cs typeface="Arial" panose="020B0604020202020204" pitchFamily="34" charset="0"/>
              </a:rPr>
              <a:t>PC NOT LABELED</a:t>
            </a:r>
          </a:p>
          <a:p>
            <a:pPr marL="982663" lvl="2"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Labelling of PC is must</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Username and co-user name must be displayed</a:t>
            </a:r>
            <a:endParaRPr lang="en-US" sz="2000" b="1" u="sng" dirty="0">
              <a:solidFill>
                <a:srgbClr val="00206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Labelling of Grant and serial number is must</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Labelling of LAN cables is must if feasible different </a:t>
            </a:r>
            <a:r>
              <a:rPr lang="en-US" sz="2000" b="1" dirty="0" err="1">
                <a:solidFill>
                  <a:srgbClr val="FF0000"/>
                </a:solidFill>
                <a:latin typeface="Arial" panose="020B0604020202020204" pitchFamily="34" charset="0"/>
                <a:cs typeface="Arial" panose="020B0604020202020204" pitchFamily="34" charset="0"/>
              </a:rPr>
              <a:t>colour</a:t>
            </a:r>
            <a:r>
              <a:rPr lang="en-US" sz="2000" b="1" dirty="0">
                <a:solidFill>
                  <a:srgbClr val="FF0000"/>
                </a:solidFill>
                <a:latin typeface="Arial" panose="020B0604020202020204" pitchFamily="34" charset="0"/>
                <a:cs typeface="Arial" panose="020B0604020202020204" pitchFamily="34" charset="0"/>
              </a:rPr>
              <a:t> codes to be used for each NW</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70000"/>
              </a:lnSpc>
            </a:pPr>
            <a:r>
              <a:rPr lang="en-US" sz="2000" b="1" u="sng" dirty="0">
                <a:solidFill>
                  <a:schemeClr val="tx1">
                    <a:lumMod val="95000"/>
                    <a:lumOff val="5000"/>
                  </a:schemeClr>
                </a:solidFill>
                <a:latin typeface="Arial" panose="020B0604020202020204" pitchFamily="34" charset="0"/>
                <a:cs typeface="Arial" panose="020B0604020202020204" pitchFamily="34" charset="0"/>
              </a:rPr>
              <a:t>CL DATA EXISTS IN PC</a:t>
            </a:r>
          </a:p>
          <a:p>
            <a:pPr marL="982663" lvl="2"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Cl data should not be stored in PC</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Only auth user can store that data and that must be encrypted</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70000"/>
              </a:lnSpc>
            </a:pP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52DC562A-6A4A-88E6-6060-360513A0C51E}"/>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AD2BDB98-3B80-13CD-78F7-4B89C627F3F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8E1D2F6D-EE5D-DA85-D976-7E109B73876E}"/>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1B5304C7-176B-0AD7-D06E-A8A21365EE7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9000369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856033"/>
            <a:ext cx="9144000" cy="6075446"/>
          </a:xfrm>
          <a:prstGeom prst="rect">
            <a:avLst/>
          </a:prstGeom>
          <a:noFill/>
        </p:spPr>
        <p:txBody>
          <a:bodyPr wrap="square" rtlCol="0">
            <a:spAutoFit/>
          </a:bodyPr>
          <a:lstStyle/>
          <a:p>
            <a:pPr marL="182563" lvl="1">
              <a:lnSpc>
                <a:spcPct val="140000"/>
              </a:lnSpc>
            </a:pPr>
            <a:r>
              <a:rPr lang="en-US" sz="2000" b="1" u="sng" dirty="0">
                <a:solidFill>
                  <a:srgbClr val="FF0000"/>
                </a:solidFill>
                <a:latin typeface="Arial" panose="020B0604020202020204" pitchFamily="34" charset="0"/>
                <a:cs typeface="Arial" panose="020B0604020202020204" pitchFamily="34" charset="0"/>
              </a:rPr>
              <a:t>USAGE OF ENCRYPTION TOOL</a:t>
            </a:r>
          </a:p>
          <a:p>
            <a:pPr marL="982663" lvl="2" indent="-342900">
              <a:lnSpc>
                <a:spcPct val="14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IA has provide two Encryption Tools (Secure Desk and Vera Crypt)</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User can use both also</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All the data needs to be encrypted and only data of current usage to be decrypted</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Encryption password management has to be ensured</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40000"/>
              </a:lnSpc>
            </a:pPr>
            <a:r>
              <a:rPr lang="en-US" sz="2000" b="1" u="sng" dirty="0">
                <a:solidFill>
                  <a:srgbClr val="0070C0"/>
                </a:solidFill>
                <a:latin typeface="Arial" panose="020B0604020202020204" pitchFamily="34" charset="0"/>
                <a:cs typeface="Arial" panose="020B0604020202020204" pitchFamily="34" charset="0"/>
              </a:rPr>
              <a:t>OFFICIAL DATA ON INTERNET PC</a:t>
            </a:r>
          </a:p>
          <a:p>
            <a:pPr marL="982663" lvl="2"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User is not permitted to store any of the official data in internet PC</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Internet PC to be used only for unofficial deeds</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40000"/>
              </a:lnSpc>
            </a:pPr>
            <a:r>
              <a:rPr lang="en-US" sz="2000" b="1" u="sng" dirty="0">
                <a:solidFill>
                  <a:srgbClr val="0070C0"/>
                </a:solidFill>
                <a:latin typeface="Arial" panose="020B0604020202020204" pitchFamily="34" charset="0"/>
                <a:cs typeface="Arial" panose="020B0604020202020204" pitchFamily="34" charset="0"/>
              </a:rPr>
              <a:t>AIR GAP MAINT</a:t>
            </a:r>
          </a:p>
          <a:p>
            <a:pPr marL="982663" lvl="2"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Air gap maint is must to ensure any human fault</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There must be min of 1.5mtr gap between LAN and Internet PC</a:t>
            </a: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EAEBD9FC-1AEB-92CC-22C3-3CBDB1C8D30F}"/>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4C704A14-BE03-E0C7-62CE-3D1B108124B1}"/>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DE93084B-48E0-A0DC-8CE2-3B98ABAEA45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EDC6027B-E809-DAC0-FE5F-13477CF3E26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2532739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866193"/>
            <a:ext cx="9144000" cy="6052362"/>
          </a:xfrm>
          <a:prstGeom prst="rect">
            <a:avLst/>
          </a:prstGeom>
          <a:noFill/>
        </p:spPr>
        <p:txBody>
          <a:bodyPr wrap="square" rtlCol="0">
            <a:spAutoFit/>
          </a:bodyPr>
          <a:lstStyle/>
          <a:p>
            <a:pPr marL="182563" lvl="1">
              <a:lnSpc>
                <a:spcPct val="130000"/>
              </a:lnSpc>
            </a:pPr>
            <a:r>
              <a:rPr lang="en-US" sz="2000" b="1" u="sng" dirty="0">
                <a:solidFill>
                  <a:srgbClr val="FF0000"/>
                </a:solidFill>
                <a:latin typeface="Arial" panose="020B0604020202020204" pitchFamily="34" charset="0"/>
                <a:cs typeface="Arial" panose="020B0604020202020204" pitchFamily="34" charset="0"/>
              </a:rPr>
              <a:t>UNWANTED SITE ACCESS</a:t>
            </a: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Internet must be used cautiously</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No logs to be deleted</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No unwanted sites to be accessed</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30000"/>
              </a:lnSpc>
            </a:pPr>
            <a:r>
              <a:rPr lang="en-US" sz="2000" b="1" u="sng" dirty="0">
                <a:latin typeface="Arial" panose="020B0604020202020204" pitchFamily="34" charset="0"/>
                <a:cs typeface="Arial" panose="020B0604020202020204" pitchFamily="34" charset="0"/>
              </a:rPr>
              <a:t>SYS DATE &amp;  TIME WRONG</a:t>
            </a: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Sys time and date must be right</a:t>
            </a:r>
          </a:p>
          <a:p>
            <a:pPr marL="982663" lvl="2"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This helps in creating right time and date logs in PC</a:t>
            </a: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This helps in investigation as and when reqd</a:t>
            </a:r>
            <a:endParaRPr lang="en-US" sz="2000" b="1" u="sng" dirty="0">
              <a:solidFill>
                <a:schemeClr val="tx1">
                  <a:lumMod val="95000"/>
                  <a:lumOff val="5000"/>
                </a:schemeClr>
              </a:solidFill>
              <a:latin typeface="Arial" panose="020B0604020202020204" pitchFamily="34" charset="0"/>
              <a:cs typeface="Arial" panose="020B0604020202020204" pitchFamily="34" charset="0"/>
            </a:endParaRPr>
          </a:p>
          <a:p>
            <a:pPr marL="182563" lvl="1">
              <a:lnSpc>
                <a:spcPct val="130000"/>
              </a:lnSpc>
            </a:pPr>
            <a:r>
              <a:rPr lang="en-US" sz="2000" b="1" u="sng" dirty="0">
                <a:solidFill>
                  <a:srgbClr val="0070C0"/>
                </a:solidFill>
                <a:latin typeface="Arial" panose="020B0604020202020204" pitchFamily="34" charset="0"/>
                <a:cs typeface="Arial" panose="020B0604020202020204" pitchFamily="34" charset="0"/>
              </a:rPr>
              <a:t>PC LOG IN AND LOG OUT REGISTER</a:t>
            </a:r>
          </a:p>
          <a:p>
            <a:pPr marL="982663" lvl="2"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PC log book must be held with user</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Any HW replacement and faulty details needs to be scrutinized</a:t>
            </a:r>
            <a:endParaRPr lang="en-US" sz="2000" b="1" u="sng" dirty="0">
              <a:solidFill>
                <a:srgbClr val="00206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All the repairs details needs to endorsed in the log book</a:t>
            </a:r>
            <a:endParaRPr lang="en-US" sz="2000" b="1" u="sng" dirty="0">
              <a:solidFill>
                <a:srgbClr val="0070C0"/>
              </a:solidFill>
              <a:latin typeface="Arial" panose="020B0604020202020204" pitchFamily="34" charset="0"/>
              <a:cs typeface="Arial" panose="020B0604020202020204" pitchFamily="34" charset="0"/>
            </a:endParaRPr>
          </a:p>
          <a:p>
            <a:pPr marL="182563" lvl="1">
              <a:lnSpc>
                <a:spcPct val="130000"/>
              </a:lnSpc>
            </a:pPr>
            <a:r>
              <a:rPr lang="en-US" sz="2000" b="1" u="sng" dirty="0">
                <a:solidFill>
                  <a:srgbClr val="FF0000"/>
                </a:solidFill>
                <a:latin typeface="Arial" panose="020B0604020202020204" pitchFamily="34" charset="0"/>
                <a:cs typeface="Arial" panose="020B0604020202020204" pitchFamily="34" charset="0"/>
              </a:rPr>
              <a:t>PHYSICAL SECURITY</a:t>
            </a: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All the Cyber devices needs to be locked Physically</a:t>
            </a:r>
            <a:endParaRPr lang="en-US" sz="2000" b="1" u="sng" dirty="0">
              <a:solidFill>
                <a:srgbClr val="00206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If feasible cabinets to be made for extra Security</a:t>
            </a:r>
            <a:endParaRPr lang="en-US" sz="2000" b="1" u="sng" dirty="0">
              <a:solidFill>
                <a:srgbClr val="0070C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D8233C5B-4811-B015-4A0E-A21E8C4DCB0A}"/>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5EFD8118-F2C9-3F43-AAFF-9985D8A15F04}"/>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1182A55A-894E-49C4-774C-58ACAC8FDF1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4A4F2A82-37FA-4F77-54FB-A1ABF341785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1976161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927153"/>
            <a:ext cx="9144000" cy="5644559"/>
          </a:xfrm>
          <a:prstGeom prst="rect">
            <a:avLst/>
          </a:prstGeom>
          <a:noFill/>
        </p:spPr>
        <p:txBody>
          <a:bodyPr wrap="square" rtlCol="0">
            <a:spAutoFit/>
          </a:bodyPr>
          <a:lstStyle/>
          <a:p>
            <a:pPr marL="182563" lvl="1">
              <a:lnSpc>
                <a:spcPct val="140000"/>
              </a:lnSpc>
            </a:pPr>
            <a:r>
              <a:rPr lang="en-US" sz="2000" b="1" u="sng" dirty="0">
                <a:solidFill>
                  <a:srgbClr val="FF0000"/>
                </a:solidFill>
                <a:latin typeface="Arial" panose="020B0604020202020204" pitchFamily="34" charset="0"/>
                <a:cs typeface="Arial" panose="020B0604020202020204" pitchFamily="34" charset="0"/>
              </a:rPr>
              <a:t>MANAGEMENT OF OTHER CD &amp; DVD STORAGE DEVICES</a:t>
            </a:r>
          </a:p>
          <a:p>
            <a:pPr marL="982663" lvl="2" indent="-342900">
              <a:lnSpc>
                <a:spcPct val="14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CD and DVD must be controlled by nominated pers</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Each and every CD/DVD record needs to be maint</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Issue and Receive </a:t>
            </a:r>
            <a:r>
              <a:rPr lang="en-US" sz="2000" b="1" dirty="0" err="1">
                <a:solidFill>
                  <a:srgbClr val="FF0000"/>
                </a:solidFill>
                <a:latin typeface="Arial" panose="020B0604020202020204" pitchFamily="34" charset="0"/>
                <a:cs typeface="Arial" panose="020B0604020202020204" pitchFamily="34" charset="0"/>
              </a:rPr>
              <a:t>enrty</a:t>
            </a:r>
            <a:r>
              <a:rPr lang="en-US" sz="2000" b="1" dirty="0">
                <a:solidFill>
                  <a:srgbClr val="FF0000"/>
                </a:solidFill>
                <a:latin typeface="Arial" panose="020B0604020202020204" pitchFamily="34" charset="0"/>
                <a:cs typeface="Arial" panose="020B0604020202020204" pitchFamily="34" charset="0"/>
              </a:rPr>
              <a:t> to be made deliberately</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All the CD and DVD needs to have official stamp and Marking with serial number</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Disposal of redundant CD &amp; DVD must be carried reg</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Register must be updated reg and surprise checks to be carried out</a:t>
            </a:r>
          </a:p>
          <a:p>
            <a:pPr marL="231775" lvl="2">
              <a:lnSpc>
                <a:spcPct val="140000"/>
              </a:lnSpc>
            </a:pPr>
            <a:r>
              <a:rPr lang="en-US" sz="2000" b="1" u="sng" dirty="0">
                <a:solidFill>
                  <a:schemeClr val="tx1">
                    <a:lumMod val="95000"/>
                    <a:lumOff val="5000"/>
                  </a:schemeClr>
                </a:solidFill>
                <a:latin typeface="Arial" panose="020B0604020202020204" pitchFamily="34" charset="0"/>
                <a:cs typeface="Arial" panose="020B0604020202020204" pitchFamily="34" charset="0"/>
              </a:rPr>
              <a:t>PC LOG BOOK NOT MAINT</a:t>
            </a:r>
          </a:p>
          <a:p>
            <a:pPr marL="1031875" lvl="3" indent="-342900">
              <a:lnSpc>
                <a:spcPct val="14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PC log book must be held with user</a:t>
            </a:r>
            <a:endParaRPr lang="en-US" sz="2000" b="1" u="sng" dirty="0">
              <a:solidFill>
                <a:srgbClr val="0070C0"/>
              </a:solidFill>
              <a:latin typeface="Arial" panose="020B0604020202020204" pitchFamily="34" charset="0"/>
              <a:cs typeface="Arial" panose="020B0604020202020204" pitchFamily="34" charset="0"/>
            </a:endParaRPr>
          </a:p>
          <a:p>
            <a:pPr marL="1031875" lvl="3" indent="-342900">
              <a:lnSpc>
                <a:spcPct val="14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Any HW replacement and faulty details needs to be scrutinized</a:t>
            </a:r>
            <a:endParaRPr lang="en-US" sz="2000" b="1" u="sng" dirty="0">
              <a:solidFill>
                <a:srgbClr val="FF0000"/>
              </a:solidFill>
              <a:latin typeface="Arial" panose="020B0604020202020204" pitchFamily="34" charset="0"/>
              <a:cs typeface="Arial" panose="020B0604020202020204" pitchFamily="34" charset="0"/>
            </a:endParaRPr>
          </a:p>
          <a:p>
            <a:pPr marL="1031875" lvl="3" indent="-342900">
              <a:lnSpc>
                <a:spcPct val="140000"/>
              </a:lnSpc>
              <a:buFont typeface="Arial" panose="020B0604020202020204" pitchFamily="34" charset="0"/>
              <a:buChar char="•"/>
            </a:pPr>
            <a:r>
              <a:rPr lang="en-US" sz="2000" b="1" dirty="0">
                <a:solidFill>
                  <a:schemeClr val="tx1">
                    <a:lumMod val="95000"/>
                    <a:lumOff val="5000"/>
                  </a:schemeClr>
                </a:solidFill>
                <a:latin typeface="Arial" panose="020B0604020202020204" pitchFamily="34" charset="0"/>
                <a:cs typeface="Arial" panose="020B0604020202020204" pitchFamily="34" charset="0"/>
              </a:rPr>
              <a:t>All the repairs details needs to endorsed in the log book</a:t>
            </a: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A91443C-207D-7C44-6D4F-74F4698A4B3C}"/>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C2AB16FC-59E7-2F20-F7B2-7ABDA3C9D26F}"/>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9EFFE711-2EC4-AAE1-8405-EB031C7744F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2D3F5B1C-8488-6EB1-E9EC-7AAED5E2DCE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9309179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6298584"/>
          </a:xfrm>
          <a:prstGeom prst="rect">
            <a:avLst/>
          </a:prstGeom>
          <a:noFill/>
        </p:spPr>
        <p:txBody>
          <a:bodyPr wrap="square" rtlCol="0">
            <a:spAutoFit/>
          </a:bodyPr>
          <a:lstStyle/>
          <a:p>
            <a:pPr marL="182563" lvl="1">
              <a:lnSpc>
                <a:spcPct val="170000"/>
              </a:lnSpc>
            </a:pPr>
            <a:r>
              <a:rPr lang="en-US" sz="2000" b="1" u="sng" dirty="0">
                <a:solidFill>
                  <a:srgbClr val="FF0000"/>
                </a:solidFill>
                <a:latin typeface="Arial" panose="020B0604020202020204" pitchFamily="34" charset="0"/>
                <a:cs typeface="Arial" panose="020B0604020202020204" pitchFamily="34" charset="0"/>
              </a:rPr>
              <a:t>SANITISATION BOX</a:t>
            </a:r>
          </a:p>
          <a:p>
            <a:pPr marL="982663" lvl="2"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Each Br should have Sanitization Box</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Any data coming from outside must be scanned</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Once data is sanitized then only can be stored in PC</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70000"/>
              </a:lnSpc>
            </a:pPr>
            <a:r>
              <a:rPr lang="en-US" sz="2000" b="1" u="sng" dirty="0">
                <a:latin typeface="Arial" panose="020B0604020202020204" pitchFamily="34" charset="0"/>
                <a:cs typeface="Arial" panose="020B0604020202020204" pitchFamily="34" charset="0"/>
              </a:rPr>
              <a:t>ASSETS MANAGEMENT</a:t>
            </a:r>
          </a:p>
          <a:p>
            <a:pPr marL="982663" lvl="2"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Each BR should have dedicated IT NCO</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Owner ship and accountability of assets</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Equipment maintenance &amp; repair</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Disposal of storage media &amp; printer cartridges</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Handing Taking register</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7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Adherence to Army Cyber Policy</a:t>
            </a:r>
            <a:endParaRPr lang="en-US" sz="2000" b="1" u="sng" dirty="0">
              <a:latin typeface="Arial" panose="020B0604020202020204" pitchFamily="34" charset="0"/>
              <a:cs typeface="Arial" panose="020B0604020202020204" pitchFamily="34" charset="0"/>
            </a:endParaRPr>
          </a:p>
          <a:p>
            <a:pPr marL="1031875" lvl="3" indent="-342900">
              <a:lnSpc>
                <a:spcPct val="170000"/>
              </a:lnSpc>
              <a:buFont typeface="Arial" panose="020B0604020202020204" pitchFamily="34" charset="0"/>
              <a:buChar char="•"/>
            </a:pP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D92EABE8-C9F2-2D8F-ABD7-1BC9C8B0128D}"/>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D77FD2DA-FF0E-115D-61BE-D7242B969E3B}"/>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41C7CF3B-7A17-1154-358B-DE32453874E7}"/>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836C011E-2D44-A0C9-7163-4373D14832F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84077357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784913"/>
            <a:ext cx="9144000" cy="6590971"/>
          </a:xfrm>
          <a:prstGeom prst="rect">
            <a:avLst/>
          </a:prstGeom>
          <a:noFill/>
        </p:spPr>
        <p:txBody>
          <a:bodyPr wrap="square" rtlCol="0">
            <a:spAutoFit/>
          </a:bodyPr>
          <a:lstStyle/>
          <a:p>
            <a:pPr marL="182563" lvl="1">
              <a:lnSpc>
                <a:spcPct val="170000"/>
              </a:lnSpc>
            </a:pPr>
            <a:r>
              <a:rPr lang="en-US" sz="2000" b="1" dirty="0">
                <a:solidFill>
                  <a:srgbClr val="FF0000"/>
                </a:solidFill>
                <a:latin typeface="Arial" panose="020B0604020202020204" pitchFamily="34" charset="0"/>
                <a:cs typeface="Arial" panose="020B0604020202020204" pitchFamily="34" charset="0"/>
              </a:rPr>
              <a:t>Here's a basic outline of how you might approach auditing a PC:</a:t>
            </a:r>
          </a:p>
          <a:p>
            <a:pPr marL="182563" lvl="1">
              <a:lnSpc>
                <a:spcPct val="150000"/>
              </a:lnSpc>
            </a:pPr>
            <a:r>
              <a:rPr lang="en-US" sz="2000" b="1" u="sng" dirty="0">
                <a:latin typeface="Arial" panose="020B0604020202020204" pitchFamily="34" charset="0"/>
                <a:cs typeface="Arial" panose="020B0604020202020204" pitchFamily="34" charset="0"/>
              </a:rPr>
              <a:t>HARDWARE AUDIT</a:t>
            </a:r>
          </a:p>
          <a:p>
            <a:pPr marL="982663" lvl="2" indent="-342900">
              <a:lnSpc>
                <a:spcPct val="15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Check the specifications of the PC including CPU, RAM, storage capacity, and other hardware components</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5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Inspect for any physical damage or signs of wear and tear</a:t>
            </a:r>
          </a:p>
          <a:p>
            <a:pPr marL="982663" lvl="2" indent="-3429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Verify peripheral devices (e.g., monitor, keyboard, mouse) and ensure they are functioning properly.</a:t>
            </a:r>
          </a:p>
          <a:p>
            <a:pPr marL="231775" lvl="2">
              <a:lnSpc>
                <a:spcPct val="130000"/>
              </a:lnSpc>
            </a:pPr>
            <a:r>
              <a:rPr lang="en-US" sz="2000" b="1" u="sng" dirty="0">
                <a:solidFill>
                  <a:srgbClr val="0070C0"/>
                </a:solidFill>
                <a:latin typeface="Arial" panose="020B0604020202020204" pitchFamily="34" charset="0"/>
                <a:cs typeface="Arial" panose="020B0604020202020204" pitchFamily="34" charset="0"/>
              </a:rPr>
              <a:t>SOFTWARE AUDIT</a:t>
            </a:r>
          </a:p>
          <a:p>
            <a:pPr marL="1031875" lvl="3"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Document all installed software including the operating system, drivers, applications, and utilities.</a:t>
            </a:r>
          </a:p>
          <a:p>
            <a:pPr marL="1031875" lvl="3"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Ensure that software licenses are valid and up-to-date.</a:t>
            </a:r>
            <a:endParaRPr lang="en-US" sz="2000" b="1" dirty="0">
              <a:solidFill>
                <a:srgbClr val="002060"/>
              </a:solidFill>
              <a:latin typeface="Arial" panose="020B0604020202020204" pitchFamily="34" charset="0"/>
              <a:cs typeface="Arial" panose="020B0604020202020204" pitchFamily="34" charset="0"/>
            </a:endParaRPr>
          </a:p>
          <a:p>
            <a:pPr marL="1031875" lvl="3"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Identify any unauthorized or unapproved software installations.</a:t>
            </a:r>
          </a:p>
          <a:p>
            <a:pPr marL="1031875" lvl="3"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Check for any software updates or patches that need to be applied.</a:t>
            </a:r>
          </a:p>
          <a:p>
            <a:pPr marL="639763" lvl="2">
              <a:lnSpc>
                <a:spcPct val="150000"/>
              </a:lnSpc>
            </a:pP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FE0C6CD8-3ADC-62D1-FEC1-F1D0D44DF0D5}"/>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ACD9E5BE-7550-36B8-8598-DE6787C6BC3D}"/>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A13CDE1B-D3E9-592F-92AE-754B4419AC5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A41E89D6-6433-14C0-C41E-5F49C6230A0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29769397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866193"/>
            <a:ext cx="9144000" cy="5967724"/>
          </a:xfrm>
          <a:prstGeom prst="rect">
            <a:avLst/>
          </a:prstGeom>
          <a:noFill/>
        </p:spPr>
        <p:txBody>
          <a:bodyPr wrap="square" rtlCol="0">
            <a:spAutoFit/>
          </a:bodyPr>
          <a:lstStyle/>
          <a:p>
            <a:pPr marL="182563" lvl="1">
              <a:lnSpc>
                <a:spcPct val="120000"/>
              </a:lnSpc>
            </a:pPr>
            <a:r>
              <a:rPr lang="en-US" sz="2000" b="1" u="sng" dirty="0">
                <a:solidFill>
                  <a:srgbClr val="FF0000"/>
                </a:solidFill>
                <a:latin typeface="Arial" panose="020B0604020202020204" pitchFamily="34" charset="0"/>
                <a:cs typeface="Arial" panose="020B0604020202020204" pitchFamily="34" charset="0"/>
              </a:rPr>
              <a:t>USAGE AUDIT</a:t>
            </a:r>
          </a:p>
          <a:p>
            <a:pPr marL="982663" lvl="2" indent="-342900">
              <a:lnSpc>
                <a:spcPct val="12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Review user activity logs to identify any unusual or unauthorized behavior</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Analyze internet browsing history and application usage patterns.</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Assess system performance and identify any bottlenecks or issues affecting productivity.</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20000"/>
              </a:lnSpc>
            </a:pPr>
            <a:r>
              <a:rPr lang="en-US" sz="2000" b="1" u="sng" dirty="0">
                <a:latin typeface="Arial" panose="020B0604020202020204" pitchFamily="34" charset="0"/>
                <a:cs typeface="Arial" panose="020B0604020202020204" pitchFamily="34" charset="0"/>
              </a:rPr>
              <a:t>DOCUMENTATION</a:t>
            </a:r>
          </a:p>
          <a:p>
            <a:pPr marL="982663" lvl="2" indent="-342900">
              <a:lnSpc>
                <a:spcPct val="12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Document findings, recommendations, and any corrective actions needed.</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Prepare a comprehensive audit report summarizing the results of the audit and outlining steps for improvement.</a:t>
            </a:r>
            <a:endParaRPr lang="en-US" sz="2000" b="1" u="sng" dirty="0">
              <a:solidFill>
                <a:srgbClr val="FF0000"/>
              </a:solidFill>
              <a:latin typeface="Arial" panose="020B0604020202020204" pitchFamily="34" charset="0"/>
              <a:cs typeface="Arial" panose="020B0604020202020204" pitchFamily="34" charset="0"/>
            </a:endParaRPr>
          </a:p>
          <a:p>
            <a:pPr marL="182563" lvl="1">
              <a:lnSpc>
                <a:spcPct val="120000"/>
              </a:lnSpc>
            </a:pPr>
            <a:r>
              <a:rPr lang="en-US" sz="2000" b="1" u="sng" dirty="0">
                <a:latin typeface="Arial" panose="020B0604020202020204" pitchFamily="34" charset="0"/>
                <a:cs typeface="Arial" panose="020B0604020202020204" pitchFamily="34" charset="0"/>
              </a:rPr>
              <a:t>FOLLOW UP</a:t>
            </a:r>
            <a:endParaRPr lang="en-US" sz="2000" b="1" dirty="0">
              <a:latin typeface="Arial" panose="020B0604020202020204" pitchFamily="34" charset="0"/>
              <a:cs typeface="Arial" panose="020B0604020202020204" pitchFamily="34" charset="0"/>
            </a:endParaRPr>
          </a:p>
          <a:p>
            <a:pPr marL="982663" lvl="2" indent="-342900">
              <a:lnSpc>
                <a:spcPct val="12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Schedule regular audits to ensure ongoing compliance and security.</a:t>
            </a:r>
          </a:p>
          <a:p>
            <a:pPr marL="982663" lvl="2" indent="-342900">
              <a:lnSpc>
                <a:spcPct val="12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Implement any recommended changes or improvements identified during the audit process.</a:t>
            </a: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61D3FB0E-77BB-C436-CFC7-902AE9596BC0}"/>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9AD83C5E-8CEF-212A-8C32-0A35515D9C95}"/>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EBEC768F-EB66-EE7C-493A-9594C0AD76F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3474715E-E80C-28A8-602A-6B413D5A9E2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12109090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AF563-13E9-AF2C-6098-66D0B5F9E440}"/>
              </a:ext>
            </a:extLst>
          </p:cNvPr>
          <p:cNvSpPr txBox="1"/>
          <p:nvPr/>
        </p:nvSpPr>
        <p:spPr>
          <a:xfrm>
            <a:off x="0" y="856033"/>
            <a:ext cx="9144000" cy="6052362"/>
          </a:xfrm>
          <a:prstGeom prst="rect">
            <a:avLst/>
          </a:prstGeom>
          <a:noFill/>
        </p:spPr>
        <p:txBody>
          <a:bodyPr wrap="square" rtlCol="0">
            <a:spAutoFit/>
          </a:bodyPr>
          <a:lstStyle/>
          <a:p>
            <a:pPr marL="182563" lvl="1">
              <a:lnSpc>
                <a:spcPct val="130000"/>
              </a:lnSpc>
            </a:pPr>
            <a:r>
              <a:rPr lang="en-US" sz="2000" b="1" u="sng" dirty="0">
                <a:solidFill>
                  <a:srgbClr val="FF0000"/>
                </a:solidFill>
                <a:latin typeface="Arial" panose="020B0604020202020204" pitchFamily="34" charset="0"/>
                <a:cs typeface="Arial" panose="020B0604020202020204" pitchFamily="34" charset="0"/>
              </a:rPr>
              <a:t>SECURITY AUDIT</a:t>
            </a: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Review antivirus and antimalware software installations and update status.</a:t>
            </a:r>
            <a:endParaRPr lang="en-US" sz="2000" b="1" dirty="0">
              <a:solidFill>
                <a:srgbClr val="FF000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Check firewall settings and ensure they are configured correctly</a:t>
            </a:r>
          </a:p>
          <a:p>
            <a:pPr marL="982663" lvl="2"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Verify user access controls and permissions to sensitive files and directories</a:t>
            </a: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Assess the strength of passwords and ensure they adhere to security best practices.</a:t>
            </a:r>
            <a:endParaRPr lang="en-US" sz="2000" b="1" dirty="0">
              <a:solidFill>
                <a:srgbClr val="FF000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Check for any unauthorized network connections or open ports</a:t>
            </a:r>
          </a:p>
          <a:p>
            <a:pPr marL="182563" lvl="1">
              <a:lnSpc>
                <a:spcPct val="130000"/>
              </a:lnSpc>
            </a:pPr>
            <a:r>
              <a:rPr lang="en-US" sz="2000" b="1" u="sng" dirty="0">
                <a:solidFill>
                  <a:srgbClr val="FF0000"/>
                </a:solidFill>
                <a:latin typeface="Arial" panose="020B0604020202020204" pitchFamily="34" charset="0"/>
                <a:cs typeface="Arial" panose="020B0604020202020204" pitchFamily="34" charset="0"/>
              </a:rPr>
              <a:t>DATA AUDIT</a:t>
            </a:r>
          </a:p>
          <a:p>
            <a:pPr marL="982663" lvl="2" indent="-342900">
              <a:lnSpc>
                <a:spcPct val="13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Evaluate data storage practices and identify any sensitive or confidential information stored on the PC.</a:t>
            </a:r>
            <a:endParaRPr lang="en-US" sz="2000" b="1" u="sng" dirty="0">
              <a:solidFill>
                <a:srgbClr val="FF000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Ensure data backup processes are in place and functioning correctly.</a:t>
            </a:r>
            <a:endParaRPr lang="en-US" sz="2000" b="1" u="sng" dirty="0">
              <a:solidFill>
                <a:srgbClr val="0070C0"/>
              </a:solidFill>
              <a:latin typeface="Arial" panose="020B0604020202020204" pitchFamily="34" charset="0"/>
              <a:cs typeface="Arial" panose="020B0604020202020204" pitchFamily="34" charset="0"/>
            </a:endParaRPr>
          </a:p>
          <a:p>
            <a:pPr marL="982663" lvl="2" indent="-342900">
              <a:lnSpc>
                <a:spcPct val="130000"/>
              </a:lnSpc>
              <a:buFont typeface="Arial" panose="020B0604020202020204" pitchFamily="34" charset="0"/>
              <a:buChar char="•"/>
            </a:pPr>
            <a:r>
              <a:rPr lang="en-US" sz="2000" b="1" dirty="0">
                <a:solidFill>
                  <a:srgbClr val="FF0000"/>
                </a:solidFill>
                <a:latin typeface="Arial" panose="020B0604020202020204" pitchFamily="34" charset="0"/>
                <a:cs typeface="Arial" panose="020B0604020202020204" pitchFamily="34" charset="0"/>
              </a:rPr>
              <a:t>Assess data encryption settings to protect sensitive information</a:t>
            </a:r>
            <a:r>
              <a:rPr lang="en-US" sz="2000" dirty="0">
                <a:solidFill>
                  <a:srgbClr val="FF0000"/>
                </a:solidFill>
                <a:latin typeface="Arial" panose="020B0604020202020204" pitchFamily="34" charset="0"/>
                <a:cs typeface="Arial" panose="020B0604020202020204" pitchFamily="34" charset="0"/>
              </a:rPr>
              <a:t>.</a:t>
            </a:r>
            <a:endParaRPr lang="en-US" sz="2000" b="1" u="sng" dirty="0">
              <a:solidFill>
                <a:srgbClr val="002060"/>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44C7DFB2-DF97-8DDA-F004-C536A0ADFC30}"/>
              </a:ext>
            </a:extLst>
          </p:cNvPr>
          <p:cNvGrpSpPr/>
          <p:nvPr/>
        </p:nvGrpSpPr>
        <p:grpSpPr>
          <a:xfrm>
            <a:off x="-10160" y="6354"/>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5E46B27A-5FDB-59B7-77B8-9522DF747E72}"/>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AUDIT OF PC</a:t>
              </a:r>
            </a:p>
          </p:txBody>
        </p:sp>
        <p:pic>
          <p:nvPicPr>
            <p:cNvPr id="9" name="Picture 8">
              <a:extLst>
                <a:ext uri="{FF2B5EF4-FFF2-40B4-BE49-F238E27FC236}">
                  <a16:creationId xmlns:a16="http://schemas.microsoft.com/office/drawing/2014/main" id="{A7EEAA87-F94E-7420-FAE4-93BA0EE227D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0EF3E320-1D02-2F77-8B16-32F2F95EC17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06525353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16618-CFC7-78F6-F554-CB1EF47CF998}"/>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5DB7AB1B-E6B1-43FA-501D-B5D2BE2BFDDF}"/>
              </a:ext>
            </a:extLst>
          </p:cNvPr>
          <p:cNvGrpSpPr/>
          <p:nvPr/>
        </p:nvGrpSpPr>
        <p:grpSpPr>
          <a:xfrm>
            <a:off x="0" y="0"/>
            <a:ext cx="9144000" cy="938525"/>
            <a:chOff x="0" y="39305"/>
            <a:chExt cx="9144000" cy="1091874"/>
          </a:xfrm>
          <a:solidFill>
            <a:srgbClr val="C00000"/>
          </a:solidFill>
        </p:grpSpPr>
        <p:sp>
          <p:nvSpPr>
            <p:cNvPr id="8" name="Rounded Rectangle 13">
              <a:extLst>
                <a:ext uri="{FF2B5EF4-FFF2-40B4-BE49-F238E27FC236}">
                  <a16:creationId xmlns:a16="http://schemas.microsoft.com/office/drawing/2014/main" id="{8488435B-C0B5-E74A-049D-E016682BEFDC}"/>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RELATED FULL FORM</a:t>
              </a:r>
            </a:p>
          </p:txBody>
        </p:sp>
        <p:pic>
          <p:nvPicPr>
            <p:cNvPr id="9" name="Picture 8">
              <a:extLst>
                <a:ext uri="{FF2B5EF4-FFF2-40B4-BE49-F238E27FC236}">
                  <a16:creationId xmlns:a16="http://schemas.microsoft.com/office/drawing/2014/main" id="{F167383F-BF72-1337-6830-C1FA0258AF4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0" name="Picture 9">
              <a:extLst>
                <a:ext uri="{FF2B5EF4-FFF2-40B4-BE49-F238E27FC236}">
                  <a16:creationId xmlns:a16="http://schemas.microsoft.com/office/drawing/2014/main" id="{18B182F7-CEE8-EF6E-FF91-09FB6EA916B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
        <p:nvSpPr>
          <p:cNvPr id="4" name="Rectangle 3">
            <a:extLst>
              <a:ext uri="{FF2B5EF4-FFF2-40B4-BE49-F238E27FC236}">
                <a16:creationId xmlns:a16="http://schemas.microsoft.com/office/drawing/2014/main" id="{40D8A4DB-AE9A-67C0-6E09-DC9C55927FC2}"/>
              </a:ext>
            </a:extLst>
          </p:cNvPr>
          <p:cNvSpPr/>
          <p:nvPr/>
        </p:nvSpPr>
        <p:spPr>
          <a:xfrm>
            <a:off x="-1" y="874840"/>
            <a:ext cx="8930317" cy="5983160"/>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CIA</a:t>
            </a:r>
            <a:r>
              <a:rPr lang="en-US" sz="2000" dirty="0">
                <a:solidFill>
                  <a:schemeClr val="tx1"/>
                </a:solidFill>
              </a:rPr>
              <a:t>	Confidentiality , Integrity and Availability </a:t>
            </a:r>
          </a:p>
          <a:p>
            <a:r>
              <a:rPr lang="en-US" sz="2000" b="1" dirty="0">
                <a:solidFill>
                  <a:schemeClr val="tx1"/>
                </a:solidFill>
              </a:rPr>
              <a:t>IDS</a:t>
            </a:r>
            <a:r>
              <a:rPr lang="en-US" sz="2000" dirty="0">
                <a:solidFill>
                  <a:schemeClr val="tx1"/>
                </a:solidFill>
              </a:rPr>
              <a:t>	Intrusion Detection System</a:t>
            </a:r>
          </a:p>
          <a:p>
            <a:r>
              <a:rPr lang="en-US" sz="2000" b="1" dirty="0">
                <a:solidFill>
                  <a:schemeClr val="tx1"/>
                </a:solidFill>
              </a:rPr>
              <a:t>IPS</a:t>
            </a:r>
            <a:r>
              <a:rPr lang="en-US" sz="2000" dirty="0">
                <a:solidFill>
                  <a:schemeClr val="tx1"/>
                </a:solidFill>
              </a:rPr>
              <a:t>	Intrusion Prevention System</a:t>
            </a:r>
          </a:p>
          <a:p>
            <a:r>
              <a:rPr lang="en-US" sz="2000" b="1" dirty="0">
                <a:solidFill>
                  <a:schemeClr val="tx1"/>
                </a:solidFill>
              </a:rPr>
              <a:t>VPANs</a:t>
            </a:r>
            <a:r>
              <a:rPr lang="en-US" sz="2000" dirty="0">
                <a:solidFill>
                  <a:schemeClr val="tx1"/>
                </a:solidFill>
              </a:rPr>
              <a:t>	Virtual Private Networks</a:t>
            </a:r>
          </a:p>
          <a:p>
            <a:r>
              <a:rPr lang="en-US" sz="2000" b="1" dirty="0">
                <a:solidFill>
                  <a:schemeClr val="tx1"/>
                </a:solidFill>
              </a:rPr>
              <a:t>MFA</a:t>
            </a:r>
            <a:r>
              <a:rPr lang="en-US" sz="2000" dirty="0">
                <a:solidFill>
                  <a:schemeClr val="tx1"/>
                </a:solidFill>
              </a:rPr>
              <a:t>	Multiple Factor Authentication</a:t>
            </a:r>
          </a:p>
          <a:p>
            <a:r>
              <a:rPr lang="en-US" sz="2000" b="1" dirty="0">
                <a:solidFill>
                  <a:schemeClr val="tx1"/>
                </a:solidFill>
              </a:rPr>
              <a:t>IAM</a:t>
            </a:r>
            <a:r>
              <a:rPr lang="en-US" sz="2000" dirty="0">
                <a:solidFill>
                  <a:schemeClr val="tx1"/>
                </a:solidFill>
              </a:rPr>
              <a:t>	Identity And Access Management </a:t>
            </a:r>
          </a:p>
          <a:p>
            <a:r>
              <a:rPr lang="en-US" sz="2000" b="1" dirty="0">
                <a:solidFill>
                  <a:schemeClr val="tx1"/>
                </a:solidFill>
              </a:rPr>
              <a:t>DLP</a:t>
            </a:r>
            <a:r>
              <a:rPr lang="en-US" sz="2000" dirty="0">
                <a:solidFill>
                  <a:schemeClr val="tx1"/>
                </a:solidFill>
              </a:rPr>
              <a:t>	Data Loss Prevention </a:t>
            </a:r>
          </a:p>
          <a:p>
            <a:r>
              <a:rPr lang="en-US" sz="2000" b="1" dirty="0">
                <a:solidFill>
                  <a:schemeClr val="tx1"/>
                </a:solidFill>
              </a:rPr>
              <a:t>HTTPS</a:t>
            </a:r>
            <a:r>
              <a:rPr lang="en-US" sz="2000" dirty="0">
                <a:solidFill>
                  <a:schemeClr val="tx1"/>
                </a:solidFill>
              </a:rPr>
              <a:t>	Hyper Text Transfer Protocol Secure</a:t>
            </a:r>
          </a:p>
          <a:p>
            <a:r>
              <a:rPr lang="en-US" sz="2000" b="1" dirty="0">
                <a:solidFill>
                  <a:schemeClr val="tx1"/>
                </a:solidFill>
              </a:rPr>
              <a:t>DHCP</a:t>
            </a:r>
            <a:r>
              <a:rPr lang="en-US" sz="2000" dirty="0">
                <a:solidFill>
                  <a:schemeClr val="tx1"/>
                </a:solidFill>
              </a:rPr>
              <a:t>	Dynamic Host Configuration Protocol</a:t>
            </a:r>
          </a:p>
          <a:p>
            <a:r>
              <a:rPr lang="en-US" sz="2000" b="1" dirty="0">
                <a:solidFill>
                  <a:schemeClr val="tx1"/>
                </a:solidFill>
              </a:rPr>
              <a:t>SSL</a:t>
            </a:r>
            <a:r>
              <a:rPr lang="en-US" sz="2000" dirty="0">
                <a:solidFill>
                  <a:schemeClr val="tx1"/>
                </a:solidFill>
              </a:rPr>
              <a:t>	Secure Socket Layer </a:t>
            </a:r>
          </a:p>
          <a:p>
            <a:r>
              <a:rPr lang="en-US" sz="2000" b="1" dirty="0">
                <a:solidFill>
                  <a:schemeClr val="tx1"/>
                </a:solidFill>
              </a:rPr>
              <a:t>SNMP</a:t>
            </a:r>
            <a:r>
              <a:rPr lang="en-US" sz="2000" dirty="0">
                <a:solidFill>
                  <a:schemeClr val="tx1"/>
                </a:solidFill>
              </a:rPr>
              <a:t>	Simple Network Management Protocol</a:t>
            </a:r>
          </a:p>
          <a:p>
            <a:r>
              <a:rPr lang="en-US" sz="2000" b="1" dirty="0">
                <a:solidFill>
                  <a:schemeClr val="tx1"/>
                </a:solidFill>
              </a:rPr>
              <a:t>CCOSW</a:t>
            </a:r>
            <a:r>
              <a:rPr lang="en-US" sz="2000" dirty="0">
                <a:solidFill>
                  <a:schemeClr val="tx1"/>
                </a:solidFill>
              </a:rPr>
              <a:t>	Command Cyber Operational and Support Wing</a:t>
            </a:r>
          </a:p>
          <a:p>
            <a:r>
              <a:rPr lang="en-US" sz="2000" b="1" dirty="0">
                <a:solidFill>
                  <a:schemeClr val="tx1"/>
                </a:solidFill>
              </a:rPr>
              <a:t>SSH</a:t>
            </a:r>
            <a:r>
              <a:rPr lang="en-US" sz="2000" dirty="0">
                <a:solidFill>
                  <a:schemeClr val="tx1"/>
                </a:solidFill>
              </a:rPr>
              <a:t>	Secure Shell</a:t>
            </a:r>
          </a:p>
          <a:p>
            <a:r>
              <a:rPr lang="en-US" sz="2000" b="1" dirty="0">
                <a:solidFill>
                  <a:schemeClr val="tx1"/>
                </a:solidFill>
              </a:rPr>
              <a:t>CISO</a:t>
            </a:r>
            <a:r>
              <a:rPr lang="en-US" sz="2000" dirty="0">
                <a:solidFill>
                  <a:schemeClr val="tx1"/>
                </a:solidFill>
              </a:rPr>
              <a:t>	Chief Information Security Officer</a:t>
            </a:r>
          </a:p>
          <a:p>
            <a:r>
              <a:rPr lang="en-US" sz="2000" b="1" dirty="0">
                <a:solidFill>
                  <a:schemeClr val="tx1"/>
                </a:solidFill>
              </a:rPr>
              <a:t>ICT</a:t>
            </a:r>
            <a:r>
              <a:rPr lang="en-US" sz="2000" dirty="0">
                <a:solidFill>
                  <a:schemeClr val="tx1"/>
                </a:solidFill>
              </a:rPr>
              <a:t>	Information and Communication Technology</a:t>
            </a:r>
          </a:p>
          <a:p>
            <a:r>
              <a:rPr lang="en-US" sz="2000" b="1" dirty="0">
                <a:solidFill>
                  <a:schemeClr val="tx1"/>
                </a:solidFill>
              </a:rPr>
              <a:t>NDA</a:t>
            </a:r>
            <a:r>
              <a:rPr lang="en-US" sz="2000" dirty="0">
                <a:solidFill>
                  <a:schemeClr val="tx1"/>
                </a:solidFill>
              </a:rPr>
              <a:t>	Non Disclosure Agreement</a:t>
            </a:r>
          </a:p>
          <a:p>
            <a:r>
              <a:rPr lang="en-US" sz="2000" dirty="0">
                <a:solidFill>
                  <a:schemeClr val="tx1"/>
                </a:solidFill>
              </a:rPr>
              <a:t> </a:t>
            </a:r>
          </a:p>
          <a:p>
            <a:endParaRPr lang="en-US" dirty="0">
              <a:solidFill>
                <a:schemeClr val="tx1"/>
              </a:solidFill>
            </a:endParaRPr>
          </a:p>
        </p:txBody>
      </p:sp>
    </p:spTree>
    <p:extLst>
      <p:ext uri="{BB962C8B-B14F-4D97-AF65-F5344CB8AC3E}">
        <p14:creationId xmlns:p14="http://schemas.microsoft.com/office/powerpoint/2010/main" val="17552042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B99BFD-525C-F428-D26D-FD39901B02AE}"/>
              </a:ext>
            </a:extLst>
          </p:cNvPr>
          <p:cNvSpPr/>
          <p:nvPr/>
        </p:nvSpPr>
        <p:spPr>
          <a:xfrm>
            <a:off x="0" y="948682"/>
            <a:ext cx="9144000" cy="59093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RDC</a:t>
            </a:r>
            <a:r>
              <a:rPr lang="en-US" sz="2000" dirty="0">
                <a:solidFill>
                  <a:schemeClr val="tx1"/>
                </a:solidFill>
              </a:rPr>
              <a:t>	Regional Data Centre</a:t>
            </a:r>
          </a:p>
          <a:p>
            <a:r>
              <a:rPr lang="en-US" sz="2000" b="1" dirty="0">
                <a:solidFill>
                  <a:schemeClr val="tx1"/>
                </a:solidFill>
              </a:rPr>
              <a:t>CSO</a:t>
            </a:r>
            <a:r>
              <a:rPr lang="en-US" sz="2000" dirty="0">
                <a:solidFill>
                  <a:schemeClr val="tx1"/>
                </a:solidFill>
              </a:rPr>
              <a:t>	Chief Security Officer</a:t>
            </a:r>
          </a:p>
          <a:p>
            <a:r>
              <a:rPr lang="en-US" sz="2000" b="1" dirty="0">
                <a:solidFill>
                  <a:schemeClr val="tx1"/>
                </a:solidFill>
              </a:rPr>
              <a:t>ITO</a:t>
            </a:r>
            <a:r>
              <a:rPr lang="en-US" sz="2000" dirty="0">
                <a:solidFill>
                  <a:schemeClr val="tx1"/>
                </a:solidFill>
              </a:rPr>
              <a:t>	Information Technology Officer</a:t>
            </a:r>
          </a:p>
          <a:p>
            <a:r>
              <a:rPr lang="en-US" sz="2000" b="1" dirty="0">
                <a:solidFill>
                  <a:schemeClr val="tx1"/>
                </a:solidFill>
              </a:rPr>
              <a:t>CCMP</a:t>
            </a:r>
            <a:r>
              <a:rPr lang="en-US" sz="2000" dirty="0">
                <a:solidFill>
                  <a:schemeClr val="tx1"/>
                </a:solidFill>
              </a:rPr>
              <a:t>	Cyber Crisis Menagement Plan</a:t>
            </a:r>
          </a:p>
          <a:p>
            <a:r>
              <a:rPr lang="en-US" sz="2000" b="1" dirty="0">
                <a:solidFill>
                  <a:schemeClr val="tx1"/>
                </a:solidFill>
              </a:rPr>
              <a:t>DGMO</a:t>
            </a:r>
            <a:r>
              <a:rPr lang="en-US" sz="2000" dirty="0">
                <a:solidFill>
                  <a:schemeClr val="tx1"/>
                </a:solidFill>
              </a:rPr>
              <a:t>	Director General Military Operation</a:t>
            </a:r>
          </a:p>
          <a:p>
            <a:r>
              <a:rPr lang="en-US" sz="2000" b="1" dirty="0">
                <a:solidFill>
                  <a:schemeClr val="tx1"/>
                </a:solidFill>
              </a:rPr>
              <a:t>CHCD</a:t>
            </a:r>
            <a:r>
              <a:rPr lang="en-US" sz="2000" dirty="0">
                <a:solidFill>
                  <a:schemeClr val="tx1"/>
                </a:solidFill>
              </a:rPr>
              <a:t>	Classified Handling and Control Docu</a:t>
            </a:r>
          </a:p>
          <a:p>
            <a:r>
              <a:rPr lang="en-US" sz="2000" b="1" dirty="0">
                <a:solidFill>
                  <a:schemeClr val="tx1"/>
                </a:solidFill>
              </a:rPr>
              <a:t>FTP</a:t>
            </a:r>
            <a:r>
              <a:rPr lang="en-US" sz="2000" dirty="0">
                <a:solidFill>
                  <a:schemeClr val="tx1"/>
                </a:solidFill>
              </a:rPr>
              <a:t>	File Transfer Protocol</a:t>
            </a:r>
          </a:p>
          <a:p>
            <a:r>
              <a:rPr lang="en-US" sz="2000" b="1" dirty="0">
                <a:solidFill>
                  <a:schemeClr val="tx1"/>
                </a:solidFill>
              </a:rPr>
              <a:t>SFTP</a:t>
            </a:r>
            <a:r>
              <a:rPr lang="en-US" sz="2000" dirty="0">
                <a:solidFill>
                  <a:schemeClr val="tx1"/>
                </a:solidFill>
              </a:rPr>
              <a:t>	Secure File Transfer Protocol</a:t>
            </a:r>
          </a:p>
          <a:p>
            <a:r>
              <a:rPr lang="en-US" sz="2000" b="1" dirty="0">
                <a:solidFill>
                  <a:schemeClr val="tx1"/>
                </a:solidFill>
              </a:rPr>
              <a:t>PII</a:t>
            </a:r>
            <a:r>
              <a:rPr lang="en-US" sz="2000" dirty="0">
                <a:solidFill>
                  <a:schemeClr val="tx1"/>
                </a:solidFill>
              </a:rPr>
              <a:t>	Personally Identifiable Information </a:t>
            </a:r>
          </a:p>
          <a:p>
            <a:r>
              <a:rPr lang="en-US" sz="2000" b="1" dirty="0">
                <a:solidFill>
                  <a:schemeClr val="tx1"/>
                </a:solidFill>
              </a:rPr>
              <a:t>SIEM</a:t>
            </a:r>
            <a:r>
              <a:rPr lang="en-US" sz="2000" dirty="0">
                <a:solidFill>
                  <a:schemeClr val="tx1"/>
                </a:solidFill>
              </a:rPr>
              <a:t>	Security Information and Event Management</a:t>
            </a:r>
          </a:p>
          <a:p>
            <a:r>
              <a:rPr lang="en-US" sz="2000" b="1" dirty="0">
                <a:solidFill>
                  <a:schemeClr val="tx1"/>
                </a:solidFill>
              </a:rPr>
              <a:t>OEM</a:t>
            </a:r>
            <a:r>
              <a:rPr lang="en-US" sz="2000" dirty="0">
                <a:solidFill>
                  <a:schemeClr val="tx1"/>
                </a:solidFill>
              </a:rPr>
              <a:t>	Original Equipment Manufacture  </a:t>
            </a:r>
          </a:p>
          <a:p>
            <a:r>
              <a:rPr lang="en-US" sz="2000" b="1" dirty="0">
                <a:solidFill>
                  <a:schemeClr val="tx1"/>
                </a:solidFill>
              </a:rPr>
              <a:t>DEP</a:t>
            </a:r>
            <a:r>
              <a:rPr lang="en-US" sz="2000" dirty="0">
                <a:solidFill>
                  <a:schemeClr val="tx1"/>
                </a:solidFill>
              </a:rPr>
              <a:t>	Data Exchange Point</a:t>
            </a:r>
          </a:p>
          <a:p>
            <a:r>
              <a:rPr lang="en-US" sz="2000" b="1" dirty="0">
                <a:solidFill>
                  <a:schemeClr val="tx1"/>
                </a:solidFill>
              </a:rPr>
              <a:t>ITAML</a:t>
            </a:r>
            <a:r>
              <a:rPr lang="en-US" sz="2000" dirty="0">
                <a:solidFill>
                  <a:schemeClr val="tx1"/>
                </a:solidFill>
              </a:rPr>
              <a:t>	IT Asset Management List</a:t>
            </a:r>
          </a:p>
          <a:p>
            <a:r>
              <a:rPr lang="en-US" sz="2000" b="1" dirty="0">
                <a:solidFill>
                  <a:schemeClr val="tx1"/>
                </a:solidFill>
              </a:rPr>
              <a:t>MISO</a:t>
            </a:r>
            <a:r>
              <a:rPr lang="en-US" sz="2000" dirty="0">
                <a:solidFill>
                  <a:schemeClr val="tx1"/>
                </a:solidFill>
              </a:rPr>
              <a:t>	Management Information Security Operation </a:t>
            </a:r>
          </a:p>
          <a:p>
            <a:r>
              <a:rPr lang="en-US" sz="2000" b="1" dirty="0">
                <a:solidFill>
                  <a:schemeClr val="tx1"/>
                </a:solidFill>
              </a:rPr>
              <a:t>TPM</a:t>
            </a:r>
            <a:r>
              <a:rPr lang="en-US" sz="2000" dirty="0">
                <a:solidFill>
                  <a:schemeClr val="tx1"/>
                </a:solidFill>
              </a:rPr>
              <a:t>	Trusted Platform Module</a:t>
            </a:r>
          </a:p>
          <a:p>
            <a:r>
              <a:rPr lang="en-US" sz="2000" b="1" dirty="0">
                <a:solidFill>
                  <a:schemeClr val="tx1"/>
                </a:solidFill>
              </a:rPr>
              <a:t>SOC</a:t>
            </a:r>
            <a:r>
              <a:rPr lang="en-US" sz="2000" dirty="0">
                <a:solidFill>
                  <a:schemeClr val="tx1"/>
                </a:solidFill>
              </a:rPr>
              <a:t>	Security of Centre</a:t>
            </a:r>
          </a:p>
          <a:p>
            <a:r>
              <a:rPr lang="en-US" dirty="0">
                <a:solidFill>
                  <a:schemeClr val="tx1"/>
                </a:solidFill>
              </a:rPr>
              <a:t> </a:t>
            </a:r>
          </a:p>
          <a:p>
            <a:endParaRPr lang="en-US" dirty="0">
              <a:solidFill>
                <a:schemeClr val="tx1"/>
              </a:solidFill>
            </a:endParaRPr>
          </a:p>
          <a:p>
            <a:pPr algn="ctr"/>
            <a:endParaRPr lang="en-US" dirty="0"/>
          </a:p>
        </p:txBody>
      </p:sp>
      <p:grpSp>
        <p:nvGrpSpPr>
          <p:cNvPr id="11" name="Group 10">
            <a:extLst>
              <a:ext uri="{FF2B5EF4-FFF2-40B4-BE49-F238E27FC236}">
                <a16:creationId xmlns:a16="http://schemas.microsoft.com/office/drawing/2014/main" id="{EE4B3213-6C38-0487-5FA9-766ADA695624}"/>
              </a:ext>
            </a:extLst>
          </p:cNvPr>
          <p:cNvGrpSpPr/>
          <p:nvPr/>
        </p:nvGrpSpPr>
        <p:grpSpPr>
          <a:xfrm>
            <a:off x="0" y="0"/>
            <a:ext cx="9144000" cy="938525"/>
            <a:chOff x="0" y="39305"/>
            <a:chExt cx="9144000" cy="1091874"/>
          </a:xfrm>
          <a:solidFill>
            <a:srgbClr val="C00000"/>
          </a:solidFill>
        </p:grpSpPr>
        <p:sp>
          <p:nvSpPr>
            <p:cNvPr id="12" name="Rounded Rectangle 13">
              <a:extLst>
                <a:ext uri="{FF2B5EF4-FFF2-40B4-BE49-F238E27FC236}">
                  <a16:creationId xmlns:a16="http://schemas.microsoft.com/office/drawing/2014/main" id="{3458A793-B6E4-3464-E8A8-C3D50CBEF14F}"/>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RELATED FULL FORM</a:t>
              </a:r>
            </a:p>
          </p:txBody>
        </p:sp>
        <p:pic>
          <p:nvPicPr>
            <p:cNvPr id="13" name="Picture 12">
              <a:extLst>
                <a:ext uri="{FF2B5EF4-FFF2-40B4-BE49-F238E27FC236}">
                  <a16:creationId xmlns:a16="http://schemas.microsoft.com/office/drawing/2014/main" id="{D85B99C6-DD22-B8C8-1886-5C7D11AA467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14" name="Picture 13">
              <a:extLst>
                <a:ext uri="{FF2B5EF4-FFF2-40B4-BE49-F238E27FC236}">
                  <a16:creationId xmlns:a16="http://schemas.microsoft.com/office/drawing/2014/main" id="{A9A54853-F2E5-CF3A-4AFC-A0F7AE04F1D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Tree>
    <p:extLst>
      <p:ext uri="{BB962C8B-B14F-4D97-AF65-F5344CB8AC3E}">
        <p14:creationId xmlns:p14="http://schemas.microsoft.com/office/powerpoint/2010/main" val="325257203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7737-F1DA-9481-FFBD-B38B3C6583F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5484AAF-E2C9-CDFE-7062-49F224F534ED}"/>
              </a:ext>
            </a:extLst>
          </p:cNvPr>
          <p:cNvGrpSpPr/>
          <p:nvPr/>
        </p:nvGrpSpPr>
        <p:grpSpPr>
          <a:xfrm>
            <a:off x="0" y="0"/>
            <a:ext cx="9144000" cy="938525"/>
            <a:chOff x="0" y="39305"/>
            <a:chExt cx="9144000" cy="1091874"/>
          </a:xfrm>
          <a:solidFill>
            <a:srgbClr val="C00000"/>
          </a:solidFill>
        </p:grpSpPr>
        <p:sp>
          <p:nvSpPr>
            <p:cNvPr id="5" name="Rounded Rectangle 13">
              <a:extLst>
                <a:ext uri="{FF2B5EF4-FFF2-40B4-BE49-F238E27FC236}">
                  <a16:creationId xmlns:a16="http://schemas.microsoft.com/office/drawing/2014/main" id="{F400BE49-AB4D-D542-1C40-0F00BC196249}"/>
                </a:ext>
              </a:extLst>
            </p:cNvPr>
            <p:cNvSpPr/>
            <p:nvPr/>
          </p:nvSpPr>
          <p:spPr>
            <a:xfrm>
              <a:off x="0" y="39305"/>
              <a:ext cx="9144000" cy="1091874"/>
            </a:xfrm>
            <a:prstGeom prst="roundRect">
              <a:avLst/>
            </a:prstGeom>
            <a:grpFill/>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nchor="ctr"/>
            <a:lstStyle/>
            <a:p>
              <a:pPr algn="ctr"/>
              <a:r>
                <a:rPr lang="en-US" sz="2800" b="1" u="sng" dirty="0">
                  <a:solidFill>
                    <a:schemeClr val="bg1"/>
                  </a:solidFill>
                  <a:latin typeface="Arial" panose="020B0604020202020204" pitchFamily="34" charset="0"/>
                  <a:cs typeface="Arial" panose="020B0604020202020204" pitchFamily="34" charset="0"/>
                </a:rPr>
                <a:t>CYBER SECURITY RELATED FULL FORM</a:t>
              </a:r>
            </a:p>
          </p:txBody>
        </p:sp>
        <p:pic>
          <p:nvPicPr>
            <p:cNvPr id="6" name="Picture 5">
              <a:extLst>
                <a:ext uri="{FF2B5EF4-FFF2-40B4-BE49-F238E27FC236}">
                  <a16:creationId xmlns:a16="http://schemas.microsoft.com/office/drawing/2014/main" id="{0444F6A2-7D55-FEAA-613C-61BAD1AD08B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310880" y="139862"/>
              <a:ext cx="619436" cy="914400"/>
            </a:xfrm>
            <a:prstGeom prst="rect">
              <a:avLst/>
            </a:prstGeom>
            <a:grpFill/>
          </p:spPr>
        </p:pic>
        <p:pic>
          <p:nvPicPr>
            <p:cNvPr id="7" name="Picture 6">
              <a:extLst>
                <a:ext uri="{FF2B5EF4-FFF2-40B4-BE49-F238E27FC236}">
                  <a16:creationId xmlns:a16="http://schemas.microsoft.com/office/drawing/2014/main" id="{009D9C71-D19C-A5E5-AFAB-114694D9D2B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3680" y="128042"/>
              <a:ext cx="619436" cy="914397"/>
            </a:xfrm>
            <a:prstGeom prst="rect">
              <a:avLst/>
            </a:prstGeom>
            <a:grpFill/>
          </p:spPr>
        </p:pic>
      </p:grpSp>
      <p:sp>
        <p:nvSpPr>
          <p:cNvPr id="8" name="Rectangle 7">
            <a:extLst>
              <a:ext uri="{FF2B5EF4-FFF2-40B4-BE49-F238E27FC236}">
                <a16:creationId xmlns:a16="http://schemas.microsoft.com/office/drawing/2014/main" id="{020CE2E2-3C8A-B49B-0A57-E1EAB615F819}"/>
              </a:ext>
            </a:extLst>
          </p:cNvPr>
          <p:cNvSpPr/>
          <p:nvPr/>
        </p:nvSpPr>
        <p:spPr>
          <a:xfrm>
            <a:off x="0" y="938523"/>
            <a:ext cx="9144000" cy="45335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CERT</a:t>
            </a:r>
            <a:r>
              <a:rPr lang="en-US" sz="2000" dirty="0">
                <a:solidFill>
                  <a:schemeClr val="tx1"/>
                </a:solidFill>
              </a:rPr>
              <a:t>	Computer Emergency Response Team</a:t>
            </a:r>
          </a:p>
          <a:p>
            <a:r>
              <a:rPr lang="en-US" sz="2000" b="1" dirty="0">
                <a:solidFill>
                  <a:schemeClr val="tx1"/>
                </a:solidFill>
              </a:rPr>
              <a:t>MID</a:t>
            </a:r>
            <a:r>
              <a:rPr lang="en-US" sz="2000" dirty="0">
                <a:solidFill>
                  <a:schemeClr val="tx1"/>
                </a:solidFill>
              </a:rPr>
              <a:t>	Management Information Database</a:t>
            </a:r>
          </a:p>
          <a:p>
            <a:r>
              <a:rPr lang="en-US" sz="2000" b="1" dirty="0">
                <a:solidFill>
                  <a:schemeClr val="tx1"/>
                </a:solidFill>
              </a:rPr>
              <a:t>CDC</a:t>
            </a:r>
            <a:r>
              <a:rPr lang="en-US" sz="2000" dirty="0">
                <a:solidFill>
                  <a:schemeClr val="tx1"/>
                </a:solidFill>
              </a:rPr>
              <a:t>	Central Data Centre</a:t>
            </a:r>
          </a:p>
          <a:p>
            <a:r>
              <a:rPr lang="en-US" sz="2000" b="1" dirty="0">
                <a:solidFill>
                  <a:schemeClr val="tx1"/>
                </a:solidFill>
              </a:rPr>
              <a:t>DCN</a:t>
            </a:r>
            <a:r>
              <a:rPr lang="en-US" sz="2000" dirty="0">
                <a:solidFill>
                  <a:schemeClr val="tx1"/>
                </a:solidFill>
              </a:rPr>
              <a:t>	Data Communication Network</a:t>
            </a:r>
          </a:p>
          <a:p>
            <a:r>
              <a:rPr lang="en-US" sz="2000" b="1" dirty="0">
                <a:solidFill>
                  <a:schemeClr val="tx1"/>
                </a:solidFill>
              </a:rPr>
              <a:t>CSF</a:t>
            </a:r>
            <a:r>
              <a:rPr lang="en-US" sz="2000" dirty="0">
                <a:solidFill>
                  <a:schemeClr val="tx1"/>
                </a:solidFill>
              </a:rPr>
              <a:t>	Cyber Security Forum</a:t>
            </a:r>
          </a:p>
          <a:p>
            <a:r>
              <a:rPr lang="en-US" sz="2000" b="1" dirty="0">
                <a:solidFill>
                  <a:schemeClr val="tx1"/>
                </a:solidFill>
              </a:rPr>
              <a:t>UTM</a:t>
            </a:r>
            <a:r>
              <a:rPr lang="en-US" sz="2000" dirty="0">
                <a:solidFill>
                  <a:schemeClr val="tx1"/>
                </a:solidFill>
              </a:rPr>
              <a:t>	Unified Threat Management</a:t>
            </a:r>
          </a:p>
          <a:p>
            <a:r>
              <a:rPr lang="en-US" sz="2000" b="1" dirty="0">
                <a:solidFill>
                  <a:schemeClr val="tx1"/>
                </a:solidFill>
              </a:rPr>
              <a:t>ACG</a:t>
            </a:r>
            <a:r>
              <a:rPr lang="en-US" sz="2000" dirty="0">
                <a:solidFill>
                  <a:schemeClr val="tx1"/>
                </a:solidFill>
              </a:rPr>
              <a:t>	Army Cyber Group</a:t>
            </a:r>
          </a:p>
          <a:p>
            <a:r>
              <a:rPr lang="en-US" sz="2000" b="1" dirty="0">
                <a:solidFill>
                  <a:schemeClr val="tx1"/>
                </a:solidFill>
              </a:rPr>
              <a:t>SIM</a:t>
            </a:r>
            <a:r>
              <a:rPr lang="en-US" sz="2000" dirty="0">
                <a:solidFill>
                  <a:schemeClr val="tx1"/>
                </a:solidFill>
              </a:rPr>
              <a:t>	Security Information Management</a:t>
            </a:r>
          </a:p>
          <a:p>
            <a:r>
              <a:rPr lang="en-US" sz="2000" b="1" dirty="0">
                <a:solidFill>
                  <a:schemeClr val="tx1"/>
                </a:solidFill>
              </a:rPr>
              <a:t>CII</a:t>
            </a:r>
            <a:r>
              <a:rPr lang="en-US" sz="2000" dirty="0">
                <a:solidFill>
                  <a:schemeClr val="tx1"/>
                </a:solidFill>
              </a:rPr>
              <a:t>	Critical Information Infrastructure </a:t>
            </a:r>
          </a:p>
          <a:p>
            <a:endParaRPr lang="en-US" sz="2000"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pPr algn="ctr"/>
            <a:endParaRPr lang="en-US" dirty="0"/>
          </a:p>
        </p:txBody>
      </p:sp>
    </p:spTree>
    <p:extLst>
      <p:ext uri="{BB962C8B-B14F-4D97-AF65-F5344CB8AC3E}">
        <p14:creationId xmlns:p14="http://schemas.microsoft.com/office/powerpoint/2010/main" val="2213209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3518</TotalTime>
  <Words>11208</Words>
  <Application>Microsoft Office PowerPoint</Application>
  <PresentationFormat>On-screen Show (4:3)</PresentationFormat>
  <Paragraphs>874</Paragraphs>
  <Slides>120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120</vt:i4>
      </vt:variant>
    </vt:vector>
  </HeadingPairs>
  <TitlesOfParts>
    <vt:vector size="127" baseType="lpstr">
      <vt:lpstr>Arial</vt:lpstr>
      <vt:lpstr>Arial Black</vt:lpstr>
      <vt:lpstr>Calibri</vt:lpstr>
      <vt:lpstr>Calibri Light</vt:lpstr>
      <vt:lpstr>Webdings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akanksh485@gmail.com</dc:creator>
  <cp:lastModifiedBy>Aman .</cp:lastModifiedBy>
  <cp:revision>690</cp:revision>
  <dcterms:created xsi:type="dcterms:W3CDTF">2024-09-08T02:21:18Z</dcterms:created>
  <dcterms:modified xsi:type="dcterms:W3CDTF">2026-09-04T01:39:50Z</dcterms:modified>
</cp:coreProperties>
</file>